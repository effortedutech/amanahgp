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4" d="100"/>
          <a:sy n="104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D81124AB-C1D1-4A98-967D-459671513D6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1-marker">
            <a:extLst>
              <a:ext uri="{FF2B5EF4-FFF2-40B4-BE49-F238E27FC236}">
                <a16:creationId xmlns:a16="http://schemas.microsoft.com/office/drawing/2014/main" id="{94E9E957-A8CE-443B-8C89-91EC2133AA06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95250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label">
            <a:extLst>
              <a:ext uri="{FF2B5EF4-FFF2-40B4-BE49-F238E27FC236}">
                <a16:creationId xmlns:a16="http://schemas.microsoft.com/office/drawing/2014/main" id="{333C95A9-6BE3-4551-A272-B86D27282AF1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00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STAKEHOLDER BRIEFING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6FA861-3D16-4277-B115-956D91A1956F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75247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35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AGP turns governance into visible trust infrastructure.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F7F702-1EF0-4BDB-A1CE-86421DAA3760}"/>
              </a:ext>
            </a:extLst>
          </p:cNvPr>
          <p:cNvSpPr>
            <a:spLocks noGrp="1"/>
          </p:cNvSpPr>
          <p:nvPr/>
        </p:nvSpPr>
        <p:spPr>
          <a:xfrm>
            <a:off x="647700" y="3943350"/>
            <a:ext cx="61912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Amanah Governance Platform helps charities improve governance, gives donors clearer confidence signals, and gives oversight stakeholders a shared evidence layer.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5EEE8B-949A-408A-B301-15942163EA54}"/>
              </a:ext>
            </a:extLst>
          </p:cNvPr>
          <p:cNvSpPr>
            <a:spLocks noGrp="1"/>
          </p:cNvSpPr>
          <p:nvPr/>
        </p:nvSpPr>
        <p:spPr>
          <a:xfrm>
            <a:off x="8382000" y="1200150"/>
            <a:ext cx="2667000" cy="8382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B009CE-C2BD-4521-B759-2D7DA16D0F63}"/>
              </a:ext>
            </a:extLst>
          </p:cNvPr>
          <p:cNvSpPr>
            <a:spLocks noGrp="1"/>
          </p:cNvSpPr>
          <p:nvPr/>
        </p:nvSpPr>
        <p:spPr>
          <a:xfrm>
            <a:off x="8629650" y="140970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86F743-B5B2-4BB1-AB50-1C0797622B83}"/>
              </a:ext>
            </a:extLst>
          </p:cNvPr>
          <p:cNvSpPr>
            <a:spLocks noGrp="1"/>
          </p:cNvSpPr>
          <p:nvPr/>
        </p:nvSpPr>
        <p:spPr>
          <a:xfrm>
            <a:off x="8629650" y="1695450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E1B18"/>
                </a:solidFill>
                <a:latin typeface="Aptos"/>
                <a:ea typeface="Aptos"/>
                <a:cs typeface="Aptos"/>
              </a:rPr>
              <a:t>evidence captured at source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DA6CE9-B38F-4F34-8000-4C4796CF56C2}"/>
              </a:ext>
            </a:extLst>
          </p:cNvPr>
          <p:cNvSpPr>
            <a:spLocks noGrp="1"/>
          </p:cNvSpPr>
          <p:nvPr/>
        </p:nvSpPr>
        <p:spPr>
          <a:xfrm>
            <a:off x="8858250" y="2495550"/>
            <a:ext cx="2667000" cy="8382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3F8EA0-0936-45C0-A717-CAEF59489809}"/>
              </a:ext>
            </a:extLst>
          </p:cNvPr>
          <p:cNvSpPr>
            <a:spLocks noGrp="1"/>
          </p:cNvSpPr>
          <p:nvPr/>
        </p:nvSpPr>
        <p:spPr>
          <a:xfrm>
            <a:off x="9105900" y="270510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Trust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0B85C5-C77E-4166-BFB3-61DA601B6AD8}"/>
              </a:ext>
            </a:extLst>
          </p:cNvPr>
          <p:cNvSpPr>
            <a:spLocks noGrp="1"/>
          </p:cNvSpPr>
          <p:nvPr/>
        </p:nvSpPr>
        <p:spPr>
          <a:xfrm>
            <a:off x="9105900" y="2990850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E1B18"/>
                </a:solidFill>
                <a:latin typeface="Aptos"/>
                <a:ea typeface="Aptos"/>
                <a:cs typeface="Aptos"/>
              </a:rPr>
              <a:t>signals scored and reviewed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DADDD3-5549-49EA-A54F-68088B912F79}"/>
              </a:ext>
            </a:extLst>
          </p:cNvPr>
          <p:cNvSpPr>
            <a:spLocks noGrp="1"/>
          </p:cNvSpPr>
          <p:nvPr/>
        </p:nvSpPr>
        <p:spPr>
          <a:xfrm>
            <a:off x="8382000" y="3790950"/>
            <a:ext cx="2667000" cy="8382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BF0CE6-7756-4697-926D-3BB910DE85A3}"/>
              </a:ext>
            </a:extLst>
          </p:cNvPr>
          <p:cNvSpPr>
            <a:spLocks noGrp="1"/>
          </p:cNvSpPr>
          <p:nvPr/>
        </p:nvSpPr>
        <p:spPr>
          <a:xfrm>
            <a:off x="8629650" y="400050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Giving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C0470E-6328-4CFC-BF50-B41B1816F668}"/>
              </a:ext>
            </a:extLst>
          </p:cNvPr>
          <p:cNvSpPr>
            <a:spLocks noGrp="1"/>
          </p:cNvSpPr>
          <p:nvPr/>
        </p:nvSpPr>
        <p:spPr>
          <a:xfrm>
            <a:off x="8629650" y="428625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1E7"/>
                </a:solidFill>
                <a:latin typeface="Aptos"/>
                <a:ea typeface="Aptos"/>
                <a:cs typeface="Aptos"/>
              </a:rPr>
              <a:t>donors decide with confidence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C6F510-CFD4-42DE-94D4-3E34EA840965}"/>
              </a:ext>
            </a:extLst>
          </p:cNvPr>
          <p:cNvSpPr>
            <a:spLocks noGrp="1"/>
          </p:cNvSpPr>
          <p:nvPr/>
        </p:nvSpPr>
        <p:spPr>
          <a:xfrm>
            <a:off x="9505950" y="2038350"/>
            <a:ext cx="38100" cy="476250"/>
          </a:xfrm>
          <a:prstGeom prst="rect">
            <a:avLst/>
          </a:prstGeom>
          <a:solidFill>
            <a:srgbClr val="C8D5CF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F4E9DE-35DF-4750-8CB2-B55D15411D79}"/>
              </a:ext>
            </a:extLst>
          </p:cNvPr>
          <p:cNvSpPr>
            <a:spLocks noGrp="1"/>
          </p:cNvSpPr>
          <p:nvPr/>
        </p:nvSpPr>
        <p:spPr>
          <a:xfrm>
            <a:off x="9505950" y="3333750"/>
            <a:ext cx="38100" cy="476250"/>
          </a:xfrm>
          <a:prstGeom prst="rect">
            <a:avLst/>
          </a:prstGeom>
          <a:solidFill>
            <a:srgbClr val="C8D5CF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6C6F3A-BE9F-470F-9E72-C8D4C3AC060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F91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18B"/>
                </a:solidFill>
                <a:latin typeface="Aptos"/>
                <a:ea typeface="Aptos"/>
                <a:cs typeface="Aptos"/>
              </a:rPr>
              <a:t>For discussion with zakat authorities, charities, funders, reviewers, and implementation partners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A67601-965C-47BC-AA8E-EEAF4F8F12F2}"/>
              </a:ext>
            </a:extLst>
          </p:cNvPr>
          <p:cNvSpPr>
            <a:spLocks noGrp="1"/>
          </p:cNvSpPr>
          <p:nvPr/>
        </p:nvSpPr>
        <p:spPr>
          <a:xfrm>
            <a:off x="10820400" y="63817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68442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FD380424-C0D5-4D06-B8E9-5ADD81BCB4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>
              <a:ext uri="{FF2B5EF4-FFF2-40B4-BE49-F238E27FC236}">
                <a16:creationId xmlns:a16="http://schemas.microsoft.com/office/drawing/2014/main" id="{99356D0A-0768-4FBB-9AEA-08604D57D911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95250" cy="2095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>
              <a:ext uri="{FF2B5EF4-FFF2-40B4-BE49-F238E27FC236}">
                <a16:creationId xmlns:a16="http://schemas.microsoft.com/office/drawing/2014/main" id="{DCF6F72D-AA90-4869-BC9F-75AB3399AA75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00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WHY NOW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9BE8A2-E50D-4A46-8440-6A7A0022AAD7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8001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225" b="0">
                <a:solidFill>
                  <a:srgbClr val="0E1B18"/>
                </a:solidFill>
                <a:latin typeface="Georgia"/>
                <a:ea typeface="Georgia"/>
                <a:cs typeface="Georgia"/>
              </a:defRPr>
            </a:pPr>
            <a:r>
              <a:rPr sz="3225" b="0">
                <a:solidFill>
                  <a:srgbClr val="0E1B18"/>
                </a:solidFill>
                <a:latin typeface="Georgia"/>
                <a:ea typeface="Georgia"/>
                <a:cs typeface="Georgia"/>
              </a:rPr>
              <a:t>Donation rails improved; governance visibility did not keep pace.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0C2EA2-7475-40C7-B33A-B89754C6FFE6}"/>
              </a:ext>
            </a:extLst>
          </p:cNvPr>
          <p:cNvSpPr>
            <a:spLocks noGrp="1"/>
          </p:cNvSpPr>
          <p:nvPr/>
        </p:nvSpPr>
        <p:spPr>
          <a:xfrm>
            <a:off x="628650" y="2190750"/>
            <a:ext cx="6762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3D4A4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D4A46"/>
                </a:solidFill>
                <a:latin typeface="Aptos"/>
                <a:ea typeface="Aptos"/>
                <a:cs typeface="Aptos"/>
              </a:rPr>
              <a:t>The sector is not short of generosity. It is short of shared, affordable infrastructure that turns everyday governance work into evidence donors and oversight bodies can trust.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BE8A3D-111F-4B31-AEFB-3D92BCA11F49}"/>
              </a:ext>
            </a:extLst>
          </p:cNvPr>
          <p:cNvSpPr>
            <a:spLocks noGrp="1"/>
          </p:cNvSpPr>
          <p:nvPr/>
        </p:nvSpPr>
        <p:spPr>
          <a:xfrm>
            <a:off x="819150" y="3219450"/>
            <a:ext cx="171450" cy="1714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4E31AA-56C1-4A8E-8D1C-251768D30BFB}"/>
              </a:ext>
            </a:extLst>
          </p:cNvPr>
          <p:cNvSpPr>
            <a:spLocks noGrp="1"/>
          </p:cNvSpPr>
          <p:nvPr/>
        </p:nvSpPr>
        <p:spPr>
          <a:xfrm>
            <a:off x="1200150" y="3171825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Digital fundraising expanded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E6431B-711F-485D-BC20-3E4911DCB780}"/>
              </a:ext>
            </a:extLst>
          </p:cNvPr>
          <p:cNvSpPr>
            <a:spLocks noGrp="1"/>
          </p:cNvSpPr>
          <p:nvPr/>
        </p:nvSpPr>
        <p:spPr>
          <a:xfrm>
            <a:off x="4095750" y="3190875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More channels, faster campaigns, higher donor expectations.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1E1CF9-F681-4C10-B952-39A003801BB1}"/>
              </a:ext>
            </a:extLst>
          </p:cNvPr>
          <p:cNvSpPr>
            <a:spLocks noGrp="1"/>
          </p:cNvSpPr>
          <p:nvPr/>
        </p:nvSpPr>
        <p:spPr>
          <a:xfrm>
            <a:off x="819150" y="3619500"/>
            <a:ext cx="9486900" cy="9525"/>
          </a:xfrm>
          <a:prstGeom prst="rect">
            <a:avLst/>
          </a:prstGeom>
          <a:solidFill>
            <a:srgbClr val="D6CDB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AAF4C5-F719-4950-A37D-23F0044A2772}"/>
              </a:ext>
            </a:extLst>
          </p:cNvPr>
          <p:cNvSpPr>
            <a:spLocks noGrp="1"/>
          </p:cNvSpPr>
          <p:nvPr/>
        </p:nvSpPr>
        <p:spPr>
          <a:xfrm>
            <a:off x="819150" y="3886200"/>
            <a:ext cx="171450" cy="1714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5866D7-C252-4681-959F-04894F131A36}"/>
              </a:ext>
            </a:extLst>
          </p:cNvPr>
          <p:cNvSpPr>
            <a:spLocks noGrp="1"/>
          </p:cNvSpPr>
          <p:nvPr/>
        </p:nvSpPr>
        <p:spPr>
          <a:xfrm>
            <a:off x="1200150" y="3838575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Governance remains fragmented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1E9ED9-46F3-47A9-9349-2C9EC2A0D40C}"/>
              </a:ext>
            </a:extLst>
          </p:cNvPr>
          <p:cNvSpPr>
            <a:spLocks noGrp="1"/>
          </p:cNvSpPr>
          <p:nvPr/>
        </p:nvSpPr>
        <p:spPr>
          <a:xfrm>
            <a:off x="4095750" y="3857625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Documents, approvals, reports, and evidence live in separate workflows.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4C5659-132F-456B-9125-4509F5AA360E}"/>
              </a:ext>
            </a:extLst>
          </p:cNvPr>
          <p:cNvSpPr>
            <a:spLocks noGrp="1"/>
          </p:cNvSpPr>
          <p:nvPr/>
        </p:nvSpPr>
        <p:spPr>
          <a:xfrm>
            <a:off x="819150" y="4286250"/>
            <a:ext cx="9486900" cy="9525"/>
          </a:xfrm>
          <a:prstGeom prst="rect">
            <a:avLst/>
          </a:prstGeom>
          <a:solidFill>
            <a:srgbClr val="D6CDB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ABAD55-96B7-4B2F-9759-C447E2BAE7C4}"/>
              </a:ext>
            </a:extLst>
          </p:cNvPr>
          <p:cNvSpPr>
            <a:spLocks noGrp="1"/>
          </p:cNvSpPr>
          <p:nvPr/>
        </p:nvSpPr>
        <p:spPr>
          <a:xfrm>
            <a:off x="819150" y="4552950"/>
            <a:ext cx="171450" cy="1714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39A0A1-900D-421E-B750-0606737E1164}"/>
              </a:ext>
            </a:extLst>
          </p:cNvPr>
          <p:cNvSpPr>
            <a:spLocks noGrp="1"/>
          </p:cNvSpPr>
          <p:nvPr/>
        </p:nvSpPr>
        <p:spPr>
          <a:xfrm>
            <a:off x="1200150" y="4505325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Oversight workload rises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BB261D-DB03-423E-BA92-91E8FF2B69FF}"/>
              </a:ext>
            </a:extLst>
          </p:cNvPr>
          <p:cNvSpPr>
            <a:spLocks noGrp="1"/>
          </p:cNvSpPr>
          <p:nvPr/>
        </p:nvSpPr>
        <p:spPr>
          <a:xfrm>
            <a:off x="4095750" y="4524375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Reviewers need structured signals, not more unstructured PDFs.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26EF8F-944F-4026-9290-76278FC91EE4}"/>
              </a:ext>
            </a:extLst>
          </p:cNvPr>
          <p:cNvSpPr>
            <a:spLocks noGrp="1"/>
          </p:cNvSpPr>
          <p:nvPr/>
        </p:nvSpPr>
        <p:spPr>
          <a:xfrm>
            <a:off x="819150" y="4953000"/>
            <a:ext cx="9486900" cy="9525"/>
          </a:xfrm>
          <a:prstGeom prst="rect">
            <a:avLst/>
          </a:prstGeom>
          <a:solidFill>
            <a:srgbClr val="D6CDB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2AB5EC-4591-456C-8BB9-BF87E03E41B9}"/>
              </a:ext>
            </a:extLst>
          </p:cNvPr>
          <p:cNvSpPr>
            <a:spLocks noGrp="1"/>
          </p:cNvSpPr>
          <p:nvPr/>
        </p:nvSpPr>
        <p:spPr>
          <a:xfrm>
            <a:off x="819150" y="5219700"/>
            <a:ext cx="171450" cy="1714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DB215F-A0C1-4D84-BD28-E06F9A4D699E}"/>
              </a:ext>
            </a:extLst>
          </p:cNvPr>
          <p:cNvSpPr>
            <a:spLocks noGrp="1"/>
          </p:cNvSpPr>
          <p:nvPr/>
        </p:nvSpPr>
        <p:spPr>
          <a:xfrm>
            <a:off x="1200150" y="5172075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Donors need confidence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EF6DEB-4FEE-47EE-B133-0490641A43F7}"/>
              </a:ext>
            </a:extLst>
          </p:cNvPr>
          <p:cNvSpPr>
            <a:spLocks noGrp="1"/>
          </p:cNvSpPr>
          <p:nvPr/>
        </p:nvSpPr>
        <p:spPr>
          <a:xfrm>
            <a:off x="4095750" y="5191125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Giving confidence depends on trust that is visible and current.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7261DA-7066-4614-AC40-E7B3FBD6375F}"/>
              </a:ext>
            </a:extLst>
          </p:cNvPr>
          <p:cNvSpPr>
            <a:spLocks noGrp="1"/>
          </p:cNvSpPr>
          <p:nvPr/>
        </p:nvSpPr>
        <p:spPr>
          <a:xfrm>
            <a:off x="819150" y="5619750"/>
            <a:ext cx="9486900" cy="9525"/>
          </a:xfrm>
          <a:prstGeom prst="rect">
            <a:avLst/>
          </a:prstGeom>
          <a:solidFill>
            <a:srgbClr val="D6CDB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C3E6F0B-9F9D-4E9F-851B-BA3C9D20077D}"/>
              </a:ext>
            </a:extLst>
          </p:cNvPr>
          <p:cNvSpPr>
            <a:spLocks noGrp="1"/>
          </p:cNvSpPr>
          <p:nvPr/>
        </p:nvSpPr>
        <p:spPr>
          <a:xfrm>
            <a:off x="8667750" y="1143000"/>
            <a:ext cx="2190750" cy="1838325"/>
          </a:xfrm>
          <a:prstGeom prst="rect">
            <a:avLst/>
          </a:prstGeom>
          <a:solidFill>
            <a:srgbClr val="0E1B1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AF198E2-A877-44C2-A014-EB8B7CBB301E}"/>
              </a:ext>
            </a:extLst>
          </p:cNvPr>
          <p:cNvSpPr>
            <a:spLocks noGrp="1"/>
          </p:cNvSpPr>
          <p:nvPr/>
        </p:nvSpPr>
        <p:spPr>
          <a:xfrm>
            <a:off x="8896350" y="140970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The gap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4B7A5D6-236F-4F5F-AE07-8A2AC74A6F60}"/>
              </a:ext>
            </a:extLst>
          </p:cNvPr>
          <p:cNvSpPr>
            <a:spLocks noGrp="1"/>
          </p:cNvSpPr>
          <p:nvPr/>
        </p:nvSpPr>
        <p:spPr>
          <a:xfrm>
            <a:off x="8896350" y="1733550"/>
            <a:ext cx="16192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6F1E7"/>
                </a:solidFill>
                <a:latin typeface="Aptos"/>
                <a:ea typeface="Aptos"/>
                <a:cs typeface="Aptos"/>
              </a:rPr>
              <a:t>Governance is treated as paperwork after fundraising, instead of infrastructure that enables trust.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A2D8B76-7256-4C19-AE6E-FA37974221C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74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746F"/>
                </a:solidFill>
                <a:latin typeface="Aptos"/>
                <a:ea typeface="Aptos"/>
                <a:cs typeface="Aptos"/>
              </a:rPr>
              <a:t>Source: AGP pitch notes and architecture docs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5D9B637-5CD6-48CF-8083-A2B6EF75B3FD}"/>
              </a:ext>
            </a:extLst>
          </p:cNvPr>
          <p:cNvSpPr>
            <a:spLocks noGrp="1"/>
          </p:cNvSpPr>
          <p:nvPr/>
        </p:nvSpPr>
        <p:spPr>
          <a:xfrm>
            <a:off x="10820400" y="63817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2467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E2A80E21-A7E6-47DD-9B57-E658C6EF41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>
              <a:ext uri="{FF2B5EF4-FFF2-40B4-BE49-F238E27FC236}">
                <a16:creationId xmlns:a16="http://schemas.microsoft.com/office/drawing/2014/main" id="{3A38F12C-E59B-4BFC-B339-F78200E502C8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95250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>
              <a:ext uri="{FF2B5EF4-FFF2-40B4-BE49-F238E27FC236}">
                <a16:creationId xmlns:a16="http://schemas.microsoft.com/office/drawing/2014/main" id="{AFCA76EB-B7F5-4CF5-BB6D-C6761C39DE1B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00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PLATFORM THESIS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477BE8-A9E8-4BDA-891A-0614490F395A}"/>
              </a:ext>
            </a:extLst>
          </p:cNvPr>
          <p:cNvSpPr>
            <a:spLocks noGrp="1"/>
          </p:cNvSpPr>
          <p:nvPr/>
        </p:nvSpPr>
        <p:spPr>
          <a:xfrm>
            <a:off x="609600" y="971550"/>
            <a:ext cx="80962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225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225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AGP creates a closed loop between better governance and better giving.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C46DB9-3A6A-4E19-8A25-19DD2EFA01DC}"/>
              </a:ext>
            </a:extLst>
          </p:cNvPr>
          <p:cNvSpPr>
            <a:spLocks noGrp="1"/>
          </p:cNvSpPr>
          <p:nvPr/>
        </p:nvSpPr>
        <p:spPr>
          <a:xfrm>
            <a:off x="1085850" y="2971800"/>
            <a:ext cx="2457450" cy="11430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14DEC8-8C8B-43A4-9416-B52D867D5A32}"/>
              </a:ext>
            </a:extLst>
          </p:cNvPr>
          <p:cNvSpPr>
            <a:spLocks noGrp="1"/>
          </p:cNvSpPr>
          <p:nvPr/>
        </p:nvSpPr>
        <p:spPr>
          <a:xfrm>
            <a:off x="1257300" y="3143250"/>
            <a:ext cx="285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C849BD-CF6C-4F66-A567-594F14B6B31D}"/>
              </a:ext>
            </a:extLst>
          </p:cNvPr>
          <p:cNvSpPr>
            <a:spLocks noGrp="1"/>
          </p:cNvSpPr>
          <p:nvPr/>
        </p:nvSpPr>
        <p:spPr>
          <a:xfrm>
            <a:off x="1638300" y="3105150"/>
            <a:ext cx="1714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Organizations improve governance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399633-CEC1-4E3B-A5EC-64982AA78A38}"/>
              </a:ext>
            </a:extLst>
          </p:cNvPr>
          <p:cNvSpPr>
            <a:spLocks noGrp="1"/>
          </p:cNvSpPr>
          <p:nvPr/>
        </p:nvSpPr>
        <p:spPr>
          <a:xfrm>
            <a:off x="1638300" y="3562350"/>
            <a:ext cx="1676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policies, reports, evidence, financial controls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569A0A-DCE1-4B08-9727-B9CCC075AAF7}"/>
              </a:ext>
            </a:extLst>
          </p:cNvPr>
          <p:cNvSpPr>
            <a:spLocks noGrp="1"/>
          </p:cNvSpPr>
          <p:nvPr/>
        </p:nvSpPr>
        <p:spPr>
          <a:xfrm>
            <a:off x="3695700" y="1981200"/>
            <a:ext cx="2457450" cy="11430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59DB8E-B236-4B45-AE67-8AF0C4584D3D}"/>
              </a:ext>
            </a:extLst>
          </p:cNvPr>
          <p:cNvSpPr>
            <a:spLocks noGrp="1"/>
          </p:cNvSpPr>
          <p:nvPr/>
        </p:nvSpPr>
        <p:spPr>
          <a:xfrm>
            <a:off x="3867150" y="2152650"/>
            <a:ext cx="285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7D5541-D17D-4B34-8F2B-44F410049B73}"/>
              </a:ext>
            </a:extLst>
          </p:cNvPr>
          <p:cNvSpPr>
            <a:spLocks noGrp="1"/>
          </p:cNvSpPr>
          <p:nvPr/>
        </p:nvSpPr>
        <p:spPr>
          <a:xfrm>
            <a:off x="4248150" y="2114550"/>
            <a:ext cx="1714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Trust evidence is captured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AE32F7-6C5E-4BE3-9DD2-51C985568F79}"/>
              </a:ext>
            </a:extLst>
          </p:cNvPr>
          <p:cNvSpPr>
            <a:spLocks noGrp="1"/>
          </p:cNvSpPr>
          <p:nvPr/>
        </p:nvSpPr>
        <p:spPr>
          <a:xfrm>
            <a:off x="4248150" y="2571750"/>
            <a:ext cx="1676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events, documents, reviews, audit logs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87F7FC-0DCF-411B-ADE6-173F884A7AB8}"/>
              </a:ext>
            </a:extLst>
          </p:cNvPr>
          <p:cNvSpPr>
            <a:spLocks noGrp="1"/>
          </p:cNvSpPr>
          <p:nvPr/>
        </p:nvSpPr>
        <p:spPr>
          <a:xfrm>
            <a:off x="6362700" y="2971800"/>
            <a:ext cx="2457450" cy="11430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CD4754-D5FA-4A2D-915A-9977DBF9008E}"/>
              </a:ext>
            </a:extLst>
          </p:cNvPr>
          <p:cNvSpPr>
            <a:spLocks noGrp="1"/>
          </p:cNvSpPr>
          <p:nvPr/>
        </p:nvSpPr>
        <p:spPr>
          <a:xfrm>
            <a:off x="6534150" y="3143250"/>
            <a:ext cx="285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DE861B-96E0-4A37-A259-9E59F98A9061}"/>
              </a:ext>
            </a:extLst>
          </p:cNvPr>
          <p:cNvSpPr>
            <a:spLocks noGrp="1"/>
          </p:cNvSpPr>
          <p:nvPr/>
        </p:nvSpPr>
        <p:spPr>
          <a:xfrm>
            <a:off x="6915150" y="3105150"/>
            <a:ext cx="1714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Amanah Index becomes visible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699A5A-6B8B-47F6-AF5E-4414C8634AA2}"/>
              </a:ext>
            </a:extLst>
          </p:cNvPr>
          <p:cNvSpPr>
            <a:spLocks noGrp="1"/>
          </p:cNvSpPr>
          <p:nvPr/>
        </p:nvSpPr>
        <p:spPr>
          <a:xfrm>
            <a:off x="6915150" y="3562350"/>
            <a:ext cx="1676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certified score plus current trust signals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DC85F5-4642-4103-B0DA-156AD127652B}"/>
              </a:ext>
            </a:extLst>
          </p:cNvPr>
          <p:cNvSpPr>
            <a:spLocks noGrp="1"/>
          </p:cNvSpPr>
          <p:nvPr/>
        </p:nvSpPr>
        <p:spPr>
          <a:xfrm>
            <a:off x="3695700" y="4457700"/>
            <a:ext cx="2457450" cy="1143000"/>
          </a:xfrm>
          <a:prstGeom prst="rect">
            <a:avLst/>
          </a:prstGeom>
          <a:solidFill>
            <a:srgbClr val="253B35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D7E46C-83F0-4A3D-B0D3-825A5FE9142D}"/>
              </a:ext>
            </a:extLst>
          </p:cNvPr>
          <p:cNvSpPr>
            <a:spLocks noGrp="1"/>
          </p:cNvSpPr>
          <p:nvPr/>
        </p:nvSpPr>
        <p:spPr>
          <a:xfrm>
            <a:off x="3867150" y="4629150"/>
            <a:ext cx="285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AD815E-1433-4499-97DC-BC3D2E3D4C59}"/>
              </a:ext>
            </a:extLst>
          </p:cNvPr>
          <p:cNvSpPr>
            <a:spLocks noGrp="1"/>
          </p:cNvSpPr>
          <p:nvPr/>
        </p:nvSpPr>
        <p:spPr>
          <a:xfrm>
            <a:off x="4248150" y="4591050"/>
            <a:ext cx="1714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Donors and funders act with confidence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0ECAF7-8229-415B-94B6-3BA6402615B7}"/>
              </a:ext>
            </a:extLst>
          </p:cNvPr>
          <p:cNvSpPr>
            <a:spLocks noGrp="1"/>
          </p:cNvSpPr>
          <p:nvPr/>
        </p:nvSpPr>
        <p:spPr>
          <a:xfrm>
            <a:off x="4248150" y="5048250"/>
            <a:ext cx="1676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public profiles, badges, reports, receipts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42DCD2-6F56-4128-BE88-2357CEDAC9A4}"/>
              </a:ext>
            </a:extLst>
          </p:cNvPr>
          <p:cNvSpPr>
            <a:spLocks noGrp="1"/>
          </p:cNvSpPr>
          <p:nvPr/>
        </p:nvSpPr>
        <p:spPr>
          <a:xfrm>
            <a:off x="3257550" y="3409950"/>
            <a:ext cx="571500" cy="38100"/>
          </a:xfrm>
          <a:prstGeom prst="rect">
            <a:avLst/>
          </a:prstGeom>
          <a:solidFill>
            <a:srgbClr val="C8D5CF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6611C70-005F-4E17-A142-8BFCA412764F}"/>
              </a:ext>
            </a:extLst>
          </p:cNvPr>
          <p:cNvSpPr>
            <a:spLocks noGrp="1"/>
          </p:cNvSpPr>
          <p:nvPr/>
        </p:nvSpPr>
        <p:spPr>
          <a:xfrm>
            <a:off x="5848350" y="2457450"/>
            <a:ext cx="552450" cy="38100"/>
          </a:xfrm>
          <a:prstGeom prst="rect">
            <a:avLst/>
          </a:prstGeom>
          <a:solidFill>
            <a:srgbClr val="C8D5CF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C55E54-6CB2-4FD6-AC94-D5129C552B81}"/>
              </a:ext>
            </a:extLst>
          </p:cNvPr>
          <p:cNvSpPr>
            <a:spLocks noGrp="1"/>
          </p:cNvSpPr>
          <p:nvPr/>
        </p:nvSpPr>
        <p:spPr>
          <a:xfrm>
            <a:off x="7600950" y="4114800"/>
            <a:ext cx="38100" cy="361950"/>
          </a:xfrm>
          <a:prstGeom prst="rect">
            <a:avLst/>
          </a:prstGeom>
          <a:solidFill>
            <a:srgbClr val="C8D5CF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363101-8587-4D3C-ABF0-C01D6461DE8C}"/>
              </a:ext>
            </a:extLst>
          </p:cNvPr>
          <p:cNvSpPr>
            <a:spLocks noGrp="1"/>
          </p:cNvSpPr>
          <p:nvPr/>
        </p:nvSpPr>
        <p:spPr>
          <a:xfrm>
            <a:off x="6153150" y="4953000"/>
            <a:ext cx="228600" cy="38100"/>
          </a:xfrm>
          <a:prstGeom prst="rect">
            <a:avLst/>
          </a:prstGeom>
          <a:solidFill>
            <a:srgbClr val="C8D5CF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26DFB2-D458-4025-A7F6-C6EDC6A10F12}"/>
              </a:ext>
            </a:extLst>
          </p:cNvPr>
          <p:cNvSpPr>
            <a:spLocks noGrp="1"/>
          </p:cNvSpPr>
          <p:nvPr/>
        </p:nvSpPr>
        <p:spPr>
          <a:xfrm>
            <a:off x="3448050" y="4953000"/>
            <a:ext cx="228600" cy="38100"/>
          </a:xfrm>
          <a:prstGeom prst="rect">
            <a:avLst/>
          </a:prstGeom>
          <a:solidFill>
            <a:srgbClr val="C8D5CF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12E9876-B1B6-46BF-966E-223917B5763F}"/>
              </a:ext>
            </a:extLst>
          </p:cNvPr>
          <p:cNvSpPr>
            <a:spLocks noGrp="1"/>
          </p:cNvSpPr>
          <p:nvPr/>
        </p:nvSpPr>
        <p:spPr>
          <a:xfrm>
            <a:off x="8477250" y="4476750"/>
            <a:ext cx="24765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The design intent is behaviour change: make good governance easier to do, easier to verify, and easier to reward.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1F30CB9-94DE-4820-9511-20BCA52BB5B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F91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18B"/>
                </a:solidFill>
                <a:latin typeface="Aptos"/>
                <a:ea typeface="Aptos"/>
                <a:cs typeface="Aptos"/>
              </a:rPr>
              <a:t>Source: pitch notes, Amanah Index upgrade notes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F3832EE-9A21-4A1E-87FD-EB17067E71DE}"/>
              </a:ext>
            </a:extLst>
          </p:cNvPr>
          <p:cNvSpPr>
            <a:spLocks noGrp="1"/>
          </p:cNvSpPr>
          <p:nvPr/>
        </p:nvSpPr>
        <p:spPr>
          <a:xfrm>
            <a:off x="10820400" y="63817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15688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E7720461-46C0-42C3-BEF8-6DFF3DA69A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4-marker">
            <a:extLst>
              <a:ext uri="{FF2B5EF4-FFF2-40B4-BE49-F238E27FC236}">
                <a16:creationId xmlns:a16="http://schemas.microsoft.com/office/drawing/2014/main" id="{DD5B5D02-9B1C-463F-8F2E-857001E58394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95250" cy="2095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>
              <a:ext uri="{FF2B5EF4-FFF2-40B4-BE49-F238E27FC236}">
                <a16:creationId xmlns:a16="http://schemas.microsoft.com/office/drawing/2014/main" id="{36E2E7FF-3CA5-441D-B48F-A06BC11AE692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00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STAKEHOLDER MAP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B366B7-3399-4168-A8CF-401D23601297}"/>
              </a:ext>
            </a:extLst>
          </p:cNvPr>
          <p:cNvSpPr>
            <a:spLocks noGrp="1"/>
          </p:cNvSpPr>
          <p:nvPr/>
        </p:nvSpPr>
        <p:spPr>
          <a:xfrm>
            <a:off x="609600" y="933450"/>
            <a:ext cx="8572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75" b="0">
                <a:solidFill>
                  <a:srgbClr val="0E1B18"/>
                </a:solidFill>
                <a:latin typeface="Georgia"/>
                <a:ea typeface="Georgia"/>
                <a:cs typeface="Georgia"/>
              </a:defRPr>
            </a:pPr>
            <a:r>
              <a:rPr sz="3075" b="0">
                <a:solidFill>
                  <a:srgbClr val="0E1B18"/>
                </a:solidFill>
                <a:latin typeface="Georgia"/>
                <a:ea typeface="Georgia"/>
                <a:cs typeface="Georgia"/>
              </a:rPr>
              <a:t>Different stakeholders need different views of the same trust record.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F7F9DB-43D5-4CA6-8C4F-29F7F7D9A8B0}"/>
              </a:ext>
            </a:extLst>
          </p:cNvPr>
          <p:cNvSpPr>
            <a:spLocks noGrp="1"/>
          </p:cNvSpPr>
          <p:nvPr/>
        </p:nvSpPr>
        <p:spPr>
          <a:xfrm>
            <a:off x="800100" y="22479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STAKEHOLDER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9F3C4A-E8B4-4030-B24F-40C69C195A9B}"/>
              </a:ext>
            </a:extLst>
          </p:cNvPr>
          <p:cNvSpPr>
            <a:spLocks noGrp="1"/>
          </p:cNvSpPr>
          <p:nvPr/>
        </p:nvSpPr>
        <p:spPr>
          <a:xfrm>
            <a:off x="3619500" y="22479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JOB TO BE DONE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A8FF81-B747-4E93-BE6A-24D5D6B11ADB}"/>
              </a:ext>
            </a:extLst>
          </p:cNvPr>
          <p:cNvSpPr>
            <a:spLocks noGrp="1"/>
          </p:cNvSpPr>
          <p:nvPr/>
        </p:nvSpPr>
        <p:spPr>
          <a:xfrm>
            <a:off x="7334250" y="22479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PRODUCT SURFACE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AC25E8-FA62-44BD-ACCD-0D3A88F163A2}"/>
              </a:ext>
            </a:extLst>
          </p:cNvPr>
          <p:cNvSpPr>
            <a:spLocks noGrp="1"/>
          </p:cNvSpPr>
          <p:nvPr/>
        </p:nvSpPr>
        <p:spPr>
          <a:xfrm>
            <a:off x="666750" y="2476500"/>
            <a:ext cx="9810750" cy="476250"/>
          </a:xfrm>
          <a:prstGeom prst="rect">
            <a:avLst/>
          </a:prstGeom>
          <a:solidFill>
            <a:srgbClr val="F9F4EA"/>
          </a:solidFill>
          <a:ln w="9525">
            <a:solidFill>
              <a:srgbClr val="DED4C4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74FA1F-B059-4D9D-B1A3-743CA5BDE42B}"/>
              </a:ext>
            </a:extLst>
          </p:cNvPr>
          <p:cNvSpPr>
            <a:spLocks noGrp="1"/>
          </p:cNvSpPr>
          <p:nvPr/>
        </p:nvSpPr>
        <p:spPr>
          <a:xfrm>
            <a:off x="800100" y="26098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Charities / mosques / NGOs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E8A143-A2C8-4515-A968-6F027AA90FC7}"/>
              </a:ext>
            </a:extLst>
          </p:cNvPr>
          <p:cNvSpPr>
            <a:spLocks noGrp="1"/>
          </p:cNvSpPr>
          <p:nvPr/>
        </p:nvSpPr>
        <p:spPr>
          <a:xfrm>
            <a:off x="3619500" y="2609850"/>
            <a:ext cx="3143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47554F"/>
                </a:solidFill>
                <a:latin typeface="Aptos"/>
                <a:ea typeface="Aptos"/>
                <a:cs typeface="Aptos"/>
              </a:rPr>
              <a:t>Affordable governance tools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84489C-3E57-46B8-A02D-7EA3387417C5}"/>
              </a:ext>
            </a:extLst>
          </p:cNvPr>
          <p:cNvSpPr>
            <a:spLocks noGrp="1"/>
          </p:cNvSpPr>
          <p:nvPr/>
        </p:nvSpPr>
        <p:spPr>
          <a:xfrm>
            <a:off x="7334249" y="2571750"/>
            <a:ext cx="3065895" cy="2667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E5C3EC-DB6F-4EC1-8BD8-135078603602}"/>
              </a:ext>
            </a:extLst>
          </p:cNvPr>
          <p:cNvSpPr>
            <a:spLocks noGrp="1"/>
          </p:cNvSpPr>
          <p:nvPr/>
        </p:nvSpPr>
        <p:spPr>
          <a:xfrm>
            <a:off x="7524749" y="2609850"/>
            <a:ext cx="280150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 dirty="0" err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amanahOS</a:t>
            </a:r>
            <a:endParaRPr sz="1050" b="1" dirty="0">
              <a:solidFill>
                <a:srgbClr val="F6F1E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7C2B5F-226D-421A-BBC7-211E5F13310E}"/>
              </a:ext>
            </a:extLst>
          </p:cNvPr>
          <p:cNvSpPr>
            <a:spLocks noGrp="1"/>
          </p:cNvSpPr>
          <p:nvPr/>
        </p:nvSpPr>
        <p:spPr>
          <a:xfrm>
            <a:off x="666750" y="3086100"/>
            <a:ext cx="9810750" cy="476250"/>
          </a:xfrm>
          <a:prstGeom prst="rect">
            <a:avLst/>
          </a:prstGeom>
          <a:solidFill>
            <a:srgbClr val="EFE7D8"/>
          </a:solidFill>
          <a:ln w="9525">
            <a:solidFill>
              <a:srgbClr val="DED4C4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312261-8AEB-4B11-A018-A4A346DF2B7C}"/>
              </a:ext>
            </a:extLst>
          </p:cNvPr>
          <p:cNvSpPr>
            <a:spLocks noGrp="1"/>
          </p:cNvSpPr>
          <p:nvPr/>
        </p:nvSpPr>
        <p:spPr>
          <a:xfrm>
            <a:off x="800100" y="32194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Donors / corporate CSR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FABD6A-220B-405E-B51A-609F643DD349}"/>
              </a:ext>
            </a:extLst>
          </p:cNvPr>
          <p:cNvSpPr>
            <a:spLocks noGrp="1"/>
          </p:cNvSpPr>
          <p:nvPr/>
        </p:nvSpPr>
        <p:spPr>
          <a:xfrm>
            <a:off x="3619500" y="3219450"/>
            <a:ext cx="3143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Clear signals before giving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2A6D96-3CFA-4921-AEB1-23FD28F33700}"/>
              </a:ext>
            </a:extLst>
          </p:cNvPr>
          <p:cNvSpPr>
            <a:spLocks noGrp="1"/>
          </p:cNvSpPr>
          <p:nvPr/>
        </p:nvSpPr>
        <p:spPr>
          <a:xfrm>
            <a:off x="7334249" y="3181350"/>
            <a:ext cx="3065895" cy="2667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F3FD2A-64B7-4572-972F-60412A1222C2}"/>
              </a:ext>
            </a:extLst>
          </p:cNvPr>
          <p:cNvSpPr>
            <a:spLocks noGrp="1"/>
          </p:cNvSpPr>
          <p:nvPr/>
        </p:nvSpPr>
        <p:spPr>
          <a:xfrm>
            <a:off x="7524749" y="3219450"/>
            <a:ext cx="280150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AmanahHub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D572ED-D978-4821-AE34-1B54FC8D8CFB}"/>
              </a:ext>
            </a:extLst>
          </p:cNvPr>
          <p:cNvSpPr>
            <a:spLocks noGrp="1"/>
          </p:cNvSpPr>
          <p:nvPr/>
        </p:nvSpPr>
        <p:spPr>
          <a:xfrm>
            <a:off x="666750" y="3695700"/>
            <a:ext cx="9810750" cy="476250"/>
          </a:xfrm>
          <a:prstGeom prst="rect">
            <a:avLst/>
          </a:prstGeom>
          <a:solidFill>
            <a:srgbClr val="F9F4EA"/>
          </a:solidFill>
          <a:ln w="9525">
            <a:solidFill>
              <a:srgbClr val="DED4C4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6F888B-B47D-4A0D-878D-90CCA95A96FC}"/>
              </a:ext>
            </a:extLst>
          </p:cNvPr>
          <p:cNvSpPr>
            <a:spLocks noGrp="1"/>
          </p:cNvSpPr>
          <p:nvPr/>
        </p:nvSpPr>
        <p:spPr>
          <a:xfrm>
            <a:off x="800100" y="38290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Zakat / waqf / councils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C18F1D-AFAB-4A4B-B18D-F5AE53A802CC}"/>
              </a:ext>
            </a:extLst>
          </p:cNvPr>
          <p:cNvSpPr>
            <a:spLocks noGrp="1"/>
          </p:cNvSpPr>
          <p:nvPr/>
        </p:nvSpPr>
        <p:spPr>
          <a:xfrm>
            <a:off x="3619500" y="3829050"/>
            <a:ext cx="3143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Monitoring without manual chaos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14C048-70F6-4866-B437-7A1526F878AA}"/>
              </a:ext>
            </a:extLst>
          </p:cNvPr>
          <p:cNvSpPr>
            <a:spLocks noGrp="1"/>
          </p:cNvSpPr>
          <p:nvPr/>
        </p:nvSpPr>
        <p:spPr>
          <a:xfrm>
            <a:off x="7334249" y="3790950"/>
            <a:ext cx="3065895" cy="2667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6812511-9283-49B0-9396-529FA7E17019}"/>
              </a:ext>
            </a:extLst>
          </p:cNvPr>
          <p:cNvSpPr>
            <a:spLocks noGrp="1"/>
          </p:cNvSpPr>
          <p:nvPr/>
        </p:nvSpPr>
        <p:spPr>
          <a:xfrm>
            <a:off x="7524749" y="3829050"/>
            <a:ext cx="280150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237CB2-903D-4DCA-88D9-4A4C3B50CB59}"/>
              </a:ext>
            </a:extLst>
          </p:cNvPr>
          <p:cNvSpPr>
            <a:spLocks noGrp="1"/>
          </p:cNvSpPr>
          <p:nvPr/>
        </p:nvSpPr>
        <p:spPr>
          <a:xfrm>
            <a:off x="666750" y="4305300"/>
            <a:ext cx="9810750" cy="476250"/>
          </a:xfrm>
          <a:prstGeom prst="rect">
            <a:avLst/>
          </a:prstGeom>
          <a:solidFill>
            <a:srgbClr val="EFE7D8"/>
          </a:solidFill>
          <a:ln w="9525">
            <a:solidFill>
              <a:srgbClr val="DED4C4"/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14A23C5-730D-488B-9339-953D32B21E1A}"/>
              </a:ext>
            </a:extLst>
          </p:cNvPr>
          <p:cNvSpPr>
            <a:spLocks noGrp="1"/>
          </p:cNvSpPr>
          <p:nvPr/>
        </p:nvSpPr>
        <p:spPr>
          <a:xfrm>
            <a:off x="800100" y="44386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Reviewers / scholars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AEB55FB-DB47-4698-A1D5-590DF658DCF1}"/>
              </a:ext>
            </a:extLst>
          </p:cNvPr>
          <p:cNvSpPr>
            <a:spLocks noGrp="1"/>
          </p:cNvSpPr>
          <p:nvPr/>
        </p:nvSpPr>
        <p:spPr>
          <a:xfrm>
            <a:off x="3619500" y="4438650"/>
            <a:ext cx="3143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Structured evidence and audit trail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EA25C4E-FEB2-4D49-B8BF-741E02265E4A}"/>
              </a:ext>
            </a:extLst>
          </p:cNvPr>
          <p:cNvSpPr>
            <a:spLocks noGrp="1"/>
          </p:cNvSpPr>
          <p:nvPr/>
        </p:nvSpPr>
        <p:spPr>
          <a:xfrm>
            <a:off x="7334249" y="4400550"/>
            <a:ext cx="3065895" cy="2667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594EA7-D257-441C-B992-A0F3A0A049D4}"/>
              </a:ext>
            </a:extLst>
          </p:cNvPr>
          <p:cNvSpPr>
            <a:spLocks noGrp="1"/>
          </p:cNvSpPr>
          <p:nvPr/>
        </p:nvSpPr>
        <p:spPr>
          <a:xfrm>
            <a:off x="7524749" y="4438650"/>
            <a:ext cx="280150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DA1DABC-E530-483B-9186-FB758754122D}"/>
              </a:ext>
            </a:extLst>
          </p:cNvPr>
          <p:cNvSpPr>
            <a:spLocks noGrp="1"/>
          </p:cNvSpPr>
          <p:nvPr/>
        </p:nvSpPr>
        <p:spPr>
          <a:xfrm>
            <a:off x="666750" y="4914900"/>
            <a:ext cx="9810750" cy="476250"/>
          </a:xfrm>
          <a:prstGeom prst="rect">
            <a:avLst/>
          </a:prstGeom>
          <a:solidFill>
            <a:srgbClr val="F9F4EA"/>
          </a:solidFill>
          <a:ln w="9525">
            <a:solidFill>
              <a:srgbClr val="DED4C4"/>
            </a:solidFill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D7BE414-4DB2-4452-A47A-E7E246536F75}"/>
              </a:ext>
            </a:extLst>
          </p:cNvPr>
          <p:cNvSpPr>
            <a:spLocks noGrp="1"/>
          </p:cNvSpPr>
          <p:nvPr/>
        </p:nvSpPr>
        <p:spPr>
          <a:xfrm>
            <a:off x="800100" y="50482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Grantmakers / partners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5EED370-C00E-417B-AA28-EA8F52707F6D}"/>
              </a:ext>
            </a:extLst>
          </p:cNvPr>
          <p:cNvSpPr>
            <a:spLocks noGrp="1"/>
          </p:cNvSpPr>
          <p:nvPr/>
        </p:nvSpPr>
        <p:spPr>
          <a:xfrm>
            <a:off x="3619500" y="5048250"/>
            <a:ext cx="3143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Pilot outcomes and adoption proof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5AEA006-8ECC-492D-888C-0C3333742BBD}"/>
              </a:ext>
            </a:extLst>
          </p:cNvPr>
          <p:cNvSpPr>
            <a:spLocks noGrp="1"/>
          </p:cNvSpPr>
          <p:nvPr/>
        </p:nvSpPr>
        <p:spPr>
          <a:xfrm>
            <a:off x="7334249" y="5010150"/>
            <a:ext cx="3065895" cy="2667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3DFA092-E059-4733-951B-05C63C25FC99}"/>
              </a:ext>
            </a:extLst>
          </p:cNvPr>
          <p:cNvSpPr>
            <a:spLocks noGrp="1"/>
          </p:cNvSpPr>
          <p:nvPr/>
        </p:nvSpPr>
        <p:spPr>
          <a:xfrm>
            <a:off x="7524749" y="5048250"/>
            <a:ext cx="280150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F6F1E7"/>
                </a:solidFill>
                <a:latin typeface="Aptos"/>
                <a:ea typeface="Aptos"/>
                <a:cs typeface="Aptos"/>
              </a:rPr>
              <a:t>Reports + public profiles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4A143E1-D5CA-49B3-826B-96A3BBCD3005}"/>
              </a:ext>
            </a:extLst>
          </p:cNvPr>
          <p:cNvSpPr>
            <a:spLocks noGrp="1"/>
          </p:cNvSpPr>
          <p:nvPr/>
        </p:nvSpPr>
        <p:spPr>
          <a:xfrm>
            <a:off x="800100" y="5772150"/>
            <a:ext cx="7239000" cy="28575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D2918BE-4ADA-474E-A2B6-7E0EC89A3B10}"/>
              </a:ext>
            </a:extLst>
          </p:cNvPr>
          <p:cNvSpPr>
            <a:spLocks noGrp="1"/>
          </p:cNvSpPr>
          <p:nvPr/>
        </p:nvSpPr>
        <p:spPr>
          <a:xfrm>
            <a:off x="800100" y="5943600"/>
            <a:ext cx="7620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The product strategy is not one dashboard for everyone; it is one evidence layer powering the right view for each stakeholder.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383436C-F471-46B2-8802-C8256417B6FF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74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746F"/>
                </a:solidFill>
                <a:latin typeface="Aptos"/>
                <a:ea typeface="Aptos"/>
                <a:cs typeface="Aptos"/>
              </a:rPr>
              <a:t>Source: RUNBOOK_LOCAL_DEV_AGP.md, architecture map, pitch notes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DF534F3-8E7C-472B-97AC-D7F6FFC748CE}"/>
              </a:ext>
            </a:extLst>
          </p:cNvPr>
          <p:cNvSpPr>
            <a:spLocks noGrp="1"/>
          </p:cNvSpPr>
          <p:nvPr/>
        </p:nvSpPr>
        <p:spPr>
          <a:xfrm>
            <a:off x="10820400" y="63817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04457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3F51D05-DCA4-493C-BD83-4C3F1ADC15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5-marker">
            <a:extLst>
              <a:ext uri="{FF2B5EF4-FFF2-40B4-BE49-F238E27FC236}">
                <a16:creationId xmlns:a16="http://schemas.microsoft.com/office/drawing/2014/main" id="{6B37A8A1-A78B-44D3-84B2-61611390E6C3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95250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label">
            <a:extLst>
              <a:ext uri="{FF2B5EF4-FFF2-40B4-BE49-F238E27FC236}">
                <a16:creationId xmlns:a16="http://schemas.microsoft.com/office/drawing/2014/main" id="{E5EA158A-0891-4C5B-8C79-20804F0503DA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00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PRODUCT 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68C951-4387-4775-A6AB-5B88334C1CD8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7810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Three products surround one scoring and evidence core.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AC949B-0D77-4AB7-9D90-802F76FDB78F}"/>
              </a:ext>
            </a:extLst>
          </p:cNvPr>
          <p:cNvSpPr>
            <a:spLocks noGrp="1"/>
          </p:cNvSpPr>
          <p:nvPr/>
        </p:nvSpPr>
        <p:spPr>
          <a:xfrm>
            <a:off x="723900" y="2381250"/>
            <a:ext cx="2514600" cy="13144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9EF6FD-662F-41F5-839A-AA5F6901042A}"/>
              </a:ext>
            </a:extLst>
          </p:cNvPr>
          <p:cNvSpPr>
            <a:spLocks noGrp="1"/>
          </p:cNvSpPr>
          <p:nvPr/>
        </p:nvSpPr>
        <p:spPr>
          <a:xfrm>
            <a:off x="952500" y="26098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AmanahHub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E7BF8A-960C-4CB0-A3A2-057A9328AA3A}"/>
              </a:ext>
            </a:extLst>
          </p:cNvPr>
          <p:cNvSpPr>
            <a:spLocks noGrp="1"/>
          </p:cNvSpPr>
          <p:nvPr/>
        </p:nvSpPr>
        <p:spPr>
          <a:xfrm>
            <a:off x="952500" y="293370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63B35"/>
                </a:solidFill>
                <a:latin typeface="Aptos"/>
                <a:ea typeface="Aptos"/>
                <a:cs typeface="Aptos"/>
              </a:rPr>
              <a:t>public donor app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42A5A9-D286-4508-B4ED-58C22780E796}"/>
              </a:ext>
            </a:extLst>
          </p:cNvPr>
          <p:cNvSpPr>
            <a:spLocks noGrp="1"/>
          </p:cNvSpPr>
          <p:nvPr/>
        </p:nvSpPr>
        <p:spPr>
          <a:xfrm>
            <a:off x="952500" y="321945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profiles, donation flow, trust badges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3D2B2B-7E63-43DE-98EB-136DFFB80F6E}"/>
              </a:ext>
            </a:extLst>
          </p:cNvPr>
          <p:cNvSpPr>
            <a:spLocks noGrp="1"/>
          </p:cNvSpPr>
          <p:nvPr/>
        </p:nvSpPr>
        <p:spPr>
          <a:xfrm>
            <a:off x="4838700" y="2381250"/>
            <a:ext cx="2514600" cy="13144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2108B2-7043-45F7-A501-AAFEB330AD87}"/>
              </a:ext>
            </a:extLst>
          </p:cNvPr>
          <p:cNvSpPr>
            <a:spLocks noGrp="1"/>
          </p:cNvSpPr>
          <p:nvPr/>
        </p:nvSpPr>
        <p:spPr>
          <a:xfrm>
            <a:off x="5067300" y="26098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amanahOS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F55C2F-6D1D-4798-9581-2AC1AF0636F3}"/>
              </a:ext>
            </a:extLst>
          </p:cNvPr>
          <p:cNvSpPr>
            <a:spLocks noGrp="1"/>
          </p:cNvSpPr>
          <p:nvPr/>
        </p:nvSpPr>
        <p:spPr>
          <a:xfrm>
            <a:off x="5067300" y="293370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63B35"/>
                </a:solidFill>
                <a:latin typeface="Aptos"/>
                <a:ea typeface="Aptos"/>
                <a:cs typeface="Aptos"/>
              </a:rPr>
              <a:t>org governance workspace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5A35BA-248F-4532-BC00-52C13C46B158}"/>
              </a:ext>
            </a:extLst>
          </p:cNvPr>
          <p:cNvSpPr>
            <a:spLocks noGrp="1"/>
          </p:cNvSpPr>
          <p:nvPr/>
        </p:nvSpPr>
        <p:spPr>
          <a:xfrm>
            <a:off x="5067300" y="321945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projects, reports, evidence, accounting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E03F03-D8C0-45FA-98BB-C4981909443A}"/>
              </a:ext>
            </a:extLst>
          </p:cNvPr>
          <p:cNvSpPr>
            <a:spLocks noGrp="1"/>
          </p:cNvSpPr>
          <p:nvPr/>
        </p:nvSpPr>
        <p:spPr>
          <a:xfrm>
            <a:off x="8953500" y="2381250"/>
            <a:ext cx="2514600" cy="13144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B07A20-62FE-4DCB-BD05-D12B8EE95C78}"/>
              </a:ext>
            </a:extLst>
          </p:cNvPr>
          <p:cNvSpPr>
            <a:spLocks noGrp="1"/>
          </p:cNvSpPr>
          <p:nvPr/>
        </p:nvSpPr>
        <p:spPr>
          <a:xfrm>
            <a:off x="9182100" y="26098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2B7A3D-53B1-4128-9D55-EB6F00F3A841}"/>
              </a:ext>
            </a:extLst>
          </p:cNvPr>
          <p:cNvSpPr>
            <a:spLocks noGrp="1"/>
          </p:cNvSpPr>
          <p:nvPr/>
        </p:nvSpPr>
        <p:spPr>
          <a:xfrm>
            <a:off x="9182100" y="293370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D5CF"/>
                </a:solidFill>
                <a:latin typeface="Aptos"/>
                <a:ea typeface="Aptos"/>
                <a:cs typeface="Aptos"/>
              </a:rPr>
              <a:t>reviewer/admin authority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E59951-122A-4381-8A7D-B4026FDE19F9}"/>
              </a:ext>
            </a:extLst>
          </p:cNvPr>
          <p:cNvSpPr>
            <a:spLocks noGrp="1"/>
          </p:cNvSpPr>
          <p:nvPr/>
        </p:nvSpPr>
        <p:spPr>
          <a:xfrm>
            <a:off x="9182100" y="321945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6F1E7"/>
                </a:solidFill>
                <a:latin typeface="Aptos"/>
                <a:ea typeface="Aptos"/>
                <a:cs typeface="Aptos"/>
              </a:rPr>
              <a:t>cases, reviews, audit, publication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48E0ED2-F069-414C-9039-B66E12897FE2}"/>
              </a:ext>
            </a:extLst>
          </p:cNvPr>
          <p:cNvSpPr>
            <a:spLocks noGrp="1"/>
          </p:cNvSpPr>
          <p:nvPr/>
        </p:nvSpPr>
        <p:spPr>
          <a:xfrm>
            <a:off x="723900" y="4152900"/>
            <a:ext cx="10744200" cy="990600"/>
          </a:xfrm>
          <a:prstGeom prst="rect">
            <a:avLst/>
          </a:prstGeom>
          <a:solidFill>
            <a:srgbClr val="233A34"/>
          </a:solidFill>
          <a:ln w="9525">
            <a:solidFill>
              <a:srgbClr val="7BAA98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A9DD16-BBDD-4F0E-A594-FD122541108C}"/>
              </a:ext>
            </a:extLst>
          </p:cNvPr>
          <p:cNvSpPr>
            <a:spLocks noGrp="1"/>
          </p:cNvSpPr>
          <p:nvPr/>
        </p:nvSpPr>
        <p:spPr>
          <a:xfrm>
            <a:off x="2895600" y="4381500"/>
            <a:ext cx="476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@agp/scoring + Supabase evidence layer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BDE71C-4A28-49EB-B91F-C8A8917E7E59}"/>
              </a:ext>
            </a:extLst>
          </p:cNvPr>
          <p:cNvSpPr>
            <a:spLocks noGrp="1"/>
          </p:cNvSpPr>
          <p:nvPr/>
        </p:nvSpPr>
        <p:spPr>
          <a:xfrm>
            <a:off x="2895600" y="4724400"/>
            <a:ext cx="590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Amanah / CTCF scoring, RLS-protected Postgres, private storage, append-only trust events, audit logs, payment webhook events, and index history.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FDF83C3-8036-4AFC-BA5E-62F54F9B4352}"/>
              </a:ext>
            </a:extLst>
          </p:cNvPr>
          <p:cNvSpPr>
            <a:spLocks noGrp="1"/>
          </p:cNvSpPr>
          <p:nvPr/>
        </p:nvSpPr>
        <p:spPr>
          <a:xfrm>
            <a:off x="1962150" y="3714750"/>
            <a:ext cx="38100" cy="457200"/>
          </a:xfrm>
          <a:prstGeom prst="rect">
            <a:avLst/>
          </a:prstGeom>
          <a:solidFill>
            <a:srgbClr val="C8D5CF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85C1C8-50AB-4785-A001-A9E0F7723BE2}"/>
              </a:ext>
            </a:extLst>
          </p:cNvPr>
          <p:cNvSpPr>
            <a:spLocks noGrp="1"/>
          </p:cNvSpPr>
          <p:nvPr/>
        </p:nvSpPr>
        <p:spPr>
          <a:xfrm>
            <a:off x="6076950" y="3714750"/>
            <a:ext cx="38100" cy="457200"/>
          </a:xfrm>
          <a:prstGeom prst="rect">
            <a:avLst/>
          </a:prstGeom>
          <a:solidFill>
            <a:srgbClr val="C8D5CF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5D2673-FFFA-4155-82ED-C250B5986AD4}"/>
              </a:ext>
            </a:extLst>
          </p:cNvPr>
          <p:cNvSpPr>
            <a:spLocks noGrp="1"/>
          </p:cNvSpPr>
          <p:nvPr/>
        </p:nvSpPr>
        <p:spPr>
          <a:xfrm>
            <a:off x="10191750" y="3714750"/>
            <a:ext cx="38100" cy="457200"/>
          </a:xfrm>
          <a:prstGeom prst="rect">
            <a:avLst/>
          </a:prstGeom>
          <a:solidFill>
            <a:srgbClr val="C8D5CF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2C8B2E-6FFD-48DC-959F-9B62B4D2FE0F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F91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18B"/>
                </a:solidFill>
                <a:latin typeface="Aptos"/>
                <a:ea typeface="Aptos"/>
                <a:cs typeface="Aptos"/>
              </a:rPr>
              <a:t>Source: docs/ARCHITECTURE_MAP.md, ADR-001, route/source inspection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00C6367-B8AA-46A7-96DA-E9B6A13E4E69}"/>
              </a:ext>
            </a:extLst>
          </p:cNvPr>
          <p:cNvSpPr>
            <a:spLocks noGrp="1"/>
          </p:cNvSpPr>
          <p:nvPr/>
        </p:nvSpPr>
        <p:spPr>
          <a:xfrm>
            <a:off x="10820400" y="63817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57599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6EE87E6F-2BFA-4983-A342-C752E1FAC7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6-marker">
            <a:extLst>
              <a:ext uri="{FF2B5EF4-FFF2-40B4-BE49-F238E27FC236}">
                <a16:creationId xmlns:a16="http://schemas.microsoft.com/office/drawing/2014/main" id="{64C8C9D5-ABAF-4100-95EE-98A16909300E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95250" cy="2095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label">
            <a:extLst>
              <a:ext uri="{FF2B5EF4-FFF2-40B4-BE49-F238E27FC236}">
                <a16:creationId xmlns:a16="http://schemas.microsoft.com/office/drawing/2014/main" id="{8E800A1B-7FA7-4015-A901-3A1D8BC32B11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00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TRUST ENGINE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F7AB31-21E2-4099-89FA-0E152BD26762}"/>
              </a:ext>
            </a:extLst>
          </p:cNvPr>
          <p:cNvSpPr>
            <a:spLocks noGrp="1"/>
          </p:cNvSpPr>
          <p:nvPr/>
        </p:nvSpPr>
        <p:spPr>
          <a:xfrm>
            <a:off x="609600" y="933450"/>
            <a:ext cx="8572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0">
                <a:solidFill>
                  <a:srgbClr val="0E1B18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0E1B18"/>
                </a:solidFill>
                <a:latin typeface="Georgia"/>
                <a:ea typeface="Georgia"/>
                <a:cs typeface="Georgia"/>
              </a:rPr>
              <a:t>Trust is earned through events, not asserted once a year.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B2D7BE-EFE2-41FA-9D3B-B453E0B926DD}"/>
              </a:ext>
            </a:extLst>
          </p:cNvPr>
          <p:cNvSpPr>
            <a:spLocks noGrp="1"/>
          </p:cNvSpPr>
          <p:nvPr/>
        </p:nvSpPr>
        <p:spPr>
          <a:xfrm>
            <a:off x="666750" y="2686050"/>
            <a:ext cx="1695450" cy="1314450"/>
          </a:xfrm>
          <a:prstGeom prst="rect">
            <a:avLst/>
          </a:prstGeom>
          <a:solidFill>
            <a:srgbClr val="F9F4EA"/>
          </a:solidFill>
          <a:ln w="9525">
            <a:solidFill>
              <a:srgbClr val="DED4C4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44B45F-F43E-4D37-A5D4-7C0D8A37181C}"/>
              </a:ext>
            </a:extLst>
          </p:cNvPr>
          <p:cNvSpPr>
            <a:spLocks noGrp="1"/>
          </p:cNvSpPr>
          <p:nvPr/>
        </p:nvSpPr>
        <p:spPr>
          <a:xfrm>
            <a:off x="838200" y="287655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907ABD-4656-4D59-9451-6DA05195573D}"/>
              </a:ext>
            </a:extLst>
          </p:cNvPr>
          <p:cNvSpPr>
            <a:spLocks noGrp="1"/>
          </p:cNvSpPr>
          <p:nvPr/>
        </p:nvSpPr>
        <p:spPr>
          <a:xfrm>
            <a:off x="838200" y="31813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6B6B81-2CE8-493F-AD5D-07F5A9395F0C}"/>
              </a:ext>
            </a:extLst>
          </p:cNvPr>
          <p:cNvSpPr>
            <a:spLocks noGrp="1"/>
          </p:cNvSpPr>
          <p:nvPr/>
        </p:nvSpPr>
        <p:spPr>
          <a:xfrm>
            <a:off x="838200" y="3486150"/>
            <a:ext cx="12858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report submitted, policy published, payment reconciled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DF5BA4-4296-4828-B8F8-662A60CB4441}"/>
              </a:ext>
            </a:extLst>
          </p:cNvPr>
          <p:cNvSpPr>
            <a:spLocks noGrp="1"/>
          </p:cNvSpPr>
          <p:nvPr/>
        </p:nvSpPr>
        <p:spPr>
          <a:xfrm>
            <a:off x="2362200" y="3238500"/>
            <a:ext cx="495300" cy="28575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2C99D9-87A3-4348-BFC5-64676F7BDD81}"/>
              </a:ext>
            </a:extLst>
          </p:cNvPr>
          <p:cNvSpPr>
            <a:spLocks noGrp="1"/>
          </p:cNvSpPr>
          <p:nvPr/>
        </p:nvSpPr>
        <p:spPr>
          <a:xfrm>
            <a:off x="2857500" y="2686050"/>
            <a:ext cx="1695450" cy="1314450"/>
          </a:xfrm>
          <a:prstGeom prst="rect">
            <a:avLst/>
          </a:prstGeom>
          <a:solidFill>
            <a:srgbClr val="EFE7D8"/>
          </a:solidFill>
          <a:ln w="9525">
            <a:solidFill>
              <a:srgbClr val="DED4C4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FCC21A-98F2-46D9-9485-4DE3AFED72EC}"/>
              </a:ext>
            </a:extLst>
          </p:cNvPr>
          <p:cNvSpPr>
            <a:spLocks noGrp="1"/>
          </p:cNvSpPr>
          <p:nvPr/>
        </p:nvSpPr>
        <p:spPr>
          <a:xfrm>
            <a:off x="3028950" y="287655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08B204-170B-41E9-BEDC-F907574A5DFE}"/>
              </a:ext>
            </a:extLst>
          </p:cNvPr>
          <p:cNvSpPr>
            <a:spLocks noGrp="1"/>
          </p:cNvSpPr>
          <p:nvPr/>
        </p:nvSpPr>
        <p:spPr>
          <a:xfrm>
            <a:off x="3028950" y="31813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A511E0-4CBF-44AA-BFA2-1A81C99F55C0}"/>
              </a:ext>
            </a:extLst>
          </p:cNvPr>
          <p:cNvSpPr>
            <a:spLocks noGrp="1"/>
          </p:cNvSpPr>
          <p:nvPr/>
        </p:nvSpPr>
        <p:spPr>
          <a:xfrm>
            <a:off x="3028950" y="3486150"/>
            <a:ext cx="12858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file, transaction, approval, reviewer decision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454632-AC35-4A2E-8424-A77C15A60F66}"/>
              </a:ext>
            </a:extLst>
          </p:cNvPr>
          <p:cNvSpPr>
            <a:spLocks noGrp="1"/>
          </p:cNvSpPr>
          <p:nvPr/>
        </p:nvSpPr>
        <p:spPr>
          <a:xfrm>
            <a:off x="4552950" y="3238500"/>
            <a:ext cx="495300" cy="28575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8673A6-3965-4E29-B774-327101702F2C}"/>
              </a:ext>
            </a:extLst>
          </p:cNvPr>
          <p:cNvSpPr>
            <a:spLocks noGrp="1"/>
          </p:cNvSpPr>
          <p:nvPr/>
        </p:nvSpPr>
        <p:spPr>
          <a:xfrm>
            <a:off x="5048250" y="2686050"/>
            <a:ext cx="1695450" cy="1314450"/>
          </a:xfrm>
          <a:prstGeom prst="rect">
            <a:avLst/>
          </a:prstGeom>
          <a:solidFill>
            <a:srgbClr val="F9F4EA"/>
          </a:solidFill>
          <a:ln w="9525">
            <a:solidFill>
              <a:srgbClr val="DED4C4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79FFE8-83F5-4A02-AC3F-2B407419C4F7}"/>
              </a:ext>
            </a:extLst>
          </p:cNvPr>
          <p:cNvSpPr>
            <a:spLocks noGrp="1"/>
          </p:cNvSpPr>
          <p:nvPr/>
        </p:nvSpPr>
        <p:spPr>
          <a:xfrm>
            <a:off x="5219700" y="287655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CAF66A-F793-4C1A-81A7-C3B0D094E6E6}"/>
              </a:ext>
            </a:extLst>
          </p:cNvPr>
          <p:cNvSpPr>
            <a:spLocks noGrp="1"/>
          </p:cNvSpPr>
          <p:nvPr/>
        </p:nvSpPr>
        <p:spPr>
          <a:xfrm>
            <a:off x="5219700" y="31813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Trust event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06F8EC-AF2E-4549-8425-E781CFFD7604}"/>
              </a:ext>
            </a:extLst>
          </p:cNvPr>
          <p:cNvSpPr>
            <a:spLocks noGrp="1"/>
          </p:cNvSpPr>
          <p:nvPr/>
        </p:nvSpPr>
        <p:spPr>
          <a:xfrm>
            <a:off x="5219700" y="3486150"/>
            <a:ext cx="12858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append-only signal with type, source, domain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8C9BE1C-89F2-4EA3-A367-72B8D56ECDD6}"/>
              </a:ext>
            </a:extLst>
          </p:cNvPr>
          <p:cNvSpPr>
            <a:spLocks noGrp="1"/>
          </p:cNvSpPr>
          <p:nvPr/>
        </p:nvSpPr>
        <p:spPr>
          <a:xfrm>
            <a:off x="6743700" y="3238500"/>
            <a:ext cx="495300" cy="28575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EA7EE6-8C1A-4FD6-AC5B-EF3A3F97CD61}"/>
              </a:ext>
            </a:extLst>
          </p:cNvPr>
          <p:cNvSpPr>
            <a:spLocks noGrp="1"/>
          </p:cNvSpPr>
          <p:nvPr/>
        </p:nvSpPr>
        <p:spPr>
          <a:xfrm>
            <a:off x="7239000" y="2686050"/>
            <a:ext cx="1695450" cy="1314450"/>
          </a:xfrm>
          <a:prstGeom prst="rect">
            <a:avLst/>
          </a:prstGeom>
          <a:solidFill>
            <a:srgbClr val="EFE7D8"/>
          </a:solidFill>
          <a:ln w="9525">
            <a:solidFill>
              <a:srgbClr val="DED4C4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A4CB8D-75B2-4017-A3D1-9DD8C2B9DFCC}"/>
              </a:ext>
            </a:extLst>
          </p:cNvPr>
          <p:cNvSpPr>
            <a:spLocks noGrp="1"/>
          </p:cNvSpPr>
          <p:nvPr/>
        </p:nvSpPr>
        <p:spPr>
          <a:xfrm>
            <a:off x="7410450" y="287655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B9A0EF-5AE7-4278-B481-EF7B5DBBA8A8}"/>
              </a:ext>
            </a:extLst>
          </p:cNvPr>
          <p:cNvSpPr>
            <a:spLocks noGrp="1"/>
          </p:cNvSpPr>
          <p:nvPr/>
        </p:nvSpPr>
        <p:spPr>
          <a:xfrm>
            <a:off x="7410450" y="31813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EC5C177-952E-41FD-9E50-12D01401DE1E}"/>
              </a:ext>
            </a:extLst>
          </p:cNvPr>
          <p:cNvSpPr>
            <a:spLocks noGrp="1"/>
          </p:cNvSpPr>
          <p:nvPr/>
        </p:nvSpPr>
        <p:spPr>
          <a:xfrm>
            <a:off x="7410450" y="3486150"/>
            <a:ext cx="12858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Amanah / CTCF calculation and trust health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7A43930-6C8C-46A1-8D59-D090B47B15B5}"/>
              </a:ext>
            </a:extLst>
          </p:cNvPr>
          <p:cNvSpPr>
            <a:spLocks noGrp="1"/>
          </p:cNvSpPr>
          <p:nvPr/>
        </p:nvSpPr>
        <p:spPr>
          <a:xfrm>
            <a:off x="8934450" y="3238500"/>
            <a:ext cx="495300" cy="28575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52B6B76-CB70-4AF0-AA59-31F96BEBC4A4}"/>
              </a:ext>
            </a:extLst>
          </p:cNvPr>
          <p:cNvSpPr>
            <a:spLocks noGrp="1"/>
          </p:cNvSpPr>
          <p:nvPr/>
        </p:nvSpPr>
        <p:spPr>
          <a:xfrm>
            <a:off x="9429750" y="2686050"/>
            <a:ext cx="1695450" cy="1314450"/>
          </a:xfrm>
          <a:prstGeom prst="rect">
            <a:avLst/>
          </a:prstGeom>
          <a:solidFill>
            <a:srgbClr val="F9F4EA"/>
          </a:solidFill>
          <a:ln w="9525">
            <a:solidFill>
              <a:srgbClr val="DED4C4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4AFCACC-E9FF-403B-BC06-754AE4E42C16}"/>
              </a:ext>
            </a:extLst>
          </p:cNvPr>
          <p:cNvSpPr>
            <a:spLocks noGrp="1"/>
          </p:cNvSpPr>
          <p:nvPr/>
        </p:nvSpPr>
        <p:spPr>
          <a:xfrm>
            <a:off x="9601200" y="287655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E64597A-C308-4C97-82C4-2ACC9618780C}"/>
              </a:ext>
            </a:extLst>
          </p:cNvPr>
          <p:cNvSpPr>
            <a:spLocks noGrp="1"/>
          </p:cNvSpPr>
          <p:nvPr/>
        </p:nvSpPr>
        <p:spPr>
          <a:xfrm>
            <a:off x="9601200" y="31813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Public signal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2CCD601-4D26-4A09-8B35-77B486B3055F}"/>
              </a:ext>
            </a:extLst>
          </p:cNvPr>
          <p:cNvSpPr>
            <a:spLocks noGrp="1"/>
          </p:cNvSpPr>
          <p:nvPr/>
        </p:nvSpPr>
        <p:spPr>
          <a:xfrm>
            <a:off x="9601200" y="3486150"/>
            <a:ext cx="12858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47554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4F"/>
                </a:solidFill>
                <a:latin typeface="Aptos"/>
                <a:ea typeface="Aptos"/>
                <a:cs typeface="Aptos"/>
              </a:rPr>
              <a:t>badge, timeline, profile, donor confidence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CFEAEF5-E419-4F89-8AA4-C01FA038EC34}"/>
              </a:ext>
            </a:extLst>
          </p:cNvPr>
          <p:cNvSpPr>
            <a:spLocks noGrp="1"/>
          </p:cNvSpPr>
          <p:nvPr/>
        </p:nvSpPr>
        <p:spPr>
          <a:xfrm>
            <a:off x="1162050" y="4591050"/>
            <a:ext cx="7239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3D4A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D4A46"/>
                </a:solidFill>
                <a:latin typeface="Aptos"/>
                <a:ea typeface="Aptos"/>
                <a:cs typeface="Aptos"/>
              </a:rPr>
              <a:t>Continuous scoring prevents two bad outcomes: scores that exceed common sense, and old certifications that hide stale governance activity.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85E6323-8180-448A-8EDC-F561EC09329D}"/>
              </a:ext>
            </a:extLst>
          </p:cNvPr>
          <p:cNvSpPr>
            <a:spLocks noGrp="1"/>
          </p:cNvSpPr>
          <p:nvPr/>
        </p:nvSpPr>
        <p:spPr>
          <a:xfrm>
            <a:off x="8591550" y="4343400"/>
            <a:ext cx="2400300" cy="1123950"/>
          </a:xfrm>
          <a:prstGeom prst="rect">
            <a:avLst/>
          </a:prstGeom>
          <a:solidFill>
            <a:srgbClr val="0E1B1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DEBBC7A-AFD4-4400-BE08-BE4CDE77F1BC}"/>
              </a:ext>
            </a:extLst>
          </p:cNvPr>
          <p:cNvSpPr>
            <a:spLocks noGrp="1"/>
          </p:cNvSpPr>
          <p:nvPr/>
        </p:nvSpPr>
        <p:spPr>
          <a:xfrm>
            <a:off x="8839200" y="45910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Design principle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8EBA7CA-DFDC-4FFF-ADC3-DF299D3D929E}"/>
              </a:ext>
            </a:extLst>
          </p:cNvPr>
          <p:cNvSpPr>
            <a:spLocks noGrp="1"/>
          </p:cNvSpPr>
          <p:nvPr/>
        </p:nvSpPr>
        <p:spPr>
          <a:xfrm>
            <a:off x="8839200" y="4895850"/>
            <a:ext cx="17526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6F1E7"/>
                </a:solidFill>
                <a:latin typeface="Aptos"/>
                <a:ea typeface="Aptos"/>
                <a:cs typeface="Aptos"/>
              </a:rPr>
              <a:t>Current health can move while certified history remains auditable.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6AAFF07-6DF0-487C-984D-1656A51AA89D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74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746F"/>
                </a:solidFill>
                <a:latin typeface="Aptos"/>
                <a:ea typeface="Aptos"/>
                <a:cs typeface="Aptos"/>
              </a:rPr>
              <a:t>Source: Amanah Index V2.1 sprint plan, score deduction upgrade notes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D8C5A36-A307-436A-B500-0DECD1206304}"/>
              </a:ext>
            </a:extLst>
          </p:cNvPr>
          <p:cNvSpPr>
            <a:spLocks noGrp="1"/>
          </p:cNvSpPr>
          <p:nvPr/>
        </p:nvSpPr>
        <p:spPr>
          <a:xfrm>
            <a:off x="10820400" y="63817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48674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2076CB6B-FBBE-4EDC-A53A-04E3C418DE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7-marker">
            <a:extLst>
              <a:ext uri="{FF2B5EF4-FFF2-40B4-BE49-F238E27FC236}">
                <a16:creationId xmlns:a16="http://schemas.microsoft.com/office/drawing/2014/main" id="{9CF3B006-F200-4F27-8A5A-6984A7C63F9C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95250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>
              <a:ext uri="{FF2B5EF4-FFF2-40B4-BE49-F238E27FC236}">
                <a16:creationId xmlns:a16="http://schemas.microsoft.com/office/drawing/2014/main" id="{DFB5DF61-6DAF-4BE4-9A92-C2B90AD6387F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00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SECURITY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E8258B-497B-4F64-9440-6A363392C96C}"/>
              </a:ext>
            </a:extLst>
          </p:cNvPr>
          <p:cNvSpPr>
            <a:spLocks noGrp="1"/>
          </p:cNvSpPr>
          <p:nvPr/>
        </p:nvSpPr>
        <p:spPr>
          <a:xfrm>
            <a:off x="609600" y="952500"/>
            <a:ext cx="8572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The architecture is intentionally small, secure, and pilot-ready.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ABEA62-F3D2-4AE3-8DC7-7133333CCEFD}"/>
              </a:ext>
            </a:extLst>
          </p:cNvPr>
          <p:cNvSpPr>
            <a:spLocks noGrp="1"/>
          </p:cNvSpPr>
          <p:nvPr/>
        </p:nvSpPr>
        <p:spPr>
          <a:xfrm>
            <a:off x="819150" y="2324100"/>
            <a:ext cx="2914650" cy="2438400"/>
          </a:xfrm>
          <a:prstGeom prst="rect">
            <a:avLst/>
          </a:prstGeom>
          <a:solidFill>
            <a:srgbClr val="20342F"/>
          </a:solidFill>
          <a:ln w="9525">
            <a:solidFill>
              <a:srgbClr val="7BAA98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FA92B9-A7E8-4CE3-A8E8-4B0F023F6913}"/>
              </a:ext>
            </a:extLst>
          </p:cNvPr>
          <p:cNvSpPr>
            <a:spLocks noGrp="1"/>
          </p:cNvSpPr>
          <p:nvPr/>
        </p:nvSpPr>
        <p:spPr>
          <a:xfrm>
            <a:off x="1104900" y="259080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Next.js app surfaces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373294-7295-4680-8522-68D5EE7AB05C}"/>
              </a:ext>
            </a:extLst>
          </p:cNvPr>
          <p:cNvSpPr>
            <a:spLocks noGrp="1"/>
          </p:cNvSpPr>
          <p:nvPr/>
        </p:nvSpPr>
        <p:spPr>
          <a:xfrm>
            <a:off x="1104900" y="3067050"/>
            <a:ext cx="20002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AmanahHub</a:t>
            </a:r>
          </a:p>
          <a:p>
            <a:pPr algn="l">
              <a:defRPr sz="15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amanahOS</a:t>
            </a:r>
          </a:p>
          <a:p>
            <a:pPr algn="l">
              <a:defRPr sz="15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DAA82F-29A8-47FE-951D-B477F3C12B6C}"/>
              </a:ext>
            </a:extLst>
          </p:cNvPr>
          <p:cNvSpPr>
            <a:spLocks noGrp="1"/>
          </p:cNvSpPr>
          <p:nvPr/>
        </p:nvSpPr>
        <p:spPr>
          <a:xfrm>
            <a:off x="1104900" y="4038600"/>
            <a:ext cx="2095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Server Actions and Route Handlers hold app logic close to UX.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2DC747-DE07-4A26-99EA-3C7C6F2A9365}"/>
              </a:ext>
            </a:extLst>
          </p:cNvPr>
          <p:cNvSpPr>
            <a:spLocks noGrp="1"/>
          </p:cNvSpPr>
          <p:nvPr/>
        </p:nvSpPr>
        <p:spPr>
          <a:xfrm>
            <a:off x="4629150" y="2324100"/>
            <a:ext cx="2914650" cy="2438400"/>
          </a:xfrm>
          <a:prstGeom prst="rect">
            <a:avLst/>
          </a:prstGeom>
          <a:solidFill>
            <a:srgbClr val="20342F"/>
          </a:solidFill>
          <a:ln w="9525">
            <a:solidFill>
              <a:srgbClr val="D8A84E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8AB894-AC43-4C23-88F8-6487B87AE5B3}"/>
              </a:ext>
            </a:extLst>
          </p:cNvPr>
          <p:cNvSpPr>
            <a:spLocks noGrp="1"/>
          </p:cNvSpPr>
          <p:nvPr/>
        </p:nvSpPr>
        <p:spPr>
          <a:xfrm>
            <a:off x="4914900" y="259080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Supabase boundary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97D038-729F-435B-827E-FA4DBFB5A85D}"/>
              </a:ext>
            </a:extLst>
          </p:cNvPr>
          <p:cNvSpPr>
            <a:spLocks noGrp="1"/>
          </p:cNvSpPr>
          <p:nvPr/>
        </p:nvSpPr>
        <p:spPr>
          <a:xfrm>
            <a:off x="4914900" y="3067050"/>
            <a:ext cx="21907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Auth</a:t>
            </a:r>
          </a:p>
          <a:p>
            <a:pPr algn="l">
              <a:defRPr sz="15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Postgres + RLS</a:t>
            </a:r>
          </a:p>
          <a:p>
            <a:pPr algn="l">
              <a:defRPr sz="15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Storage signed URLs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553204-5F8D-4565-ABC6-25890927427F}"/>
              </a:ext>
            </a:extLst>
          </p:cNvPr>
          <p:cNvSpPr>
            <a:spLocks noGrp="1"/>
          </p:cNvSpPr>
          <p:nvPr/>
        </p:nvSpPr>
        <p:spPr>
          <a:xfrm>
            <a:off x="4914900" y="4038600"/>
            <a:ext cx="2095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organization_id is the tenant boundary; RLS is not optional.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2334CB-0180-43B0-B074-C9E58964097F}"/>
              </a:ext>
            </a:extLst>
          </p:cNvPr>
          <p:cNvSpPr>
            <a:spLocks noGrp="1"/>
          </p:cNvSpPr>
          <p:nvPr/>
        </p:nvSpPr>
        <p:spPr>
          <a:xfrm>
            <a:off x="8439150" y="2324100"/>
            <a:ext cx="2914650" cy="2438400"/>
          </a:xfrm>
          <a:prstGeom prst="rect">
            <a:avLst/>
          </a:prstGeom>
          <a:solidFill>
            <a:srgbClr val="20342F"/>
          </a:solidFill>
          <a:ln w="9525">
            <a:solidFill>
              <a:srgbClr val="466A7A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79898C-1DFF-4C06-974D-D4F169509B30}"/>
              </a:ext>
            </a:extLst>
          </p:cNvPr>
          <p:cNvSpPr>
            <a:spLocks noGrp="1"/>
          </p:cNvSpPr>
          <p:nvPr/>
        </p:nvSpPr>
        <p:spPr>
          <a:xfrm>
            <a:off x="8724900" y="259080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Privileged tasks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F293A8-3D20-4979-A673-C0FF50905DBE}"/>
              </a:ext>
            </a:extLst>
          </p:cNvPr>
          <p:cNvSpPr>
            <a:spLocks noGrp="1"/>
          </p:cNvSpPr>
          <p:nvPr/>
        </p:nvSpPr>
        <p:spPr>
          <a:xfrm>
            <a:off x="8724900" y="3067050"/>
            <a:ext cx="21907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webhooks</a:t>
            </a:r>
          </a:p>
          <a:p>
            <a:pPr algn="l">
              <a:defRPr sz="15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score recalculation</a:t>
            </a:r>
          </a:p>
          <a:p>
            <a:pPr algn="l">
              <a:defRPr sz="15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invite email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2EB8B2-1447-414A-86CC-37840CCA9BA9}"/>
              </a:ext>
            </a:extLst>
          </p:cNvPr>
          <p:cNvSpPr>
            <a:spLocks noGrp="1"/>
          </p:cNvSpPr>
          <p:nvPr/>
        </p:nvSpPr>
        <p:spPr>
          <a:xfrm>
            <a:off x="8724900" y="4038600"/>
            <a:ext cx="2095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Service role stays server-side; append-only histories are never mutated.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2F1A5B-C2A5-4275-AC23-722D35DE309B}"/>
              </a:ext>
            </a:extLst>
          </p:cNvPr>
          <p:cNvSpPr>
            <a:spLocks noGrp="1"/>
          </p:cNvSpPr>
          <p:nvPr/>
        </p:nvSpPr>
        <p:spPr>
          <a:xfrm>
            <a:off x="3733800" y="3486150"/>
            <a:ext cx="895350" cy="28575"/>
          </a:xfrm>
          <a:prstGeom prst="rect">
            <a:avLst/>
          </a:prstGeom>
          <a:solidFill>
            <a:srgbClr val="C8D5CF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70B3FC8-F581-45CF-90A0-479391A84D8F}"/>
              </a:ext>
            </a:extLst>
          </p:cNvPr>
          <p:cNvSpPr>
            <a:spLocks noGrp="1"/>
          </p:cNvSpPr>
          <p:nvPr/>
        </p:nvSpPr>
        <p:spPr>
          <a:xfrm>
            <a:off x="7543800" y="3486150"/>
            <a:ext cx="895350" cy="28575"/>
          </a:xfrm>
          <a:prstGeom prst="rect">
            <a:avLst/>
          </a:prstGeom>
          <a:solidFill>
            <a:srgbClr val="C8D5CF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D1B3AB-4B83-44D1-A6B0-11824B8D98C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F91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18B"/>
                </a:solidFill>
                <a:latin typeface="Aptos"/>
                <a:ea typeface="Aptos"/>
                <a:cs typeface="Aptos"/>
              </a:rPr>
              <a:t>Source: ADR-001, architecture map constraints, source inspection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99EDA84-4839-4898-88FC-12A44682AD2E}"/>
              </a:ext>
            </a:extLst>
          </p:cNvPr>
          <p:cNvSpPr>
            <a:spLocks noGrp="1"/>
          </p:cNvSpPr>
          <p:nvPr/>
        </p:nvSpPr>
        <p:spPr>
          <a:xfrm>
            <a:off x="10820400" y="63817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19826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FE9C06A-ECAE-4AE9-AF9A-5A2E22A5CE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8-marker">
            <a:extLst>
              <a:ext uri="{FF2B5EF4-FFF2-40B4-BE49-F238E27FC236}">
                <a16:creationId xmlns:a16="http://schemas.microsoft.com/office/drawing/2014/main" id="{6A66E6D5-B66C-4B91-8BF7-6B2AC0A9BBE7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95250" cy="2095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8-label">
            <a:extLst>
              <a:ext uri="{FF2B5EF4-FFF2-40B4-BE49-F238E27FC236}">
                <a16:creationId xmlns:a16="http://schemas.microsoft.com/office/drawing/2014/main" id="{94D29A41-E857-4357-9086-97506CA4F210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00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PILOT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205171-E722-44EB-90EC-5B93010242F3}"/>
              </a:ext>
            </a:extLst>
          </p:cNvPr>
          <p:cNvSpPr>
            <a:spLocks noGrp="1"/>
          </p:cNvSpPr>
          <p:nvPr/>
        </p:nvSpPr>
        <p:spPr>
          <a:xfrm>
            <a:off x="609600" y="933450"/>
            <a:ext cx="8572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0">
                <a:solidFill>
                  <a:srgbClr val="0E1B18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0E1B18"/>
                </a:solidFill>
                <a:latin typeface="Georgia"/>
                <a:ea typeface="Georgia"/>
                <a:cs typeface="Georgia"/>
              </a:rPr>
              <a:t>Pilot success should prove governance adoption, not vanity usage.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541C25-C170-4A47-9EF7-1EB85622C708}"/>
              </a:ext>
            </a:extLst>
          </p:cNvPr>
          <p:cNvSpPr>
            <a:spLocks noGrp="1"/>
          </p:cNvSpPr>
          <p:nvPr/>
        </p:nvSpPr>
        <p:spPr>
          <a:xfrm>
            <a:off x="800100" y="2457450"/>
            <a:ext cx="4381500" cy="9906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1FA737-834F-4AAF-A2C7-1CE557402E08}"/>
              </a:ext>
            </a:extLst>
          </p:cNvPr>
          <p:cNvSpPr>
            <a:spLocks noGrp="1"/>
          </p:cNvSpPr>
          <p:nvPr/>
        </p:nvSpPr>
        <p:spPr>
          <a:xfrm>
            <a:off x="1066800" y="26860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Onboarded organizations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59A4E3-C726-4179-92AD-2471A6F196FB}"/>
              </a:ext>
            </a:extLst>
          </p:cNvPr>
          <p:cNvSpPr>
            <a:spLocks noGrp="1"/>
          </p:cNvSpPr>
          <p:nvPr/>
        </p:nvSpPr>
        <p:spPr>
          <a:xfrm>
            <a:off x="1066800" y="3048000"/>
            <a:ext cx="342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selected mosques, NGOs, waqf or charity pilots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1944A7-983D-47E3-87D6-C72A8F6C5B33}"/>
              </a:ext>
            </a:extLst>
          </p:cNvPr>
          <p:cNvSpPr>
            <a:spLocks noGrp="1"/>
          </p:cNvSpPr>
          <p:nvPr/>
        </p:nvSpPr>
        <p:spPr>
          <a:xfrm>
            <a:off x="5943600" y="2457450"/>
            <a:ext cx="4381500" cy="9906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4631A9-59EB-4C75-BF30-EA670BF296D4}"/>
              </a:ext>
            </a:extLst>
          </p:cNvPr>
          <p:cNvSpPr>
            <a:spLocks noGrp="1"/>
          </p:cNvSpPr>
          <p:nvPr/>
        </p:nvSpPr>
        <p:spPr>
          <a:xfrm>
            <a:off x="6210300" y="26860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Governance activity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B752E4-3C95-4F0A-892F-EA49D8F90684}"/>
              </a:ext>
            </a:extLst>
          </p:cNvPr>
          <p:cNvSpPr>
            <a:spLocks noGrp="1"/>
          </p:cNvSpPr>
          <p:nvPr/>
        </p:nvSpPr>
        <p:spPr>
          <a:xfrm>
            <a:off x="6210300" y="3048000"/>
            <a:ext cx="342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reports, policies, evidence uploads, approvals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276A87-427D-4824-812C-E2E17D23422F}"/>
              </a:ext>
            </a:extLst>
          </p:cNvPr>
          <p:cNvSpPr>
            <a:spLocks noGrp="1"/>
          </p:cNvSpPr>
          <p:nvPr/>
        </p:nvSpPr>
        <p:spPr>
          <a:xfrm>
            <a:off x="800100" y="3810000"/>
            <a:ext cx="4381500" cy="9906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5257C3-E776-46FB-BAFE-5C2373C9A9A5}"/>
              </a:ext>
            </a:extLst>
          </p:cNvPr>
          <p:cNvSpPr>
            <a:spLocks noGrp="1"/>
          </p:cNvSpPr>
          <p:nvPr/>
        </p:nvSpPr>
        <p:spPr>
          <a:xfrm>
            <a:off x="1066800" y="40386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Trust signal quality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985105-DDF3-4955-8334-DD8BF253ECC6}"/>
              </a:ext>
            </a:extLst>
          </p:cNvPr>
          <p:cNvSpPr>
            <a:spLocks noGrp="1"/>
          </p:cNvSpPr>
          <p:nvPr/>
        </p:nvSpPr>
        <p:spPr>
          <a:xfrm>
            <a:off x="1066800" y="4400550"/>
            <a:ext cx="342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reviewable events, public profiles, score history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6E27B8-011E-403D-A0CE-D87F4455EEF3}"/>
              </a:ext>
            </a:extLst>
          </p:cNvPr>
          <p:cNvSpPr>
            <a:spLocks noGrp="1"/>
          </p:cNvSpPr>
          <p:nvPr/>
        </p:nvSpPr>
        <p:spPr>
          <a:xfrm>
            <a:off x="5943600" y="3810000"/>
            <a:ext cx="4381500" cy="990600"/>
          </a:xfrm>
          <a:prstGeom prst="rect">
            <a:avLst/>
          </a:prstGeom>
          <a:solidFill>
            <a:srgbClr val="0E1B1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466C90-6F61-4648-B9EA-69F8BC98C429}"/>
              </a:ext>
            </a:extLst>
          </p:cNvPr>
          <p:cNvSpPr>
            <a:spLocks noGrp="1"/>
          </p:cNvSpPr>
          <p:nvPr/>
        </p:nvSpPr>
        <p:spPr>
          <a:xfrm>
            <a:off x="6210300" y="40386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Stakeholder confidence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F8A18B-E3BB-43B8-BB50-FA94E5C70FC9}"/>
              </a:ext>
            </a:extLst>
          </p:cNvPr>
          <p:cNvSpPr>
            <a:spLocks noGrp="1"/>
          </p:cNvSpPr>
          <p:nvPr/>
        </p:nvSpPr>
        <p:spPr>
          <a:xfrm>
            <a:off x="6210300" y="4400550"/>
            <a:ext cx="342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donor/funder readability and reviewer efficiency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496C1A-6126-4D1E-8CA1-F92744550948}"/>
              </a:ext>
            </a:extLst>
          </p:cNvPr>
          <p:cNvSpPr>
            <a:spLocks noGrp="1"/>
          </p:cNvSpPr>
          <p:nvPr/>
        </p:nvSpPr>
        <p:spPr>
          <a:xfrm>
            <a:off x="800100" y="5448300"/>
            <a:ext cx="876300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0005F5-177B-4B5B-ACB5-3D15A913B253}"/>
              </a:ext>
            </a:extLst>
          </p:cNvPr>
          <p:cNvSpPr>
            <a:spLocks noGrp="1"/>
          </p:cNvSpPr>
          <p:nvPr/>
        </p:nvSpPr>
        <p:spPr>
          <a:xfrm>
            <a:off x="800100" y="5676900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Pilot question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98AA2F-F644-4684-A753-658776C3ACA1}"/>
              </a:ext>
            </a:extLst>
          </p:cNvPr>
          <p:cNvSpPr>
            <a:spLocks noGrp="1"/>
          </p:cNvSpPr>
          <p:nvPr/>
        </p:nvSpPr>
        <p:spPr>
          <a:xfrm>
            <a:off x="2724150" y="5638800"/>
            <a:ext cx="685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Can AGP make governance easier to perform, easier to verify, and easier to trust across a small representative cohort?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FF3523-35FB-49AF-B6EE-761537600D6B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74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746F"/>
                </a:solidFill>
                <a:latin typeface="Aptos"/>
                <a:ea typeface="Aptos"/>
                <a:cs typeface="Aptos"/>
              </a:rPr>
              <a:t>Source: pitch notes and Phase 2 architecture map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8E8787-145D-444D-A3DD-BEE7F9AC8049}"/>
              </a:ext>
            </a:extLst>
          </p:cNvPr>
          <p:cNvSpPr>
            <a:spLocks noGrp="1"/>
          </p:cNvSpPr>
          <p:nvPr/>
        </p:nvSpPr>
        <p:spPr>
          <a:xfrm>
            <a:off x="10820400" y="63817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31504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FC07AB17-67BF-4D35-98E1-C02D8150C32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9-marker">
            <a:extLst>
              <a:ext uri="{FF2B5EF4-FFF2-40B4-BE49-F238E27FC236}">
                <a16:creationId xmlns:a16="http://schemas.microsoft.com/office/drawing/2014/main" id="{8A341FB8-9B89-494F-8CD2-DF89086CD2DD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95250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9-label">
            <a:extLst>
              <a:ext uri="{FF2B5EF4-FFF2-40B4-BE49-F238E27FC236}">
                <a16:creationId xmlns:a16="http://schemas.microsoft.com/office/drawing/2014/main" id="{94139A46-3868-40B5-B6ED-8039763B694D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00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SUSTAINABILITY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05AA24-AA4A-4F6F-B434-1F4B3C757B3C}"/>
              </a:ext>
            </a:extLst>
          </p:cNvPr>
          <p:cNvSpPr>
            <a:spLocks noGrp="1"/>
          </p:cNvSpPr>
          <p:nvPr/>
        </p:nvSpPr>
        <p:spPr>
          <a:xfrm>
            <a:off x="609600" y="933450"/>
            <a:ext cx="8572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75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75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Public-good outcomes can connect to a sustainable operating model.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BEBF49-B52B-4EFC-8D60-252CFEB244F8}"/>
              </a:ext>
            </a:extLst>
          </p:cNvPr>
          <p:cNvSpPr>
            <a:spLocks noGrp="1"/>
          </p:cNvSpPr>
          <p:nvPr/>
        </p:nvSpPr>
        <p:spPr>
          <a:xfrm>
            <a:off x="895350" y="2362200"/>
            <a:ext cx="2857500" cy="5143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F6A5AC-6467-40C1-86FE-E9655091A34C}"/>
              </a:ext>
            </a:extLst>
          </p:cNvPr>
          <p:cNvSpPr>
            <a:spLocks noGrp="1"/>
          </p:cNvSpPr>
          <p:nvPr/>
        </p:nvSpPr>
        <p:spPr>
          <a:xfrm>
            <a:off x="1104900" y="251460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Governance tools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A64636-5820-4C64-9ED7-8416B3294DE4}"/>
              </a:ext>
            </a:extLst>
          </p:cNvPr>
          <p:cNvSpPr>
            <a:spLocks noGrp="1"/>
          </p:cNvSpPr>
          <p:nvPr/>
        </p:nvSpPr>
        <p:spPr>
          <a:xfrm>
            <a:off x="4667250" y="2362200"/>
            <a:ext cx="3905250" cy="514350"/>
          </a:xfrm>
          <a:prstGeom prst="rect">
            <a:avLst/>
          </a:prstGeom>
          <a:solidFill>
            <a:srgbClr val="20342F"/>
          </a:solidFill>
          <a:ln w="9525">
            <a:solidFill>
              <a:srgbClr val="7BAA98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ED7FA8-243F-4881-834E-BCB922B47ACB}"/>
              </a:ext>
            </a:extLst>
          </p:cNvPr>
          <p:cNvSpPr>
            <a:spLocks noGrp="1"/>
          </p:cNvSpPr>
          <p:nvPr/>
        </p:nvSpPr>
        <p:spPr>
          <a:xfrm>
            <a:off x="4914900" y="2505075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1E7"/>
                </a:solidFill>
                <a:latin typeface="Aptos"/>
                <a:ea typeface="Aptos"/>
                <a:cs typeface="Aptos"/>
              </a:rPr>
              <a:t>org subscription / sponsored access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30536D-212B-4D4D-A9E8-4BE945A6BB32}"/>
              </a:ext>
            </a:extLst>
          </p:cNvPr>
          <p:cNvSpPr>
            <a:spLocks noGrp="1"/>
          </p:cNvSpPr>
          <p:nvPr/>
        </p:nvSpPr>
        <p:spPr>
          <a:xfrm>
            <a:off x="3752850" y="2609850"/>
            <a:ext cx="914400" cy="28575"/>
          </a:xfrm>
          <a:prstGeom prst="rect">
            <a:avLst/>
          </a:prstGeom>
          <a:solidFill>
            <a:srgbClr val="C8D5CF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94FA21-8DBA-417D-ADB4-46247F5A5955}"/>
              </a:ext>
            </a:extLst>
          </p:cNvPr>
          <p:cNvSpPr>
            <a:spLocks noGrp="1"/>
          </p:cNvSpPr>
          <p:nvPr/>
        </p:nvSpPr>
        <p:spPr>
          <a:xfrm>
            <a:off x="895350" y="3105150"/>
            <a:ext cx="2857500" cy="5143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47F028-D21E-4352-860A-293A01840C7F}"/>
              </a:ext>
            </a:extLst>
          </p:cNvPr>
          <p:cNvSpPr>
            <a:spLocks noGrp="1"/>
          </p:cNvSpPr>
          <p:nvPr/>
        </p:nvSpPr>
        <p:spPr>
          <a:xfrm>
            <a:off x="1104900" y="325755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Trust verification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48D644-FE5A-4D8A-A065-621E200AC6CE}"/>
              </a:ext>
            </a:extLst>
          </p:cNvPr>
          <p:cNvSpPr>
            <a:spLocks noGrp="1"/>
          </p:cNvSpPr>
          <p:nvPr/>
        </p:nvSpPr>
        <p:spPr>
          <a:xfrm>
            <a:off x="4667250" y="3105150"/>
            <a:ext cx="3905250" cy="514350"/>
          </a:xfrm>
          <a:prstGeom prst="rect">
            <a:avLst/>
          </a:prstGeom>
          <a:solidFill>
            <a:srgbClr val="20342F"/>
          </a:solidFill>
          <a:ln w="9525">
            <a:solidFill>
              <a:srgbClr val="7BAA98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FDBD56-F322-4C5D-82E3-FE8C7D2003D5}"/>
              </a:ext>
            </a:extLst>
          </p:cNvPr>
          <p:cNvSpPr>
            <a:spLocks noGrp="1"/>
          </p:cNvSpPr>
          <p:nvPr/>
        </p:nvSpPr>
        <p:spPr>
          <a:xfrm>
            <a:off x="4914900" y="3248025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1E7"/>
                </a:solidFill>
                <a:latin typeface="Aptos"/>
                <a:ea typeface="Aptos"/>
                <a:cs typeface="Aptos"/>
              </a:rPr>
              <a:t>reviewer and certification workflows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7EC1B4-587E-42B8-8DE2-5E26D4EC3BBC}"/>
              </a:ext>
            </a:extLst>
          </p:cNvPr>
          <p:cNvSpPr>
            <a:spLocks noGrp="1"/>
          </p:cNvSpPr>
          <p:nvPr/>
        </p:nvSpPr>
        <p:spPr>
          <a:xfrm>
            <a:off x="3752850" y="3352800"/>
            <a:ext cx="914400" cy="28575"/>
          </a:xfrm>
          <a:prstGeom prst="rect">
            <a:avLst/>
          </a:prstGeom>
          <a:solidFill>
            <a:srgbClr val="C8D5CF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9CEF4F-D16C-495B-8035-F957931906FC}"/>
              </a:ext>
            </a:extLst>
          </p:cNvPr>
          <p:cNvSpPr>
            <a:spLocks noGrp="1"/>
          </p:cNvSpPr>
          <p:nvPr/>
        </p:nvSpPr>
        <p:spPr>
          <a:xfrm>
            <a:off x="895350" y="3848100"/>
            <a:ext cx="2857500" cy="5143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4342F9-DAF1-40B0-B503-11DB257E150B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Compliance reporting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3376F5-CE00-4B29-85DF-447902C9D348}"/>
              </a:ext>
            </a:extLst>
          </p:cNvPr>
          <p:cNvSpPr>
            <a:spLocks noGrp="1"/>
          </p:cNvSpPr>
          <p:nvPr/>
        </p:nvSpPr>
        <p:spPr>
          <a:xfrm>
            <a:off x="4667250" y="3848100"/>
            <a:ext cx="3905250" cy="514350"/>
          </a:xfrm>
          <a:prstGeom prst="rect">
            <a:avLst/>
          </a:prstGeom>
          <a:solidFill>
            <a:srgbClr val="20342F"/>
          </a:solidFill>
          <a:ln w="9525">
            <a:solidFill>
              <a:srgbClr val="7BAA98"/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9A2CE7-790C-43F6-A1A0-29758C8901AF}"/>
              </a:ext>
            </a:extLst>
          </p:cNvPr>
          <p:cNvSpPr>
            <a:spLocks noGrp="1"/>
          </p:cNvSpPr>
          <p:nvPr/>
        </p:nvSpPr>
        <p:spPr>
          <a:xfrm>
            <a:off x="4914900" y="3990975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1E7"/>
                </a:solidFill>
                <a:latin typeface="Aptos"/>
                <a:ea typeface="Aptos"/>
                <a:cs typeface="Aptos"/>
              </a:rPr>
              <a:t>export packs for funders and regulators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83FCC5-F0AC-4879-A1FD-F5DA83C5887E}"/>
              </a:ext>
            </a:extLst>
          </p:cNvPr>
          <p:cNvSpPr>
            <a:spLocks noGrp="1"/>
          </p:cNvSpPr>
          <p:nvPr/>
        </p:nvSpPr>
        <p:spPr>
          <a:xfrm>
            <a:off x="3752850" y="4095750"/>
            <a:ext cx="914400" cy="28575"/>
          </a:xfrm>
          <a:prstGeom prst="rect">
            <a:avLst/>
          </a:prstGeom>
          <a:solidFill>
            <a:srgbClr val="C8D5CF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9E3FD92-AA62-45F9-986E-2F5C81032688}"/>
              </a:ext>
            </a:extLst>
          </p:cNvPr>
          <p:cNvSpPr>
            <a:spLocks noGrp="1"/>
          </p:cNvSpPr>
          <p:nvPr/>
        </p:nvSpPr>
        <p:spPr>
          <a:xfrm>
            <a:off x="895350" y="4591050"/>
            <a:ext cx="2857500" cy="5143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3CDC31-F80F-4035-8258-44C0878B747B}"/>
              </a:ext>
            </a:extLst>
          </p:cNvPr>
          <p:cNvSpPr>
            <a:spLocks noGrp="1"/>
          </p:cNvSpPr>
          <p:nvPr/>
        </p:nvSpPr>
        <p:spPr>
          <a:xfrm>
            <a:off x="1104900" y="474345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Public trust profiles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93EEDA-4357-443A-9B53-E082ABED2A67}"/>
              </a:ext>
            </a:extLst>
          </p:cNvPr>
          <p:cNvSpPr>
            <a:spLocks noGrp="1"/>
          </p:cNvSpPr>
          <p:nvPr/>
        </p:nvSpPr>
        <p:spPr>
          <a:xfrm>
            <a:off x="4667250" y="4591050"/>
            <a:ext cx="3905250" cy="514350"/>
          </a:xfrm>
          <a:prstGeom prst="rect">
            <a:avLst/>
          </a:prstGeom>
          <a:solidFill>
            <a:srgbClr val="20342F"/>
          </a:solidFill>
          <a:ln w="9525">
            <a:solidFill>
              <a:srgbClr val="7BAA98"/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268F33-BB5C-42C8-9B4B-AF91E88F6183}"/>
              </a:ext>
            </a:extLst>
          </p:cNvPr>
          <p:cNvSpPr>
            <a:spLocks noGrp="1"/>
          </p:cNvSpPr>
          <p:nvPr/>
        </p:nvSpPr>
        <p:spPr>
          <a:xfrm>
            <a:off x="4914900" y="4733925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1E7"/>
                </a:solidFill>
                <a:latin typeface="Aptos"/>
                <a:ea typeface="Aptos"/>
                <a:cs typeface="Aptos"/>
              </a:rPr>
              <a:t>donor confidence and fundraising lift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081353B-8C88-44F8-AEB8-92830710D418}"/>
              </a:ext>
            </a:extLst>
          </p:cNvPr>
          <p:cNvSpPr>
            <a:spLocks noGrp="1"/>
          </p:cNvSpPr>
          <p:nvPr/>
        </p:nvSpPr>
        <p:spPr>
          <a:xfrm>
            <a:off x="3752850" y="4838700"/>
            <a:ext cx="914400" cy="28575"/>
          </a:xfrm>
          <a:prstGeom prst="rect">
            <a:avLst/>
          </a:prstGeom>
          <a:solidFill>
            <a:srgbClr val="C8D5CF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17D93A-556A-43F2-840C-637F4CAD9972}"/>
              </a:ext>
            </a:extLst>
          </p:cNvPr>
          <p:cNvSpPr>
            <a:spLocks noGrp="1"/>
          </p:cNvSpPr>
          <p:nvPr/>
        </p:nvSpPr>
        <p:spPr>
          <a:xfrm>
            <a:off x="9163050" y="2571750"/>
            <a:ext cx="1809750" cy="22669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7E7437B-58DF-4B49-8EBC-1FCC21BD2CF2}"/>
              </a:ext>
            </a:extLst>
          </p:cNvPr>
          <p:cNvSpPr>
            <a:spLocks noGrp="1"/>
          </p:cNvSpPr>
          <p:nvPr/>
        </p:nvSpPr>
        <p:spPr>
          <a:xfrm>
            <a:off x="9410700" y="2838450"/>
            <a:ext cx="13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Funding logic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D2D03D8-0CDA-43CD-89A5-112FC2796F6C}"/>
              </a:ext>
            </a:extLst>
          </p:cNvPr>
          <p:cNvSpPr>
            <a:spLocks noGrp="1"/>
          </p:cNvSpPr>
          <p:nvPr/>
        </p:nvSpPr>
        <p:spPr>
          <a:xfrm>
            <a:off x="9410700" y="3219450"/>
            <a:ext cx="12573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Start with grant / institutional pilot support, prove adoption, then sustain through organization plans and ecosystem services.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035451-4451-4DDB-ACDD-CCEA7975FB1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F91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18B"/>
                </a:solidFill>
                <a:latin typeface="Aptos"/>
                <a:ea typeface="Aptos"/>
                <a:cs typeface="Aptos"/>
              </a:rPr>
              <a:t>Source: pitch sustainability notes; no funding amount assumed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B259971-F941-46E2-974F-06ADA142E025}"/>
              </a:ext>
            </a:extLst>
          </p:cNvPr>
          <p:cNvSpPr>
            <a:spLocks noGrp="1"/>
          </p:cNvSpPr>
          <p:nvPr/>
        </p:nvSpPr>
        <p:spPr>
          <a:xfrm>
            <a:off x="10820400" y="63817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235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29D1D7F5-4B5B-411B-9EA3-033B89A3E5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>
              <a:ext uri="{FF2B5EF4-FFF2-40B4-BE49-F238E27FC236}">
                <a16:creationId xmlns:a16="http://schemas.microsoft.com/office/drawing/2014/main" id="{D57C0831-686A-4AD8-8653-BB639250CD11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95250" cy="2095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>
              <a:ext uri="{FF2B5EF4-FFF2-40B4-BE49-F238E27FC236}">
                <a16:creationId xmlns:a16="http://schemas.microsoft.com/office/drawing/2014/main" id="{74467671-5A63-4EA1-8652-321AA4FBB475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00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5B71E9-6750-487D-91E5-826CF5376006}"/>
              </a:ext>
            </a:extLst>
          </p:cNvPr>
          <p:cNvSpPr>
            <a:spLocks noGrp="1"/>
          </p:cNvSpPr>
          <p:nvPr/>
        </p:nvSpPr>
        <p:spPr>
          <a:xfrm>
            <a:off x="609600" y="933450"/>
            <a:ext cx="8572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0">
                <a:solidFill>
                  <a:srgbClr val="0E1B18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0E1B18"/>
                </a:solidFill>
                <a:latin typeface="Georgia"/>
                <a:ea typeface="Georgia"/>
                <a:cs typeface="Georgia"/>
              </a:rPr>
              <a:t>The roadmap should earn trust before scaling trust.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921D3F-DE7B-43FE-B232-333A9453282A}"/>
              </a:ext>
            </a:extLst>
          </p:cNvPr>
          <p:cNvSpPr>
            <a:spLocks noGrp="1"/>
          </p:cNvSpPr>
          <p:nvPr/>
        </p:nvSpPr>
        <p:spPr>
          <a:xfrm>
            <a:off x="800100" y="2781300"/>
            <a:ext cx="2076450" cy="1371600"/>
          </a:xfrm>
          <a:prstGeom prst="rect">
            <a:avLst/>
          </a:prstGeom>
          <a:solidFill>
            <a:srgbClr val="EFE7D8"/>
          </a:solidFill>
          <a:ln w="9525">
            <a:solidFill>
              <a:srgbClr val="DED4C4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6EE2D9-ED66-4E1B-BA0E-F8132269B63C}"/>
              </a:ext>
            </a:extLst>
          </p:cNvPr>
          <p:cNvSpPr>
            <a:spLocks noGrp="1"/>
          </p:cNvSpPr>
          <p:nvPr/>
        </p:nvSpPr>
        <p:spPr>
          <a:xfrm>
            <a:off x="1009650" y="299085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Phase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F6BB78-95CD-4DD3-9EC1-C2322CC9D947}"/>
              </a:ext>
            </a:extLst>
          </p:cNvPr>
          <p:cNvSpPr>
            <a:spLocks noGrp="1"/>
          </p:cNvSpPr>
          <p:nvPr/>
        </p:nvSpPr>
        <p:spPr>
          <a:xfrm>
            <a:off x="1009650" y="327660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725" b="1" dirty="0">
                <a:solidFill>
                  <a:srgbClr val="0E1B18"/>
                </a:solidFill>
                <a:latin typeface="Aptos"/>
                <a:ea typeface="Aptos"/>
                <a:cs typeface="Aptos"/>
              </a:rPr>
              <a:t>Foundation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F8AE74-F427-432F-A006-891FD2016CEA}"/>
              </a:ext>
            </a:extLst>
          </p:cNvPr>
          <p:cNvSpPr>
            <a:spLocks noGrp="1"/>
          </p:cNvSpPr>
          <p:nvPr/>
        </p:nvSpPr>
        <p:spPr>
          <a:xfrm>
            <a:off x="1009650" y="3600450"/>
            <a:ext cx="1581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AmanahHub, Console, CTCF, Amanah Index, payments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38BC43-8BE0-4651-8128-605DA52E2C29}"/>
              </a:ext>
            </a:extLst>
          </p:cNvPr>
          <p:cNvSpPr>
            <a:spLocks noGrp="1"/>
          </p:cNvSpPr>
          <p:nvPr/>
        </p:nvSpPr>
        <p:spPr>
          <a:xfrm>
            <a:off x="2876550" y="3429000"/>
            <a:ext cx="57150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551073-B980-4280-8C91-9AE4E8397B7A}"/>
              </a:ext>
            </a:extLst>
          </p:cNvPr>
          <p:cNvSpPr>
            <a:spLocks noGrp="1"/>
          </p:cNvSpPr>
          <p:nvPr/>
        </p:nvSpPr>
        <p:spPr>
          <a:xfrm>
            <a:off x="3448050" y="2781300"/>
            <a:ext cx="2076450" cy="13716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DFD46B-439E-4C7B-9CFF-B80DE812D24B}"/>
              </a:ext>
            </a:extLst>
          </p:cNvPr>
          <p:cNvSpPr>
            <a:spLocks noGrp="1"/>
          </p:cNvSpPr>
          <p:nvPr/>
        </p:nvSpPr>
        <p:spPr>
          <a:xfrm>
            <a:off x="3657600" y="299085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Phase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4F6AB1-EBA8-4FA1-9CDB-B26E98A238F5}"/>
              </a:ext>
            </a:extLst>
          </p:cNvPr>
          <p:cNvSpPr>
            <a:spLocks noGrp="1"/>
          </p:cNvSpPr>
          <p:nvPr/>
        </p:nvSpPr>
        <p:spPr>
          <a:xfrm>
            <a:off x="3657600" y="327660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725" b="1" dirty="0">
                <a:solidFill>
                  <a:srgbClr val="0E1B18"/>
                </a:solidFill>
                <a:latin typeface="Aptos"/>
                <a:ea typeface="Aptos"/>
                <a:cs typeface="Aptos"/>
              </a:rPr>
              <a:t>Org workspace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8FEBD7-E7A3-4CF2-8207-1AF7A7F5B8D3}"/>
              </a:ext>
            </a:extLst>
          </p:cNvPr>
          <p:cNvSpPr>
            <a:spLocks noGrp="1"/>
          </p:cNvSpPr>
          <p:nvPr/>
        </p:nvSpPr>
        <p:spPr>
          <a:xfrm>
            <a:off x="3657600" y="3600450"/>
            <a:ext cx="1581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 dirty="0" err="1">
                <a:solidFill>
                  <a:srgbClr val="263B35"/>
                </a:solidFill>
                <a:latin typeface="Aptos"/>
                <a:ea typeface="Aptos"/>
                <a:cs typeface="Aptos"/>
              </a:rPr>
              <a:t>amanahOS</a:t>
            </a:r>
            <a:r>
              <a:rPr sz="900" b="0" dirty="0">
                <a:solidFill>
                  <a:srgbClr val="263B35"/>
                </a:solidFill>
                <a:latin typeface="Aptos"/>
                <a:ea typeface="Aptos"/>
                <a:cs typeface="Aptos"/>
              </a:rPr>
              <a:t>, accounting, policy kit, evidence workflows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8DE5D3-A2BC-4B8E-83E1-2C097D4E7895}"/>
              </a:ext>
            </a:extLst>
          </p:cNvPr>
          <p:cNvSpPr>
            <a:spLocks noGrp="1"/>
          </p:cNvSpPr>
          <p:nvPr/>
        </p:nvSpPr>
        <p:spPr>
          <a:xfrm>
            <a:off x="5524500" y="3429000"/>
            <a:ext cx="57150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F3EBA7-8413-4E5B-A569-8C0452651091}"/>
              </a:ext>
            </a:extLst>
          </p:cNvPr>
          <p:cNvSpPr>
            <a:spLocks noGrp="1"/>
          </p:cNvSpPr>
          <p:nvPr/>
        </p:nvSpPr>
        <p:spPr>
          <a:xfrm>
            <a:off x="6096000" y="2781300"/>
            <a:ext cx="2076450" cy="13716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F05A3F-8AB1-42D5-A94E-5260A1DDF5F7}"/>
              </a:ext>
            </a:extLst>
          </p:cNvPr>
          <p:cNvSpPr>
            <a:spLocks noGrp="1"/>
          </p:cNvSpPr>
          <p:nvPr/>
        </p:nvSpPr>
        <p:spPr>
          <a:xfrm>
            <a:off x="6305550" y="299085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Phase 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2C0FB6-8A76-4AAE-ABF9-76609CA04606}"/>
              </a:ext>
            </a:extLst>
          </p:cNvPr>
          <p:cNvSpPr>
            <a:spLocks noGrp="1"/>
          </p:cNvSpPr>
          <p:nvPr/>
        </p:nvSpPr>
        <p:spPr>
          <a:xfrm>
            <a:off x="6305549" y="3276600"/>
            <a:ext cx="175779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725" b="1" dirty="0">
                <a:solidFill>
                  <a:srgbClr val="0E1B18"/>
                </a:solidFill>
                <a:latin typeface="Aptos"/>
                <a:ea typeface="Aptos"/>
                <a:cs typeface="Aptos"/>
              </a:rPr>
              <a:t>Trust intelligence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2816D9-7442-4CEC-9073-3F39F4765DEF}"/>
              </a:ext>
            </a:extLst>
          </p:cNvPr>
          <p:cNvSpPr>
            <a:spLocks noGrp="1"/>
          </p:cNvSpPr>
          <p:nvPr/>
        </p:nvSpPr>
        <p:spPr>
          <a:xfrm>
            <a:off x="6305550" y="3600450"/>
            <a:ext cx="1581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lang="en-US" sz="900" b="0" dirty="0">
                <a:solidFill>
                  <a:srgbClr val="263B35"/>
                </a:solidFill>
                <a:latin typeface="Aptos"/>
                <a:ea typeface="Aptos"/>
                <a:cs typeface="Aptos"/>
              </a:rPr>
              <a:t>current trust health, eve</a:t>
            </a:r>
            <a:r>
              <a:rPr sz="900" b="0" dirty="0">
                <a:solidFill>
                  <a:srgbClr val="263B35"/>
                </a:solidFill>
                <a:latin typeface="Aptos"/>
                <a:ea typeface="Aptos"/>
                <a:cs typeface="Aptos"/>
              </a:rPr>
              <a:t>nt registry, public timeline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FBB549-68CA-436D-8FA0-43C22CF762C7}"/>
              </a:ext>
            </a:extLst>
          </p:cNvPr>
          <p:cNvSpPr>
            <a:spLocks noGrp="1"/>
          </p:cNvSpPr>
          <p:nvPr/>
        </p:nvSpPr>
        <p:spPr>
          <a:xfrm>
            <a:off x="8172450" y="3429000"/>
            <a:ext cx="57150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20CAED5-D128-4B7B-8209-9CDF34B3969D}"/>
              </a:ext>
            </a:extLst>
          </p:cNvPr>
          <p:cNvSpPr>
            <a:spLocks noGrp="1"/>
          </p:cNvSpPr>
          <p:nvPr/>
        </p:nvSpPr>
        <p:spPr>
          <a:xfrm>
            <a:off x="8743950" y="2781300"/>
            <a:ext cx="2076450" cy="13716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00F763A-7CE9-4C1F-A4A1-AAFB7A780DF8}"/>
              </a:ext>
            </a:extLst>
          </p:cNvPr>
          <p:cNvSpPr>
            <a:spLocks noGrp="1"/>
          </p:cNvSpPr>
          <p:nvPr/>
        </p:nvSpPr>
        <p:spPr>
          <a:xfrm>
            <a:off x="8953500" y="299085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Phase 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A326CB-8C1A-41C3-8337-809A574B4194}"/>
              </a:ext>
            </a:extLst>
          </p:cNvPr>
          <p:cNvSpPr>
            <a:spLocks noGrp="1"/>
          </p:cNvSpPr>
          <p:nvPr/>
        </p:nvSpPr>
        <p:spPr>
          <a:xfrm>
            <a:off x="8953500" y="3276600"/>
            <a:ext cx="1866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725" b="1" dirty="0">
                <a:solidFill>
                  <a:srgbClr val="F6F1E7"/>
                </a:solidFill>
                <a:latin typeface="Aptos"/>
                <a:ea typeface="Aptos"/>
                <a:cs typeface="Aptos"/>
              </a:rPr>
              <a:t>Ecosystem scale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5256ACD-6E1C-40ED-8976-9CD2BB28D9BC}"/>
              </a:ext>
            </a:extLst>
          </p:cNvPr>
          <p:cNvSpPr>
            <a:spLocks noGrp="1"/>
          </p:cNvSpPr>
          <p:nvPr/>
        </p:nvSpPr>
        <p:spPr>
          <a:xfrm>
            <a:off x="8953500" y="3600450"/>
            <a:ext cx="1581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multi-stakeholder pilots, reporting packs, partner model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7AFA11-BDE1-43B2-B908-4A100ECE8A05}"/>
              </a:ext>
            </a:extLst>
          </p:cNvPr>
          <p:cNvSpPr>
            <a:spLocks noGrp="1"/>
          </p:cNvSpPr>
          <p:nvPr/>
        </p:nvSpPr>
        <p:spPr>
          <a:xfrm>
            <a:off x="838200" y="51435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Near-term discipline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6EE2FC4-EB1A-4913-BADC-604A785FD938}"/>
              </a:ext>
            </a:extLst>
          </p:cNvPr>
          <p:cNvSpPr>
            <a:spLocks noGrp="1"/>
          </p:cNvSpPr>
          <p:nvPr/>
        </p:nvSpPr>
        <p:spPr>
          <a:xfrm>
            <a:off x="2724150" y="5105400"/>
            <a:ext cx="6953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Keep Phase 2 focused: one trust engine, one tenant boundary, private evidence by default, no duplicated scoring logic.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21873EB-1294-4F42-8AF8-52E33BC3E7C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74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746F"/>
                </a:solidFill>
                <a:latin typeface="Aptos"/>
                <a:ea typeface="Aptos"/>
                <a:cs typeface="Aptos"/>
              </a:rPr>
              <a:t>Source: docs/ARCHITECTURE_MAP.md Phase 2 build order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F68891E-C195-4571-9A49-A11DC14D8A83}"/>
              </a:ext>
            </a:extLst>
          </p:cNvPr>
          <p:cNvSpPr>
            <a:spLocks noGrp="1"/>
          </p:cNvSpPr>
          <p:nvPr/>
        </p:nvSpPr>
        <p:spPr>
          <a:xfrm>
            <a:off x="10820400" y="63817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46430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870AA65-D686-4022-AF3E-2A798E57C0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marker">
            <a:extLst>
              <a:ext uri="{FF2B5EF4-FFF2-40B4-BE49-F238E27FC236}">
                <a16:creationId xmlns:a16="http://schemas.microsoft.com/office/drawing/2014/main" id="{6DF99F95-3C70-4E72-84CA-900C55ECC11D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95250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>
              <a:ext uri="{FF2B5EF4-FFF2-40B4-BE49-F238E27FC236}">
                <a16:creationId xmlns:a16="http://schemas.microsoft.com/office/drawing/2014/main" id="{06D006BC-737E-4F4E-82A7-0796DA41FD0C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00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STAKEHOLDER COMMITMENTS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3A4F2B-2E75-49D4-B0D2-497922D7187C}"/>
              </a:ext>
            </a:extLst>
          </p:cNvPr>
          <p:cNvSpPr>
            <a:spLocks noGrp="1"/>
          </p:cNvSpPr>
          <p:nvPr/>
        </p:nvSpPr>
        <p:spPr>
          <a:xfrm>
            <a:off x="609600" y="933450"/>
            <a:ext cx="8572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75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075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The next step is not just software approval; it is ecosystem alignment.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2CF3E9-0BAC-443C-838F-0C458795EAB1}"/>
              </a:ext>
            </a:extLst>
          </p:cNvPr>
          <p:cNvSpPr>
            <a:spLocks noGrp="1"/>
          </p:cNvSpPr>
          <p:nvPr/>
        </p:nvSpPr>
        <p:spPr>
          <a:xfrm>
            <a:off x="800100" y="2476500"/>
            <a:ext cx="4191000" cy="876300"/>
          </a:xfrm>
          <a:prstGeom prst="rect">
            <a:avLst/>
          </a:prstGeom>
          <a:solidFill>
            <a:srgbClr val="20342F"/>
          </a:solidFill>
          <a:ln w="9525">
            <a:solidFill>
              <a:srgbClr val="D8A84E"/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1565E3-BE7F-4819-BC31-6ACDF92BF935}"/>
              </a:ext>
            </a:extLst>
          </p:cNvPr>
          <p:cNvSpPr>
            <a:spLocks noGrp="1"/>
          </p:cNvSpPr>
          <p:nvPr/>
        </p:nvSpPr>
        <p:spPr>
          <a:xfrm>
            <a:off x="1066800" y="26860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Authorities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360644-3C71-4C1A-9192-7ED3BF32FD59}"/>
              </a:ext>
            </a:extLst>
          </p:cNvPr>
          <p:cNvSpPr>
            <a:spLocks noGrp="1"/>
          </p:cNvSpPr>
          <p:nvPr/>
        </p:nvSpPr>
        <p:spPr>
          <a:xfrm>
            <a:off x="1066800" y="3009900"/>
            <a:ext cx="3238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define pilot guardrails and review expectations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34B03D-02AB-4341-AC7F-8A9BF8D6E7AA}"/>
              </a:ext>
            </a:extLst>
          </p:cNvPr>
          <p:cNvSpPr>
            <a:spLocks noGrp="1"/>
          </p:cNvSpPr>
          <p:nvPr/>
        </p:nvSpPr>
        <p:spPr>
          <a:xfrm>
            <a:off x="5943600" y="2476500"/>
            <a:ext cx="4191000" cy="876300"/>
          </a:xfrm>
          <a:prstGeom prst="rect">
            <a:avLst/>
          </a:prstGeom>
          <a:solidFill>
            <a:srgbClr val="20342F"/>
          </a:solidFill>
          <a:ln w="9525">
            <a:solidFill>
              <a:srgbClr val="7BAA98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B3CED3-1A69-4CE4-8464-C81FFD5BCA8D}"/>
              </a:ext>
            </a:extLst>
          </p:cNvPr>
          <p:cNvSpPr>
            <a:spLocks noGrp="1"/>
          </p:cNvSpPr>
          <p:nvPr/>
        </p:nvSpPr>
        <p:spPr>
          <a:xfrm>
            <a:off x="6210300" y="26860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Pilot organizations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E72072-76A8-4EDF-9B13-9D5661024DC8}"/>
              </a:ext>
            </a:extLst>
          </p:cNvPr>
          <p:cNvSpPr>
            <a:spLocks noGrp="1"/>
          </p:cNvSpPr>
          <p:nvPr/>
        </p:nvSpPr>
        <p:spPr>
          <a:xfrm>
            <a:off x="6210300" y="3009900"/>
            <a:ext cx="3238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use amanahOS for real governance workflows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BF01C8-AF26-4946-9B6A-E3D5E40B59D3}"/>
              </a:ext>
            </a:extLst>
          </p:cNvPr>
          <p:cNvSpPr>
            <a:spLocks noGrp="1"/>
          </p:cNvSpPr>
          <p:nvPr/>
        </p:nvSpPr>
        <p:spPr>
          <a:xfrm>
            <a:off x="800100" y="3771900"/>
            <a:ext cx="4191000" cy="876300"/>
          </a:xfrm>
          <a:prstGeom prst="rect">
            <a:avLst/>
          </a:prstGeom>
          <a:solidFill>
            <a:srgbClr val="20342F"/>
          </a:solidFill>
          <a:ln w="9525">
            <a:solidFill>
              <a:srgbClr val="466A7A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415C7C-F2A7-4BE6-AF81-A6EB5AE9958A}"/>
              </a:ext>
            </a:extLst>
          </p:cNvPr>
          <p:cNvSpPr>
            <a:spLocks noGrp="1"/>
          </p:cNvSpPr>
          <p:nvPr/>
        </p:nvSpPr>
        <p:spPr>
          <a:xfrm>
            <a:off x="1066800" y="39814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Reviewers / scholars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5ED77C-8736-4E5F-8A31-E0566CE66A96}"/>
              </a:ext>
            </a:extLst>
          </p:cNvPr>
          <p:cNvSpPr>
            <a:spLocks noGrp="1"/>
          </p:cNvSpPr>
          <p:nvPr/>
        </p:nvSpPr>
        <p:spPr>
          <a:xfrm>
            <a:off x="1066800" y="4305300"/>
            <a:ext cx="3238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validate scoring, evidence, and public-readiness logic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A11BD0-DB13-4DB1-9684-413C5F797DC9}"/>
              </a:ext>
            </a:extLst>
          </p:cNvPr>
          <p:cNvSpPr>
            <a:spLocks noGrp="1"/>
          </p:cNvSpPr>
          <p:nvPr/>
        </p:nvSpPr>
        <p:spPr>
          <a:xfrm>
            <a:off x="5943600" y="3771900"/>
            <a:ext cx="4191000" cy="876300"/>
          </a:xfrm>
          <a:prstGeom prst="rect">
            <a:avLst/>
          </a:prstGeom>
          <a:solidFill>
            <a:srgbClr val="20342F"/>
          </a:solidFill>
          <a:ln w="9525">
            <a:solidFill>
              <a:srgbClr val="B46A4C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F3BD07-EE7A-4E5D-90F3-5730C4DAE6AB}"/>
              </a:ext>
            </a:extLst>
          </p:cNvPr>
          <p:cNvSpPr>
            <a:spLocks noGrp="1"/>
          </p:cNvSpPr>
          <p:nvPr/>
        </p:nvSpPr>
        <p:spPr>
          <a:xfrm>
            <a:off x="6210300" y="39814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Funders / partners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CFD00D-78D6-4DB6-AECF-167CDD33B701}"/>
              </a:ext>
            </a:extLst>
          </p:cNvPr>
          <p:cNvSpPr>
            <a:spLocks noGrp="1"/>
          </p:cNvSpPr>
          <p:nvPr/>
        </p:nvSpPr>
        <p:spPr>
          <a:xfrm>
            <a:off x="6210300" y="4305300"/>
            <a:ext cx="3238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support build, onboarding, evaluation, and training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76839B-F5A6-43DF-811B-B861472FDA2B}"/>
              </a:ext>
            </a:extLst>
          </p:cNvPr>
          <p:cNvSpPr>
            <a:spLocks noGrp="1"/>
          </p:cNvSpPr>
          <p:nvPr/>
        </p:nvSpPr>
        <p:spPr>
          <a:xfrm>
            <a:off x="800100" y="5505450"/>
            <a:ext cx="8953500" cy="28575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AECE08-4AB9-448D-84A9-465356FA8AF6}"/>
              </a:ext>
            </a:extLst>
          </p:cNvPr>
          <p:cNvSpPr>
            <a:spLocks noGrp="1"/>
          </p:cNvSpPr>
          <p:nvPr/>
        </p:nvSpPr>
        <p:spPr>
          <a:xfrm>
            <a:off x="800100" y="5715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Alignment needed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D9765C-AC62-4D49-B473-4337C4B35766}"/>
              </a:ext>
            </a:extLst>
          </p:cNvPr>
          <p:cNvSpPr>
            <a:spLocks noGrp="1"/>
          </p:cNvSpPr>
          <p:nvPr/>
        </p:nvSpPr>
        <p:spPr>
          <a:xfrm>
            <a:off x="2857500" y="5676900"/>
            <a:ext cx="685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What counts as trustworthy evidence, who validates it, and how it becomes public should be agreed before broad launch.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40FFD3-380A-4DF3-B022-267BD90EAAED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F91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18B"/>
                </a:solidFill>
                <a:latin typeface="Aptos"/>
                <a:ea typeface="Aptos"/>
                <a:cs typeface="Aptos"/>
              </a:rPr>
              <a:t>Source: architecture constraints and pitch stakeholder framing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7E53299-5037-4A76-9F6E-EFEABE7308EA}"/>
              </a:ext>
            </a:extLst>
          </p:cNvPr>
          <p:cNvSpPr>
            <a:spLocks noGrp="1"/>
          </p:cNvSpPr>
          <p:nvPr/>
        </p:nvSpPr>
        <p:spPr>
          <a:xfrm>
            <a:off x="10820400" y="63817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83980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9AC3680-F761-4000-95AF-C5790C06C7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2-marker">
            <a:extLst>
              <a:ext uri="{FF2B5EF4-FFF2-40B4-BE49-F238E27FC236}">
                <a16:creationId xmlns:a16="http://schemas.microsoft.com/office/drawing/2014/main" id="{B86BB24F-8CA8-4A96-A504-0E9DDF5C80D7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95250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label">
            <a:extLst>
              <a:ext uri="{FF2B5EF4-FFF2-40B4-BE49-F238E27FC236}">
                <a16:creationId xmlns:a16="http://schemas.microsoft.com/office/drawing/2014/main" id="{8DBEF1A4-133B-4BE9-B921-A25A186A428D}"/>
              </a:ext>
            </a:extLst>
          </p:cNvPr>
          <p:cNvSpPr>
            <a:spLocks noGrp="1"/>
          </p:cNvSpPr>
          <p:nvPr/>
        </p:nvSpPr>
        <p:spPr>
          <a:xfrm>
            <a:off x="800100" y="495300"/>
            <a:ext cx="400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DECISION ASK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5B27AB-560D-44D6-BBF3-675E7DC6C282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885825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0">
                <a:solidFill>
                  <a:srgbClr val="F6F1E7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F6F1E7"/>
                </a:solidFill>
                <a:latin typeface="Georgia"/>
                <a:ea typeface="Georgia"/>
                <a:cs typeface="Georgia"/>
              </a:rPr>
              <a:t>Sponsor the pilot, validate the trust model, and help AGP become shared infrastructure.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C6D745-7550-46AB-817D-4C81B86E0252}"/>
              </a:ext>
            </a:extLst>
          </p:cNvPr>
          <p:cNvSpPr>
            <a:spLocks noGrp="1"/>
          </p:cNvSpPr>
          <p:nvPr/>
        </p:nvSpPr>
        <p:spPr>
          <a:xfrm>
            <a:off x="819150" y="3657600"/>
            <a:ext cx="2190750" cy="17526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253FDE-7D64-476D-BC95-198529426D46}"/>
              </a:ext>
            </a:extLst>
          </p:cNvPr>
          <p:cNvSpPr>
            <a:spLocks noGrp="1"/>
          </p:cNvSpPr>
          <p:nvPr/>
        </p:nvSpPr>
        <p:spPr>
          <a:xfrm>
            <a:off x="1028700" y="3867150"/>
            <a:ext cx="342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B878A1-707D-4ABF-8BD9-D932FDE3D44F}"/>
              </a:ext>
            </a:extLst>
          </p:cNvPr>
          <p:cNvSpPr>
            <a:spLocks noGrp="1"/>
          </p:cNvSpPr>
          <p:nvPr/>
        </p:nvSpPr>
        <p:spPr>
          <a:xfrm>
            <a:off x="1028700" y="4267200"/>
            <a:ext cx="16764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Pilot cohort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4DEC2A-67A0-4A64-BAA3-A963E03259F1}"/>
              </a:ext>
            </a:extLst>
          </p:cNvPr>
          <p:cNvSpPr>
            <a:spLocks noGrp="1"/>
          </p:cNvSpPr>
          <p:nvPr/>
        </p:nvSpPr>
        <p:spPr>
          <a:xfrm>
            <a:off x="1028700" y="4800600"/>
            <a:ext cx="1657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Identify representative charities, mosques, NGOs, or waqf bodies.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B034C5-69E9-4717-B0F4-020D086046C5}"/>
              </a:ext>
            </a:extLst>
          </p:cNvPr>
          <p:cNvSpPr>
            <a:spLocks noGrp="1"/>
          </p:cNvSpPr>
          <p:nvPr/>
        </p:nvSpPr>
        <p:spPr>
          <a:xfrm>
            <a:off x="3524250" y="3657600"/>
            <a:ext cx="2190750" cy="17526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A26C7C-2462-4420-8C6B-00C73E0F1D35}"/>
              </a:ext>
            </a:extLst>
          </p:cNvPr>
          <p:cNvSpPr>
            <a:spLocks noGrp="1"/>
          </p:cNvSpPr>
          <p:nvPr/>
        </p:nvSpPr>
        <p:spPr>
          <a:xfrm>
            <a:off x="3733800" y="3867150"/>
            <a:ext cx="342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CC25E1-9D9E-49DD-A3C1-44E9EEFB82AF}"/>
              </a:ext>
            </a:extLst>
          </p:cNvPr>
          <p:cNvSpPr>
            <a:spLocks noGrp="1"/>
          </p:cNvSpPr>
          <p:nvPr/>
        </p:nvSpPr>
        <p:spPr>
          <a:xfrm>
            <a:off x="3733800" y="4267200"/>
            <a:ext cx="16764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Governance council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B1C6A1-4500-4BF1-B4D3-6F543F791ED8}"/>
              </a:ext>
            </a:extLst>
          </p:cNvPr>
          <p:cNvSpPr>
            <a:spLocks noGrp="1"/>
          </p:cNvSpPr>
          <p:nvPr/>
        </p:nvSpPr>
        <p:spPr>
          <a:xfrm>
            <a:off x="3733800" y="4800600"/>
            <a:ext cx="1657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Nominate reviewers, scholars, and policy owners for validation.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B112DB-1E50-4319-9A42-F4CC55633DFC}"/>
              </a:ext>
            </a:extLst>
          </p:cNvPr>
          <p:cNvSpPr>
            <a:spLocks noGrp="1"/>
          </p:cNvSpPr>
          <p:nvPr/>
        </p:nvSpPr>
        <p:spPr>
          <a:xfrm>
            <a:off x="6229350" y="3657600"/>
            <a:ext cx="2190750" cy="17526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D5D26D-332C-4014-BE18-427C601D313F}"/>
              </a:ext>
            </a:extLst>
          </p:cNvPr>
          <p:cNvSpPr>
            <a:spLocks noGrp="1"/>
          </p:cNvSpPr>
          <p:nvPr/>
        </p:nvSpPr>
        <p:spPr>
          <a:xfrm>
            <a:off x="6438900" y="3867150"/>
            <a:ext cx="342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CA1648-6261-443D-A58F-5B57F0AF3E9C}"/>
              </a:ext>
            </a:extLst>
          </p:cNvPr>
          <p:cNvSpPr>
            <a:spLocks noGrp="1"/>
          </p:cNvSpPr>
          <p:nvPr/>
        </p:nvSpPr>
        <p:spPr>
          <a:xfrm>
            <a:off x="6438900" y="4267200"/>
            <a:ext cx="19812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F6F1E7"/>
                </a:solidFill>
                <a:latin typeface="Aptos"/>
                <a:ea typeface="Aptos"/>
                <a:cs typeface="Aptos"/>
              </a:rPr>
              <a:t>Implementation support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9D56DA-5B57-4872-A183-21D93513BE5B}"/>
              </a:ext>
            </a:extLst>
          </p:cNvPr>
          <p:cNvSpPr>
            <a:spLocks noGrp="1"/>
          </p:cNvSpPr>
          <p:nvPr/>
        </p:nvSpPr>
        <p:spPr>
          <a:xfrm>
            <a:off x="6438900" y="4800600"/>
            <a:ext cx="1657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Fund onboarding, training, evaluation, and product hardening.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07737D-F7EB-401B-9860-93C50941233F}"/>
              </a:ext>
            </a:extLst>
          </p:cNvPr>
          <p:cNvSpPr>
            <a:spLocks noGrp="1"/>
          </p:cNvSpPr>
          <p:nvPr/>
        </p:nvSpPr>
        <p:spPr>
          <a:xfrm>
            <a:off x="8934450" y="3657600"/>
            <a:ext cx="2190750" cy="17526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173BBA-6903-40BD-8AF3-CCC3EBF708B4}"/>
              </a:ext>
            </a:extLst>
          </p:cNvPr>
          <p:cNvSpPr>
            <a:spLocks noGrp="1"/>
          </p:cNvSpPr>
          <p:nvPr/>
        </p:nvSpPr>
        <p:spPr>
          <a:xfrm>
            <a:off x="9144000" y="3867150"/>
            <a:ext cx="342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BE9630-D15F-43F7-BE80-5828917110B9}"/>
              </a:ext>
            </a:extLst>
          </p:cNvPr>
          <p:cNvSpPr>
            <a:spLocks noGrp="1"/>
          </p:cNvSpPr>
          <p:nvPr/>
        </p:nvSpPr>
        <p:spPr>
          <a:xfrm>
            <a:off x="9144000" y="4267200"/>
            <a:ext cx="16764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Public trust standard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118491-F155-4A20-BCA8-CD65AF2C56BD}"/>
              </a:ext>
            </a:extLst>
          </p:cNvPr>
          <p:cNvSpPr>
            <a:spLocks noGrp="1"/>
          </p:cNvSpPr>
          <p:nvPr/>
        </p:nvSpPr>
        <p:spPr>
          <a:xfrm>
            <a:off x="9144000" y="4800600"/>
            <a:ext cx="1657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Agree how evidence, scoring, and publication should be governed.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9331775-16D4-4F7A-B658-7A33464979A6}"/>
              </a:ext>
            </a:extLst>
          </p:cNvPr>
          <p:cNvSpPr>
            <a:spLocks noGrp="1"/>
          </p:cNvSpPr>
          <p:nvPr/>
        </p:nvSpPr>
        <p:spPr>
          <a:xfrm>
            <a:off x="838200" y="2609850"/>
            <a:ext cx="7048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AGP is ready to be discussed as more than an app: a practical governance layer for trusted giving.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ED727EC-F053-4868-817F-05C9E2FC5E8D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F91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18B"/>
                </a:solidFill>
                <a:latin typeface="Aptos"/>
                <a:ea typeface="Aptos"/>
                <a:cs typeface="Aptos"/>
              </a:rPr>
              <a:t>Prepared from AGP repository docs and pitch notes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65848E-7E11-4F8C-AEBF-24135A9E25C3}"/>
              </a:ext>
            </a:extLst>
          </p:cNvPr>
          <p:cNvSpPr>
            <a:spLocks noGrp="1"/>
          </p:cNvSpPr>
          <p:nvPr/>
        </p:nvSpPr>
        <p:spPr>
          <a:xfrm>
            <a:off x="10820400" y="63817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7430140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1148</Words>
  <Application>Microsoft Office PowerPoint</Application>
  <DocSecurity>0</DocSecurity>
  <PresentationFormat>Widescreen</PresentationFormat>
  <Paragraphs>199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Calibri</vt:lpstr>
      <vt:lpstr>Georgia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kamal latif</cp:lastModifiedBy>
  <cp:revision>4</cp:revision>
  <dcterms:created xsi:type="dcterms:W3CDTF">2026-07-07T11:55:01Z</dcterms:created>
  <dcterms:modified xsi:type="dcterms:W3CDTF">2026-07-07T14:03:48Z</dcterms:modified>
</cp:coreProperties>
</file>