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151271A6-65CF-A883-EA4F-F4029D74B8D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BE21B9-033F-5B8C-45CB-5DDA8CB61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8B1A2-DAFF-BF13-975D-0365E4864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F9D70-B44A-0043-E9B7-E42322B6A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F247-C242-414B-B730-917FBBE6FE2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2BD57-67DB-398B-E9D2-4446AF19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44464-A58F-1D9C-44E7-B5C61FCB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316-0B08-4663-81E3-84E4D25795C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C9739527-1C16-2A96-1719-B6ACB83B224D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81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E702FE94-C93F-06B1-2D78-BA50E7D62F0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AF586-115D-4755-5681-1A035733F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144000" cy="1219200"/>
          </a:xfrm>
        </p:spPr>
        <p:txBody>
          <a:bodyPr/>
          <a:lstStyle>
            <a:lvl1pPr>
              <a:defRPr sz="30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4391-5004-C3BB-9BB9-4FE243230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F3F5B-1F9E-C8E5-D588-E720B9453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F247-C242-414B-B730-917FBBE6FE2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63A12-7AE5-0B2B-6FDC-EAD9CFF7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471A1-60F1-28C5-C4CA-172D505B2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316-0B08-4663-81E3-84E4D25795C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638C11BD-CAA1-B8A6-C834-A8AFE40D9F49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7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772DF540-9ACB-5AF5-E46B-E3628BB17D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912AB8-4035-F028-AD5C-E6AAD0B3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144000" cy="1219200"/>
          </a:xfrm>
        </p:spPr>
        <p:txBody>
          <a:bodyPr anchor="b"/>
          <a:lstStyle>
            <a:lvl1pPr>
              <a:defRPr sz="30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A302E-65B6-CF02-92E8-BFDB85DCF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60600"/>
            <a:ext cx="8763000" cy="736600"/>
          </a:xfrm>
        </p:spPr>
        <p:txBody>
          <a:bodyPr/>
          <a:lstStyle>
            <a:lvl1pPr marL="0" indent="0">
              <a:buNone/>
              <a:defRPr sz="13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A682C-0548-7B6A-0306-40FDA939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F247-C242-414B-B730-917FBBE6FE2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B5926-DA3F-7B2F-2FB4-D361A138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A1A39-B062-667D-46DE-951FB9D3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316-0B08-4663-81E3-84E4D25795C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5BF490CC-0A55-DE15-C712-BA3C786EC032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91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31849F9A-348E-ED9D-73AB-E1F3216BB42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E9330-E4FE-60C6-8A6A-078EDE638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144000" cy="1219200"/>
          </a:xfrm>
        </p:spPr>
        <p:txBody>
          <a:bodyPr/>
          <a:lstStyle>
            <a:lvl1pPr>
              <a:defRPr sz="30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57A78-31C7-DB0D-0A5A-2CF8AFA9A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5BB85-2DD3-D773-8589-98386DDB3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4D9EB-9A29-12FE-5DBD-514FB8A2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F247-C242-414B-B730-917FBBE6FE2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414A5-BB1F-E488-7832-B7E6FA59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F735E-C303-5074-B8C4-7482F45E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316-0B08-4663-81E3-84E4D25795C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09A09E80-9B50-6C41-58C1-DD338F327F63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GP Master Dark Background">
            <a:extLst>
              <a:ext uri="{FF2B5EF4-FFF2-40B4-BE49-F238E27FC236}">
                <a16:creationId xmlns:a16="http://schemas.microsoft.com/office/drawing/2014/main" id="{74A845F4-DC71-B256-899A-496162B8751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068A9C-E35F-2B5D-6779-379B54FF8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144000" cy="1219200"/>
          </a:xfrm>
        </p:spPr>
        <p:txBody>
          <a:bodyPr/>
          <a:lstStyle>
            <a:lvl1pPr>
              <a:defRPr sz="30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F763B-F4BB-23DB-7CC1-EB96C673A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999" y="2260600"/>
            <a:ext cx="8763000" cy="736600"/>
          </a:xfrm>
        </p:spPr>
        <p:txBody>
          <a:bodyPr anchor="b"/>
          <a:lstStyle>
            <a:lvl1pPr marL="0" indent="0">
              <a:buNone/>
              <a:defRPr sz="1300" b="1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95799-CA96-BF1E-6C8C-830A39F63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00AC4-59A3-E2D4-930D-7A92E19D2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000" y="2260600"/>
            <a:ext cx="8763000" cy="736600"/>
          </a:xfrm>
        </p:spPr>
        <p:txBody>
          <a:bodyPr anchor="b"/>
          <a:lstStyle>
            <a:lvl1pPr marL="0" indent="0">
              <a:buNone/>
              <a:defRPr sz="1300" b="1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9B400-ABE8-4C43-0C06-7B7BE5881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2F112E-F112-CC19-C153-F18EC14F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F247-C242-414B-B730-917FBBE6FE2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14ACB-B253-3547-E8FA-49545BE26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F968A5-CF52-1E31-7C14-FDF07E068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316-0B08-4663-81E3-84E4D25795C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AGP Master Gold Top Rule">
            <a:extLst>
              <a:ext uri="{FF2B5EF4-FFF2-40B4-BE49-F238E27FC236}">
                <a16:creationId xmlns:a16="http://schemas.microsoft.com/office/drawing/2014/main" id="{7CC9FB5D-B87F-5E8A-531F-508990E17851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9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P Master Dark Background">
            <a:extLst>
              <a:ext uri="{FF2B5EF4-FFF2-40B4-BE49-F238E27FC236}">
                <a16:creationId xmlns:a16="http://schemas.microsoft.com/office/drawing/2014/main" id="{40D753CB-6F83-17D1-2702-359C7D8FFB3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862540-8D8B-66FC-2F70-49323CFE0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144000" cy="1219200"/>
          </a:xfrm>
        </p:spPr>
        <p:txBody>
          <a:bodyPr/>
          <a:lstStyle>
            <a:lvl1pPr>
              <a:defRPr sz="30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4940E-25F8-F74B-C5AE-CE142533E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F247-C242-414B-B730-917FBBE6FE2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69546-9ED0-60B8-7050-C0D6C5A43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0546F-94E6-4ADA-75DF-F1404F85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316-0B08-4663-81E3-84E4D25795C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GP Master Gold Top Rule">
            <a:extLst>
              <a:ext uri="{FF2B5EF4-FFF2-40B4-BE49-F238E27FC236}">
                <a16:creationId xmlns:a16="http://schemas.microsoft.com/office/drawing/2014/main" id="{C179069E-5706-DA5A-BCEC-4FF3ED7462BB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8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GP Master Dark Background">
            <a:extLst>
              <a:ext uri="{FF2B5EF4-FFF2-40B4-BE49-F238E27FC236}">
                <a16:creationId xmlns:a16="http://schemas.microsoft.com/office/drawing/2014/main" id="{242648CB-F954-9008-273D-5C1DD21A78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179435-AED6-3951-E820-0615104B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F247-C242-414B-B730-917FBBE6FE2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3CBECB-E5D3-2D69-E1BF-F845E130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EFEA2-F79B-8577-0D4F-657837A9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316-0B08-4663-81E3-84E4D25795C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AGP Master Gold Top Rule">
            <a:extLst>
              <a:ext uri="{FF2B5EF4-FFF2-40B4-BE49-F238E27FC236}">
                <a16:creationId xmlns:a16="http://schemas.microsoft.com/office/drawing/2014/main" id="{54EE14C2-0EA3-0E0F-9038-77A0BA103782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78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53F1690E-D87E-E511-00B2-E6DBAE482C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C049E7-B2AB-278D-2FC6-5D9BE2362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914400"/>
            <a:ext cx="9144000" cy="1219200"/>
          </a:xfrm>
        </p:spPr>
        <p:txBody>
          <a:bodyPr anchor="b"/>
          <a:lstStyle>
            <a:lvl1pPr>
              <a:defRPr sz="30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7B832-76E9-4854-8BDC-0F36D39FB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158D0-0A8B-C7EB-98BE-4823ACC3E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999" y="2260600"/>
            <a:ext cx="8763000" cy="736600"/>
          </a:xfrm>
        </p:spPr>
        <p:txBody>
          <a:bodyPr/>
          <a:lstStyle>
            <a:lvl1pPr marL="0" indent="0">
              <a:buNone/>
              <a:defRPr sz="13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FF919-BAFB-BB0E-A9F9-E85F6FD4F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F247-C242-414B-B730-917FBBE6FE2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7CDC9-30EA-0CB2-5CB6-94137849D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D5C62-2C4A-757C-F010-014F4B238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316-0B08-4663-81E3-84E4D25795C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D95023E6-EFD0-C633-D14E-DBEB86E53375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3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54AC5ED3-E766-9AE5-562F-A934D007F8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D3ADE-451B-736E-2198-49B7A17D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914400"/>
            <a:ext cx="9144000" cy="1219200"/>
          </a:xfrm>
        </p:spPr>
        <p:txBody>
          <a:bodyPr anchor="b"/>
          <a:lstStyle>
            <a:lvl1pPr>
              <a:defRPr sz="30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14FF26-97D6-71C9-E186-923871844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F3FFF-A12C-BDEC-2E42-99216727F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999" y="2260600"/>
            <a:ext cx="8763000" cy="736600"/>
          </a:xfrm>
        </p:spPr>
        <p:txBody>
          <a:bodyPr/>
          <a:lstStyle>
            <a:lvl1pPr marL="0" indent="0">
              <a:buNone/>
              <a:defRPr sz="13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87431-3076-1524-09B3-B77FB466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F247-C242-414B-B730-917FBBE6FE2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9860A-E8A6-D171-2800-2A3DF4C9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64841-C22B-751C-DD1E-34C0CA20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316-0B08-4663-81E3-84E4D25795C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D8D49D6E-5AE1-4BA1-DDEF-4B02530FCB6B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2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EC1719CC-CB91-4C1C-ED68-8F9074AF892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9CFB0E-F74A-1247-1D3C-0C31DAEE3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144000" cy="1219200"/>
          </a:xfrm>
        </p:spPr>
        <p:txBody>
          <a:bodyPr/>
          <a:lstStyle>
            <a:lvl1pPr>
              <a:defRPr sz="30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5BC41-9975-F123-672E-BF1B3DCC4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3684F-380F-FDBB-FF69-1726BAA8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F247-C242-414B-B730-917FBBE6FE2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0B62D-512C-677D-624B-17A56A377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75F3-8A0E-D416-4A2C-4792A5136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316-0B08-4663-81E3-84E4D25795C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D186BB80-3408-6E89-955E-5AB2850D521A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6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9010520C-6617-9CF1-A033-6C6B0D4AAD9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7BBDB7-C4C9-6A3C-E03E-560859E97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7DE98-A573-5A50-0BE1-06A8E8C1D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63478-6180-08CD-DDD5-E3F1FB25D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F247-C242-414B-B730-917FBBE6FE2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6605-9049-88B3-5C15-B2E397291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9D53F-916F-B5CB-430B-1E26AD6C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316-0B08-4663-81E3-84E4D25795C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ED9DBF7F-5EF2-420D-9F17-5BFC592FA37B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32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5E7C7-F20F-6047-C866-3B532A74C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43A23-9215-A088-65C1-46E5540B0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F2E65-35CF-B935-742E-76F1E0483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F247-C242-414B-B730-917FBBE6FE2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976F5-5729-5265-F55F-72ED05C5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59B1E-AAF3-6016-9613-E81507CA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A316-0B08-4663-81E3-84E4D257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4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GP Dark Placeholder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22B6042-8E69-08B1-4164-7450E46A5D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EA4C6B-A3D6-6360-891F-0AFDACA2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4CCC8-219C-0AF9-E7EF-181B7D406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B3E8E-54EA-1CAC-66FC-96769B361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AF247-C242-414B-B730-917FBBE6FE2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F766B-50D9-955C-345E-D8CADBD9B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C25D8-85D1-7DCE-55DD-4F69C72C7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5A316-0B08-4663-81E3-84E4D25795C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8C6E10F6-47CB-CD66-5E29-490C0224AA8E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49EBC-0DD5-9F3B-0B90-63D06CF6B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399"/>
            <a:ext cx="9652000" cy="1422400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6F1E7"/>
                </a:solidFill>
                <a:latin typeface="Georgia" panose="02040502050405020303" pitchFamily="18" charset="0"/>
              </a:rPr>
              <a:t>AGP STAKEHOLDER BENEFITS BRIEF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5BDE2-5F9E-6BE5-2EDA-288C86F64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86000"/>
            <a:ext cx="7620000" cy="939800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A shared governance platform that helps charities earn trust without carrying the technology cost.</a:t>
            </a:r>
          </a:p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AGP gives charity organizations free sponsored access to governance tools, gives governing bodies structured oversight, and gives donors confidence that funds are handled with Amanah.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3B8598-1F9B-9706-F557-28DE5EEEED16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BECCF-A63B-05A9-F65D-4759F268E4B0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10496-5F96-9DC0-E4E9-BC5C1B103019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Prepared for State Islamic Affairs, JAKIM, zakat bodies, charity leaders, donors and sponsors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14DE1-820D-8E7D-D1A7-861E818A50F9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6663CF-63E2-2175-E2F8-76724D389864}"/>
              </a:ext>
            </a:extLst>
          </p:cNvPr>
          <p:cNvSpPr/>
          <p:nvPr/>
        </p:nvSpPr>
        <p:spPr>
          <a:xfrm>
            <a:off x="8432800" y="1676400"/>
            <a:ext cx="2590800" cy="7366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971AE-11F9-B42B-F8DE-673B9A110A9F}"/>
              </a:ext>
            </a:extLst>
          </p:cNvPr>
          <p:cNvSpPr txBox="1"/>
          <p:nvPr/>
        </p:nvSpPr>
        <p:spPr>
          <a:xfrm>
            <a:off x="8636000" y="1905000"/>
            <a:ext cx="21590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Charities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ADDC4-770D-2228-30EE-C92C3A63D3F0}"/>
              </a:ext>
            </a:extLst>
          </p:cNvPr>
          <p:cNvSpPr txBox="1"/>
          <p:nvPr/>
        </p:nvSpPr>
        <p:spPr>
          <a:xfrm>
            <a:off x="8636000" y="2286000"/>
            <a:ext cx="21336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free governance workspace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EE0FE6-0730-7A3A-5918-9FFB57CEAE35}"/>
              </a:ext>
            </a:extLst>
          </p:cNvPr>
          <p:cNvSpPr/>
          <p:nvPr/>
        </p:nvSpPr>
        <p:spPr>
          <a:xfrm>
            <a:off x="8432800" y="2819400"/>
            <a:ext cx="2590800" cy="7366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13F4E2-3CF4-E13A-C700-00AC47A48551}"/>
              </a:ext>
            </a:extLst>
          </p:cNvPr>
          <p:cNvSpPr txBox="1"/>
          <p:nvPr/>
        </p:nvSpPr>
        <p:spPr>
          <a:xfrm>
            <a:off x="8636000" y="3048000"/>
            <a:ext cx="21590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Governing bodies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EFB92-EF91-EE83-A30D-9F665DB0841F}"/>
              </a:ext>
            </a:extLst>
          </p:cNvPr>
          <p:cNvSpPr txBox="1"/>
          <p:nvPr/>
        </p:nvSpPr>
        <p:spPr>
          <a:xfrm>
            <a:off x="8636000" y="3429000"/>
            <a:ext cx="21336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visibility without manual chaos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E7BFAF-A3FC-CB9C-D718-F31C765D2C8F}"/>
              </a:ext>
            </a:extLst>
          </p:cNvPr>
          <p:cNvSpPr/>
          <p:nvPr/>
        </p:nvSpPr>
        <p:spPr>
          <a:xfrm>
            <a:off x="8432800" y="3962400"/>
            <a:ext cx="2590800" cy="7366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9C1E8C-53EE-772A-53FD-76941DDE9505}"/>
              </a:ext>
            </a:extLst>
          </p:cNvPr>
          <p:cNvSpPr txBox="1"/>
          <p:nvPr/>
        </p:nvSpPr>
        <p:spPr>
          <a:xfrm>
            <a:off x="8636000" y="4191000"/>
            <a:ext cx="21590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Donors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B90076-8A64-9BAB-B6B8-A1DA2EED76B9}"/>
              </a:ext>
            </a:extLst>
          </p:cNvPr>
          <p:cNvSpPr txBox="1"/>
          <p:nvPr/>
        </p:nvSpPr>
        <p:spPr>
          <a:xfrm>
            <a:off x="8636000" y="4572000"/>
            <a:ext cx="21336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8D5CF"/>
                </a:solidFill>
                <a:latin typeface="Aptos" panose="020B0004020202020204" pitchFamily="34" charset="0"/>
              </a:rPr>
              <a:t>confidence before giving</a:t>
            </a:r>
          </a:p>
        </p:txBody>
      </p:sp>
    </p:spTree>
    <p:extLst>
      <p:ext uri="{BB962C8B-B14F-4D97-AF65-F5344CB8AC3E}">
        <p14:creationId xmlns:p14="http://schemas.microsoft.com/office/powerpoint/2010/main" val="27497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D3AD-435D-2845-58F1-7B7F248E4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399"/>
            <a:ext cx="9652000" cy="1422400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rgbClr val="F6F1E7"/>
                </a:solidFill>
                <a:latin typeface="Georgia" panose="02040502050405020303" pitchFamily="18" charset="0"/>
              </a:rPr>
              <a:t>WHY THIS MATTERS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8115A-85EB-0F77-26C5-DAA2962D5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86000"/>
            <a:ext cx="7620000" cy="939800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The charity sector is generous, but governance capacity has not kept pace with donor expectations.</a:t>
            </a:r>
          </a:p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Small and medium charities often depend on volunteers, scattered documents and inconsistent reporting. The issue is not sincerity; it is the need for affordable infrastructure.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2960D5-EA3C-0D7F-6A28-4C7DB8703A0E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D1267-7CAE-9A56-7CE2-FCA345681380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09E79-080C-E7AB-B621-318CFF505212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docs/pitch and AGP architecture 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545B09-204E-22F6-0514-9423F1940233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EE8D1A-4608-2252-B6FE-AC6451E6A5D1}"/>
              </a:ext>
            </a:extLst>
          </p:cNvPr>
          <p:cNvSpPr/>
          <p:nvPr/>
        </p:nvSpPr>
        <p:spPr>
          <a:xfrm>
            <a:off x="812800" y="36322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C56EC2-9A00-5BB1-0FFA-F7DCC8953A35}"/>
              </a:ext>
            </a:extLst>
          </p:cNvPr>
          <p:cNvSpPr/>
          <p:nvPr/>
        </p:nvSpPr>
        <p:spPr>
          <a:xfrm>
            <a:off x="812800" y="3632200"/>
            <a:ext cx="88900" cy="3556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17E203-F1BE-FF78-EB0A-A032F44AF237}"/>
              </a:ext>
            </a:extLst>
          </p:cNvPr>
          <p:cNvSpPr txBox="1"/>
          <p:nvPr/>
        </p:nvSpPr>
        <p:spPr>
          <a:xfrm>
            <a:off x="1041400" y="37338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Charities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3AD16F-0D69-D843-5D01-D36736D8F5E5}"/>
              </a:ext>
            </a:extLst>
          </p:cNvPr>
          <p:cNvSpPr txBox="1"/>
          <p:nvPr/>
        </p:nvSpPr>
        <p:spPr>
          <a:xfrm>
            <a:off x="3581400" y="37084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limited admin staff, document burden, audit readiness pressure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9BAAA2-FD69-2BA1-2DDA-D81D7DB051E5}"/>
              </a:ext>
            </a:extLst>
          </p:cNvPr>
          <p:cNvSpPr/>
          <p:nvPr/>
        </p:nvSpPr>
        <p:spPr>
          <a:xfrm>
            <a:off x="812800" y="41783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5FB91F-7F54-FB39-CD02-719400C8FF26}"/>
              </a:ext>
            </a:extLst>
          </p:cNvPr>
          <p:cNvSpPr/>
          <p:nvPr/>
        </p:nvSpPr>
        <p:spPr>
          <a:xfrm>
            <a:off x="812800" y="4178300"/>
            <a:ext cx="88900" cy="3556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C79E8-1DE9-CC9F-AA1C-50C4A96E2814}"/>
              </a:ext>
            </a:extLst>
          </p:cNvPr>
          <p:cNvSpPr txBox="1"/>
          <p:nvPr/>
        </p:nvSpPr>
        <p:spPr>
          <a:xfrm>
            <a:off x="1041400" y="42799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Authorities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32BD2F-4B50-9CA9-24D8-D51F5B5A3E40}"/>
              </a:ext>
            </a:extLst>
          </p:cNvPr>
          <p:cNvSpPr txBox="1"/>
          <p:nvPr/>
        </p:nvSpPr>
        <p:spPr>
          <a:xfrm>
            <a:off x="3581400" y="42545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growing number of organizations, heavy manual monitoring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56A314-2A8B-EC0B-839A-E9B307778A35}"/>
              </a:ext>
            </a:extLst>
          </p:cNvPr>
          <p:cNvSpPr/>
          <p:nvPr/>
        </p:nvSpPr>
        <p:spPr>
          <a:xfrm>
            <a:off x="812800" y="47244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B1DEEC-C602-F328-FECC-A3F9DB15B6AF}"/>
              </a:ext>
            </a:extLst>
          </p:cNvPr>
          <p:cNvSpPr/>
          <p:nvPr/>
        </p:nvSpPr>
        <p:spPr>
          <a:xfrm>
            <a:off x="812800" y="4724400"/>
            <a:ext cx="88900" cy="3556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61616D-770A-31AD-FC45-1E459FEB3CF0}"/>
              </a:ext>
            </a:extLst>
          </p:cNvPr>
          <p:cNvSpPr txBox="1"/>
          <p:nvPr/>
        </p:nvSpPr>
        <p:spPr>
          <a:xfrm>
            <a:off x="1041400" y="48260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Donors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4C80D9-DB49-CE95-7C57-4F0109BBDD05}"/>
              </a:ext>
            </a:extLst>
          </p:cNvPr>
          <p:cNvSpPr txBox="1"/>
          <p:nvPr/>
        </p:nvSpPr>
        <p:spPr>
          <a:xfrm>
            <a:off x="3581400" y="48006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need clear proof before giving, not only campaign claims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5BFBA2-9999-F022-7A9A-A29E7780C073}"/>
              </a:ext>
            </a:extLst>
          </p:cNvPr>
          <p:cNvSpPr/>
          <p:nvPr/>
        </p:nvSpPr>
        <p:spPr>
          <a:xfrm>
            <a:off x="812800" y="52705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491F97-9477-144F-19F9-C940136BA1FA}"/>
              </a:ext>
            </a:extLst>
          </p:cNvPr>
          <p:cNvSpPr/>
          <p:nvPr/>
        </p:nvSpPr>
        <p:spPr>
          <a:xfrm>
            <a:off x="812800" y="5270500"/>
            <a:ext cx="88900" cy="3556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3D1B9E-4C34-6BE0-089D-01B99351D711}"/>
              </a:ext>
            </a:extLst>
          </p:cNvPr>
          <p:cNvSpPr txBox="1"/>
          <p:nvPr/>
        </p:nvSpPr>
        <p:spPr>
          <a:xfrm>
            <a:off x="1041400" y="53721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Beneficiaries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E2C688-E039-A76A-F58A-CA81EDEA713F}"/>
              </a:ext>
            </a:extLst>
          </p:cNvPr>
          <p:cNvSpPr txBox="1"/>
          <p:nvPr/>
        </p:nvSpPr>
        <p:spPr>
          <a:xfrm>
            <a:off x="3581400" y="53467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depend on organizations that can sustain good governance</a:t>
            </a:r>
          </a:p>
        </p:txBody>
      </p:sp>
    </p:spTree>
    <p:extLst>
      <p:ext uri="{BB962C8B-B14F-4D97-AF65-F5344CB8AC3E}">
        <p14:creationId xmlns:p14="http://schemas.microsoft.com/office/powerpoint/2010/main" val="3599175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5545B-F500-5347-1DB4-D164508BA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399"/>
            <a:ext cx="9652000" cy="1422400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rgbClr val="F6F1E7"/>
                </a:solidFill>
                <a:latin typeface="Georgia" panose="02040502050405020303" pitchFamily="18" charset="0"/>
              </a:rPr>
              <a:t>BENEFIT TO CHARITY ORGANIZATIONS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2AAC6-52D1-AC16-CB2C-1A839784A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86000"/>
            <a:ext cx="7620000" cy="939800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AGP helps charities become more trusted without asking them to buy expensive governance software.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D68FC-6D05-313D-5132-7E824F47B6A4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50577-4C06-D1A5-CDB8-F2D8C85293C5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77F932-FE37-9B93-796B-AB28FADD95B6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apps/org modules, docs/ARCHITECTURE_MAP.md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0D883-3B64-6A82-F111-FCFCECA1DC62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401F6C-BCBF-D017-3693-AC3930A11B02}"/>
              </a:ext>
            </a:extLst>
          </p:cNvPr>
          <p:cNvSpPr/>
          <p:nvPr/>
        </p:nvSpPr>
        <p:spPr>
          <a:xfrm>
            <a:off x="990600" y="3302000"/>
            <a:ext cx="2133600" cy="18034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9610A-5631-C337-1FD2-57406B7985E6}"/>
              </a:ext>
            </a:extLst>
          </p:cNvPr>
          <p:cNvSpPr txBox="1"/>
          <p:nvPr/>
        </p:nvSpPr>
        <p:spPr>
          <a:xfrm>
            <a:off x="1193800" y="3530600"/>
            <a:ext cx="17018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Free sponsored access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F225D1-3DF4-56D4-9594-70D1BEBECB9C}"/>
              </a:ext>
            </a:extLst>
          </p:cNvPr>
          <p:cNvSpPr txBox="1"/>
          <p:nvPr/>
        </p:nvSpPr>
        <p:spPr>
          <a:xfrm>
            <a:off x="1193800" y="3911600"/>
            <a:ext cx="1676400" cy="39498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Core platform access is funded through grants, infaq/sadaqah and sponsors.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84B88E-1118-6369-1BDD-A4DDABFE0CC4}"/>
              </a:ext>
            </a:extLst>
          </p:cNvPr>
          <p:cNvSpPr/>
          <p:nvPr/>
        </p:nvSpPr>
        <p:spPr>
          <a:xfrm>
            <a:off x="3581400" y="3302000"/>
            <a:ext cx="2133600" cy="18034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B5B036-375C-D7F3-8E73-A43BCDB9892D}"/>
              </a:ext>
            </a:extLst>
          </p:cNvPr>
          <p:cNvSpPr txBox="1"/>
          <p:nvPr/>
        </p:nvSpPr>
        <p:spPr>
          <a:xfrm>
            <a:off x="3784600" y="3530600"/>
            <a:ext cx="17018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Governance workflow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701433-F77A-13E5-1151-E878876CF6AA}"/>
              </a:ext>
            </a:extLst>
          </p:cNvPr>
          <p:cNvSpPr txBox="1"/>
          <p:nvPr/>
        </p:nvSpPr>
        <p:spPr>
          <a:xfrm>
            <a:off x="3784600" y="3911600"/>
            <a:ext cx="1676400" cy="39498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amanahOS guides reports, policies, evidence uploads and certification readiness.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57086E-4032-B00B-7E1A-8CC157A40517}"/>
              </a:ext>
            </a:extLst>
          </p:cNvPr>
          <p:cNvSpPr/>
          <p:nvPr/>
        </p:nvSpPr>
        <p:spPr>
          <a:xfrm>
            <a:off x="6172200" y="3302000"/>
            <a:ext cx="2133600" cy="18034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AFDA0-1DEA-8C26-7E21-9A7273B1A281}"/>
              </a:ext>
            </a:extLst>
          </p:cNvPr>
          <p:cNvSpPr txBox="1"/>
          <p:nvPr/>
        </p:nvSpPr>
        <p:spPr>
          <a:xfrm>
            <a:off x="6375400" y="3530600"/>
            <a:ext cx="17018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Audit readiness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7C0D8F-3846-CD13-561D-9E9A4C5C40AE}"/>
              </a:ext>
            </a:extLst>
          </p:cNvPr>
          <p:cNvSpPr txBox="1"/>
          <p:nvPr/>
        </p:nvSpPr>
        <p:spPr>
          <a:xfrm>
            <a:off x="6375400" y="3911600"/>
            <a:ext cx="1676400" cy="27186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8D5CF"/>
                </a:solidFill>
                <a:latin typeface="Aptos" panose="020B0004020202020204" pitchFamily="34" charset="0"/>
              </a:rPr>
              <a:t>Documents and evidence are kept in one private-by-default workspace.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4C4A9B-BE31-FAAE-14FF-522DE6B9E224}"/>
              </a:ext>
            </a:extLst>
          </p:cNvPr>
          <p:cNvSpPr/>
          <p:nvPr/>
        </p:nvSpPr>
        <p:spPr>
          <a:xfrm>
            <a:off x="8763000" y="3302000"/>
            <a:ext cx="2133600" cy="18034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43A85-4EAC-9AEB-7BB0-63900F1258E0}"/>
              </a:ext>
            </a:extLst>
          </p:cNvPr>
          <p:cNvSpPr txBox="1"/>
          <p:nvPr/>
        </p:nvSpPr>
        <p:spPr>
          <a:xfrm>
            <a:off x="8966200" y="3530600"/>
            <a:ext cx="17018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Trust profile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21DB4B-DFF2-E013-E9E9-1E688516D27F}"/>
              </a:ext>
            </a:extLst>
          </p:cNvPr>
          <p:cNvSpPr txBox="1"/>
          <p:nvPr/>
        </p:nvSpPr>
        <p:spPr>
          <a:xfrm>
            <a:off x="8966200" y="3911600"/>
            <a:ext cx="1676400" cy="39498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8D5CF"/>
                </a:solidFill>
                <a:latin typeface="Aptos" panose="020B0004020202020204" pitchFamily="34" charset="0"/>
              </a:rPr>
              <a:t>Verified reports, Amanah Index and certification status become public signals.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DFC909-8AC9-9443-7D79-104E0A362120}"/>
              </a:ext>
            </a:extLst>
          </p:cNvPr>
          <p:cNvSpPr txBox="1"/>
          <p:nvPr/>
        </p:nvSpPr>
        <p:spPr>
          <a:xfrm>
            <a:off x="990600" y="5588000"/>
            <a:ext cx="10795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D8A84E"/>
                </a:solidFill>
                <a:latin typeface="Aptos" panose="020B0004020202020204" pitchFamily="34" charset="0"/>
              </a:rPr>
              <a:t>Core promise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79D753-5032-11AB-925D-FCE16789EE17}"/>
              </a:ext>
            </a:extLst>
          </p:cNvPr>
          <p:cNvSpPr txBox="1"/>
          <p:nvPr/>
        </p:nvSpPr>
        <p:spPr>
          <a:xfrm>
            <a:off x="2209800" y="5588000"/>
            <a:ext cx="7747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F6F1E7"/>
                </a:solidFill>
                <a:latin typeface="Aptos" panose="020B0004020202020204" pitchFamily="34" charset="0"/>
              </a:rPr>
              <a:t>Proper governance becomes easier to do, easier to evidence and easier to explain to donors.</a:t>
            </a:r>
          </a:p>
        </p:txBody>
      </p:sp>
    </p:spTree>
    <p:extLst>
      <p:ext uri="{BB962C8B-B14F-4D97-AF65-F5344CB8AC3E}">
        <p14:creationId xmlns:p14="http://schemas.microsoft.com/office/powerpoint/2010/main" val="1322612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A282-7753-25EB-6CD9-62C66F54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399"/>
            <a:ext cx="9652000" cy="1422400"/>
          </a:xfrm>
        </p:spPr>
        <p:txBody>
          <a:bodyPr>
            <a:normAutofit/>
          </a:bodyPr>
          <a:lstStyle/>
          <a:p>
            <a:r>
              <a:rPr lang="en-US" sz="2600">
                <a:solidFill>
                  <a:srgbClr val="F6F1E7"/>
                </a:solidFill>
                <a:latin typeface="Georgia" panose="02040502050405020303" pitchFamily="18" charset="0"/>
              </a:rPr>
              <a:t>BENEFIT TO GOVERNING BODIES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34322-9CF4-CD4A-BAC8-E39EEFED1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86000"/>
            <a:ext cx="7620000" cy="939800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State Islamic Affairs, JAKIM and related bodies gain oversight capacity without building a new system from zero.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A1AB7A-34B4-5F73-1A1D-163249B0F588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F2A8E-1165-3D93-0161-74269F1B6F11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CE425-CBDD-0875-5648-2894E9527C0B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docs/pitch Zakat narrative, AGP Console review modules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1405A-AEC5-B750-CEEB-F9A2EE146CD0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E0C59A-3C7A-D781-E4BF-A9D33140A8EC}"/>
              </a:ext>
            </a:extLst>
          </p:cNvPr>
          <p:cNvSpPr/>
          <p:nvPr/>
        </p:nvSpPr>
        <p:spPr>
          <a:xfrm>
            <a:off x="812800" y="30988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4F2852-AA65-FA26-0D05-9E333D63FF39}"/>
              </a:ext>
            </a:extLst>
          </p:cNvPr>
          <p:cNvSpPr/>
          <p:nvPr/>
        </p:nvSpPr>
        <p:spPr>
          <a:xfrm>
            <a:off x="812800" y="3098800"/>
            <a:ext cx="88900" cy="3556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864BF-2009-F9CD-CFF6-4C085ECBCF33}"/>
              </a:ext>
            </a:extLst>
          </p:cNvPr>
          <p:cNvSpPr txBox="1"/>
          <p:nvPr/>
        </p:nvSpPr>
        <p:spPr>
          <a:xfrm>
            <a:off x="1041400" y="32004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Ecosystem visibility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BBE29-7934-FD92-0E62-5B2BA063BFF1}"/>
              </a:ext>
            </a:extLst>
          </p:cNvPr>
          <p:cNvSpPr txBox="1"/>
          <p:nvPr/>
        </p:nvSpPr>
        <p:spPr>
          <a:xfrm>
            <a:off x="3581400" y="31750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structured view of participating charities, governance maturity and trust status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2F86B5-6703-7318-89EE-993E3D05E9B8}"/>
              </a:ext>
            </a:extLst>
          </p:cNvPr>
          <p:cNvSpPr/>
          <p:nvPr/>
        </p:nvSpPr>
        <p:spPr>
          <a:xfrm>
            <a:off x="812800" y="36449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54AE19-DE07-4F1E-3327-4A0AE4A76876}"/>
              </a:ext>
            </a:extLst>
          </p:cNvPr>
          <p:cNvSpPr/>
          <p:nvPr/>
        </p:nvSpPr>
        <p:spPr>
          <a:xfrm>
            <a:off x="812800" y="3644900"/>
            <a:ext cx="88900" cy="3556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446B19-2CA0-9292-269A-210E014FFFA2}"/>
              </a:ext>
            </a:extLst>
          </p:cNvPr>
          <p:cNvSpPr txBox="1"/>
          <p:nvPr/>
        </p:nvSpPr>
        <p:spPr>
          <a:xfrm>
            <a:off x="1041400" y="37465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Standard reporting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0300A5-8FE3-2A27-B4B9-51B780A62EE2}"/>
              </a:ext>
            </a:extLst>
          </p:cNvPr>
          <p:cNvSpPr txBox="1"/>
          <p:nvPr/>
        </p:nvSpPr>
        <p:spPr>
          <a:xfrm>
            <a:off x="3581400" y="37211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common templates reduce inconsistent submissions and manual document chasing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E20651-F2B6-644E-0B14-73B63D4822D6}"/>
              </a:ext>
            </a:extLst>
          </p:cNvPr>
          <p:cNvSpPr/>
          <p:nvPr/>
        </p:nvSpPr>
        <p:spPr>
          <a:xfrm>
            <a:off x="812800" y="41910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B6FBF3-86A5-0716-D4E6-BCB09B89C71C}"/>
              </a:ext>
            </a:extLst>
          </p:cNvPr>
          <p:cNvSpPr/>
          <p:nvPr/>
        </p:nvSpPr>
        <p:spPr>
          <a:xfrm>
            <a:off x="812800" y="4191000"/>
            <a:ext cx="88900" cy="3556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3ACBA4-0677-122C-C916-0E384C06CA3C}"/>
              </a:ext>
            </a:extLst>
          </p:cNvPr>
          <p:cNvSpPr txBox="1"/>
          <p:nvPr/>
        </p:nvSpPr>
        <p:spPr>
          <a:xfrm>
            <a:off x="1041400" y="42926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Due diligence support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7B013A-5EF6-23E4-520D-B7A4B7C495A9}"/>
              </a:ext>
            </a:extLst>
          </p:cNvPr>
          <p:cNvSpPr txBox="1"/>
          <p:nvPr/>
        </p:nvSpPr>
        <p:spPr>
          <a:xfrm>
            <a:off x="3581400" y="42672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review queues, evidence records and certification history improve partner screening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9AAA2-A13A-9288-6533-21987138A15E}"/>
              </a:ext>
            </a:extLst>
          </p:cNvPr>
          <p:cNvSpPr/>
          <p:nvPr/>
        </p:nvSpPr>
        <p:spPr>
          <a:xfrm>
            <a:off x="812800" y="47371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A28B99-1CAF-DEA7-DC75-78E00E131D6E}"/>
              </a:ext>
            </a:extLst>
          </p:cNvPr>
          <p:cNvSpPr/>
          <p:nvPr/>
        </p:nvSpPr>
        <p:spPr>
          <a:xfrm>
            <a:off x="812800" y="4737100"/>
            <a:ext cx="88900" cy="3556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CCD9DD-E4FC-2B91-3038-7641E7B18ED8}"/>
              </a:ext>
            </a:extLst>
          </p:cNvPr>
          <p:cNvSpPr txBox="1"/>
          <p:nvPr/>
        </p:nvSpPr>
        <p:spPr>
          <a:xfrm>
            <a:off x="1041400" y="48387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Policy alignment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A54A47-AEF6-3B0E-7326-26CE4481EEE3}"/>
              </a:ext>
            </a:extLst>
          </p:cNvPr>
          <p:cNvSpPr txBox="1"/>
          <p:nvPr/>
        </p:nvSpPr>
        <p:spPr>
          <a:xfrm>
            <a:off x="3581400" y="48133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CTCF can be aligned with state/JAKIM expectations before wider rollout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68AD01-E6B7-49C5-6587-0EFE80F36880}"/>
              </a:ext>
            </a:extLst>
          </p:cNvPr>
          <p:cNvSpPr/>
          <p:nvPr/>
        </p:nvSpPr>
        <p:spPr>
          <a:xfrm>
            <a:off x="812800" y="52832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897B63-807E-9CE5-1111-580B9B688F68}"/>
              </a:ext>
            </a:extLst>
          </p:cNvPr>
          <p:cNvSpPr/>
          <p:nvPr/>
        </p:nvSpPr>
        <p:spPr>
          <a:xfrm>
            <a:off x="812800" y="5283200"/>
            <a:ext cx="88900" cy="355600"/>
          </a:xfrm>
          <a:prstGeom prst="rect">
            <a:avLst/>
          </a:prstGeom>
          <a:solidFill>
            <a:srgbClr val="A6B96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49184F-290F-8084-65AA-6B33B67D6A9A}"/>
              </a:ext>
            </a:extLst>
          </p:cNvPr>
          <p:cNvSpPr txBox="1"/>
          <p:nvPr/>
        </p:nvSpPr>
        <p:spPr>
          <a:xfrm>
            <a:off x="1041400" y="53848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Public trust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B51587-4CB7-167A-FE35-452FEA533FFE}"/>
              </a:ext>
            </a:extLst>
          </p:cNvPr>
          <p:cNvSpPr txBox="1"/>
          <p:nvPr/>
        </p:nvSpPr>
        <p:spPr>
          <a:xfrm>
            <a:off x="3581400" y="53594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visible governance infrastructure strengthens confidence in Islamic social finance</a:t>
            </a:r>
          </a:p>
        </p:txBody>
      </p:sp>
    </p:spTree>
    <p:extLst>
      <p:ext uri="{BB962C8B-B14F-4D97-AF65-F5344CB8AC3E}">
        <p14:creationId xmlns:p14="http://schemas.microsoft.com/office/powerpoint/2010/main" val="2933944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313D-AEB5-6F22-8549-BEDC8FF4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399"/>
            <a:ext cx="9652000" cy="1422400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rgbClr val="F6F1E7"/>
                </a:solidFill>
                <a:latin typeface="Georgia" panose="02040502050405020303" pitchFamily="18" charset="0"/>
              </a:rPr>
              <a:t>BENEFIT TO DONORS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24CEE-50B6-30ED-5B6A-090095DE5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86000"/>
            <a:ext cx="7620000" cy="939800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Donors get clearer confidence signals before giving, while funds still flow directly to the charity.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9F6E38-920F-9298-2438-303E6EA16E0D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65F22-7308-709E-DE9D-35718A01E645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C78292-5966-37B9-1CF7-DCAC1817ED17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/how-it-works, ADR-003, ADR-004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CA986-F4CB-4CF2-494C-5B24DAFD7785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EFCCBB-3F7F-634D-C2B5-9E75E73005B3}"/>
              </a:ext>
            </a:extLst>
          </p:cNvPr>
          <p:cNvSpPr/>
          <p:nvPr/>
        </p:nvSpPr>
        <p:spPr>
          <a:xfrm>
            <a:off x="1219200" y="3733800"/>
            <a:ext cx="1854200" cy="10414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34A33-7D71-B3F8-9EA8-02AC0BDC722A}"/>
              </a:ext>
            </a:extLst>
          </p:cNvPr>
          <p:cNvSpPr txBox="1"/>
          <p:nvPr/>
        </p:nvSpPr>
        <p:spPr>
          <a:xfrm>
            <a:off x="1422400" y="3962400"/>
            <a:ext cx="14224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Discover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6D0DB8-3297-891F-932F-0772B24FA722}"/>
              </a:ext>
            </a:extLst>
          </p:cNvPr>
          <p:cNvSpPr txBox="1"/>
          <p:nvPr/>
        </p:nvSpPr>
        <p:spPr>
          <a:xfrm>
            <a:off x="1422400" y="4343400"/>
            <a:ext cx="13970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find verified organizations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49831D-E9A4-901B-462A-7F6B925575AB}"/>
              </a:ext>
            </a:extLst>
          </p:cNvPr>
          <p:cNvSpPr/>
          <p:nvPr/>
        </p:nvSpPr>
        <p:spPr>
          <a:xfrm>
            <a:off x="3200400" y="4191000"/>
            <a:ext cx="431800" cy="254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FC231F-8440-8179-8E5F-BCE8A215CF67}"/>
              </a:ext>
            </a:extLst>
          </p:cNvPr>
          <p:cNvSpPr/>
          <p:nvPr/>
        </p:nvSpPr>
        <p:spPr>
          <a:xfrm>
            <a:off x="3810000" y="3733800"/>
            <a:ext cx="1854200" cy="10414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853C96-BA4D-CC29-7E61-9D900B2D870A}"/>
              </a:ext>
            </a:extLst>
          </p:cNvPr>
          <p:cNvSpPr txBox="1"/>
          <p:nvPr/>
        </p:nvSpPr>
        <p:spPr>
          <a:xfrm>
            <a:off x="4013200" y="3962400"/>
            <a:ext cx="14224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Evaluate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6357DB-4828-5AE7-ADF0-AACB37A3ECA5}"/>
              </a:ext>
            </a:extLst>
          </p:cNvPr>
          <p:cNvSpPr txBox="1"/>
          <p:nvPr/>
        </p:nvSpPr>
        <p:spPr>
          <a:xfrm>
            <a:off x="4013200" y="4343400"/>
            <a:ext cx="13970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read reports, scores and notes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E8AA43-83C0-AF29-44FE-9F50AF2DEC66}"/>
              </a:ext>
            </a:extLst>
          </p:cNvPr>
          <p:cNvSpPr/>
          <p:nvPr/>
        </p:nvSpPr>
        <p:spPr>
          <a:xfrm>
            <a:off x="5791200" y="4191000"/>
            <a:ext cx="431800" cy="254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C3D49B-2EC0-9AC0-D04F-5CF82EAF563C}"/>
              </a:ext>
            </a:extLst>
          </p:cNvPr>
          <p:cNvSpPr/>
          <p:nvPr/>
        </p:nvSpPr>
        <p:spPr>
          <a:xfrm>
            <a:off x="6400800" y="3733800"/>
            <a:ext cx="1854200" cy="10414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5A96EC-B481-7057-8B66-AF34E65A588A}"/>
              </a:ext>
            </a:extLst>
          </p:cNvPr>
          <p:cNvSpPr txBox="1"/>
          <p:nvPr/>
        </p:nvSpPr>
        <p:spPr>
          <a:xfrm>
            <a:off x="6604000" y="3962400"/>
            <a:ext cx="14224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Donate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C6169F-1D5B-8A48-5F8B-3B53AAAC7A04}"/>
              </a:ext>
            </a:extLst>
          </p:cNvPr>
          <p:cNvSpPr txBox="1"/>
          <p:nvPr/>
        </p:nvSpPr>
        <p:spPr>
          <a:xfrm>
            <a:off x="6604000" y="4343400"/>
            <a:ext cx="13970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8D5CF"/>
                </a:solidFill>
                <a:latin typeface="Aptos" panose="020B0004020202020204" pitchFamily="34" charset="0"/>
              </a:rPr>
              <a:t>ToyyibPay direct to charity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21AE6E-B243-1EE6-BB3A-A9B57F82929D}"/>
              </a:ext>
            </a:extLst>
          </p:cNvPr>
          <p:cNvSpPr/>
          <p:nvPr/>
        </p:nvSpPr>
        <p:spPr>
          <a:xfrm>
            <a:off x="8382000" y="4191000"/>
            <a:ext cx="431800" cy="254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479E7E-BE48-536F-6537-2E15A0809E0D}"/>
              </a:ext>
            </a:extLst>
          </p:cNvPr>
          <p:cNvSpPr/>
          <p:nvPr/>
        </p:nvSpPr>
        <p:spPr>
          <a:xfrm>
            <a:off x="8991600" y="3733800"/>
            <a:ext cx="1854200" cy="10414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2C9FC5-FE69-BD3F-D02A-859CC0F03389}"/>
              </a:ext>
            </a:extLst>
          </p:cNvPr>
          <p:cNvSpPr txBox="1"/>
          <p:nvPr/>
        </p:nvSpPr>
        <p:spPr>
          <a:xfrm>
            <a:off x="9194800" y="3962400"/>
            <a:ext cx="14224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Track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2E8F00-0555-70B4-6EF5-4701621F95FB}"/>
              </a:ext>
            </a:extLst>
          </p:cNvPr>
          <p:cNvSpPr txBox="1"/>
          <p:nvPr/>
        </p:nvSpPr>
        <p:spPr>
          <a:xfrm>
            <a:off x="9194800" y="4343400"/>
            <a:ext cx="13970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8D5CF"/>
                </a:solidFill>
                <a:latin typeface="Aptos" panose="020B0004020202020204" pitchFamily="34" charset="0"/>
              </a:rPr>
              <a:t>receipt, history and impact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9F7293-4DD4-B978-A27B-2CDF8E8A755A}"/>
              </a:ext>
            </a:extLst>
          </p:cNvPr>
          <p:cNvSpPr txBox="1"/>
          <p:nvPr/>
        </p:nvSpPr>
        <p:spPr>
          <a:xfrm>
            <a:off x="1244600" y="5410200"/>
            <a:ext cx="17780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D8A84E"/>
                </a:solidFill>
                <a:latin typeface="Aptos" panose="020B0004020202020204" pitchFamily="34" charset="0"/>
              </a:rPr>
              <a:t>Non-custodial principle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98E2BB-0575-D66C-4C8A-6954E1E46773}"/>
              </a:ext>
            </a:extLst>
          </p:cNvPr>
          <p:cNvSpPr txBox="1"/>
          <p:nvPr/>
        </p:nvSpPr>
        <p:spPr>
          <a:xfrm>
            <a:off x="3175000" y="5410200"/>
            <a:ext cx="72390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AGP does not hold donor funds. The platform records, verifies and reports; payment goes to the organization account.</a:t>
            </a:r>
          </a:p>
        </p:txBody>
      </p:sp>
    </p:spTree>
    <p:extLst>
      <p:ext uri="{BB962C8B-B14F-4D97-AF65-F5344CB8AC3E}">
        <p14:creationId xmlns:p14="http://schemas.microsoft.com/office/powerpoint/2010/main" val="58180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8CE2-7C26-ABA3-0179-37962FB1B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399"/>
            <a:ext cx="9652000" cy="1422400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6F1E7"/>
                </a:solidFill>
                <a:latin typeface="Georgia" panose="02040502050405020303" pitchFamily="18" charset="0"/>
              </a:rPr>
              <a:t>WHY CHARITIES NEED GOVERNANCE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52BED-0CC5-8564-05B7-2DA80C4C7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86000"/>
            <a:ext cx="7620000" cy="939800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Proper governance protects the donor, the organization, the regulator and the beneficiary.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5CF0A2-F896-1627-B543-29F27722FA1C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E5E83-075D-37D1-868B-6A5198E8E753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93205E-6281-F314-0C71-0E84724D5EEB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/about theological foundation and CTCF criteria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F6DBC-5702-890D-7A88-D69A4BD0D6ED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4FA0B5-7D93-07BB-EFC8-7618FAE3568C}"/>
              </a:ext>
            </a:extLst>
          </p:cNvPr>
          <p:cNvSpPr/>
          <p:nvPr/>
        </p:nvSpPr>
        <p:spPr>
          <a:xfrm>
            <a:off x="1168400" y="3352800"/>
            <a:ext cx="4191000" cy="7874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7EA07C-5153-95FA-CE10-36F83FE4B241}"/>
              </a:ext>
            </a:extLst>
          </p:cNvPr>
          <p:cNvSpPr txBox="1"/>
          <p:nvPr/>
        </p:nvSpPr>
        <p:spPr>
          <a:xfrm>
            <a:off x="1371600" y="3581400"/>
            <a:ext cx="37592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Spiritual trust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EC3316-5B77-9A37-F866-4365D7710E82}"/>
              </a:ext>
            </a:extLst>
          </p:cNvPr>
          <p:cNvSpPr txBox="1"/>
          <p:nvPr/>
        </p:nvSpPr>
        <p:spPr>
          <a:xfrm>
            <a:off x="1371600" y="3962400"/>
            <a:ext cx="37338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Charity managers are trustees of donor funds; amanah has consequences.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D55E32-6673-3533-6355-D19B9A1AEC76}"/>
              </a:ext>
            </a:extLst>
          </p:cNvPr>
          <p:cNvSpPr/>
          <p:nvPr/>
        </p:nvSpPr>
        <p:spPr>
          <a:xfrm>
            <a:off x="6807200" y="3352800"/>
            <a:ext cx="4191000" cy="7874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741945-5751-E9D9-6507-7D2E9B78B90E}"/>
              </a:ext>
            </a:extLst>
          </p:cNvPr>
          <p:cNvSpPr txBox="1"/>
          <p:nvPr/>
        </p:nvSpPr>
        <p:spPr>
          <a:xfrm>
            <a:off x="7010400" y="3581400"/>
            <a:ext cx="37592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Operational continuity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3C9B93-5797-8275-829C-E625E929B6B9}"/>
              </a:ext>
            </a:extLst>
          </p:cNvPr>
          <p:cNvSpPr txBox="1"/>
          <p:nvPr/>
        </p:nvSpPr>
        <p:spPr>
          <a:xfrm>
            <a:off x="7010400" y="3962400"/>
            <a:ext cx="37338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Clear policies, roles and records reduce dependence on one person.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8D04B0-BB4D-436C-6853-1060500B143A}"/>
              </a:ext>
            </a:extLst>
          </p:cNvPr>
          <p:cNvSpPr/>
          <p:nvPr/>
        </p:nvSpPr>
        <p:spPr>
          <a:xfrm>
            <a:off x="1168400" y="4597400"/>
            <a:ext cx="4191000" cy="7874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D2D14B-D022-8371-8B32-97116F0995AC}"/>
              </a:ext>
            </a:extLst>
          </p:cNvPr>
          <p:cNvSpPr txBox="1"/>
          <p:nvPr/>
        </p:nvSpPr>
        <p:spPr>
          <a:xfrm>
            <a:off x="1371600" y="4826000"/>
            <a:ext cx="37592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Financial discipline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E10547-019F-04F9-4BDA-F543F8A4B35F}"/>
              </a:ext>
            </a:extLst>
          </p:cNvPr>
          <p:cNvSpPr txBox="1"/>
          <p:nvPr/>
        </p:nvSpPr>
        <p:spPr>
          <a:xfrm>
            <a:off x="1371600" y="5207000"/>
            <a:ext cx="37338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8D5CF"/>
                </a:solidFill>
                <a:latin typeface="Aptos" panose="020B0004020202020204" pitchFamily="34" charset="0"/>
              </a:rPr>
              <a:t>Fund separation and reporting reduce misuse, confusion and audit risk.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E35FD-7ED2-1BE0-AA18-AE0F846435E5}"/>
              </a:ext>
            </a:extLst>
          </p:cNvPr>
          <p:cNvSpPr/>
          <p:nvPr/>
        </p:nvSpPr>
        <p:spPr>
          <a:xfrm>
            <a:off x="6807200" y="4597400"/>
            <a:ext cx="4191000" cy="7874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8A1B98-AB64-0334-B0EC-E076871B3D1D}"/>
              </a:ext>
            </a:extLst>
          </p:cNvPr>
          <p:cNvSpPr txBox="1"/>
          <p:nvPr/>
        </p:nvSpPr>
        <p:spPr>
          <a:xfrm>
            <a:off x="7010400" y="4826000"/>
            <a:ext cx="37592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Public confidence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E53D30-6BC2-BBB4-E85B-4BEB635DD073}"/>
              </a:ext>
            </a:extLst>
          </p:cNvPr>
          <p:cNvSpPr txBox="1"/>
          <p:nvPr/>
        </p:nvSpPr>
        <p:spPr>
          <a:xfrm>
            <a:off x="7010400" y="5207000"/>
            <a:ext cx="37338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8D5CF"/>
                </a:solidFill>
                <a:latin typeface="Aptos" panose="020B0004020202020204" pitchFamily="34" charset="0"/>
              </a:rPr>
              <a:t>Good governance turns sincerity into evidence that the public can understand.</a:t>
            </a:r>
          </a:p>
        </p:txBody>
      </p:sp>
    </p:spTree>
    <p:extLst>
      <p:ext uri="{BB962C8B-B14F-4D97-AF65-F5344CB8AC3E}">
        <p14:creationId xmlns:p14="http://schemas.microsoft.com/office/powerpoint/2010/main" val="2272958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BBB53-805B-5F31-38BF-EF9F39638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399"/>
            <a:ext cx="9652000" cy="14224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THREE PILLARS OF AMANAH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23D37-FF0A-ED70-7B0C-7D7F12AD1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86000"/>
            <a:ext cx="7620000" cy="939800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AGP is designed around Amanah, Shafafiyyah and Mas'uliyyah.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D32CBC-5F79-A86B-7C89-4915D720284F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5F3C9-A566-B7F2-C05C-934F439048F8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AB81F-9148-9B18-85A0-509A74A0C1BD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/about - Our principles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37FFF1-1105-8532-878E-E9050C4780AF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EB74A5-0A8A-4561-4D1C-5623F391B9D0}"/>
              </a:ext>
            </a:extLst>
          </p:cNvPr>
          <p:cNvSpPr/>
          <p:nvPr/>
        </p:nvSpPr>
        <p:spPr>
          <a:xfrm>
            <a:off x="1092200" y="3378200"/>
            <a:ext cx="2387600" cy="18034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11191-71F8-0490-7A62-26C4BB3F803D}"/>
              </a:ext>
            </a:extLst>
          </p:cNvPr>
          <p:cNvSpPr txBox="1"/>
          <p:nvPr/>
        </p:nvSpPr>
        <p:spPr>
          <a:xfrm>
            <a:off x="1295400" y="3606800"/>
            <a:ext cx="19558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Amanah - Trust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EDEB59-1D68-6FD4-6D0E-03DD752F4E61}"/>
              </a:ext>
            </a:extLst>
          </p:cNvPr>
          <p:cNvSpPr txBox="1"/>
          <p:nvPr/>
        </p:nvSpPr>
        <p:spPr>
          <a:xfrm>
            <a:off x="1295400" y="3987800"/>
            <a:ext cx="1930400" cy="27186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Trusteeship of donor funds is made visible, reviewable and verifiable.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4402A3-0DFA-5272-4416-1E81F8B30B92}"/>
              </a:ext>
            </a:extLst>
          </p:cNvPr>
          <p:cNvSpPr/>
          <p:nvPr/>
        </p:nvSpPr>
        <p:spPr>
          <a:xfrm>
            <a:off x="4902200" y="3378200"/>
            <a:ext cx="2387600" cy="18034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309423-824F-FA66-8941-BBAA7EA18306}"/>
              </a:ext>
            </a:extLst>
          </p:cNvPr>
          <p:cNvSpPr txBox="1"/>
          <p:nvPr/>
        </p:nvSpPr>
        <p:spPr>
          <a:xfrm>
            <a:off x="5105400" y="3606800"/>
            <a:ext cx="19558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Shafafiyyah - Transparency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F0D49D-2287-A799-7269-C04E6933AAA5}"/>
              </a:ext>
            </a:extLst>
          </p:cNvPr>
          <p:cNvSpPr txBox="1"/>
          <p:nvPr/>
        </p:nvSpPr>
        <p:spPr>
          <a:xfrm>
            <a:off x="5105400" y="3987800"/>
            <a:ext cx="1930400" cy="27186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Financial, project, impact and Shariah compliance evidence becomes accessible.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518B9F-9DFB-12F0-0105-D9A0BFFF2EEA}"/>
              </a:ext>
            </a:extLst>
          </p:cNvPr>
          <p:cNvSpPr/>
          <p:nvPr/>
        </p:nvSpPr>
        <p:spPr>
          <a:xfrm>
            <a:off x="8712200" y="3378200"/>
            <a:ext cx="2387600" cy="18034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3E5135-8A98-D43E-AF4E-7B0330D7FC86}"/>
              </a:ext>
            </a:extLst>
          </p:cNvPr>
          <p:cNvSpPr txBox="1"/>
          <p:nvPr/>
        </p:nvSpPr>
        <p:spPr>
          <a:xfrm>
            <a:off x="8915400" y="3606800"/>
            <a:ext cx="19558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Mas'uliyyah - Accountability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188E30-6A95-8A15-6CAF-D177AF3663AF}"/>
              </a:ext>
            </a:extLst>
          </p:cNvPr>
          <p:cNvSpPr txBox="1"/>
          <p:nvPr/>
        </p:nvSpPr>
        <p:spPr>
          <a:xfrm>
            <a:off x="8915400" y="3987800"/>
            <a:ext cx="1930400" cy="27186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8D5CF"/>
                </a:solidFill>
                <a:latin typeface="Aptos" panose="020B0004020202020204" pitchFamily="34" charset="0"/>
              </a:rPr>
              <a:t>Actions, reports, decisions and scores are logged and preserved.</a:t>
            </a:r>
          </a:p>
        </p:txBody>
      </p:sp>
    </p:spTree>
    <p:extLst>
      <p:ext uri="{BB962C8B-B14F-4D97-AF65-F5344CB8AC3E}">
        <p14:creationId xmlns:p14="http://schemas.microsoft.com/office/powerpoint/2010/main" val="894463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2C78C-769E-2089-026A-4F3F09299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399"/>
            <a:ext cx="9652000" cy="1422400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rgbClr val="F6F1E7"/>
                </a:solidFill>
                <a:latin typeface="Georgia" panose="02040502050405020303" pitchFamily="18" charset="0"/>
              </a:rPr>
              <a:t>PLATFORM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260A2-2627-2E44-62B7-2D2040455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86000"/>
            <a:ext cx="7620000" cy="939800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One sponsored infrastructure layer serves charities, governing bodies and donors through different surfaces.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419C27-D9CD-E334-AFA9-D50BB5ACEF02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5879B-243B-0B88-61CC-D96A4A605A20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9802F-F48C-4A9B-A037-AB59077B8B11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docs/ARCHITECTURE_MAP.md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3D006B-B690-8B9E-823D-98A62E48E678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A5C577-6454-E536-ADE8-334C982FC6D1}"/>
              </a:ext>
            </a:extLst>
          </p:cNvPr>
          <p:cNvSpPr/>
          <p:nvPr/>
        </p:nvSpPr>
        <p:spPr>
          <a:xfrm>
            <a:off x="1397000" y="3632200"/>
            <a:ext cx="2413000" cy="11176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B5ED9-6C36-CF82-5F59-0AB4F541854E}"/>
              </a:ext>
            </a:extLst>
          </p:cNvPr>
          <p:cNvSpPr txBox="1"/>
          <p:nvPr/>
        </p:nvSpPr>
        <p:spPr>
          <a:xfrm>
            <a:off x="1600200" y="3860800"/>
            <a:ext cx="19812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amanahOS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AE6ADE-931B-C7B4-49FB-6245CF9F4D6C}"/>
              </a:ext>
            </a:extLst>
          </p:cNvPr>
          <p:cNvSpPr txBox="1"/>
          <p:nvPr/>
        </p:nvSpPr>
        <p:spPr>
          <a:xfrm>
            <a:off x="1600200" y="4241800"/>
            <a:ext cx="1955800" cy="27186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free sponsored governance workspace for charities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3297C-2095-00A8-1A2E-E58CE8FB7766}"/>
              </a:ext>
            </a:extLst>
          </p:cNvPr>
          <p:cNvSpPr/>
          <p:nvPr/>
        </p:nvSpPr>
        <p:spPr>
          <a:xfrm>
            <a:off x="4902200" y="3632200"/>
            <a:ext cx="2413000" cy="11176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28F683-E465-E07D-8047-034847A16AC1}"/>
              </a:ext>
            </a:extLst>
          </p:cNvPr>
          <p:cNvSpPr txBox="1"/>
          <p:nvPr/>
        </p:nvSpPr>
        <p:spPr>
          <a:xfrm>
            <a:off x="5105400" y="3860800"/>
            <a:ext cx="19812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AGP Console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06F2B1-B27B-0E6F-8592-15ED71672615}"/>
              </a:ext>
            </a:extLst>
          </p:cNvPr>
          <p:cNvSpPr txBox="1"/>
          <p:nvPr/>
        </p:nvSpPr>
        <p:spPr>
          <a:xfrm>
            <a:off x="5105400" y="4241800"/>
            <a:ext cx="1955800" cy="27186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review, certification and public-readiness layer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0AFE40-0562-7D8F-D33F-226076F6AEF2}"/>
              </a:ext>
            </a:extLst>
          </p:cNvPr>
          <p:cNvSpPr/>
          <p:nvPr/>
        </p:nvSpPr>
        <p:spPr>
          <a:xfrm>
            <a:off x="8407400" y="3632200"/>
            <a:ext cx="2413000" cy="11176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6C69E-DF9B-77E3-E19C-CF380264E5B1}"/>
              </a:ext>
            </a:extLst>
          </p:cNvPr>
          <p:cNvSpPr txBox="1"/>
          <p:nvPr/>
        </p:nvSpPr>
        <p:spPr>
          <a:xfrm>
            <a:off x="8610600" y="3860800"/>
            <a:ext cx="19812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AmanahHub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24CD8C-E529-FC97-E24C-653323E612F8}"/>
              </a:ext>
            </a:extLst>
          </p:cNvPr>
          <p:cNvSpPr txBox="1"/>
          <p:nvPr/>
        </p:nvSpPr>
        <p:spPr>
          <a:xfrm>
            <a:off x="8610600" y="4241800"/>
            <a:ext cx="19558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8D5CF"/>
                </a:solidFill>
                <a:latin typeface="Aptos" panose="020B0004020202020204" pitchFamily="34" charset="0"/>
              </a:rPr>
              <a:t>public trust profile and donor journey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89EA85-DD06-EB40-E4A1-C1869755E5A7}"/>
              </a:ext>
            </a:extLst>
          </p:cNvPr>
          <p:cNvSpPr/>
          <p:nvPr/>
        </p:nvSpPr>
        <p:spPr>
          <a:xfrm>
            <a:off x="1981200" y="5486400"/>
            <a:ext cx="8255000" cy="5588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F71E6B-BECA-6CD6-4E0D-28E4140DB729}"/>
              </a:ext>
            </a:extLst>
          </p:cNvPr>
          <p:cNvSpPr txBox="1"/>
          <p:nvPr/>
        </p:nvSpPr>
        <p:spPr>
          <a:xfrm>
            <a:off x="2260600" y="5664200"/>
            <a:ext cx="419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F6F1E7"/>
                </a:solidFill>
                <a:latin typeface="Aptos" panose="020B0004020202020204" pitchFamily="34" charset="0"/>
              </a:rPr>
              <a:t>@agp/scoring + Supabase evidence layer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8C92A1-0D05-F0C1-32BD-D06FB8DFA61F}"/>
              </a:ext>
            </a:extLst>
          </p:cNvPr>
          <p:cNvSpPr txBox="1"/>
          <p:nvPr/>
        </p:nvSpPr>
        <p:spPr>
          <a:xfrm>
            <a:off x="2260600" y="5892800"/>
            <a:ext cx="7112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C8D5CF"/>
                </a:solidFill>
                <a:latin typeface="Aptos" panose="020B0004020202020204" pitchFamily="34" charset="0"/>
              </a:rPr>
              <a:t>CTCF, Amanah Index, RLS-protected evidence storage, audit logs, trust events and score history.</a:t>
            </a:r>
          </a:p>
        </p:txBody>
      </p:sp>
    </p:spTree>
    <p:extLst>
      <p:ext uri="{BB962C8B-B14F-4D97-AF65-F5344CB8AC3E}">
        <p14:creationId xmlns:p14="http://schemas.microsoft.com/office/powerpoint/2010/main" val="2425994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7977-1083-8191-D5A3-5DFF40960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399"/>
            <a:ext cx="9652000" cy="1422400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rgbClr val="F6F1E7"/>
                </a:solidFill>
                <a:latin typeface="Georgia" panose="02040502050405020303" pitchFamily="18" charset="0"/>
              </a:rPr>
              <a:t>COST AND FUNDING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0F198-1CB6-B0D3-C6A8-579E51027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86000"/>
            <a:ext cx="7620000" cy="939800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The platform is free for charities because the cost is carried by grants, sponsors and institutional partners.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FF99EF-8484-F980-3A33-E2612AC20D47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6B8A87-E72E-8A07-6FC5-1A5DBA6582CA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0EDC0A-F537-CFDD-6B17-B880833C709D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docs/pitch/AGP_full.md and sustainability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ABEC83-A1F2-7E7D-0428-BB271BFB0B28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84D38A-47B3-6077-AF51-21FB571E49F7}"/>
              </a:ext>
            </a:extLst>
          </p:cNvPr>
          <p:cNvSpPr/>
          <p:nvPr/>
        </p:nvSpPr>
        <p:spPr>
          <a:xfrm>
            <a:off x="812800" y="34290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770663-AF13-9709-D966-FC99F8FF3DBE}"/>
              </a:ext>
            </a:extLst>
          </p:cNvPr>
          <p:cNvSpPr/>
          <p:nvPr/>
        </p:nvSpPr>
        <p:spPr>
          <a:xfrm>
            <a:off x="812800" y="3429000"/>
            <a:ext cx="88900" cy="3556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883BCA-D8A8-AD01-5B14-E934C17C4ACA}"/>
              </a:ext>
            </a:extLst>
          </p:cNvPr>
          <p:cNvSpPr txBox="1"/>
          <p:nvPr/>
        </p:nvSpPr>
        <p:spPr>
          <a:xfrm>
            <a:off x="1041400" y="35306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Grants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34E214-763F-215F-20D1-EDDD94141F33}"/>
              </a:ext>
            </a:extLst>
          </p:cNvPr>
          <p:cNvSpPr txBox="1"/>
          <p:nvPr/>
        </p:nvSpPr>
        <p:spPr>
          <a:xfrm>
            <a:off x="3581400" y="35052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government innovation, Islamic social finance and digital infrastructure grants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22BD01-112B-5866-3545-C072EDFD79FE}"/>
              </a:ext>
            </a:extLst>
          </p:cNvPr>
          <p:cNvSpPr/>
          <p:nvPr/>
        </p:nvSpPr>
        <p:spPr>
          <a:xfrm>
            <a:off x="812800" y="39751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FF2DA6-14FA-E56B-E7D9-364D10DA7848}"/>
              </a:ext>
            </a:extLst>
          </p:cNvPr>
          <p:cNvSpPr/>
          <p:nvPr/>
        </p:nvSpPr>
        <p:spPr>
          <a:xfrm>
            <a:off x="812800" y="3975100"/>
            <a:ext cx="88900" cy="3556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FFE79A-9FA8-ADEC-4CC8-748296964F9A}"/>
              </a:ext>
            </a:extLst>
          </p:cNvPr>
          <p:cNvSpPr txBox="1"/>
          <p:nvPr/>
        </p:nvSpPr>
        <p:spPr>
          <a:xfrm>
            <a:off x="1041400" y="40767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Corporate sponsors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35819B-AAB8-AA55-EE2D-13D5C36ECD21}"/>
              </a:ext>
            </a:extLst>
          </p:cNvPr>
          <p:cNvSpPr txBox="1"/>
          <p:nvPr/>
        </p:nvSpPr>
        <p:spPr>
          <a:xfrm>
            <a:off x="3581400" y="40513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CSR partners sponsor onboarding, training and platform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910F75-8D24-A9ED-77DD-FC0D90D2ECB0}"/>
              </a:ext>
            </a:extLst>
          </p:cNvPr>
          <p:cNvSpPr/>
          <p:nvPr/>
        </p:nvSpPr>
        <p:spPr>
          <a:xfrm>
            <a:off x="812800" y="45212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03CBDC-51F1-FAF3-9D3E-A57F05E47879}"/>
              </a:ext>
            </a:extLst>
          </p:cNvPr>
          <p:cNvSpPr/>
          <p:nvPr/>
        </p:nvSpPr>
        <p:spPr>
          <a:xfrm>
            <a:off x="812800" y="4521200"/>
            <a:ext cx="88900" cy="3556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6225D6-E0FD-8B23-A4E6-FAF5DC671891}"/>
              </a:ext>
            </a:extLst>
          </p:cNvPr>
          <p:cNvSpPr txBox="1"/>
          <p:nvPr/>
        </p:nvSpPr>
        <p:spPr>
          <a:xfrm>
            <a:off x="1041400" y="46228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Infaq / sadaqah sponsors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9E1486-8B31-025E-4291-DE222326BD89}"/>
              </a:ext>
            </a:extLst>
          </p:cNvPr>
          <p:cNvSpPr txBox="1"/>
          <p:nvPr/>
        </p:nvSpPr>
        <p:spPr>
          <a:xfrm>
            <a:off x="3581400" y="45974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community sponsorship supports public-good access for smaller organizations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F5F923-9258-198A-D063-89E0B98D478A}"/>
              </a:ext>
            </a:extLst>
          </p:cNvPr>
          <p:cNvSpPr/>
          <p:nvPr/>
        </p:nvSpPr>
        <p:spPr>
          <a:xfrm>
            <a:off x="812800" y="50673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182FBD-F9D4-64BD-9BD8-922A0072472E}"/>
              </a:ext>
            </a:extLst>
          </p:cNvPr>
          <p:cNvSpPr/>
          <p:nvPr/>
        </p:nvSpPr>
        <p:spPr>
          <a:xfrm>
            <a:off x="812800" y="5067300"/>
            <a:ext cx="88900" cy="3556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56A335-D517-A5CC-8720-963E753F5D7D}"/>
              </a:ext>
            </a:extLst>
          </p:cNvPr>
          <p:cNvSpPr txBox="1"/>
          <p:nvPr/>
        </p:nvSpPr>
        <p:spPr>
          <a:xfrm>
            <a:off x="1041400" y="51689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Institutional partnerships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6E447C-38F1-053D-9576-2AE5C0AB9341}"/>
              </a:ext>
            </a:extLst>
          </p:cNvPr>
          <p:cNvSpPr txBox="1"/>
          <p:nvPr/>
        </p:nvSpPr>
        <p:spPr>
          <a:xfrm>
            <a:off x="3581400" y="51435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zakat bodies, councils and foundations fund ecosystem rollout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4F088B-43B5-604C-D8FF-E6866ED365FC}"/>
              </a:ext>
            </a:extLst>
          </p:cNvPr>
          <p:cNvSpPr txBox="1"/>
          <p:nvPr/>
        </p:nvSpPr>
        <p:spPr>
          <a:xfrm>
            <a:off x="1041400" y="5842000"/>
            <a:ext cx="8890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D8A84E"/>
                </a:solidFill>
                <a:latin typeface="Aptos" panose="020B0004020202020204" pitchFamily="34" charset="0"/>
              </a:rPr>
              <a:t>Guardrail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A7F252-7ECE-9273-23F4-1BC09DF94C7A}"/>
              </a:ext>
            </a:extLst>
          </p:cNvPr>
          <p:cNvSpPr txBox="1"/>
          <p:nvPr/>
        </p:nvSpPr>
        <p:spPr>
          <a:xfrm>
            <a:off x="2108200" y="5842000"/>
            <a:ext cx="78740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Donor funds are not held by AGP; platform sustainability is funded as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58815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81AB8-E712-087C-25D9-159AA65EE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399"/>
            <a:ext cx="9652000" cy="1422400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6F1E7"/>
                </a:solidFill>
                <a:latin typeface="Georgia" panose="02040502050405020303" pitchFamily="18" charset="0"/>
              </a:rPr>
              <a:t>WHY GOVERNING BODIES SHOULD SUPPORT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B92C9-2FCE-7232-2475-62C1277F3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86000"/>
            <a:ext cx="7620000" cy="939800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Supporting AGP is a preventive governance investment, not simply a software purchase.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99E827-046F-B024-B616-6D9D30DDD2E7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9813E1-B546-E61B-B482-8DD01EF4856F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83490C-34DC-D393-61E3-9F916998DAEF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docs/pitch Zakat and grant narratives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22CA3-F35B-115A-E4E4-9869B8CF3734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A03E6A-873C-1B37-7E60-CA385EC6BAF7}"/>
              </a:ext>
            </a:extLst>
          </p:cNvPr>
          <p:cNvSpPr/>
          <p:nvPr/>
        </p:nvSpPr>
        <p:spPr>
          <a:xfrm>
            <a:off x="812800" y="31750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F4536F-65CB-40D0-6A0F-5A6D5C2A9D0F}"/>
              </a:ext>
            </a:extLst>
          </p:cNvPr>
          <p:cNvSpPr/>
          <p:nvPr/>
        </p:nvSpPr>
        <p:spPr>
          <a:xfrm>
            <a:off x="812800" y="3175000"/>
            <a:ext cx="88900" cy="3556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A41C8B-5200-66BB-ACAD-2149CECAB9CF}"/>
              </a:ext>
            </a:extLst>
          </p:cNvPr>
          <p:cNvSpPr txBox="1"/>
          <p:nvPr/>
        </p:nvSpPr>
        <p:spPr>
          <a:xfrm>
            <a:off x="1041400" y="32766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Reduce future risk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AE3B08-BEC4-98E1-3C83-868F98FCF0CD}"/>
              </a:ext>
            </a:extLst>
          </p:cNvPr>
          <p:cNvSpPr txBox="1"/>
          <p:nvPr/>
        </p:nvSpPr>
        <p:spPr>
          <a:xfrm>
            <a:off x="3581400" y="32512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better records reduce mismanagement, complaints and emergency interventions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4CC96F-F4A0-6933-16EC-816E8F5E8B2A}"/>
              </a:ext>
            </a:extLst>
          </p:cNvPr>
          <p:cNvSpPr/>
          <p:nvPr/>
        </p:nvSpPr>
        <p:spPr>
          <a:xfrm>
            <a:off x="812800" y="37211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00E284-82AF-59EE-8752-E0FB7A015B1A}"/>
              </a:ext>
            </a:extLst>
          </p:cNvPr>
          <p:cNvSpPr/>
          <p:nvPr/>
        </p:nvSpPr>
        <p:spPr>
          <a:xfrm>
            <a:off x="812800" y="3721100"/>
            <a:ext cx="88900" cy="3556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D76B4-23F6-D6D2-F953-DA1FA557BAE1}"/>
              </a:ext>
            </a:extLst>
          </p:cNvPr>
          <p:cNvSpPr txBox="1"/>
          <p:nvPr/>
        </p:nvSpPr>
        <p:spPr>
          <a:xfrm>
            <a:off x="1041400" y="38227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Uplift smaller charities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ADC08A-4F10-7E95-09E0-44AB47688A8D}"/>
              </a:ext>
            </a:extLst>
          </p:cNvPr>
          <p:cNvSpPr txBox="1"/>
          <p:nvPr/>
        </p:nvSpPr>
        <p:spPr>
          <a:xfrm>
            <a:off x="3581400" y="37973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support reaches organizations that cannot afford consultants or custom systems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2EB008-3C85-40F7-E0AA-8ACCBADCDE7F}"/>
              </a:ext>
            </a:extLst>
          </p:cNvPr>
          <p:cNvSpPr/>
          <p:nvPr/>
        </p:nvSpPr>
        <p:spPr>
          <a:xfrm>
            <a:off x="812800" y="42672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D06B9C-AEFD-D94C-8609-C09FBBA7C735}"/>
              </a:ext>
            </a:extLst>
          </p:cNvPr>
          <p:cNvSpPr/>
          <p:nvPr/>
        </p:nvSpPr>
        <p:spPr>
          <a:xfrm>
            <a:off x="812800" y="4267200"/>
            <a:ext cx="88900" cy="3556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CBF4CD-5E85-04EC-EDE1-2F715C9F6B5F}"/>
              </a:ext>
            </a:extLst>
          </p:cNvPr>
          <p:cNvSpPr txBox="1"/>
          <p:nvPr/>
        </p:nvSpPr>
        <p:spPr>
          <a:xfrm>
            <a:off x="1041400" y="43688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Standardize evidence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E60273-37C1-BA54-26DC-E5A37E70EE0A}"/>
              </a:ext>
            </a:extLst>
          </p:cNvPr>
          <p:cNvSpPr txBox="1"/>
          <p:nvPr/>
        </p:nvSpPr>
        <p:spPr>
          <a:xfrm>
            <a:off x="3581400" y="43434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common governance evidence makes review and comparison more consistent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B5DA68-2AC5-5C67-2F98-BA1F0A2A936A}"/>
              </a:ext>
            </a:extLst>
          </p:cNvPr>
          <p:cNvSpPr/>
          <p:nvPr/>
        </p:nvSpPr>
        <p:spPr>
          <a:xfrm>
            <a:off x="812800" y="48133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2548AF-2BA0-1444-FBF8-16CB092D4315}"/>
              </a:ext>
            </a:extLst>
          </p:cNvPr>
          <p:cNvSpPr/>
          <p:nvPr/>
        </p:nvSpPr>
        <p:spPr>
          <a:xfrm>
            <a:off x="812800" y="4813300"/>
            <a:ext cx="88900" cy="3556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9D4D6A-40EA-7355-AE49-6CFF811192EF}"/>
              </a:ext>
            </a:extLst>
          </p:cNvPr>
          <p:cNvSpPr txBox="1"/>
          <p:nvPr/>
        </p:nvSpPr>
        <p:spPr>
          <a:xfrm>
            <a:off x="1041400" y="49149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Strengthen Islamic social finance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C3E5B2-F583-3BE0-BE7B-E08A6A52FFB2}"/>
              </a:ext>
            </a:extLst>
          </p:cNvPr>
          <p:cNvSpPr txBox="1"/>
          <p:nvPr/>
        </p:nvSpPr>
        <p:spPr>
          <a:xfrm>
            <a:off x="3581400" y="48895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visible Amanah, transparency and accountability protect public trust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7EAAB5-2EFE-BE39-22D2-3B3BC30F4D92}"/>
              </a:ext>
            </a:extLst>
          </p:cNvPr>
          <p:cNvSpPr/>
          <p:nvPr/>
        </p:nvSpPr>
        <p:spPr>
          <a:xfrm>
            <a:off x="812800" y="53594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25FC09-B129-EF51-B6F5-D0AA5BA85A5C}"/>
              </a:ext>
            </a:extLst>
          </p:cNvPr>
          <p:cNvSpPr/>
          <p:nvPr/>
        </p:nvSpPr>
        <p:spPr>
          <a:xfrm>
            <a:off x="812800" y="5359400"/>
            <a:ext cx="88900" cy="355600"/>
          </a:xfrm>
          <a:prstGeom prst="rect">
            <a:avLst/>
          </a:prstGeom>
          <a:solidFill>
            <a:srgbClr val="A6B96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99B910-011B-C4B0-BBEC-D922A704CDA8}"/>
              </a:ext>
            </a:extLst>
          </p:cNvPr>
          <p:cNvSpPr txBox="1"/>
          <p:nvPr/>
        </p:nvSpPr>
        <p:spPr>
          <a:xfrm>
            <a:off x="1041400" y="54610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Scale without duplication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583A3B-4FDB-D32D-606D-51467F71127C}"/>
              </a:ext>
            </a:extLst>
          </p:cNvPr>
          <p:cNvSpPr txBox="1"/>
          <p:nvPr/>
        </p:nvSpPr>
        <p:spPr>
          <a:xfrm>
            <a:off x="3581400" y="54356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one shared platform avoids every state or charity rebuilding similar tools</a:t>
            </a:r>
          </a:p>
        </p:txBody>
      </p:sp>
    </p:spTree>
    <p:extLst>
      <p:ext uri="{BB962C8B-B14F-4D97-AF65-F5344CB8AC3E}">
        <p14:creationId xmlns:p14="http://schemas.microsoft.com/office/powerpoint/2010/main" val="1299873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FEC73-E04E-B56B-7DB1-B4B70A2C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399"/>
            <a:ext cx="9652000" cy="1422400"/>
          </a:xfrm>
        </p:spPr>
        <p:txBody>
          <a:bodyPr>
            <a:normAutofit/>
          </a:bodyPr>
          <a:lstStyle/>
          <a:p>
            <a:r>
              <a:rPr lang="en-US" sz="3000">
                <a:solidFill>
                  <a:srgbClr val="F6F1E7"/>
                </a:solidFill>
                <a:latin typeface="Georgia" panose="02040502050405020303" pitchFamily="18" charset="0"/>
              </a:rPr>
              <a:t>PILOT COLLABORATION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82EE4-8245-46D8-3625-D646692CC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86000"/>
            <a:ext cx="7620000" cy="939800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A low-risk pilot can prove governance adoption before wider rollout.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ACA2A5-A883-3581-CAA1-BC7160943ADF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3CA741-BBBA-1DDF-C2CA-D3F5E65B32AE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EB021-024E-AB11-7318-70F3E0B22089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docs/pitch pilot programme and architecture 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840ADF-2846-BDEC-74EF-83A0D4845605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D5FEE-EE56-4B46-7C27-D3C55DF460D5}"/>
              </a:ext>
            </a:extLst>
          </p:cNvPr>
          <p:cNvSpPr/>
          <p:nvPr/>
        </p:nvSpPr>
        <p:spPr>
          <a:xfrm>
            <a:off x="1041400" y="3810000"/>
            <a:ext cx="2133600" cy="16764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65171D-201A-3A77-724A-C52EB4CB1C57}"/>
              </a:ext>
            </a:extLst>
          </p:cNvPr>
          <p:cNvSpPr txBox="1"/>
          <p:nvPr/>
        </p:nvSpPr>
        <p:spPr>
          <a:xfrm>
            <a:off x="1244600" y="4038600"/>
            <a:ext cx="17018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1  Select cohort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429DB4-0EC1-730D-E091-DF416922FDCA}"/>
              </a:ext>
            </a:extLst>
          </p:cNvPr>
          <p:cNvSpPr txBox="1"/>
          <p:nvPr/>
        </p:nvSpPr>
        <p:spPr>
          <a:xfrm>
            <a:off x="1244600" y="4419600"/>
            <a:ext cx="1676400" cy="39498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charities, mosques, waqf bodies or NGOs across representative categories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76BBF9-2D77-0642-8411-6F7BEA0B940A}"/>
              </a:ext>
            </a:extLst>
          </p:cNvPr>
          <p:cNvSpPr/>
          <p:nvPr/>
        </p:nvSpPr>
        <p:spPr>
          <a:xfrm>
            <a:off x="3759200" y="3810000"/>
            <a:ext cx="2133600" cy="16764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A1418B-695C-C5A9-579C-E7288765AE94}"/>
              </a:ext>
            </a:extLst>
          </p:cNvPr>
          <p:cNvSpPr txBox="1"/>
          <p:nvPr/>
        </p:nvSpPr>
        <p:spPr>
          <a:xfrm>
            <a:off x="3962400" y="4038600"/>
            <a:ext cx="17018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2  Sponsor access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BB6933-A56D-2E34-EEA7-E5B8EF445D68}"/>
              </a:ext>
            </a:extLst>
          </p:cNvPr>
          <p:cNvSpPr txBox="1"/>
          <p:nvPr/>
        </p:nvSpPr>
        <p:spPr>
          <a:xfrm>
            <a:off x="3962400" y="4419600"/>
            <a:ext cx="1676400" cy="39498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grant or CSR sponsors cover platform, onboarding and training costs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927B95-7243-D45D-EB86-C8F352333122}"/>
              </a:ext>
            </a:extLst>
          </p:cNvPr>
          <p:cNvSpPr/>
          <p:nvPr/>
        </p:nvSpPr>
        <p:spPr>
          <a:xfrm>
            <a:off x="6477000" y="3810000"/>
            <a:ext cx="2133600" cy="16764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1CF4DA-E1BA-1213-C54E-3B3F52D1E290}"/>
              </a:ext>
            </a:extLst>
          </p:cNvPr>
          <p:cNvSpPr txBox="1"/>
          <p:nvPr/>
        </p:nvSpPr>
        <p:spPr>
          <a:xfrm>
            <a:off x="6680200" y="4038600"/>
            <a:ext cx="17018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3  Align framework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D9CE03-D622-B466-5C1C-6F48877B61DA}"/>
              </a:ext>
            </a:extLst>
          </p:cNvPr>
          <p:cNvSpPr txBox="1"/>
          <p:nvPr/>
        </p:nvSpPr>
        <p:spPr>
          <a:xfrm>
            <a:off x="6680200" y="4419600"/>
            <a:ext cx="1676400" cy="27186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8D5CF"/>
                </a:solidFill>
                <a:latin typeface="Aptos" panose="020B0004020202020204" pitchFamily="34" charset="0"/>
              </a:rPr>
              <a:t>governing bodies validate CTCF evidence and publication rules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EA55AB-97C6-EE06-1448-6F1B2FD59E91}"/>
              </a:ext>
            </a:extLst>
          </p:cNvPr>
          <p:cNvSpPr/>
          <p:nvPr/>
        </p:nvSpPr>
        <p:spPr>
          <a:xfrm>
            <a:off x="9194800" y="3810000"/>
            <a:ext cx="2133600" cy="16764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FD9CC6-1897-623D-AB1B-29D29FE78DC3}"/>
              </a:ext>
            </a:extLst>
          </p:cNvPr>
          <p:cNvSpPr txBox="1"/>
          <p:nvPr/>
        </p:nvSpPr>
        <p:spPr>
          <a:xfrm>
            <a:off x="9398000" y="4038600"/>
            <a:ext cx="17018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4  Measure outcomes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B9DBE7-1B2A-79F0-6D90-C65A67E2F3F8}"/>
              </a:ext>
            </a:extLst>
          </p:cNvPr>
          <p:cNvSpPr txBox="1"/>
          <p:nvPr/>
        </p:nvSpPr>
        <p:spPr>
          <a:xfrm>
            <a:off x="9398000" y="4419600"/>
            <a:ext cx="1676400" cy="39498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8D5CF"/>
                </a:solidFill>
                <a:latin typeface="Aptos" panose="020B0004020202020204" pitchFamily="34" charset="0"/>
              </a:rPr>
              <a:t>reports completed, evidence uploaded, scores improved and donor readability</a:t>
            </a:r>
          </a:p>
        </p:txBody>
      </p:sp>
    </p:spTree>
    <p:extLst>
      <p:ext uri="{BB962C8B-B14F-4D97-AF65-F5344CB8AC3E}">
        <p14:creationId xmlns:p14="http://schemas.microsoft.com/office/powerpoint/2010/main" val="3536644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A3C6C-52E3-4010-38AB-36611A906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399"/>
            <a:ext cx="9652000" cy="1422400"/>
          </a:xfrm>
        </p:spPr>
        <p:txBody>
          <a:bodyPr>
            <a:normAutofit/>
          </a:bodyPr>
          <a:lstStyle/>
          <a:p>
            <a:r>
              <a:rPr lang="en-US" sz="3000">
                <a:solidFill>
                  <a:srgbClr val="F6F1E7"/>
                </a:solidFill>
                <a:latin typeface="Georgia" panose="02040502050405020303" pitchFamily="18" charset="0"/>
              </a:rPr>
              <a:t>OUTCOMES TO MEASURE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AAAB9-3D41-DB95-D30C-E52E70D6B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86000"/>
            <a:ext cx="7620000" cy="939800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Success should be measured by governance improvement, not vanity usage.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3F2A97-3CDD-2267-9C24-FBE6A8D86966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7BEEE-9D56-814D-3A89-3EC4C428C107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B3A4B-F2CE-114E-811C-CFB186A87E45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Source: docs/pitch monitoring and evaluation 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52FC5-C9D6-A725-CE32-1BD38F295C03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C16DDB-3C74-AD13-5609-460D65D56A7B}"/>
              </a:ext>
            </a:extLst>
          </p:cNvPr>
          <p:cNvSpPr/>
          <p:nvPr/>
        </p:nvSpPr>
        <p:spPr>
          <a:xfrm>
            <a:off x="812800" y="37084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06528B-8628-8CD6-F188-9A77366E3BE1}"/>
              </a:ext>
            </a:extLst>
          </p:cNvPr>
          <p:cNvSpPr/>
          <p:nvPr/>
        </p:nvSpPr>
        <p:spPr>
          <a:xfrm>
            <a:off x="812800" y="3708400"/>
            <a:ext cx="88900" cy="3556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E17CC-F510-7D29-D39B-EFC8FA044E7D}"/>
              </a:ext>
            </a:extLst>
          </p:cNvPr>
          <p:cNvSpPr txBox="1"/>
          <p:nvPr/>
        </p:nvSpPr>
        <p:spPr>
          <a:xfrm>
            <a:off x="1041400" y="38100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Charity capability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A9C8E-2A54-4CA3-2A73-D1CA3F2286CF}"/>
              </a:ext>
            </a:extLst>
          </p:cNvPr>
          <p:cNvSpPr txBox="1"/>
          <p:nvPr/>
        </p:nvSpPr>
        <p:spPr>
          <a:xfrm>
            <a:off x="3581400" y="37846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reports submitted, policies adopted, evidence completeness, audit readiness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68687B-A387-B206-A049-4D5CF52EBBD8}"/>
              </a:ext>
            </a:extLst>
          </p:cNvPr>
          <p:cNvSpPr/>
          <p:nvPr/>
        </p:nvSpPr>
        <p:spPr>
          <a:xfrm>
            <a:off x="812800" y="42545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E51606-C38A-4C25-0D3D-7573956E8B6B}"/>
              </a:ext>
            </a:extLst>
          </p:cNvPr>
          <p:cNvSpPr/>
          <p:nvPr/>
        </p:nvSpPr>
        <p:spPr>
          <a:xfrm>
            <a:off x="812800" y="4254500"/>
            <a:ext cx="88900" cy="3556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A711A0-6776-FC1D-5197-C1315A4B81DD}"/>
              </a:ext>
            </a:extLst>
          </p:cNvPr>
          <p:cNvSpPr txBox="1"/>
          <p:nvPr/>
        </p:nvSpPr>
        <p:spPr>
          <a:xfrm>
            <a:off x="1041400" y="43561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Oversight efficiency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2906F3-E526-4C69-B63B-C9957B66DFBC}"/>
              </a:ext>
            </a:extLst>
          </p:cNvPr>
          <p:cNvSpPr txBox="1"/>
          <p:nvPr/>
        </p:nvSpPr>
        <p:spPr>
          <a:xfrm>
            <a:off x="3581400" y="43307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less manual chasing, clearer queues, faster review cycles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D5137C-0CAA-E268-C67C-A522994AA7E9}"/>
              </a:ext>
            </a:extLst>
          </p:cNvPr>
          <p:cNvSpPr/>
          <p:nvPr/>
        </p:nvSpPr>
        <p:spPr>
          <a:xfrm>
            <a:off x="812800" y="48006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35EF91-2359-BCF5-25F2-830A5633D161}"/>
              </a:ext>
            </a:extLst>
          </p:cNvPr>
          <p:cNvSpPr/>
          <p:nvPr/>
        </p:nvSpPr>
        <p:spPr>
          <a:xfrm>
            <a:off x="812800" y="4800600"/>
            <a:ext cx="88900" cy="3556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4D272A-08D1-308F-388A-79E18010447B}"/>
              </a:ext>
            </a:extLst>
          </p:cNvPr>
          <p:cNvSpPr txBox="1"/>
          <p:nvPr/>
        </p:nvSpPr>
        <p:spPr>
          <a:xfrm>
            <a:off x="1041400" y="49022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Donor confidence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7A732C-99BC-C0CF-71DC-B23017C2A62A}"/>
              </a:ext>
            </a:extLst>
          </p:cNvPr>
          <p:cNvSpPr txBox="1"/>
          <p:nvPr/>
        </p:nvSpPr>
        <p:spPr>
          <a:xfrm>
            <a:off x="3581400" y="48768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profile readability, receipt trust, repeat giving intent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85CDEE-714C-05DA-A4C2-15344F98CBCB}"/>
              </a:ext>
            </a:extLst>
          </p:cNvPr>
          <p:cNvSpPr/>
          <p:nvPr/>
        </p:nvSpPr>
        <p:spPr>
          <a:xfrm>
            <a:off x="812800" y="5346700"/>
            <a:ext cx="2286000" cy="355600"/>
          </a:xfrm>
          <a:prstGeom prst="rect">
            <a:avLst/>
          </a:prstGeom>
          <a:solidFill>
            <a:srgbClr val="2034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CBE268-D8C7-801D-9020-126426323624}"/>
              </a:ext>
            </a:extLst>
          </p:cNvPr>
          <p:cNvSpPr/>
          <p:nvPr/>
        </p:nvSpPr>
        <p:spPr>
          <a:xfrm>
            <a:off x="812800" y="5346700"/>
            <a:ext cx="88900" cy="3556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F4FEFB-9090-1447-493D-5035326DB36C}"/>
              </a:ext>
            </a:extLst>
          </p:cNvPr>
          <p:cNvSpPr txBox="1"/>
          <p:nvPr/>
        </p:nvSpPr>
        <p:spPr>
          <a:xfrm>
            <a:off x="1041400" y="5448300"/>
            <a:ext cx="16764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F6F1E7"/>
                </a:solidFill>
                <a:latin typeface="Aptos" panose="020B0004020202020204" pitchFamily="34" charset="0"/>
              </a:rPr>
              <a:t>Sponsor impact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055333-270C-9151-1111-84ACFBA09FDA}"/>
              </a:ext>
            </a:extLst>
          </p:cNvPr>
          <p:cNvSpPr txBox="1"/>
          <p:nvPr/>
        </p:nvSpPr>
        <p:spPr>
          <a:xfrm>
            <a:off x="3581400" y="5422900"/>
            <a:ext cx="6731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>
                <a:solidFill>
                  <a:srgbClr val="C8D5CF"/>
                </a:solidFill>
                <a:latin typeface="Aptos" panose="020B0004020202020204" pitchFamily="34" charset="0"/>
              </a:rPr>
              <a:t>organizations subsidized, training completed, public-good value created</a:t>
            </a:r>
          </a:p>
        </p:txBody>
      </p:sp>
    </p:spTree>
    <p:extLst>
      <p:ext uri="{BB962C8B-B14F-4D97-AF65-F5344CB8AC3E}">
        <p14:creationId xmlns:p14="http://schemas.microsoft.com/office/powerpoint/2010/main" val="740366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98068-1332-AB41-8A50-E76E022C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399"/>
            <a:ext cx="9652000" cy="1422400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6F1E7"/>
                </a:solidFill>
                <a:latin typeface="Georgia" panose="02040502050405020303" pitchFamily="18" charset="0"/>
              </a:rPr>
              <a:t>THE ASK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5BDB2-6BF9-C7B4-324E-CF0588BD1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2286000"/>
            <a:ext cx="7620000" cy="939800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C8D5CF"/>
                </a:solidFill>
                <a:latin typeface="Aptos" panose="020B0004020202020204" pitchFamily="34" charset="0"/>
              </a:rPr>
              <a:t>Help AGP become shared, sponsored governance infrastructure for trusted giving.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6F84DA-24A6-6629-53EC-84E05ACAB7B5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170A8-E8EF-F2BE-9314-D68A9AD1D2E0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5D6F1-9312-0A64-4952-462D721CBDA6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Prepared for discussion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D92FFA-880A-DC45-6F94-131E54343528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308AB6-A2CD-3E34-9664-C1AF6D7E7CAE}"/>
              </a:ext>
            </a:extLst>
          </p:cNvPr>
          <p:cNvSpPr/>
          <p:nvPr/>
        </p:nvSpPr>
        <p:spPr>
          <a:xfrm>
            <a:off x="1041400" y="3835400"/>
            <a:ext cx="4191000" cy="7366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F5473B-D1AE-4C67-CAB3-50E3952FE347}"/>
              </a:ext>
            </a:extLst>
          </p:cNvPr>
          <p:cNvSpPr txBox="1"/>
          <p:nvPr/>
        </p:nvSpPr>
        <p:spPr>
          <a:xfrm>
            <a:off x="1244600" y="4064000"/>
            <a:ext cx="37592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Governing bodies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A9331D-7DA8-08C9-0520-A25B899F68DF}"/>
              </a:ext>
            </a:extLst>
          </p:cNvPr>
          <p:cNvSpPr txBox="1"/>
          <p:nvPr/>
        </p:nvSpPr>
        <p:spPr>
          <a:xfrm>
            <a:off x="1244600" y="4445000"/>
            <a:ext cx="37338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endorse pilot guardrails, align evidence standards and nominate reviewers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F781C2-A925-900A-8766-629D56A578FE}"/>
              </a:ext>
            </a:extLst>
          </p:cNvPr>
          <p:cNvSpPr/>
          <p:nvPr/>
        </p:nvSpPr>
        <p:spPr>
          <a:xfrm>
            <a:off x="6426200" y="3835400"/>
            <a:ext cx="4191000" cy="7366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67FD28-AE4A-B884-1E0E-F3D743D89F12}"/>
              </a:ext>
            </a:extLst>
          </p:cNvPr>
          <p:cNvSpPr txBox="1"/>
          <p:nvPr/>
        </p:nvSpPr>
        <p:spPr>
          <a:xfrm>
            <a:off x="6629400" y="4064000"/>
            <a:ext cx="37592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Charity organizations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450B3-AB5E-2DEF-0492-58D9B7A4A713}"/>
              </a:ext>
            </a:extLst>
          </p:cNvPr>
          <p:cNvSpPr txBox="1"/>
          <p:nvPr/>
        </p:nvSpPr>
        <p:spPr>
          <a:xfrm>
            <a:off x="6629400" y="4445000"/>
            <a:ext cx="37338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263B35"/>
                </a:solidFill>
                <a:latin typeface="Aptos" panose="020B0004020202020204" pitchFamily="34" charset="0"/>
              </a:rPr>
              <a:t>join pilot cohort and use AGP for real governance workflows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CBE79-13EF-9627-0FF7-08C3C97599B3}"/>
              </a:ext>
            </a:extLst>
          </p:cNvPr>
          <p:cNvSpPr/>
          <p:nvPr/>
        </p:nvSpPr>
        <p:spPr>
          <a:xfrm>
            <a:off x="1041400" y="4978400"/>
            <a:ext cx="4191000" cy="7366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D308CB-A050-98A4-F6F3-C387332767AA}"/>
              </a:ext>
            </a:extLst>
          </p:cNvPr>
          <p:cNvSpPr txBox="1"/>
          <p:nvPr/>
        </p:nvSpPr>
        <p:spPr>
          <a:xfrm>
            <a:off x="1244600" y="5207000"/>
            <a:ext cx="37592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Corporate sponsors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52FC60-8D9E-A038-A879-3E1300CB2FC5}"/>
              </a:ext>
            </a:extLst>
          </p:cNvPr>
          <p:cNvSpPr txBox="1"/>
          <p:nvPr/>
        </p:nvSpPr>
        <p:spPr>
          <a:xfrm>
            <a:off x="1244600" y="5588000"/>
            <a:ext cx="37338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8D5CF"/>
                </a:solidFill>
                <a:latin typeface="Aptos" panose="020B0004020202020204" pitchFamily="34" charset="0"/>
              </a:rPr>
              <a:t>fund access, onboarding, training and support for selected organizations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FAF82B-8DCC-6E02-DE80-D5E65179AB61}"/>
              </a:ext>
            </a:extLst>
          </p:cNvPr>
          <p:cNvSpPr/>
          <p:nvPr/>
        </p:nvSpPr>
        <p:spPr>
          <a:xfrm>
            <a:off x="6426200" y="4978400"/>
            <a:ext cx="4191000" cy="7366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6696D3-8D41-C49C-0135-5CC0AEBD5E10}"/>
              </a:ext>
            </a:extLst>
          </p:cNvPr>
          <p:cNvSpPr txBox="1"/>
          <p:nvPr/>
        </p:nvSpPr>
        <p:spPr>
          <a:xfrm>
            <a:off x="6629400" y="5207000"/>
            <a:ext cx="37592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Donors / community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BB2200-444A-D56D-D3BD-D5EED3BC1C02}"/>
              </a:ext>
            </a:extLst>
          </p:cNvPr>
          <p:cNvSpPr txBox="1"/>
          <p:nvPr/>
        </p:nvSpPr>
        <p:spPr>
          <a:xfrm>
            <a:off x="6629400" y="5588000"/>
            <a:ext cx="37338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8D5CF"/>
                </a:solidFill>
                <a:latin typeface="Aptos" panose="020B0004020202020204" pitchFamily="34" charset="0"/>
              </a:rPr>
              <a:t>support the infaq/sadaqah sponsorship pool and give through verified profiles</a:t>
            </a:r>
          </a:p>
        </p:txBody>
      </p:sp>
    </p:spTree>
    <p:extLst>
      <p:ext uri="{BB962C8B-B14F-4D97-AF65-F5344CB8AC3E}">
        <p14:creationId xmlns:p14="http://schemas.microsoft.com/office/powerpoint/2010/main" val="1578364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1138</Words>
  <Application>Microsoft Office PowerPoint</Application>
  <PresentationFormat>Custom</PresentationFormat>
  <Paragraphs>177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Georgia</vt:lpstr>
      <vt:lpstr>Office Theme</vt:lpstr>
      <vt:lpstr>AGP STAKEHOLDER BENEFITS BRIEF</vt:lpstr>
      <vt:lpstr>WHY THIS MATTERS</vt:lpstr>
      <vt:lpstr>BENEFIT TO CHARITY ORGANIZATIONS</vt:lpstr>
      <vt:lpstr>BENEFIT TO GOVERNING BODIES</vt:lpstr>
      <vt:lpstr>BENEFIT TO DONORS</vt:lpstr>
      <vt:lpstr>WHY CHARITIES NEED GOVERNANCE</vt:lpstr>
      <vt:lpstr>THREE PILLARS OF AMANAH</vt:lpstr>
      <vt:lpstr>PLATFORM MODEL</vt:lpstr>
      <vt:lpstr>COST AND FUNDING MODEL</vt:lpstr>
      <vt:lpstr>WHY GOVERNING BODIES SHOULD SUPPORT</vt:lpstr>
      <vt:lpstr>PILOT COLLABORATION</vt:lpstr>
      <vt:lpstr>OUTCOMES TO MEASURE</vt:lpstr>
      <vt:lpstr>THE 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 latif</dc:creator>
  <cp:lastModifiedBy>kamal latif</cp:lastModifiedBy>
  <cp:revision>1</cp:revision>
  <dcterms:created xsi:type="dcterms:W3CDTF">2026-07-08T15:50:17Z</dcterms:created>
  <dcterms:modified xsi:type="dcterms:W3CDTF">2026-07-08T15:50:17Z</dcterms:modified>
</cp:coreProperties>
</file>