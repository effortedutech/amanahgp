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84fc5c5d24c2f" /><Relationship Type="http://schemas.openxmlformats.org/officeDocument/2006/relationships/extended-properties" Target="/docProps/app.xml" Id="R2bfc45cd134d4955" /><Relationship Type="http://schemas.openxmlformats.org/officeDocument/2006/relationships/officeDocument" Target="/ppt/presentation.xml" Id="R809cf5d7f2d0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46d3f7901e4b9c"/>
  </p:sldMasterIdLst>
  <p:notesMasterIdLst>
    <p:notesMasterId xmlns:r="http://schemas.openxmlformats.org/officeDocument/2006/relationships" r:id="R5820dd5916764417"/>
  </p:notesMasterIdLst>
  <p:sldIdLst>
    <p:sldId xmlns:r="http://schemas.openxmlformats.org/officeDocument/2006/relationships" id="256" r:id="R2dc2437b73664027"/>
    <p:sldId xmlns:r="http://schemas.openxmlformats.org/officeDocument/2006/relationships" id="257" r:id="Ra000d830c26b47c9"/>
    <p:sldId xmlns:r="http://schemas.openxmlformats.org/officeDocument/2006/relationships" id="258" r:id="R955b3aa863604b0e"/>
    <p:sldId xmlns:r="http://schemas.openxmlformats.org/officeDocument/2006/relationships" id="259" r:id="Raf39352a997c4f2f"/>
    <p:sldId xmlns:r="http://schemas.openxmlformats.org/officeDocument/2006/relationships" id="260" r:id="R97f5a18269174118"/>
    <p:sldId xmlns:r="http://schemas.openxmlformats.org/officeDocument/2006/relationships" id="261" r:id="Rb7e4e5b76ec94db0"/>
    <p:sldId xmlns:r="http://schemas.openxmlformats.org/officeDocument/2006/relationships" id="262" r:id="R513859b44def41fc"/>
    <p:sldId xmlns:r="http://schemas.openxmlformats.org/officeDocument/2006/relationships" id="263" r:id="Rf197229277d74700"/>
    <p:sldId xmlns:r="http://schemas.openxmlformats.org/officeDocument/2006/relationships" id="264" r:id="R6b775edc203d4ffb"/>
    <p:sldId xmlns:r="http://schemas.openxmlformats.org/officeDocument/2006/relationships" id="265" r:id="R773ce50458e54083"/>
    <p:sldId xmlns:r="http://schemas.openxmlformats.org/officeDocument/2006/relationships" id="266" r:id="Rdae0f7454cba4a6c"/>
    <p:sldId xmlns:r="http://schemas.openxmlformats.org/officeDocument/2006/relationships" id="267" r:id="Rd3e72b26ce7d4e22"/>
    <p:sldId xmlns:r="http://schemas.openxmlformats.org/officeDocument/2006/relationships" id="268" r:id="Rfc03a9d139b24fb9"/>
    <p:sldId xmlns:r="http://schemas.openxmlformats.org/officeDocument/2006/relationships" id="269" r:id="Rc844a3d5d0e14f2f"/>
    <p:sldId xmlns:r="http://schemas.openxmlformats.org/officeDocument/2006/relationships" id="270" r:id="Rd7750c0a36a14bb8"/>
    <p:sldId xmlns:r="http://schemas.openxmlformats.org/officeDocument/2006/relationships" id="271" r:id="R3fe4bb0e31924f38"/>
    <p:sldId xmlns:r="http://schemas.openxmlformats.org/officeDocument/2006/relationships" id="272" r:id="R88f0edf69abe4c2d"/>
    <p:sldId xmlns:r="http://schemas.openxmlformats.org/officeDocument/2006/relationships" id="273" r:id="R75d356a425454bed"/>
    <p:sldId xmlns:r="http://schemas.openxmlformats.org/officeDocument/2006/relationships" id="274" r:id="Rbc341533faa84c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6d3f7901e4b9c" /><Relationship Type="http://schemas.openxmlformats.org/officeDocument/2006/relationships/theme" Target="/ppt/theme/theme1.xml" Id="R4bdf15419e1246a6" /><Relationship Type="http://schemas.openxmlformats.org/officeDocument/2006/relationships/notesMaster" Target="/ppt/notesMasters/notesMaster1.xml" Id="R5820dd5916764417" /><Relationship Type="http://schemas.openxmlformats.org/officeDocument/2006/relationships/presProps" Target="/ppt/presProps.xml" Id="R3952f4504d1448e0" /><Relationship Type="http://schemas.openxmlformats.org/officeDocument/2006/relationships/viewProps" Target="/ppt/viewProps.xml" Id="Rdb2fa07f98c94e34" /><Relationship Type="http://schemas.openxmlformats.org/officeDocument/2006/relationships/tableStyles" Target="/ppt/tableStyles.xml" Id="R205282977dec44e3" /><Relationship Type="http://schemas.openxmlformats.org/officeDocument/2006/relationships/slide" Target="/ppt/slides/slide1.xml" Id="R2dc2437b73664027" /><Relationship Type="http://schemas.openxmlformats.org/officeDocument/2006/relationships/slide" Target="/ppt/slides/slide2.xml" Id="Ra000d830c26b47c9" /><Relationship Type="http://schemas.openxmlformats.org/officeDocument/2006/relationships/slide" Target="/ppt/slides/slide3.xml" Id="R955b3aa863604b0e" /><Relationship Type="http://schemas.openxmlformats.org/officeDocument/2006/relationships/slide" Target="/ppt/slides/slide4.xml" Id="Raf39352a997c4f2f" /><Relationship Type="http://schemas.openxmlformats.org/officeDocument/2006/relationships/slide" Target="/ppt/slides/slide5.xml" Id="R97f5a18269174118" /><Relationship Type="http://schemas.openxmlformats.org/officeDocument/2006/relationships/slide" Target="/ppt/slides/slide6.xml" Id="Rb7e4e5b76ec94db0" /><Relationship Type="http://schemas.openxmlformats.org/officeDocument/2006/relationships/slide" Target="/ppt/slides/slide7.xml" Id="R513859b44def41fc" /><Relationship Type="http://schemas.openxmlformats.org/officeDocument/2006/relationships/slide" Target="/ppt/slides/slide8.xml" Id="Rf197229277d74700" /><Relationship Type="http://schemas.openxmlformats.org/officeDocument/2006/relationships/slide" Target="/ppt/slides/slide9.xml" Id="R6b775edc203d4ffb" /><Relationship Type="http://schemas.openxmlformats.org/officeDocument/2006/relationships/slide" Target="/ppt/slides/slide10.xml" Id="R773ce50458e54083" /><Relationship Type="http://schemas.openxmlformats.org/officeDocument/2006/relationships/slide" Target="/ppt/slides/slide11.xml" Id="Rdae0f7454cba4a6c" /><Relationship Type="http://schemas.openxmlformats.org/officeDocument/2006/relationships/slide" Target="/ppt/slides/slide12.xml" Id="Rd3e72b26ce7d4e22" /><Relationship Type="http://schemas.openxmlformats.org/officeDocument/2006/relationships/slide" Target="/ppt/slides/slide13.xml" Id="Rfc03a9d139b24fb9" /><Relationship Type="http://schemas.openxmlformats.org/officeDocument/2006/relationships/slide" Target="/ppt/slides/slide14.xml" Id="Rc844a3d5d0e14f2f" /><Relationship Type="http://schemas.openxmlformats.org/officeDocument/2006/relationships/slide" Target="/ppt/slides/slide15.xml" Id="Rd7750c0a36a14bb8" /><Relationship Type="http://schemas.openxmlformats.org/officeDocument/2006/relationships/slide" Target="/ppt/slides/slide16.xml" Id="R3fe4bb0e31924f38" /><Relationship Type="http://schemas.openxmlformats.org/officeDocument/2006/relationships/slide" Target="/ppt/slides/slide17.xml" Id="R88f0edf69abe4c2d" /><Relationship Type="http://schemas.openxmlformats.org/officeDocument/2006/relationships/slide" Target="/ppt/slides/slide18.xml" Id="R75d356a425454bed" /><Relationship Type="http://schemas.openxmlformats.org/officeDocument/2006/relationships/slide" Target="/ppt/slides/slide19.xml" Id="Rbc341533faa84c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331fd499ac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6848b6f2be4e15" /><Relationship Type="http://schemas.openxmlformats.org/officeDocument/2006/relationships/notesMaster" Target="/ppt/notesMasters/notesMaster1.xml" Id="Rbe190ebdeb46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b1f6004eb42e3" /><Relationship Type="http://schemas.openxmlformats.org/officeDocument/2006/relationships/notesMaster" Target="/ppt/notesMasters/notesMaster1.xml" Id="R34d97b13748d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5792934d549dc" /><Relationship Type="http://schemas.openxmlformats.org/officeDocument/2006/relationships/notesMaster" Target="/ppt/notesMasters/notesMaster1.xml" Id="R9d9b15cd7e62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3aa2331884444e" /><Relationship Type="http://schemas.openxmlformats.org/officeDocument/2006/relationships/notesMaster" Target="/ppt/notesMasters/notesMaster1.xml" Id="R5758d0c75bd7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9826e17f54ca5" /><Relationship Type="http://schemas.openxmlformats.org/officeDocument/2006/relationships/notesMaster" Target="/ppt/notesMasters/notesMaster1.xml" Id="Rc4d56ba291d741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d71aabd8248a1" /><Relationship Type="http://schemas.openxmlformats.org/officeDocument/2006/relationships/notesMaster" Target="/ppt/notesMasters/notesMaster1.xml" Id="Rfe940021c15b47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9c47c57ac4323" /><Relationship Type="http://schemas.openxmlformats.org/officeDocument/2006/relationships/notesMaster" Target="/ppt/notesMasters/notesMaster1.xml" Id="R78cc94c7c9a041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7e582e275e40f4" /><Relationship Type="http://schemas.openxmlformats.org/officeDocument/2006/relationships/notesMaster" Target="/ppt/notesMasters/notesMaster1.xml" Id="R57189f1c352d4c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3e9f0e25f44d1b" /><Relationship Type="http://schemas.openxmlformats.org/officeDocument/2006/relationships/notesMaster" Target="/ppt/notesMasters/notesMaster1.xml" Id="R91b672d77e9b4b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7d60119594f0b" /><Relationship Type="http://schemas.openxmlformats.org/officeDocument/2006/relationships/notesMaster" Target="/ppt/notesMasters/notesMaster1.xml" Id="R880ab5311fee40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2c82f9a064d19" /><Relationship Type="http://schemas.openxmlformats.org/officeDocument/2006/relationships/notesMaster" Target="/ppt/notesMasters/notesMaster1.xml" Id="R783d502e1c0a44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84be08acf245ed" /><Relationship Type="http://schemas.openxmlformats.org/officeDocument/2006/relationships/notesMaster" Target="/ppt/notesMasters/notesMaster1.xml" Id="R5658342a881a4e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6f135e7db34a5e" /><Relationship Type="http://schemas.openxmlformats.org/officeDocument/2006/relationships/notesMaster" Target="/ppt/notesMasters/notesMaster1.xml" Id="Rf931b125e9d346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dd2bc9e4ba413a" /><Relationship Type="http://schemas.openxmlformats.org/officeDocument/2006/relationships/notesMaster" Target="/ppt/notesMasters/notesMaster1.xml" Id="Rd10b38e6b7d54d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66bc29c5d74db0" /><Relationship Type="http://schemas.openxmlformats.org/officeDocument/2006/relationships/notesMaster" Target="/ppt/notesMasters/notesMaster1.xml" Id="R1e152511e4d644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e2c4015ca54f8b" /><Relationship Type="http://schemas.openxmlformats.org/officeDocument/2006/relationships/notesMaster" Target="/ppt/notesMasters/notesMaster1.xml" Id="R0d9db8aae10548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4c5cd014364683" /><Relationship Type="http://schemas.openxmlformats.org/officeDocument/2006/relationships/notesMaster" Target="/ppt/notesMasters/notesMaster1.xml" Id="Rff21f993370448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fb0001557646ff" /><Relationship Type="http://schemas.openxmlformats.org/officeDocument/2006/relationships/notesMaster" Target="/ppt/notesMasters/notesMaster1.xml" Id="Rdce62a899b3645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074ee87bf24cf9" /><Relationship Type="http://schemas.openxmlformats.org/officeDocument/2006/relationships/notesMaster" Target="/ppt/notesMasters/notesMaster1.xml" Id="Rf72bbe314f8644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26a6a065f4df2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6cef8738344b6" /><Relationship Type="http://schemas.openxmlformats.org/officeDocument/2006/relationships/theme" Target="/ppt/theme/theme1.xml" Id="R01ece1c6eb8f4a6c" /><Relationship Type="http://schemas.openxmlformats.org/officeDocument/2006/relationships/slideLayout" Target="/ppt/slideLayouts/slideLayout2.xml" Id="R091655c96276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d5f6cef8738344b6"/>
    <p:sldLayoutId xmlns:r="http://schemas.openxmlformats.org/officeDocument/2006/relationships" id="2147483649" r:id="R091655c96276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36f0b2606483e" /><Relationship Type="http://schemas.openxmlformats.org/officeDocument/2006/relationships/notesSlide" Target="/ppt/notesSlides/notesSlide1.xml" Id="R042b65623dfc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623f156cb74225" /><Relationship Type="http://schemas.openxmlformats.org/officeDocument/2006/relationships/notesSlide" Target="/ppt/notesSlides/notesSlide2.xml" Id="R1a964c7a02e4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69ccae88c4022" /><Relationship Type="http://schemas.openxmlformats.org/officeDocument/2006/relationships/notesSlide" Target="/ppt/notesSlides/notesSlide3.xml" Id="Rdc1b302266af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c6489846174587" /><Relationship Type="http://schemas.openxmlformats.org/officeDocument/2006/relationships/notesSlide" Target="/ppt/notesSlides/notesSlide4.xml" Id="R20c48402df33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c5705a9575434e" /><Relationship Type="http://schemas.openxmlformats.org/officeDocument/2006/relationships/notesSlide" Target="/ppt/notesSlides/notesSlide5.xml" Id="R1d11cd09d5c04a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b9da79373d4ebf" /><Relationship Type="http://schemas.openxmlformats.org/officeDocument/2006/relationships/notesSlide" Target="/ppt/notesSlides/notesSlide6.xml" Id="R0ddcc3538926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37bb282614532" /><Relationship Type="http://schemas.openxmlformats.org/officeDocument/2006/relationships/notesSlide" Target="/ppt/notesSlides/notesSlide7.xml" Id="R87ad5f402c1c4e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28fe0219e41ff" /><Relationship Type="http://schemas.openxmlformats.org/officeDocument/2006/relationships/notesSlide" Target="/ppt/notesSlides/notesSlide8.xml" Id="R911db2fcf109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167491bfe84806" /><Relationship Type="http://schemas.openxmlformats.org/officeDocument/2006/relationships/notesSlide" Target="/ppt/notesSlides/notesSlide9.xml" Id="R55b48c0eca0c40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9af50ea8049b0" /><Relationship Type="http://schemas.openxmlformats.org/officeDocument/2006/relationships/notesSlide" Target="/ppt/notesSlides/notesSlide10.xml" Id="R17eb7c79b24642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cd8a7578c4c66" /><Relationship Type="http://schemas.openxmlformats.org/officeDocument/2006/relationships/notesSlide" Target="/ppt/notesSlides/notesSlide11.xml" Id="R71c7ee56046d42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d7be8ae69b49d9" /><Relationship Type="http://schemas.openxmlformats.org/officeDocument/2006/relationships/notesSlide" Target="/ppt/notesSlides/notesSlide12.xml" Id="Rff65c5ed3e1148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0b0b155f4200" /><Relationship Type="http://schemas.openxmlformats.org/officeDocument/2006/relationships/notesSlide" Target="/ppt/notesSlides/notesSlide13.xml" Id="Ref0ed837a6bc44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37f69ca17483f" /><Relationship Type="http://schemas.openxmlformats.org/officeDocument/2006/relationships/notesSlide" Target="/ppt/notesSlides/notesSlide14.xml" Id="R40176c80d7bc48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d78fada554570" /><Relationship Type="http://schemas.openxmlformats.org/officeDocument/2006/relationships/notesSlide" Target="/ppt/notesSlides/notesSlide15.xml" Id="R40f94a9242fa49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ecb57e0d14743" /><Relationship Type="http://schemas.openxmlformats.org/officeDocument/2006/relationships/notesSlide" Target="/ppt/notesSlides/notesSlide16.xml" Id="R48137fedf80a4a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d912f361847a9" /><Relationship Type="http://schemas.openxmlformats.org/officeDocument/2006/relationships/notesSlide" Target="/ppt/notesSlides/notesSlide17.xml" Id="Rd444e7dd92ab46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258af99cd4d46" /><Relationship Type="http://schemas.openxmlformats.org/officeDocument/2006/relationships/notesSlide" Target="/ppt/notesSlides/notesSlide18.xml" Id="R2aa6905d283e46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44061bd6346db" /><Relationship Type="http://schemas.openxmlformats.org/officeDocument/2006/relationships/notesSlide" Target="/ppt/notesSlides/notesSlide19.xml" Id="R93aaa50e5aad4c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1124AB-C1D1-4A98-967D-45967151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4E9E957-A8CE-443B-8C89-91EC213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333C95A9-6BE3-4551-A272-B86D272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BRIEFING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6FA861-3D16-4277-B115-956D91A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52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turns governance into visible trust infrastructure.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F7F702-1EF0-4BDB-A1CE-86421DAA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5EEE8B-949A-408A-B301-15942163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009CE-C2BD-4521-B759-2D7DA16D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9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86F743-B5B2-4BB1-AB50-1C07976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DA6CE9-B38F-4F34-8000-4C4796CF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93F8EA0-0936-45C0-A717-CAEF594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0B85C5-C77E-4166-BFB3-61DA601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E1B18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DADDD3-5549-49EA-A54F-68088B91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BF0CE6-7756-4697-926D-3BB910DE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C0470E-6328-4CFC-BF50-B41B1816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86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7C6F510-CFD4-42DE-94D4-3E34EA8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FF4E9DE-35DF-4750-8CB2-B55D1541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B6C6F3A-BE9F-470F-9E72-C8D4C3AC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For discussion with zakat authorities, charities, funders, reviewers, and implementation partners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BA67601-965C-47BC-AA8E-EEAF4F8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84427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D380424-C0D5-4D06-B8E9-5ADD81B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9356D0A-0768-4FBB-9AEA-08604D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CF6F72D-AA90-4869-BC9F-75AB3399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9BE8A2-E50D-4A46-8440-6A7A0022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00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Donation rails improved; governance visibility did not keep pace.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C0C2EA2-7475-40C7-B33A-B89754C6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76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The sector is not short of generosity. It is short of shared, affordable infrastructure that turns everyday governance work into evidence donors and oversight bodies can trust.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BE8A3D-111F-4B31-AEFB-3D92BCA1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4E31AA-56C1-4A8E-8D1C-251768D3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E6431B-711F-485D-BC20-3E4911D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D1E1CF9-F681-4C10-B952-39A0038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FAAF4C5-F719-4950-A37D-23F0044A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95866D7-C252-4681-959F-04894F13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01E9ED9-46F3-47A9-9349-2C9EC2A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Documents, approvals, reports, and evidence live in separate workflows.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54C5659-132F-456B-9125-4509F5A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ABAD55-96B7-4B2F-9759-C447E2BA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F39A0A1-900D-421E-B750-0606737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FBB261D-DB03-423E-BA92-91E8FF2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26EF8F-944F-4026-9290-76278FC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2AB5EC-4591-456C-8BB9-BF87E03E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CDB215F-A0C1-4D84-BD28-E06F9A4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720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9EF6DEB-4FEE-47EE-B133-0490641A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911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Giving confidence depends on trust that is visible and current.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7261DA-7066-4614-AC40-E7B3FBD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C3E6F0B-9F9D-4E9F-851B-BA3C9D20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43000"/>
            <a:ext cx="219075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AF198E2-A877-44C2-A014-EB8B7CB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09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4B7A5D6-236F-4F5F-AE07-8A2AC74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is treated as paperwork after fundraising, instead of infrastructure that enables trust.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A2D8B76-7256-4C19-AE6E-FA379742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AGP pitch notes and architecture docs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5D9B637-5CD6-48CF-8083-A2B6EF75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4674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2A80E21-A7E6-47DD-9B57-E658C6E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A38F12C-E59B-4BFC-B339-F78200E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FCA76EB-B7F5-4CF5-BB6D-C6761C39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THESIS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477BE8-A9E8-4BDA-891A-0614490F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809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creates a closed loop between better governance and better giving.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C46DB9-3A6A-4E19-8A25-19DD2EF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2457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14DEC8-8C8B-43A4-9416-B52D867D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3C849BD-CF6C-4F66-A567-594F14B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05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Organizations improve governance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399633-CEC1-4E3B-A5EC-64982AA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evidence, financial controls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A569A0A-DCE1-4B08-9727-B9CCC075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2457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659DB8E-B236-4B45-AE67-8AF0C45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7D5541-D17D-4B34-8F2B-44F41004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evidence is captured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AE32F7-6C5E-4BE3-9DD2-51C98556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reviews, audit logs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D87F7FC-0DCF-411B-ADE6-173F884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457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CCD4754-D5FA-4A2D-915A-9977DBF9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DE861B-96E0-4A37-A259-9E59F98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becomes visible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9699A5A-6B8B-47F6-AF5E-4414C863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certified score plus current trust signals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BDC85F5-4642-4103-B0DA-156AD127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57700"/>
            <a:ext cx="2457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BD7E46C-83F0-4A3D-B0D3-825A5FE9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291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2AD815E-1433-4499-97DC-BC3D2E3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and funders act with confidence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80ECAF7-8229-415B-94B6-3BA6402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public profiles, badges, reports, receipts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542DCD2-6F56-4128-BE88-2357CEDA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611C70-005F-4E17-A142-8BFCA412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574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4C55E54-6CB2-4FD6-AC94-D5129C5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363101-8587-4D3C-ABF0-C01D646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53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026DFB2-D458-4025-A7F6-C6EDC6A1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53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12E9876-B1B6-46BF-966E-223917B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The design intent is behaviour change: make good governance easier to do, easier to verify, and easier to reward.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1F30CB9-94DE-4820-9511-20BCA52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pitch notes, Amanah Index upgrade notes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F3832EE-9A21-4A1E-87FD-EB17067E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56883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7720461-46C0-42C3-BEF8-6DFF3DA6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DD5B5D02-9B1C-463F-8F2E-857001E5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6E2E7FF-3CA5-441D-B48F-A06BC11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STAKEHOLDER MAP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B366B7-3399-4168-A8CF-401D236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Different stakeholders need different views of the same trust record.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F7F9DB-43D5-4CA6-8C4F-29F7F7D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9F3C4A-E8B4-4030-B24F-40C69C19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JOB TO BE DONE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AA8FF81-B747-4E93-BE6A-24D5D6B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9AC25E8-FA62-44BD-ACCD-0D3A88F1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4FA1F-B059-4D9D-B1A3-743CA5B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AE8A143-A2C8-4515-A968-6F027AA9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E84489C-3E57-46B8-A02D-7EA33874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9" y="2571750"/>
            <a:ext cx="3065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9E5C3EC-DB6F-4EC1-8BD8-13507860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49" y="2609850"/>
            <a:ext cx="28015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17C2B5F-226D-421A-BBC7-211E5F1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312261-8AEB-4B11-A018-A4A346D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FABD6A-220B-405E-B51A-609F643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2A6D96-3CFA-4921-AEB1-23FD28F3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9" y="3181350"/>
            <a:ext cx="3065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0F3FD2A-64B7-4572-972F-60412A12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49" y="3219450"/>
            <a:ext cx="28015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ED572ED-D978-4821-AE34-1B54FC8D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66F888B-B47D-4A0D-878D-90CCA95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3C18F1D-AFAB-4A4B-B18D-F5AE53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F14C048-70F6-4866-B437-7A1526F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9" y="3790950"/>
            <a:ext cx="3065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6812511-9283-49B0-9396-529FA7E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49" y="3829050"/>
            <a:ext cx="28015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8237CB2-903D-4DCA-88D9-4A4C3B5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14A23C5-730D-488B-9339-953D32B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AEB55FB-DB47-4698-A1D5-590DF658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EA25C4E-FEB2-4D49-B8BF-741E022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9" y="4400550"/>
            <a:ext cx="3065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6594EA7-D257-441C-B992-A0F3A0A0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49" y="4438650"/>
            <a:ext cx="28015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DA1DABC-E530-483B-9186-FB75875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D7BE414-4DB2-4452-A47A-E7E24653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5EED370-C00E-417B-AA28-EA8F527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5AEA006-8ECC-492D-888C-0C33337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49" y="5010150"/>
            <a:ext cx="3065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3DFA092-E059-4733-951B-05C63C25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49" y="5048250"/>
            <a:ext cx="28015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public profiles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4A143E1-D5CA-49B3-826B-96A3BBC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D2918BE-4ADA-474E-A2B6-7E0EC89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The product strategy is not one dashboard for everyone; it is one evidence layer powering the right view for each stakeholder.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383436C-F471-46B2-8802-C8256417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RUNBOOK_LOCAL_DEV_AGP.md, architecture map, pitch notes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DF534F3-8E7C-472B-97AC-D7F6FFC7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44576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3F51D05-DCA4-493C-BD83-4C3F1ADC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B37A8A1-A78B-44D3-84B2-6161139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E5EA158A-0891-4C5B-8C79-20804F05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68C951-4387-4775-A6AB-5B88334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products surround one scoring and evidence core.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AC949B-0D77-4AB7-9D90-802F76FD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514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9EF6FD-662F-41F5-839A-AA5F6901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E7BF8A-960C-4CB0-A3A2-057A9328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242A5A9-D286-4508-B4ED-58C22780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profiles, donation flow, trust badges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3D2B2B-7E63-43DE-98EB-136DFFB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81250"/>
            <a:ext cx="2514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02108B2-7043-45F7-A501-AAFEB330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F55C2F-6D1D-4798-9581-2AC1AF0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33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05A35BA-248F-4532-BC00-52C13C4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projects, reports, evidence, accounting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AE03F03-D8C0-45FA-98BB-C4981909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514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B07A20-62FE-4DCB-BD05-D12B8EE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72B7A3D-53B1-4128-9D55-EB6F00F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E59951-122A-4381-8A7D-B4026FD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cases, reviews, audit, publication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8E0ED2-F069-414C-9039-B66E1289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074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A34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6A9DD16-BBDD-4F0E-A594-FD122541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7BDE71C-4A28-49EB-B91F-C8A8917E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244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FDF83C3-8036-4AFC-BA5E-62F54F9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C85C1C8-50AB-4785-A001-A9E0F77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85D2673-FFFA-4155-82ED-C250B598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52C8B2E-6FFD-48DC-959F-9B62B4D2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docs/ARCHITECTURE_MAP.md, ADR-001, route/source inspection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00C6367-B8AA-46A7-96DA-E9B6A13E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75999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6EE87E6F-2BFA-4983-A342-C752E1FA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64C8C9D5-ABAF-4100-95EE-98A1690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E800A1B-7FA7-4015-A901-3A1D8BC3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TRUST ENGINE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F7AB31-21E2-4099-89FA-0E152BD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Trust is earned through events, not asserted once a year.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4B2D7BE-EFE2-41FA-9D3B-B453E0B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4B45F-F43E-4D37-A5D4-7C0D8A3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E907ABD-4656-4D59-9451-6DA0519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6B6B81-2CE8-493F-AD5D-07F5A939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report submitted, policy published, payment reconciled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FDF5BA4-4296-4828-B8F8-662A60C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2C99D9-87A3-4348-BFC5-64676F7B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FCC21A-98F2-46D9-9485-4DE3AFE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B08B204-170B-41E9-BEDC-F907574A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CA511E0-4CBF-44AA-BFA2-1A81C99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file, transaction, approval, reviewer decision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E454632-AC35-4A2E-8424-A77C15A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28673A6-3965-4E29-B774-32710170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579FFE8-83F5-4A02-AC3F-2B40741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CAF66A-F793-4C1A-81A7-C3B0D09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606F8EC-AF2E-4549-8425-E781CFF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append-only signal with type, source, domain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8C9BE1C-89F2-4EA3-A367-72B8D56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6EA7EE6-8C1A-4FD6-AC5B-EF3A3F97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5A4CB8D-75B2-4017-A3D1-9DD8C2B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BB9A0EF-5AE7-4278-B481-EF7B5DB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EC5C177-952E-41FD-9E50-12D01401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Amanah / CTCF calculation and trust health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7A43930-6C8C-46A1-8D59-D090B47B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52B6B76-CB70-4AF0-AA59-31F96BE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695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AFCACC-E9FF-403B-BC06-754AE4E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765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E64597A-C308-4C97-82C4-2ACC961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2CCD601-4D26-4A09-8B35-77B486B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28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badge, timeline, profile, donor confidence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CFEAEF5-E419-4F89-8AA4-C01FA038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Continuous scoring prevents two bad outcomes: scores that exceed common sense, and old certifications that hide stale governance activity.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85E6323-8180-448A-8EDC-F561EC09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DEBBC7A-AFD4-4400-BE08-BE4CDE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8EBA7CA-DFDC-4FFF-ADC3-DF299D3D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Current health can move while certified history remains auditable.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6AAFF07-6DF0-487C-984D-1656A51A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Amanah Index V2.1 sprint plan, score deduction upgrade notes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D8C5A36-A307-436A-B500-0DECD120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86748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076CB6B-FBBE-4EDC-A53A-04E3C418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CF3B006-F200-4F27-8A5A-6984A7C6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DFB5DF61-6DAF-4BE4-9A92-C2B90AD6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DE8258B-497B-4F64-9440-6A363392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architecture is intentionally small, secure, and pilot-ready.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EABEA62-F3D2-4AE3-8DC7-7133333C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914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EFA92B9-A7E8-4CE3-A8E8-4B0F023F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D373294-7295-4680-8522-68D5EE7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AmanahHub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DAA82F-29A8-47FE-951D-B477F3C1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Server Actions and Route Handlers hold app logic close to UX.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2DC747-DE07-4A26-99EA-3C7C6F2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14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D8A84E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88AB894-AC43-4C23-88F8-6487B87A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97D038-729F-435B-827E-FA4DBFB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Auth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Postgres + RLS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Storage signed URLs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0553204-5F8D-4565-ABC6-25890927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386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is the tenant boundary; RLS is not optional.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B2334CB-0180-43B0-B074-C9E58964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9146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466A7A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79898C-1DFF-4C06-974D-D4F16950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90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BF293A8-3D20-4979-A673-C0FF5090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recalculation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invite email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92EB8B2-1447-414A-86CC-37840CC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386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Service role stays server-side; append-only histories are never mutated.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A2F1A5B-C2A5-4275-AC23-722D35DE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0B3FC8-F581-45CF-90A0-479391A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4D1B3AB-4B83-44D1-A6B0-11824B8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ADR-001, architecture map constraints, source inspection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99EDA84-4839-4898-88FC-12A44682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98267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FE9C06A-ECAE-4AE9-AF9A-5A2E22A5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A66E6D5-B66C-4B91-8BF7-6B2AC0A9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94D29A41-E857-4357-9086-97506CA4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PILOT MODEL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205171-E722-44EB-90EC-5B93010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Pilot success should prove governance adoption, not vanity usage.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E541C25-C170-4A47-9EF7-1EB85622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F1FA737-834F-4AAF-A2C7-1CE55740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659A4E3-C726-4179-92AD-2471A6F1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1944A7-983D-47E3-87D6-C72A8F6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F4631A9-59EB-4C75-BF30-EA670BF2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B752E4-3C95-4F0A-892F-EA49D8F9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5276A87-427D-4824-812C-E2E17D23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65257C3-E776-46FB-BAFE-5C2373C9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985105-DDF3-4955-8334-DD8BF25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46E27B8-011E-403D-A0CE-D87F4455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438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8466C90-6F61-4648-B9EA-69F8BC98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AF8A18B-E3BB-43B8-BB50-FA94E5C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donor/funder readability and reviewer efficiency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496C1A-6126-4D1E-8CA1-F9274455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30005F5-177B-4B5B-ACB5-3D15A913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Pilot question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F98AA2F-F644-4684-A753-658776C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388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Can AGP make governance easier to perform, easier to verify, and easier to trust across a small representative cohort?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0FF3523-35FB-49AF-B6EE-7615376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pitch notes and Phase 2 architecture map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A8E8787-145D-444D-A3DD-BEE7F9A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1504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C07AB17-67BF-4D35-98E1-C02D8150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8A341FB8-9B89-494F-8CD2-DF89086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94139A46-3868-40B5-B6ED-8039763B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B05AA24-AA4A-4F6F-B434-1F4B3C7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Public-good outcomes can connect to a sustainable operating model.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BEBF49-B52B-4EFC-8D60-252CFEB2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DF6A5AC-6467-40C1-86FE-E965509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A64636-5820-4C64-9ED7-8416B32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ED7FA8-243F-4881-834E-BCB922B4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050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630536D-212B-4D4D-A9E8-4BE945A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794FA21-8DBA-417D-ADB4-46247F5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147F028-D21E-4352-860A-293A0184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F48D644-FE5A-4D8A-A065-621E200A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DFDBD56-F322-4C5D-82E3-FE8C7D2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480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87EC1B4-587E-42B8-8DE2-5E26D4EC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528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F9CEF4F-D16C-495B-8035-F9579319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54342F9-DAF1-40B0-B503-11DB257E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3376F5-CE00-4B29-85DF-447902C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481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39A2CE7-790C-43F6-A1A0-29758C8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909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683FCC5-F0AC-4879-A1FD-F5DA83C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9E3FD92-AA62-45F9-986E-2F5C810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13CDC31-F80F-4035-8258-44C0878B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A93EEDA-4357-443A-9B53-E082ABE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9268F33-BB5C-42C8-9B4B-AF91E88F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339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081353B-8C88-44F8-AEB8-92830710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217D93A-556A-43F2-840C-637F4CA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809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7E7437B-58DF-4B49-8EBC-1FCC21B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Funding logic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D2D03D8-0CDA-43CD-89A5-112FC279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1257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Start with grant / institutional pilot support, prove adoption, then sustain through organization plans and ecosystem services.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6035451-4451-4DDB-ACDD-CCEA7975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pitch sustainability notes; no funding amount assumed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259971-F941-46E2-974F-06ADA14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355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9D1D7F5-4B5B-411B-9EA3-033B89A3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57C0831-686A-4AD8-8653-BB63925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4467671-5A63-4EA1-8652-321AA4F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5B71E9-6750-487D-91E5-826CF53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The roadmap should earn trust before scaling trust.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C921D3F-DE7B-43FE-B232-333A9453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764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6EE2D9-ED66-4E1B-BA0E-F813226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F6BB78-95CD-4DD3-9EC1-C2322CC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F8AE74-F427-432F-A006-891FD201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838BC43-8BE0-4651-8128-605DA52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29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51073-B980-4280-8C91-9AE4E839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0764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1DFD46B-439E-4C7B-9CFF-B80DE812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4F6AB1-EBA8-4FA1-9CDB-B26E98A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48FEBD7-E7A3-4CF2-8207-1AF7A7F5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04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</a:t>
            </a: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accounting, policy kit, evidence workflows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C8DE5D3-A2BC-4B8E-83E1-2C097D4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BF3EBA7-8413-4E5B-A569-8C045265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0764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F05A3F-8AB1-42D5-A94E-5260A1DD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2C0FB6-8A76-4AAE-ABF9-76609CA0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49" y="3276600"/>
            <a:ext cx="175779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62816D9-7442-4CEC-9073-3F39F476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current trust health, eve</a:t>
            </a: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nt registry, public timeline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BFBB549-68CA-436D-8FA0-43C22CF7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20CAED5-D128-4B7B-8209-9CDF34B3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764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00F763A-7CE9-4C1F-A4A1-AAFB7A78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8A326CB-8C1A-41C3-8337-809A574B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5256ACD-6E1C-40ED-8976-9CD2BB2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27AFA11-BDE1-43B2-B908-4A100EC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Near-term discipline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6EE2FC4-EB1A-4913-BADC-604A785F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Keep Phase 2 focused: one trust engine, one tenant boundary, private evidence by default, no duplicated scoring logic.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1873EB-1294-4F42-8AF8-52E33BC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docs/ARCHITECTURE_MAP.md Phase 2 build order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F68891E-C195-4571-9A49-A11DC14D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64305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870AA65-D686-4022-AF3E-2A798E5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6DF99F95-3C70-4E72-84CA-900C55E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6D006BC-737E-4F4E-82A7-0796DA41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COMMITMENTS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3A4F2B-2E75-49D4-B0D2-497922D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next step is not just software approval; it is ecosystem alignment.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2CF3E9-0BAC-443C-838F-0C458795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D8A84E"/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51565E3-BE7F-4819-BC31-6ACDF92B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360644-3C71-4C1A-9192-7ED3BF32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34B03D-02AB-4341-AC7F-8A9BF8D6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5B3CED3-1A69-4CE4-8464-C81FFD5B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8E72072-76A8-4EDF-9B13-9D56610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BF01C8-AF26-4946-9B6A-E3D5E40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466A7A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D415C7C-F2A7-4BE6-AF81-A6EB5AE9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55ED77C-8736-4E5F-8A31-E0566CE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A11BD0-DB13-4DB1-9684-413C5F79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B46A4C"/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3BD07-EE7A-4E5D-90F3-5730C4D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9CFD00D-78D6-4DB6-AECF-167CDD33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E76839B-F5A6-43DF-811B-B861472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8AECE08-4AB9-448D-84A9-465356FA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Alignment needed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2D9765C-AC62-4D49-B473-4337C4B3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What counts as trustworthy evidence, who validates it, and how it becomes public should be agreed before broad launch.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40FFD3-380A-4DF3-B022-267BD90E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architecture constraints and pitch stakeholder framing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7E53299-5037-4A76-9F6E-EFEABE7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39809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9AC3680-F761-4000-95AF-C5790C0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86BB24F-8CA8-4A96-A504-0E9DDF5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8DBEF1A4-133B-4BE9-B921-A25A186A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5B27AB-560D-44D6-BBF3-675E7DC6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85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Sponsor the pilot, validate the trust model, and help AGP become shared infrastructure.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C6D745-7550-46AB-817D-4C81B86E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190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253FDE-7D64-476D-BC95-1985294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EB878A1-707D-4ABF-8BD9-D932FDE3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64DEC2A-67A0-4A64-BAA3-A963E032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Identify representative charities, mosques, NGOs, or waqf bodies.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7B034C5-69E9-4717-B0F4-020D0860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2190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A26C7C-2462-4420-8C6B-00C73E0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1CC25E1-9D9E-49DD-A3C1-44E9EEF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2B1C6A1-4500-4BF1-B4D3-6F543F79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Nominate reviewers, scholars, and policy owners for validation.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B112DB-1E50-4319-9A42-F4CC5563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2190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5D5D26D-332C-4014-BE18-427C601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0CA1648-6261-443D-A58F-5B57F0A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198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69D56DA-5B57-4872-A183-21D93513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onboarding, training, evaluation, and product hardening.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807737D-F7EB-401B-9860-93C5094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57600"/>
            <a:ext cx="21907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173BBA-6903-40BD-8AF3-CCC3EBF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671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2BE9630-D15F-43F7-BE80-58289171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1118491-F155-4A20-BCA8-CD65AF2C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Agree how evidence, scoring, and publication should be governed.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9331775-16D4-4F7A-B658-7A33464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is ready to be discussed as more than an app: a practical governance layer for trusted giving.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ED727EC-F053-4868-817F-05C9E2F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Prepared from AGP repository docs and pitch notes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065848E-7E11-4F8C-AEBF-24135A9E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43014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9F7CF-634E-411A-A308-A05889B6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1AA7FE9A-3C54-417F-9B47-C89DB55D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EF94A37D-0822-4A56-A1D8-0117AE80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AMANAHHUB / ABOUT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B6FE6-EA88-4F81-B855-4ED91758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42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AmanahHub exists because trust is the foundation of giving.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47B1E-BEB7-48CE-9F9D-DA3191E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When donors cannot see where their Sadaqah goes, or whether governance is sound, they give less - and those who need help receive less.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1B364-0A4A-4FDF-9655-B9F4FC1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95162-0924-47C1-BD47-7373461A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Malaysia-first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CD7B0-7C89-4D66-8985-96D271D9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575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Built for ROS, JAKIM, SIRC, and state-level regulatory contexts.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6721B-DD55-4BF5-B896-42AD0079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FD437-4B96-4588-8AD0-71E1553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004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65D7-C771-4744-9CEC-A330AD3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00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We never hold donor funds. Donations flow directly from donor to charity.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EB36C-6E85-4750-8A9E-B952634B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BD8C3-29D8-41E4-8B7E-02F80993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Evidence-based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56F6E-AF7C-4443-9228-CC057C8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The Amanah Index is computed from verified documentation, governance records, audited financials, and field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DFCF8-EC6C-41AA-8333-B65BFCD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33154-421D-431A-BBEC-863F6645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053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Open to all org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893B4-6A17-4682-8689-EC2C1CA2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NGOs, mosques, waqf institutions, and foundations can be evaluated fairly.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21B68-B483-4CBA-98E5-2F35C1A5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69108-1F14-4969-9335-FE4F01B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What we 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2007D-5E7B-4FFC-9282-45E6A593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A transparency infrastructure for Malaysian Islamic charities.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E5A91-630F-49BC-A0AF-21A4D417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apps/user/app/about/page.tsx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464B2-B804-4C43-9E7E-8B26C40F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52236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8F73B-1658-4CC6-8508-029719E1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AB7CC65A-6CF2-4182-83DE-2CF18D3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CB95791F-A77F-48B8-9B3B-74505C3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OUR PRINCIPLES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FACE5-E550-49F5-B044-B5A47F3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pillars of Amanah turn values into platform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CC1D5-F085-43B2-AC1E-22896B3B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09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EA7EC-2657-4C24-ABAB-5C758A3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DAE70-EAEF-4244-9B1E-427610A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658A0-691C-4EF0-99F1-E1B6B2A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Charity managers are trustees of donor funds. This is a legal and spiritual designation with consequences. The platform makes trusteeship visible and verifiable.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12D90-4C7B-4BEB-8480-52FEBACE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009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666C0-C20B-44FE-A2D3-24AC7CF7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F7518-FAA2-4B4F-B880-BE63CFE9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Transparency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1914-E260-43EF-B98A-66F625C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Beyond basic financials: Shariah compliance reports, AAOIFI-aligned evidence, and standards accessible to small organizations.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73EF6-94C2-475B-8AA4-9FB1D6B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009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07D16-8AF1-4101-A643-708ECAA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8E861-70D4-4A8F-BC39-2A6F2DD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977E3-8368-4F71-8B92-70895F7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Actions are logged, timestamped, and preserved. Reports cannot be altered once submitted. Decisions and scores are history-tracked.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0397F-0B32-4C6D-9216-BD13EBD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/about - Our principles, Three pillars of Amanah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B31C8-D3C6-4BD7-9B88-4DCEF21D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48556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64FB0-6F13-4DF0-A7F2-AE812E5B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135F1EDB-2517-4363-A16E-5FB7B53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2DFFEF49-808C-4CF4-A992-5A774DEB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THEOLOGICAL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187C1-03B9-4A0A-AC3A-7189CC1E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AmanahHub is a response to managing charity with integrity, accountability, and transparency.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06C7F-2C2E-4EDD-B516-8BF07592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4CE24-64B3-4067-91B9-4398E3DD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Surah At-Tawbah 9:60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D911D-FDE8-4E29-B1BB-2A5D94AC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3C972-D5DA-4C33-B462-A599B98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1 governance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14D61-C7A5-44D6-8E8A-0C655E16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050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Proper governance structures before certification.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205C9-FD6E-485E-8C58-0F1B4D82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4921D-74CB-43DE-9B47-960E9CF7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99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Surah Al-Baqarah 2:188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A8C18-64DB-4448-B1CA-F835279D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C1EC0-EECB-4E47-BCFB-FC04A658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2 financial transparency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51AD4-3DFB-45CA-B7B8-D9FC6A60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527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Trusteeship of charitable funds and protection from misuse.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45B14-0CE3-46AD-BF75-C6F484E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D1F80-11A3-4A59-9566-3BB89348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Surah Al-Baqarah 2:263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B8CCF-D595-44E7-9BC1-8D3E2C9C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957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81460-C740-43A9-B718-E2CEBBD2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3 &amp; 4 project and impact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DD2EF-FF50-488E-9B49-1EB55376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004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Evidence of how beneficiaries were reached and treated.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87B87-5E17-47FA-88E3-0661464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8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48F0CF-C0DC-4BE2-8244-8263E96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Hadith - strict accountability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9E968-C4F4-418F-A371-BB25449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A5F38-7402-49B7-A2D4-E1324C03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Append-only audit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DB926-2C5C-418F-852F-D34FEBC6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481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Every action by every platform role creates a verifiable trail.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446A8-DCF0-4F2E-9A9D-3EC426D5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4EA"/>
          </a:solidFill>
          <a:ln xmlns:a="http://schemas.openxmlformats.org/drawingml/2006/main" w="9525">
            <a:solidFill>
              <a:srgbClr val="DED4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6DA02-A1AC-42CD-8C39-E0C0AE8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5302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AAOIFI Auditing Standard No.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29D77-5005-4126-B3E0-B2A0358F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911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C1D6B-FD00-4596-BEF2-E7A046B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24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Layer 5 Shariah governance scoring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4F108-3B25-4FC3-80E9-EB28094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Shariah supervision, FAS 9 Zakat, and internal oversight guidelines.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C218C-510F-4194-92A4-339FA74D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/about - Built on Quran and Sunnah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D6B960-A254-4446-90F4-348A1BE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79048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F1735-C2EE-4907-97A6-E70CF52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C627E512-F840-44CD-87E3-6E722458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DF2A11FB-E6E0-47B6-A677-D49CA09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A33B0-11BB-42B7-AFEE-CA2911BF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donor journey is simple; the verification layer remains rigorous.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8E0FC-3402-4B03-A33F-655EEDF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52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3691-FE9E-4C50-8DBC-E7DE3E4F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78287-14C3-48B3-BF33-35E5924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89A78-CCC4-45E4-9B3E-5E3B5981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Browse the directory by state, org type, Amanah tier, or fund type.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B2A2E-B603-4A3B-9CF3-C8D40395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63BA8-FB9F-4C25-B619-49ED1A23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152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AA9CE-BD2B-4B6B-8103-3AFBB617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2E500-6DFB-45DE-87D8-8E8B76F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0716A-8686-48D7-8ED3-178FE7F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Read verified reports, financial statements, scholar notes, and score breakdown.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2F822-41FB-4787-A309-DC75F6A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09F85-3F4E-47AF-BF46-8B9FB4E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152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6EF00-8FD0-463A-B708-A3540BAD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474AB-881B-43B8-845B-A718438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640CF-1128-4F84-9E4D-9172FBD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Payment goes directly to the charity via ToyyibPay. AmanahHub never holds 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F5592-93C0-42EC-9EDD-A664E89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814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7FC86-6A64-4F85-A7B3-03C18E9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152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E327C-209B-403F-9EB1-DD48CC4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CF759-0644-4B81-A9D9-D2446768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85546-22D8-4B6E-AB70-21D0328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View donation history, receipts, and follow impact through a free account.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B54A8-5066-4E55-88CC-DCCEF38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/how-it-works - Your giving journey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B71F0-2EFB-4C91-A4F3-F1FB4D62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62261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C3EB5-45FD-4A34-8D96-798BFA6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C387C553-1A3E-4867-8BE5-941E2E4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9FDCECDE-25CF-4AD4-AED9-57E9D4A8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CERTIFICATION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AD02-A72B-4FED-A87D-1DD96DDF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95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CTCF is a five-layer evaluation framework; Layer 1 is a disqualifying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16763-1CE5-4553-A2E0-0DC86E07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9A0A1-014A-442E-9DC7-8D2FAB2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34525-1771-418E-9638-E2B6B887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66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61FFE-3DB1-452B-91EF-C1BC9D6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99103-4C7B-4C21-806A-90CACBC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27EEA-3E5D-4CD6-97EA-7D2FD3C8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DC695-A1D5-484B-B73C-13C10DB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0355-D3E1-454D-AC7F-D7950A4C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1575B-D923-4CB4-A562-D2A8690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C3AFF-F237-4EA7-A3B2-939E186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1F2A4-B0A8-4835-A8F9-39AC6A0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3961-B35E-4A05-B439-75B8ECF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928E2-58FC-471A-B150-AB0F6CDD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2B360-73A7-43D5-A9A0-6F58449C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715B6-4FCA-4D1A-A5B9-465A86B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DBAC0-91B1-426D-AF33-93130F4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D97B1-2F67-4BD9-BADB-A40978C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2122A-D7FE-44E5-AE0D-E7963517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10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DF7BC-B53F-4E23-8AB0-7BA40815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D573C7-8DC4-4237-BB53-778E1F8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A2AED-52C5-453A-BDF8-1104B4C4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3704B-7B38-45E7-BBFF-E30DAFF9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61EFD-3C69-42FA-8BF3-9C4D9C7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57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54BF5-47E2-4F2A-A016-2C2EDDD3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ECE0A-189D-4965-B9C8-C75E27B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FECDD-1D1E-4B6F-AE19-D0C55F0F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190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60053-7DF9-4F27-AE7E-702E781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Certification tiers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CCC909-2496-4376-B122-DE6660C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4320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 xmlns:a="http://schemas.openxmlformats.org/drawingml/2006/main"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 xmlns:a="http://schemas.openxmlformats.org/drawingml/2006/main"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 xmlns:a="http://schemas.openxmlformats.org/drawingml/2006/main"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B47444-CB2E-4BD3-A301-50AFF491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/how-it-works - CTCF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673E9-E4F1-488D-9475-6EB781B5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3662549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0006C-A8C3-435A-8431-5DFB00B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6F918A61-92ED-410D-9D61-C5BDC9C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4BABC90E-4F4E-4241-A1B5-955D92C1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4138-7DFC-469F-AED4-9BA8DA1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57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Amanah Index is a living score, not a self-reported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7321-166B-44F5-8ECA-536D4EA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5D827-0017-40B9-9491-A50F6ED1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4D43A-4CD4-42A9-9665-E8CD3DA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B6221-6616-4051-AB54-E2578666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F8ECF-3BE6-40E7-9496-15034CF8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C1CA3-AB23-4296-AB79-8BEFC51A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479D6-CD04-4C93-86B4-A51EBA2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BD04-2870-4864-A9DE-04DE0BD8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672BD-33EC-49B9-BF26-5F0D81D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0D9B7-3043-4CE7-8543-CB517E6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7B8DB-86AA-47F5-917D-19D3F0E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A35AA-01F0-43E6-ACC7-C87C69D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7B86F-6B1E-4737-97F9-82512BC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EDE1E-5BB5-413D-B1D9-0D76518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56216-1893-4D8B-9C3F-17A3EDF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D520D-0D10-451E-8980-D64A2285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7226D-10BA-4543-8D53-9439A19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2649E-D109-4FF1-A92E-9D1933C4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DE17A-2487-43CC-A5C4-3B18733D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FDB10-24AF-4234-A548-4398ADE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46920-0EE8-4CFA-AA64-81812BC4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6860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2F"/>
          </a:solidFill>
          <a:ln xmlns:a="http://schemas.openxmlformats.org/drawingml/2006/main" w="9525">
            <a:solidFill>
              <a:srgbClr val="7BAA9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0869F-F451-4AD3-96EC-763A90F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Computed from verified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7ED76-B7DB-4957-A1A6-A2B4207E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Updated when a report is verified, certification is renewed, or a trust event is recorded. Every score version keeps its timestamp, trigger event, and breakdown.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1391E-C867-4994-90B7-18F1111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/how-it-works - Amanah 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DE33CD-9A52-416F-983D-BAE79BFE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084233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4A017-B9CC-4807-9AA2-1B6CF16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46812771-4443-4CFA-A975-35B864F6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F66269D5-408F-4CC1-AE1D-37365317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DONATION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B68EE-2A98-44F0-AAEF-1FF6471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04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Non-custodial guarantee: AmanahHub is a transparency layer, not a payment intermediary.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F1DB-DCFB-48C2-A810-000F4E3F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2941F-9BE9-4694-A5F6-B2EBCA0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1ED11-F524-47F0-B4E7-44B54B07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chooses charity and amount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9A499-D600-44BB-BB70-4E7E5F0E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09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FEA01-4ADF-4B49-83FF-E54901E6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BCA1D-21D0-4A01-835A-A9135E8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7B4AB-15A9-4DA1-A72D-F51CE8D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671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processes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81EC2-179E-47E4-B7ED-DD1EB2A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08B17-07FB-4F0B-813F-0BFA930A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5A695-F907-43B0-B2F3-86445EE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Charity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66043-D3FF-4252-9E0A-ED77F17E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671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receives funds directly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D465F-4BA9-43EB-B37B-68DEA68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447D5-DAF0-4670-BFE0-C17C0C9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48FA2-9D2A-4751-A669-C344E15B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6D8FC-8087-439D-AFDE-66362DA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671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 confirms; receipt generated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FA264-72B0-4C41-8983-A73D06BC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0FB0D-73F8-49D4-991B-8282119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CDC01-0D9B-492A-85EC-DB5A9A25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06981-E0C2-44B9-99C7-542529F3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charity reports fund 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1A236-E599-4257-AE12-51A3A577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Guest donation is supported - no account required.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509BA-0A39-4B63-A024-B21BDF95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/how-it-works - How donations work; ADR-003; ADR-004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18B0C-57A8-444B-BC18-2DD3629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67124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2026-07-07T14:33:50.9920000Z</dcterms:created>
  <dcterms:modified xsi:type="dcterms:W3CDTF">2026-07-07T14:33:50.9920000Z</dcterms:modified>
</coreProperties>
</file>