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7357BDA4-BC8F-51AC-B5AF-D37D7008B7A1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B41523-C54B-B617-6400-315441691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000" y="1955800"/>
            <a:ext cx="7747000" cy="838200"/>
          </a:xfrm>
        </p:spPr>
        <p:txBody>
          <a:bodyPr anchor="b"/>
          <a:lstStyle>
            <a:lvl1pPr algn="ctr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624C6C-414E-9640-43F2-C1459D3077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 marL="0" indent="0" algn="ctr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02671-7559-5B2B-E214-9F94F847C7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AA448BBD-3141-4944-95CC-C198AE0B2A9E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B379D-2F0A-3C8C-EF9B-2606409EB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FCC88-D925-901C-4B52-CCA19E148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E53BB51-029C-46D6-AD77-02393A4218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ED3ED1E5-76EC-7B10-504C-11F3DC7A2611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09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3F83256F-2685-7DDA-E882-691213281E15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26F78-29F8-FF5D-D7C3-612DF98F5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22BF8-76DE-FB2B-F25C-FAD4DA5E4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1C997-9D21-FD03-E567-E1F1E46068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AA448BBD-3141-4944-95CC-C198AE0B2A9E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A3C16-5442-AF90-B49C-FA650D407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81ECF-28EE-E382-D372-B6E71AF7F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E53BB51-029C-46D6-AD77-02393A4218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A7D67EE3-E046-734C-65A8-6F76BB961359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048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46F98A56-4CD5-D907-67FC-A23E325C32BC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3E52CB-3734-2471-D14F-F3069AA65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 anchor="b"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AA4E5-6B08-9278-F583-5991D2A36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 marL="0" indent="0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92DDA-D67A-11C5-D737-6AB42BF056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AA448BBD-3141-4944-95CC-C198AE0B2A9E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48CF7-B9CA-61C8-91D8-7043D5927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AB1BD-A192-C058-BE96-320E145E1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E53BB51-029C-46D6-AD77-02393A4218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018A0ED4-CD91-65F6-B151-EB60E17C1F4A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58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CAFD158C-44C6-CF27-E238-A670F536C61D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E24F9-3635-DD6B-FBD2-C865B3BC6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F1D60-A2F8-AD19-A8A5-CB43D55E4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68868-5EEA-792A-681A-2D06B41C4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C2017-E575-68F8-ACFF-85FA0D943D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AA448BBD-3141-4944-95CC-C198AE0B2A9E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1A550-9CA8-DA90-D822-2F4ABF48D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A9134-A855-569F-3F8B-4B21DF406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E53BB51-029C-46D6-AD77-02393A4218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15D3EA3C-8EC1-2A49-43A0-E9EFDA1E8B5C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069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GP Master Dark Background">
            <a:extLst>
              <a:ext uri="{FF2B5EF4-FFF2-40B4-BE49-F238E27FC236}">
                <a16:creationId xmlns:a16="http://schemas.microsoft.com/office/drawing/2014/main" id="{2E5E73D0-9755-B4F8-8E27-A0A0536E12A2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0EE060-37B9-5FD7-7085-18CDC00DA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9DBC5-5737-AF0F-6769-8631D3A1C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999" y="1955800"/>
            <a:ext cx="7747000" cy="838200"/>
          </a:xfrm>
        </p:spPr>
        <p:txBody>
          <a:bodyPr anchor="b"/>
          <a:lstStyle>
            <a:lvl1pPr marL="0" indent="0">
              <a:buFontTx/>
              <a:buNone/>
              <a:defRPr sz="1100" b="1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3FC8B-8D47-A50E-70AD-2DE4553C6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99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1F1A3D-FC22-6659-AEE2-86EB95F489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000" y="1955800"/>
            <a:ext cx="7747000" cy="838200"/>
          </a:xfrm>
        </p:spPr>
        <p:txBody>
          <a:bodyPr anchor="b"/>
          <a:lstStyle>
            <a:lvl1pPr marL="0" indent="0">
              <a:buFontTx/>
              <a:buNone/>
              <a:defRPr sz="1100" b="1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E9914-5916-DCAF-35D1-36FAA234B5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3FDD87-84BB-77BA-DB1E-9770499D3E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AA448BBD-3141-4944-95CC-C198AE0B2A9E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318421-B4BD-A7D6-06F9-D26CF77A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873FB-CF4E-A403-18BB-653498BF1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E53BB51-029C-46D6-AD77-02393A4218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AGP Master Gold Top Rule">
            <a:extLst>
              <a:ext uri="{FF2B5EF4-FFF2-40B4-BE49-F238E27FC236}">
                <a16:creationId xmlns:a16="http://schemas.microsoft.com/office/drawing/2014/main" id="{95033FA5-4635-4392-8428-8F2B46133A4A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302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GP Master Dark Background">
            <a:extLst>
              <a:ext uri="{FF2B5EF4-FFF2-40B4-BE49-F238E27FC236}">
                <a16:creationId xmlns:a16="http://schemas.microsoft.com/office/drawing/2014/main" id="{C01E9F5E-7F09-331A-2AB1-A689F2BCBE5E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9C06FC-0B44-5672-E617-ECCC7B5E7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F12898-EB72-D3A9-EB93-FB5206900C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AA448BBD-3141-4944-95CC-C198AE0B2A9E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9DB5A1-7743-1EE3-774E-E78E2C20E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375DB-55BE-D46B-5CB2-5E58F3338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E53BB51-029C-46D6-AD77-02393A4218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AGP Master Gold Top Rule">
            <a:extLst>
              <a:ext uri="{FF2B5EF4-FFF2-40B4-BE49-F238E27FC236}">
                <a16:creationId xmlns:a16="http://schemas.microsoft.com/office/drawing/2014/main" id="{211201C4-E8DE-41CB-8D9D-FA28B2E3595A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739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GP Master Dark Background">
            <a:extLst>
              <a:ext uri="{FF2B5EF4-FFF2-40B4-BE49-F238E27FC236}">
                <a16:creationId xmlns:a16="http://schemas.microsoft.com/office/drawing/2014/main" id="{ED924A45-1F31-B876-323F-AFB1181D67BC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3D9084-32D9-7761-9983-7CB95B61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AA448BBD-3141-4944-95CC-C198AE0B2A9E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81A47F-7D3E-7306-3D78-325BEFF2C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ABBA1-65AC-2912-3690-891446D3D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E53BB51-029C-46D6-AD77-02393A4218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AGP Master Gold Top Rule">
            <a:extLst>
              <a:ext uri="{FF2B5EF4-FFF2-40B4-BE49-F238E27FC236}">
                <a16:creationId xmlns:a16="http://schemas.microsoft.com/office/drawing/2014/main" id="{1BC52949-9BF8-03B4-D94B-42AACF52F342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169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60E1BDD0-86C2-9C3B-67F0-D5A27E4B799F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D7E1FF-81FF-6C12-FAF5-985FA5737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914400"/>
            <a:ext cx="9652000" cy="990600"/>
          </a:xfrm>
        </p:spPr>
        <p:txBody>
          <a:bodyPr anchor="b"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B496D-C881-0187-5639-3C9196CE8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9D3BB-1472-2321-1E11-465A53ACA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999" y="1955800"/>
            <a:ext cx="7747000" cy="838200"/>
          </a:xfrm>
        </p:spPr>
        <p:txBody>
          <a:bodyPr/>
          <a:lstStyle>
            <a:lvl1pPr marL="0" indent="0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0FAF0-5447-B394-B7C0-506EBC90E0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AA448BBD-3141-4944-95CC-C198AE0B2A9E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1B19F-87C4-3FE8-563A-FF1A60811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CD4A3-3D2C-F13F-90C6-6D6A09BF2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E53BB51-029C-46D6-AD77-02393A4218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6B2DEC4A-5AE7-4269-B287-E748A10A611E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435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1CDF0E76-AFF7-AA8A-C1EF-9EC596DABD64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492C6B-3A2B-5EDD-2048-DADCD0A37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914400"/>
            <a:ext cx="9652000" cy="990600"/>
          </a:xfrm>
        </p:spPr>
        <p:txBody>
          <a:bodyPr anchor="b"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A5A0CE-E94C-51C5-2699-755FBBD0B4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 marL="0" indent="0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935DB-A3CB-2E6C-1AA7-0F0372881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999" y="1955800"/>
            <a:ext cx="7747000" cy="838200"/>
          </a:xfrm>
        </p:spPr>
        <p:txBody>
          <a:bodyPr/>
          <a:lstStyle>
            <a:lvl1pPr marL="0" indent="0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B7E4C-C662-0016-C8F1-EE69FE4988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AA448BBD-3141-4944-95CC-C198AE0B2A9E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05ACC-D6AC-CD34-546E-8802171CE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7FB7D-2096-7DBC-9779-582A9ABE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E53BB51-029C-46D6-AD77-02393A4218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AF3D7C98-2525-2DE4-2F48-88C2E0B5E496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705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F7970A56-E1EB-7E2F-3048-0BAB98FFB334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7ED3C4-B7CE-6A4C-FDF3-001D898CB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F30C4-7617-B258-1907-474A0741E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35000" y="1955800"/>
            <a:ext cx="7747000" cy="838200"/>
          </a:xfrm>
        </p:spPr>
        <p:txBody>
          <a:bodyPr vert="eaVert"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D0618-3D0A-1B18-6075-EB5CDB8D6E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AA448BBD-3141-4944-95CC-C198AE0B2A9E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4FEE4-0671-139C-7D13-F9AE5197A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C40EC-6B90-2C4D-3D3D-2BFC946D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E53BB51-029C-46D6-AD77-02393A4218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2B4AA134-8CCA-5EC0-08D9-D5115F617BB4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30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8A213432-B76D-9403-2F61-74B612803E2A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0A7545-9E06-B3D6-17E2-144CC29823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35000" y="1955800"/>
            <a:ext cx="7747000" cy="838200"/>
          </a:xfrm>
        </p:spPr>
        <p:txBody>
          <a:bodyPr vert="eaVert"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C96DE6-B3E0-2C45-0579-F2BB9FADC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35000" y="1955800"/>
            <a:ext cx="7747000" cy="838200"/>
          </a:xfrm>
        </p:spPr>
        <p:txBody>
          <a:bodyPr vert="eaVert"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3491A-75B6-ADCA-27E5-39AF0BBA8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AA448BBD-3141-4944-95CC-C198AE0B2A9E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76948-187B-690C-6EBB-EABA8B443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436B-26F0-A39E-09BC-CA4CCF8AC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E53BB51-029C-46D6-AD77-02393A4218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43B413D5-3B52-7439-7ADE-10BB0E6910B8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3436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44D79-EB25-6DC2-F9CC-1C382F0F6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909E8-4560-34A0-A7B2-1295A5BAE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69281-BFC4-5C5C-F65C-2FB440129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48BBD-3141-4944-95CC-C198AE0B2A9E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522CD-D9AC-6C3F-F794-9AE7172F5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7EA0F-27A0-F8F4-B5AC-9EFB93BE8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BB51-029C-46D6-AD77-02393A421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47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GP Dark Placeholder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1A7BFA49-0D77-22C0-5B16-AE7F2E8E90D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A4761-DD0A-F5AD-B333-BA0BBC28B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A136E-4E96-584A-A4AD-7C5607156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B9687-C72D-DE97-C1FC-95B9D723D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48BBD-3141-4944-95CC-C198AE0B2A9E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59E78-4E02-1530-575A-DF1D8DE89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7FF62-41E4-DB2B-71D6-EEFFF2DE4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3BB51-029C-46D6-AD77-02393A42181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FED2B6DB-189C-82C6-204D-A5DF180229A2}"/>
              </a:ext>
            </a:extLst>
          </p:cNvPr>
          <p:cNvSpPr/>
          <p:nvPr userDrawn="1"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051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7342E-58B4-1E9E-AE1E-8763844D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STAKEHOLDER BRIEFING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10090-6E23-207C-D0F4-7ECB78E11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AGP turns governance into visible trust infrastructure.</a:t>
            </a:r>
          </a:p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Amanah Governance Platform helps charities improve governance, gives donors clearer confidence signals, and gives oversight stakeholders a shared evidence layer.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AFE646-5014-1EDE-E602-EE8753EC5902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7CB37D-5314-48D6-BB98-6ADCD00AE43A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9F126-A291-00D1-8B73-52EAB8EF544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0E03B6-B7A5-BC56-F125-D58FE5FD5509}"/>
              </a:ext>
            </a:extLst>
          </p:cNvPr>
          <p:cNvSpPr>
            <a:spLocks noGrp="1"/>
          </p:cNvSpPr>
          <p:nvPr/>
        </p:nvSpPr>
        <p:spPr>
          <a:xfrm>
            <a:off x="8420100" y="1695450"/>
            <a:ext cx="2571750" cy="723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7DE4D1-7E34-DB17-4167-374B51BF1BF7}"/>
              </a:ext>
            </a:extLst>
          </p:cNvPr>
          <p:cNvSpPr>
            <a:spLocks noGrp="1"/>
          </p:cNvSpPr>
          <p:nvPr/>
        </p:nvSpPr>
        <p:spPr>
          <a:xfrm>
            <a:off x="8667750" y="18669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4DBA74-47A3-B33F-44B2-F1FCEFF6D939}"/>
              </a:ext>
            </a:extLst>
          </p:cNvPr>
          <p:cNvSpPr>
            <a:spLocks noGrp="1"/>
          </p:cNvSpPr>
          <p:nvPr/>
        </p:nvSpPr>
        <p:spPr>
          <a:xfrm>
            <a:off x="8667750" y="21145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evidence captured at source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05371B-C6E6-EB86-CA30-2C28F44525C8}"/>
              </a:ext>
            </a:extLst>
          </p:cNvPr>
          <p:cNvSpPr>
            <a:spLocks noGrp="1"/>
          </p:cNvSpPr>
          <p:nvPr/>
        </p:nvSpPr>
        <p:spPr>
          <a:xfrm>
            <a:off x="8420100" y="2762250"/>
            <a:ext cx="2571750" cy="723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F0B06-BE6D-D3F4-1A77-4E61CCC3898F}"/>
              </a:ext>
            </a:extLst>
          </p:cNvPr>
          <p:cNvSpPr>
            <a:spLocks noGrp="1"/>
          </p:cNvSpPr>
          <p:nvPr/>
        </p:nvSpPr>
        <p:spPr>
          <a:xfrm>
            <a:off x="8667750" y="29337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6E2106-0CBA-CE2F-2650-C8FDAEEB6C8D}"/>
              </a:ext>
            </a:extLst>
          </p:cNvPr>
          <p:cNvSpPr>
            <a:spLocks noGrp="1"/>
          </p:cNvSpPr>
          <p:nvPr/>
        </p:nvSpPr>
        <p:spPr>
          <a:xfrm>
            <a:off x="8667750" y="31813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signals scored and reviewed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442F3B-D39D-A38C-E008-186077477132}"/>
              </a:ext>
            </a:extLst>
          </p:cNvPr>
          <p:cNvSpPr>
            <a:spLocks noGrp="1"/>
          </p:cNvSpPr>
          <p:nvPr/>
        </p:nvSpPr>
        <p:spPr>
          <a:xfrm>
            <a:off x="8420100" y="3829050"/>
            <a:ext cx="2571750" cy="723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A6D765-D8D6-3C3B-B3B4-B95BCD8D66C9}"/>
              </a:ext>
            </a:extLst>
          </p:cNvPr>
          <p:cNvSpPr>
            <a:spLocks noGrp="1"/>
          </p:cNvSpPr>
          <p:nvPr/>
        </p:nvSpPr>
        <p:spPr>
          <a:xfrm>
            <a:off x="8667750" y="40005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Giving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56EE2A-F240-9C93-F710-5AB560C173E0}"/>
              </a:ext>
            </a:extLst>
          </p:cNvPr>
          <p:cNvSpPr>
            <a:spLocks noGrp="1"/>
          </p:cNvSpPr>
          <p:nvPr/>
        </p:nvSpPr>
        <p:spPr>
          <a:xfrm>
            <a:off x="8667750" y="42481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donors decide with confidence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2AF3F6-2E64-057B-020C-42C0D9F8E7D6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For discussion with zakat authorities, charities, funders, reviewers, and partners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1B965A-70BF-F87F-6F34-16707571FDB8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234070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3AEEB-9A88-EA73-3F4F-6799086B5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WHY NOW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7E6B9-6687-B2C9-8D79-09D02CF28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Donation rails improved; governance visibility did not keep pace.</a:t>
            </a:r>
          </a:p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The sector is not short of generosity. It needs shared, affordable infrastructure that turns governance work into evidence donors and oversight bodies can trust.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2CFD43-7643-94CD-3B0F-BDEEDAF1A3BB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9AC4D5-9065-3742-CAD4-3FBED4ADA749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372D6D-419B-D274-3716-C362DA524639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9F353C-AB73-AF6C-B856-E4A30C53A4B0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E240AD-3065-F0EE-143D-2F30A37F111C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62656A-249D-179B-9995-FBD22FE7CAC9}"/>
              </a:ext>
            </a:extLst>
          </p:cNvPr>
          <p:cNvSpPr>
            <a:spLocks noGrp="1"/>
          </p:cNvSpPr>
          <p:nvPr/>
        </p:nvSpPr>
        <p:spPr>
          <a:xfrm>
            <a:off x="971550" y="35623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Digital fundraising expanded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8AC586-4B70-133A-0A7F-FA3A67F562EA}"/>
              </a:ext>
            </a:extLst>
          </p:cNvPr>
          <p:cNvSpPr>
            <a:spLocks noGrp="1"/>
          </p:cNvSpPr>
          <p:nvPr/>
        </p:nvSpPr>
        <p:spPr>
          <a:xfrm>
            <a:off x="3200400" y="35242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More channels, faster campaigns, higher donor expectations.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7E1DAB-0F14-8F73-2C93-4A0D1FFA09BE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FF94D5-975D-622C-C627-F52ED15501E2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D8D9D6-A8E9-995A-16AC-C97EA049CA5A}"/>
              </a:ext>
            </a:extLst>
          </p:cNvPr>
          <p:cNvSpPr>
            <a:spLocks noGrp="1"/>
          </p:cNvSpPr>
          <p:nvPr/>
        </p:nvSpPr>
        <p:spPr>
          <a:xfrm>
            <a:off x="971550" y="41719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 remains fragmented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52A05C-0DB5-D304-D9A4-FCAEDABCD4CA}"/>
              </a:ext>
            </a:extLst>
          </p:cNvPr>
          <p:cNvSpPr>
            <a:spLocks noGrp="1"/>
          </p:cNvSpPr>
          <p:nvPr/>
        </p:nvSpPr>
        <p:spPr>
          <a:xfrm>
            <a:off x="3200400" y="41338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Documents, approvals, reports, and evidence live separately.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29DF8C-2E94-9C34-3CC5-699BE5E78887}"/>
              </a:ext>
            </a:extLst>
          </p:cNvPr>
          <p:cNvSpPr>
            <a:spLocks noGrp="1"/>
          </p:cNvSpPr>
          <p:nvPr/>
        </p:nvSpPr>
        <p:spPr>
          <a:xfrm>
            <a:off x="742950" y="46672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D5A62E-FC54-7D57-422A-2A00BC1A99DF}"/>
              </a:ext>
            </a:extLst>
          </p:cNvPr>
          <p:cNvSpPr>
            <a:spLocks noGrp="1"/>
          </p:cNvSpPr>
          <p:nvPr/>
        </p:nvSpPr>
        <p:spPr>
          <a:xfrm>
            <a:off x="742950" y="46672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97791B-217B-26FF-D97C-9C95771BE350}"/>
              </a:ext>
            </a:extLst>
          </p:cNvPr>
          <p:cNvSpPr>
            <a:spLocks noGrp="1"/>
          </p:cNvSpPr>
          <p:nvPr/>
        </p:nvSpPr>
        <p:spPr>
          <a:xfrm>
            <a:off x="971550" y="47815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Oversight workload rises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1EA6A8-5811-A242-FEEF-6C7F820A0718}"/>
              </a:ext>
            </a:extLst>
          </p:cNvPr>
          <p:cNvSpPr>
            <a:spLocks noGrp="1"/>
          </p:cNvSpPr>
          <p:nvPr/>
        </p:nvSpPr>
        <p:spPr>
          <a:xfrm>
            <a:off x="3200400" y="47434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Reviewers need structured signals, not more unstructured PDFs.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A9201F-A9E2-3294-9FDD-5976390DD0A0}"/>
              </a:ext>
            </a:extLst>
          </p:cNvPr>
          <p:cNvSpPr>
            <a:spLocks noGrp="1"/>
          </p:cNvSpPr>
          <p:nvPr/>
        </p:nvSpPr>
        <p:spPr>
          <a:xfrm>
            <a:off x="742950" y="52768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28537C-6C08-9994-575A-07B0E61AFE9F}"/>
              </a:ext>
            </a:extLst>
          </p:cNvPr>
          <p:cNvSpPr>
            <a:spLocks noGrp="1"/>
          </p:cNvSpPr>
          <p:nvPr/>
        </p:nvSpPr>
        <p:spPr>
          <a:xfrm>
            <a:off x="742950" y="52768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901B7F-4C18-261B-C3F3-B1622F2F2237}"/>
              </a:ext>
            </a:extLst>
          </p:cNvPr>
          <p:cNvSpPr>
            <a:spLocks noGrp="1"/>
          </p:cNvSpPr>
          <p:nvPr/>
        </p:nvSpPr>
        <p:spPr>
          <a:xfrm>
            <a:off x="971550" y="53911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 need confidence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99A71F-2609-B1CE-48B6-361DDC05F3BD}"/>
              </a:ext>
            </a:extLst>
          </p:cNvPr>
          <p:cNvSpPr>
            <a:spLocks noGrp="1"/>
          </p:cNvSpPr>
          <p:nvPr/>
        </p:nvSpPr>
        <p:spPr>
          <a:xfrm>
            <a:off x="3200400" y="53530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Giving depends on trust that is visible and current.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D0CF98-14BE-295E-FB99-6D28826BEDF7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AGP pitch notes and architecture docs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BA5433-DA06-85ED-8E71-490B5CF3FEB7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084350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5D05-7398-3A65-FF0D-4A430E90F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PLATFORM THESIS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D7B19-7896-CC11-AFF4-C17958863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AGP creates a closed loop between better governance and better giving.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C4B427-212A-14D2-BD34-CC438B7D9A95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AA1A4-81C0-D30C-9DE2-89774A7B5603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FA1471-7F81-77CF-0E72-10303CBB7100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B58FDD-9A5D-3921-6BEC-7FEE19333931}"/>
              </a:ext>
            </a:extLst>
          </p:cNvPr>
          <p:cNvSpPr>
            <a:spLocks noGrp="1"/>
          </p:cNvSpPr>
          <p:nvPr/>
        </p:nvSpPr>
        <p:spPr>
          <a:xfrm>
            <a:off x="628650" y="3333750"/>
            <a:ext cx="1466850" cy="7429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BD8E86-CA7B-C9E0-933B-1D6305649117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improves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152BE5-B578-27D0-5D0D-0F57E88C6D39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policies, reports, evidence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8E9DA3-58B6-63E4-05D5-D6C6647C0BF6}"/>
              </a:ext>
            </a:extLst>
          </p:cNvPr>
          <p:cNvSpPr>
            <a:spLocks noGrp="1"/>
          </p:cNvSpPr>
          <p:nvPr/>
        </p:nvSpPr>
        <p:spPr>
          <a:xfrm>
            <a:off x="22098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E2C99E-E549-95C5-7059-1A4E4AB2AFAC}"/>
              </a:ext>
            </a:extLst>
          </p:cNvPr>
          <p:cNvSpPr>
            <a:spLocks noGrp="1"/>
          </p:cNvSpPr>
          <p:nvPr/>
        </p:nvSpPr>
        <p:spPr>
          <a:xfrm>
            <a:off x="2838450" y="3333750"/>
            <a:ext cx="1466850" cy="7429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41EE3-6581-D612-3B2B-0BEA9A33B283}"/>
              </a:ext>
            </a:extLst>
          </p:cNvPr>
          <p:cNvSpPr>
            <a:spLocks noGrp="1"/>
          </p:cNvSpPr>
          <p:nvPr/>
        </p:nvSpPr>
        <p:spPr>
          <a:xfrm>
            <a:off x="29908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Evidence captured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61C2D0-FAD1-12C2-6C20-C997252D8CA4}"/>
              </a:ext>
            </a:extLst>
          </p:cNvPr>
          <p:cNvSpPr>
            <a:spLocks noGrp="1"/>
          </p:cNvSpPr>
          <p:nvPr/>
        </p:nvSpPr>
        <p:spPr>
          <a:xfrm>
            <a:off x="29908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events, documents, reviews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F0AF4-C8FA-9F6B-EEE0-466E8791786D}"/>
              </a:ext>
            </a:extLst>
          </p:cNvPr>
          <p:cNvSpPr>
            <a:spLocks noGrp="1"/>
          </p:cNvSpPr>
          <p:nvPr/>
        </p:nvSpPr>
        <p:spPr>
          <a:xfrm>
            <a:off x="44196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5BE366-1A85-60C5-F203-8A454324981A}"/>
              </a:ext>
            </a:extLst>
          </p:cNvPr>
          <p:cNvSpPr>
            <a:spLocks noGrp="1"/>
          </p:cNvSpPr>
          <p:nvPr/>
        </p:nvSpPr>
        <p:spPr>
          <a:xfrm>
            <a:off x="5048250" y="3333750"/>
            <a:ext cx="1466850" cy="7429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02F3D8-94E9-34D0-C9D0-7C7C1E3552B6}"/>
              </a:ext>
            </a:extLst>
          </p:cNvPr>
          <p:cNvSpPr>
            <a:spLocks noGrp="1"/>
          </p:cNvSpPr>
          <p:nvPr/>
        </p:nvSpPr>
        <p:spPr>
          <a:xfrm>
            <a:off x="52006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Amanah Index visible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9E5429-6A14-0397-720D-4780B87FB173}"/>
              </a:ext>
            </a:extLst>
          </p:cNvPr>
          <p:cNvSpPr>
            <a:spLocks noGrp="1"/>
          </p:cNvSpPr>
          <p:nvPr/>
        </p:nvSpPr>
        <p:spPr>
          <a:xfrm>
            <a:off x="52006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score and trust signals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88033D-49BC-00AD-FB6A-F76005120885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E6FBD2-A011-7A56-903F-2F339A72A75F}"/>
              </a:ext>
            </a:extLst>
          </p:cNvPr>
          <p:cNvSpPr>
            <a:spLocks noGrp="1"/>
          </p:cNvSpPr>
          <p:nvPr/>
        </p:nvSpPr>
        <p:spPr>
          <a:xfrm>
            <a:off x="7258050" y="3333750"/>
            <a:ext cx="1466850" cy="7429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955D7D-1C98-B3CD-9250-B9BF04E21784}"/>
              </a:ext>
            </a:extLst>
          </p:cNvPr>
          <p:cNvSpPr>
            <a:spLocks noGrp="1"/>
          </p:cNvSpPr>
          <p:nvPr/>
        </p:nvSpPr>
        <p:spPr>
          <a:xfrm>
            <a:off x="74104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 act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5279EF-3F6F-2AD0-A76C-6669EAB20EC8}"/>
              </a:ext>
            </a:extLst>
          </p:cNvPr>
          <p:cNvSpPr>
            <a:spLocks noGrp="1"/>
          </p:cNvSpPr>
          <p:nvPr/>
        </p:nvSpPr>
        <p:spPr>
          <a:xfrm>
            <a:off x="74104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profiles, badges, receipts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A246B2-A92C-97D0-8631-D96C636B8FDF}"/>
              </a:ext>
            </a:extLst>
          </p:cNvPr>
          <p:cNvSpPr>
            <a:spLocks noGrp="1"/>
          </p:cNvSpPr>
          <p:nvPr/>
        </p:nvSpPr>
        <p:spPr>
          <a:xfrm>
            <a:off x="88392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F41F7F-6BDD-896A-965C-21DF67AC48A1}"/>
              </a:ext>
            </a:extLst>
          </p:cNvPr>
          <p:cNvSpPr>
            <a:spLocks noGrp="1"/>
          </p:cNvSpPr>
          <p:nvPr/>
        </p:nvSpPr>
        <p:spPr>
          <a:xfrm>
            <a:off x="9467850" y="3333750"/>
            <a:ext cx="1466850" cy="74295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DC3493-90F4-C843-C669-20AD2A2086AD}"/>
              </a:ext>
            </a:extLst>
          </p:cNvPr>
          <p:cNvSpPr>
            <a:spLocks noGrp="1"/>
          </p:cNvSpPr>
          <p:nvPr/>
        </p:nvSpPr>
        <p:spPr>
          <a:xfrm>
            <a:off x="96202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Trust compounds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B0B2C0-3866-D059-015E-11C65EAD6B02}"/>
              </a:ext>
            </a:extLst>
          </p:cNvPr>
          <p:cNvSpPr>
            <a:spLocks noGrp="1"/>
          </p:cNvSpPr>
          <p:nvPr/>
        </p:nvSpPr>
        <p:spPr>
          <a:xfrm>
            <a:off x="96202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better giving behaviour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968860-7FF6-879D-C2CB-0FA5E625E025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pitch notes, Amanah Index upgrade notes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0C50E6-60CB-C4C2-BBC6-6C437B3E7C72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1666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5B7DA-17DF-6E02-8465-9885E9431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STAKEHOLDER 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E895F-6814-B81C-C622-ADB1E9A20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Different stakeholders need different views of the same trust record.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520DDA-A37D-54A8-F210-FE4490B670C7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BF1FCD-6E97-32D6-2F2B-3E1CD8D5763E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DDAED4-66E0-7BD9-8710-04080F5A210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AEC4A4-DD56-7D76-4719-9B236D40302A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C001C1-615E-2677-F841-E1D862A0369A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92F884-6E21-DC84-279E-13BEE643B2B4}"/>
              </a:ext>
            </a:extLst>
          </p:cNvPr>
          <p:cNvSpPr>
            <a:spLocks noGrp="1"/>
          </p:cNvSpPr>
          <p:nvPr/>
        </p:nvSpPr>
        <p:spPr>
          <a:xfrm>
            <a:off x="971550" y="23812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Charities / mosques / NGOs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46E870-E01A-4272-DB37-9E726B08594C}"/>
              </a:ext>
            </a:extLst>
          </p:cNvPr>
          <p:cNvSpPr>
            <a:spLocks noGrp="1"/>
          </p:cNvSpPr>
          <p:nvPr/>
        </p:nvSpPr>
        <p:spPr>
          <a:xfrm>
            <a:off x="3200400" y="23431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Affordable governance tools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30BEB2-B7DA-81B4-882C-8579878A9EB4}"/>
              </a:ext>
            </a:extLst>
          </p:cNvPr>
          <p:cNvSpPr>
            <a:spLocks noGrp="1"/>
          </p:cNvSpPr>
          <p:nvPr/>
        </p:nvSpPr>
        <p:spPr>
          <a:xfrm>
            <a:off x="7029450" y="2305050"/>
            <a:ext cx="2343150" cy="342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C31AB9-F85C-B3EB-3C0E-E64CF1C5C825}"/>
              </a:ext>
            </a:extLst>
          </p:cNvPr>
          <p:cNvSpPr>
            <a:spLocks noGrp="1"/>
          </p:cNvSpPr>
          <p:nvPr/>
        </p:nvSpPr>
        <p:spPr>
          <a:xfrm>
            <a:off x="7239000" y="23907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E90245-399F-15A7-F375-3E1FF666070C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EBEB80-8DC6-72AA-C1D9-B24C48C94D1D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24B5BC-3CED-0F18-9A48-102AE9D667A2}"/>
              </a:ext>
            </a:extLst>
          </p:cNvPr>
          <p:cNvSpPr>
            <a:spLocks noGrp="1"/>
          </p:cNvSpPr>
          <p:nvPr/>
        </p:nvSpPr>
        <p:spPr>
          <a:xfrm>
            <a:off x="971550" y="29908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 / corporate CSR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73082B-9F60-F458-AED8-D20FA39CB42F}"/>
              </a:ext>
            </a:extLst>
          </p:cNvPr>
          <p:cNvSpPr>
            <a:spLocks noGrp="1"/>
          </p:cNvSpPr>
          <p:nvPr/>
        </p:nvSpPr>
        <p:spPr>
          <a:xfrm>
            <a:off x="3200400" y="29527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Clear signals before giving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CFFDF4-1EB9-7977-5615-B95080F80E13}"/>
              </a:ext>
            </a:extLst>
          </p:cNvPr>
          <p:cNvSpPr>
            <a:spLocks noGrp="1"/>
          </p:cNvSpPr>
          <p:nvPr/>
        </p:nvSpPr>
        <p:spPr>
          <a:xfrm>
            <a:off x="7029450" y="2914650"/>
            <a:ext cx="2343150" cy="342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06B8A1-A669-400A-3E78-7A53E7F635EB}"/>
              </a:ext>
            </a:extLst>
          </p:cNvPr>
          <p:cNvSpPr>
            <a:spLocks noGrp="1"/>
          </p:cNvSpPr>
          <p:nvPr/>
        </p:nvSpPr>
        <p:spPr>
          <a:xfrm>
            <a:off x="7239000" y="30003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00A072-3110-14CF-CB46-96EFE8A57712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9DBDD1-5D5F-BC27-CA9F-D2AAFCAB71F7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06B062-80DC-D439-62C9-BD466562AEE3}"/>
              </a:ext>
            </a:extLst>
          </p:cNvPr>
          <p:cNvSpPr>
            <a:spLocks noGrp="1"/>
          </p:cNvSpPr>
          <p:nvPr/>
        </p:nvSpPr>
        <p:spPr>
          <a:xfrm>
            <a:off x="971550" y="36004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Zakat / waqf / councils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3AF3D4-FCD7-9B1C-709D-A1139BE81A5C}"/>
              </a:ext>
            </a:extLst>
          </p:cNvPr>
          <p:cNvSpPr>
            <a:spLocks noGrp="1"/>
          </p:cNvSpPr>
          <p:nvPr/>
        </p:nvSpPr>
        <p:spPr>
          <a:xfrm>
            <a:off x="3200400" y="35623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Monitoring without manual chaos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DF7E77-CC2E-3888-448A-6D12589E4623}"/>
              </a:ext>
            </a:extLst>
          </p:cNvPr>
          <p:cNvSpPr>
            <a:spLocks noGrp="1"/>
          </p:cNvSpPr>
          <p:nvPr/>
        </p:nvSpPr>
        <p:spPr>
          <a:xfrm>
            <a:off x="7029450" y="3524250"/>
            <a:ext cx="2343150" cy="3429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CE10CA-A90E-4D94-48DA-95C3DD7E7FEC}"/>
              </a:ext>
            </a:extLst>
          </p:cNvPr>
          <p:cNvSpPr>
            <a:spLocks noGrp="1"/>
          </p:cNvSpPr>
          <p:nvPr/>
        </p:nvSpPr>
        <p:spPr>
          <a:xfrm>
            <a:off x="7239000" y="36099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479EED-29F4-85D9-07AD-B8EED5C73B5C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DDCE67-64A2-D780-E28E-D516F1258982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62123C-0657-22C9-999F-1B13A2204B37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Reviewers / scholars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689E57-9408-0BE6-5746-EFB5F13A5588}"/>
              </a:ext>
            </a:extLst>
          </p:cNvPr>
          <p:cNvSpPr>
            <a:spLocks noGrp="1"/>
          </p:cNvSpPr>
          <p:nvPr/>
        </p:nvSpPr>
        <p:spPr>
          <a:xfrm>
            <a:off x="3200400" y="41719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Structured evidence and audit trail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8B31D0-0A3E-EAFA-6E48-0F66C8FD4363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2343150" cy="3429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2A4A8E7-8202-B4EF-9B58-599882BE481A}"/>
              </a:ext>
            </a:extLst>
          </p:cNvPr>
          <p:cNvSpPr>
            <a:spLocks noGrp="1"/>
          </p:cNvSpPr>
          <p:nvPr/>
        </p:nvSpPr>
        <p:spPr>
          <a:xfrm>
            <a:off x="7239000" y="42195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C0649A-89CC-15D5-F415-C66F4EC75AE1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D98630-8360-AE10-FDCB-DBE90F4698C4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95250" cy="4191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6E7555-7D56-A647-4A6B-A5321AC0F121}"/>
              </a:ext>
            </a:extLst>
          </p:cNvPr>
          <p:cNvSpPr>
            <a:spLocks noGrp="1"/>
          </p:cNvSpPr>
          <p:nvPr/>
        </p:nvSpPr>
        <p:spPr>
          <a:xfrm>
            <a:off x="971550" y="48196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Grantmakers / partners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2CF8503-9759-49EC-C1C2-EDD9B38A87A8}"/>
              </a:ext>
            </a:extLst>
          </p:cNvPr>
          <p:cNvSpPr>
            <a:spLocks noGrp="1"/>
          </p:cNvSpPr>
          <p:nvPr/>
        </p:nvSpPr>
        <p:spPr>
          <a:xfrm>
            <a:off x="3200400" y="47815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Pilot outcomes and adoption proof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382D6D8-D01D-CBBF-742E-4BB5CF2085F8}"/>
              </a:ext>
            </a:extLst>
          </p:cNvPr>
          <p:cNvSpPr>
            <a:spLocks noGrp="1"/>
          </p:cNvSpPr>
          <p:nvPr/>
        </p:nvSpPr>
        <p:spPr>
          <a:xfrm>
            <a:off x="7029450" y="4743450"/>
            <a:ext cx="2343150" cy="342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B63A429-C02D-9074-827F-4703DB18EBC2}"/>
              </a:ext>
            </a:extLst>
          </p:cNvPr>
          <p:cNvSpPr>
            <a:spLocks noGrp="1"/>
          </p:cNvSpPr>
          <p:nvPr/>
        </p:nvSpPr>
        <p:spPr>
          <a:xfrm>
            <a:off x="7239000" y="48291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Reports + profiles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35FB2A-4D9E-540B-7793-D6363035540B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architecture map and pitch notes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5E98B1-7E2E-D9C1-3153-9F1753BCDB4E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870230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93E60-E8BC-58F1-C5AC-6D778D3F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PRODUCT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3B483-97D5-FBD6-F7D4-029123CD3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Three products surround one scoring and evidence core.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69C797-A5CE-C3AC-ACB7-5C75E771DE7A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3E423-EF47-287E-D31C-55D644D98CA3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7A5F04-EBF1-02ED-0D42-F17747106FB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68184D-E9B8-3680-86AA-34127C3B2AF4}"/>
              </a:ext>
            </a:extLst>
          </p:cNvPr>
          <p:cNvSpPr>
            <a:spLocks noGrp="1"/>
          </p:cNvSpPr>
          <p:nvPr/>
        </p:nvSpPr>
        <p:spPr>
          <a:xfrm>
            <a:off x="857250" y="2400300"/>
            <a:ext cx="3105150" cy="16192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663F20-7E8A-8060-FAE2-BBC7B847C9A0}"/>
              </a:ext>
            </a:extLst>
          </p:cNvPr>
          <p:cNvSpPr>
            <a:spLocks noGrp="1"/>
          </p:cNvSpPr>
          <p:nvPr/>
        </p:nvSpPr>
        <p:spPr>
          <a:xfrm>
            <a:off x="1066800" y="262890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1D1B76-4EBA-194B-4B2D-5642061B8086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public donor app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4D395C-3F85-2B25-5621-C9C5A0C2F76D}"/>
              </a:ext>
            </a:extLst>
          </p:cNvPr>
          <p:cNvSpPr>
            <a:spLocks noGrp="1"/>
          </p:cNvSpPr>
          <p:nvPr/>
        </p:nvSpPr>
        <p:spPr>
          <a:xfrm>
            <a:off x="4191000" y="2400300"/>
            <a:ext cx="3105150" cy="16192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D8B573-03AF-6745-0E82-4A91746A0CCE}"/>
              </a:ext>
            </a:extLst>
          </p:cNvPr>
          <p:cNvSpPr>
            <a:spLocks noGrp="1"/>
          </p:cNvSpPr>
          <p:nvPr/>
        </p:nvSpPr>
        <p:spPr>
          <a:xfrm>
            <a:off x="4400550" y="262890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98332C-1122-9B50-4818-E882CA4E4219}"/>
              </a:ext>
            </a:extLst>
          </p:cNvPr>
          <p:cNvSpPr>
            <a:spLocks noGrp="1"/>
          </p:cNvSpPr>
          <p:nvPr/>
        </p:nvSpPr>
        <p:spPr>
          <a:xfrm>
            <a:off x="4400550" y="295275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org governance workspace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52FD8B-93D6-F9A9-14A2-4FC4DB276B65}"/>
              </a:ext>
            </a:extLst>
          </p:cNvPr>
          <p:cNvSpPr>
            <a:spLocks noGrp="1"/>
          </p:cNvSpPr>
          <p:nvPr/>
        </p:nvSpPr>
        <p:spPr>
          <a:xfrm>
            <a:off x="7524750" y="2400300"/>
            <a:ext cx="3105150" cy="16192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3CCD6D-D03E-456B-887D-DE5339BAE7FC}"/>
              </a:ext>
            </a:extLst>
          </p:cNvPr>
          <p:cNvSpPr>
            <a:spLocks noGrp="1"/>
          </p:cNvSpPr>
          <p:nvPr/>
        </p:nvSpPr>
        <p:spPr>
          <a:xfrm>
            <a:off x="7734300" y="262890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5C4699-8212-444A-0250-A3B32420BCAC}"/>
              </a:ext>
            </a:extLst>
          </p:cNvPr>
          <p:cNvSpPr>
            <a:spLocks noGrp="1"/>
          </p:cNvSpPr>
          <p:nvPr/>
        </p:nvSpPr>
        <p:spPr>
          <a:xfrm>
            <a:off x="7734300" y="295275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reviewer/admin authority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607E4A-09C9-24E0-2F47-D9225F336774}"/>
              </a:ext>
            </a:extLst>
          </p:cNvPr>
          <p:cNvSpPr>
            <a:spLocks noGrp="1"/>
          </p:cNvSpPr>
          <p:nvPr/>
        </p:nvSpPr>
        <p:spPr>
          <a:xfrm>
            <a:off x="1390650" y="4267200"/>
            <a:ext cx="9410700" cy="6096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3C04B8-CE54-CC1F-3C5B-41E3097CFFA3}"/>
              </a:ext>
            </a:extLst>
          </p:cNvPr>
          <p:cNvSpPr>
            <a:spLocks noGrp="1"/>
          </p:cNvSpPr>
          <p:nvPr/>
        </p:nvSpPr>
        <p:spPr>
          <a:xfrm>
            <a:off x="1676400" y="4457700"/>
            <a:ext cx="3524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@agp/scoring + Supabase evidence layer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891A14-C546-687E-CD18-0F16F04B0A56}"/>
              </a:ext>
            </a:extLst>
          </p:cNvPr>
          <p:cNvSpPr>
            <a:spLocks noGrp="1"/>
          </p:cNvSpPr>
          <p:nvPr/>
        </p:nvSpPr>
        <p:spPr>
          <a:xfrm>
            <a:off x="1676400" y="4686300"/>
            <a:ext cx="7429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/ CTCF scoring, RLS-protected Postgres, private storage, append-only trust events, audit logs, payment webhook events, and index history.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FD7B86-DE22-DAED-A1E1-C4060B913902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docs/ARCHITECTURE_MAP.md, ADR-001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4B6AA3-3810-F227-9E24-AD390F0ABBAD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374253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9F0FD-6F32-307F-4CE7-690A5EDD3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TRUST ENGINE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7E23F-B8D9-F3DD-CA26-F1C0D0F96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Trust is earned through events, not asserted once a year.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FF1C35-F5B4-881C-41C6-C4B8DBBDD54C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441DB1-76EA-8C51-92A3-BEB691937914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6EB4F2-24B8-8DD1-9401-E59C762D46D4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0EE4AE-BDE8-F976-5481-E15C1C2E5CE7}"/>
              </a:ext>
            </a:extLst>
          </p:cNvPr>
          <p:cNvSpPr>
            <a:spLocks noGrp="1"/>
          </p:cNvSpPr>
          <p:nvPr/>
        </p:nvSpPr>
        <p:spPr>
          <a:xfrm>
            <a:off x="628650" y="3333750"/>
            <a:ext cx="1466850" cy="7429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3F4D03-A626-9334-8C8E-90B9577C7C24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0DD4D5-C093-778C-8DD3-F3950F2E80EA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report, policy, payment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7A7BA0-BE99-5E17-387B-0BAB46FBC6CA}"/>
              </a:ext>
            </a:extLst>
          </p:cNvPr>
          <p:cNvSpPr>
            <a:spLocks noGrp="1"/>
          </p:cNvSpPr>
          <p:nvPr/>
        </p:nvSpPr>
        <p:spPr>
          <a:xfrm>
            <a:off x="22098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56C38A-E191-AB15-F750-6231567AE859}"/>
              </a:ext>
            </a:extLst>
          </p:cNvPr>
          <p:cNvSpPr>
            <a:spLocks noGrp="1"/>
          </p:cNvSpPr>
          <p:nvPr/>
        </p:nvSpPr>
        <p:spPr>
          <a:xfrm>
            <a:off x="2838450" y="3333750"/>
            <a:ext cx="1466850" cy="7429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BC58A5-B0E0-E39C-CAED-C8E99591C03E}"/>
              </a:ext>
            </a:extLst>
          </p:cNvPr>
          <p:cNvSpPr>
            <a:spLocks noGrp="1"/>
          </p:cNvSpPr>
          <p:nvPr/>
        </p:nvSpPr>
        <p:spPr>
          <a:xfrm>
            <a:off x="29908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85E97F-C1F0-F337-5810-E47A9A9EEC95}"/>
              </a:ext>
            </a:extLst>
          </p:cNvPr>
          <p:cNvSpPr>
            <a:spLocks noGrp="1"/>
          </p:cNvSpPr>
          <p:nvPr/>
        </p:nvSpPr>
        <p:spPr>
          <a:xfrm>
            <a:off x="29908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file, transaction, approval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0ECB0A-7FAB-44EE-E2E5-C5E560016681}"/>
              </a:ext>
            </a:extLst>
          </p:cNvPr>
          <p:cNvSpPr>
            <a:spLocks noGrp="1"/>
          </p:cNvSpPr>
          <p:nvPr/>
        </p:nvSpPr>
        <p:spPr>
          <a:xfrm>
            <a:off x="44196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11428F-846C-8CE1-34E0-1A8030E9D9FC}"/>
              </a:ext>
            </a:extLst>
          </p:cNvPr>
          <p:cNvSpPr>
            <a:spLocks noGrp="1"/>
          </p:cNvSpPr>
          <p:nvPr/>
        </p:nvSpPr>
        <p:spPr>
          <a:xfrm>
            <a:off x="5048250" y="3333750"/>
            <a:ext cx="1466850" cy="7429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8E11A4-FCC9-EB5D-C16E-4874155CF68E}"/>
              </a:ext>
            </a:extLst>
          </p:cNvPr>
          <p:cNvSpPr>
            <a:spLocks noGrp="1"/>
          </p:cNvSpPr>
          <p:nvPr/>
        </p:nvSpPr>
        <p:spPr>
          <a:xfrm>
            <a:off x="52006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event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CC7DFD-FF6F-E0D3-4686-6A9A48B861EE}"/>
              </a:ext>
            </a:extLst>
          </p:cNvPr>
          <p:cNvSpPr>
            <a:spLocks noGrp="1"/>
          </p:cNvSpPr>
          <p:nvPr/>
        </p:nvSpPr>
        <p:spPr>
          <a:xfrm>
            <a:off x="52006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append-only signal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0ED2A4-1626-FD44-C29B-4D22FB06D747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AB6966-B4C6-6CB0-A0B0-19BF3A34B504}"/>
              </a:ext>
            </a:extLst>
          </p:cNvPr>
          <p:cNvSpPr>
            <a:spLocks noGrp="1"/>
          </p:cNvSpPr>
          <p:nvPr/>
        </p:nvSpPr>
        <p:spPr>
          <a:xfrm>
            <a:off x="7258050" y="3333750"/>
            <a:ext cx="1466850" cy="7429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A4FD46-FBB9-0C6A-5501-D3FA33E126AA}"/>
              </a:ext>
            </a:extLst>
          </p:cNvPr>
          <p:cNvSpPr>
            <a:spLocks noGrp="1"/>
          </p:cNvSpPr>
          <p:nvPr/>
        </p:nvSpPr>
        <p:spPr>
          <a:xfrm>
            <a:off x="74104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9DB43C-EC4B-AABE-6819-9CF857172160}"/>
              </a:ext>
            </a:extLst>
          </p:cNvPr>
          <p:cNvSpPr>
            <a:spLocks noGrp="1"/>
          </p:cNvSpPr>
          <p:nvPr/>
        </p:nvSpPr>
        <p:spPr>
          <a:xfrm>
            <a:off x="74104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/ CTCF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D1A884-8438-ED5D-288C-0494ED36547F}"/>
              </a:ext>
            </a:extLst>
          </p:cNvPr>
          <p:cNvSpPr>
            <a:spLocks noGrp="1"/>
          </p:cNvSpPr>
          <p:nvPr/>
        </p:nvSpPr>
        <p:spPr>
          <a:xfrm>
            <a:off x="88392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F5A1D6-322B-C47B-5FAF-F1FE525A3EBA}"/>
              </a:ext>
            </a:extLst>
          </p:cNvPr>
          <p:cNvSpPr>
            <a:spLocks noGrp="1"/>
          </p:cNvSpPr>
          <p:nvPr/>
        </p:nvSpPr>
        <p:spPr>
          <a:xfrm>
            <a:off x="9467850" y="3333750"/>
            <a:ext cx="1466850" cy="74295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81048F-6DF9-624C-4387-50CFE3E0CD86}"/>
              </a:ext>
            </a:extLst>
          </p:cNvPr>
          <p:cNvSpPr>
            <a:spLocks noGrp="1"/>
          </p:cNvSpPr>
          <p:nvPr/>
        </p:nvSpPr>
        <p:spPr>
          <a:xfrm>
            <a:off x="96202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Public signal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4FD46D-65FD-6388-6C6A-B2A6C7EA1956}"/>
              </a:ext>
            </a:extLst>
          </p:cNvPr>
          <p:cNvSpPr>
            <a:spLocks noGrp="1"/>
          </p:cNvSpPr>
          <p:nvPr/>
        </p:nvSpPr>
        <p:spPr>
          <a:xfrm>
            <a:off x="96202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badge, timeline, profile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9CA954-F234-C6D6-F758-A630AD8A8DA1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Amanah Index V2.1 sprint plan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FCA874-5579-2A14-E7DA-D3E55913ED31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4789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56695-4515-FB9A-A26E-A63D6962E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SECURITY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4BC48-28FB-D9D1-101F-DD362A8DD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The architecture is intentionally small, secure, and pilot-ready.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5D9E29-B82F-F524-4E60-B73871DAE8BB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02496D-F33C-BB55-7717-BE58A616EB38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402270-83B7-8DD7-455B-845F5C1B62D6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6C11E6-F025-995B-11E2-4FF540E0F901}"/>
              </a:ext>
            </a:extLst>
          </p:cNvPr>
          <p:cNvSpPr>
            <a:spLocks noGrp="1"/>
          </p:cNvSpPr>
          <p:nvPr/>
        </p:nvSpPr>
        <p:spPr>
          <a:xfrm>
            <a:off x="857250" y="3067050"/>
            <a:ext cx="3105150" cy="16192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532A97-AEDE-A946-1235-80B45D4F07D7}"/>
              </a:ext>
            </a:extLst>
          </p:cNvPr>
          <p:cNvSpPr>
            <a:spLocks noGrp="1"/>
          </p:cNvSpPr>
          <p:nvPr/>
        </p:nvSpPr>
        <p:spPr>
          <a:xfrm>
            <a:off x="1066800" y="329565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Next.js app surfaces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548B6B-E921-1598-A963-A861549289CF}"/>
              </a:ext>
            </a:extLst>
          </p:cNvPr>
          <p:cNvSpPr>
            <a:spLocks noGrp="1"/>
          </p:cNvSpPr>
          <p:nvPr/>
        </p:nvSpPr>
        <p:spPr>
          <a:xfrm>
            <a:off x="1066800" y="361950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AmanahHub, amanahOS and AGP Console keep app logic close to UX.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0E4919-680F-65D5-866E-B0A816E66FF7}"/>
              </a:ext>
            </a:extLst>
          </p:cNvPr>
          <p:cNvSpPr>
            <a:spLocks noGrp="1"/>
          </p:cNvSpPr>
          <p:nvPr/>
        </p:nvSpPr>
        <p:spPr>
          <a:xfrm>
            <a:off x="4191000" y="3067050"/>
            <a:ext cx="3105150" cy="16192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AF9E8C-FC3A-E678-9D40-670B19756CD9}"/>
              </a:ext>
            </a:extLst>
          </p:cNvPr>
          <p:cNvSpPr>
            <a:spLocks noGrp="1"/>
          </p:cNvSpPr>
          <p:nvPr/>
        </p:nvSpPr>
        <p:spPr>
          <a:xfrm>
            <a:off x="4400550" y="329565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Supabase boundary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ACAFF0-49FA-5880-980C-96C13E9699D0}"/>
              </a:ext>
            </a:extLst>
          </p:cNvPr>
          <p:cNvSpPr>
            <a:spLocks noGrp="1"/>
          </p:cNvSpPr>
          <p:nvPr/>
        </p:nvSpPr>
        <p:spPr>
          <a:xfrm>
            <a:off x="4400550" y="361950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Auth, Postgres + RLS, and signed URLs keep organization_id as tenant boundary.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A8E1DE-B832-507E-A7BD-A432A45DF999}"/>
              </a:ext>
            </a:extLst>
          </p:cNvPr>
          <p:cNvSpPr>
            <a:spLocks noGrp="1"/>
          </p:cNvSpPr>
          <p:nvPr/>
        </p:nvSpPr>
        <p:spPr>
          <a:xfrm>
            <a:off x="7524750" y="3067050"/>
            <a:ext cx="3105150" cy="16192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D18FD-2792-3CD6-3AF6-DED10CE9342F}"/>
              </a:ext>
            </a:extLst>
          </p:cNvPr>
          <p:cNvSpPr>
            <a:spLocks noGrp="1"/>
          </p:cNvSpPr>
          <p:nvPr/>
        </p:nvSpPr>
        <p:spPr>
          <a:xfrm>
            <a:off x="7734300" y="329565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Privileged tasks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16827B-B29D-7A07-58E2-59FC659B1882}"/>
              </a:ext>
            </a:extLst>
          </p:cNvPr>
          <p:cNvSpPr>
            <a:spLocks noGrp="1"/>
          </p:cNvSpPr>
          <p:nvPr/>
        </p:nvSpPr>
        <p:spPr>
          <a:xfrm>
            <a:off x="7734300" y="361950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Webhooks, score recalculation and invites stay server-side.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65DBAD-0A40-88EB-CCF9-51FDD73A1A46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ADR-001, architecture constraints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8A649A-3E2B-1D74-9456-63200430C087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229765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9BFED-CFA8-508D-030D-669A65AA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PILOT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A2C9B-9DE5-185F-DC59-14DE201BB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Pilot success should prove governance adoption, not vanity usage.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A594F1-0040-A4C9-3584-3FEA1939F659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3A5F29-C24F-BD63-FB0E-85FEC62F7676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D499ED-97D3-C7C2-1236-813A5902D88D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42AE29-9946-BE29-5F59-9DBFA65C1BDC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381250" cy="1352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240649-9B90-6C14-389F-2F29C0008AF5}"/>
              </a:ext>
            </a:extLst>
          </p:cNvPr>
          <p:cNvSpPr>
            <a:spLocks noGrp="1"/>
          </p:cNvSpPr>
          <p:nvPr/>
        </p:nvSpPr>
        <p:spPr>
          <a:xfrm>
            <a:off x="9525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Onboarded organizations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7757A1-96C1-0A68-B752-CE3BD4493818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selected mosques, NGOs, waqf or charity pilots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334668-E5B7-DB3A-65AA-BF5E75892B5C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2381250" cy="1352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8B8695-CC4F-4B8B-2A6C-B95BA6033344}"/>
              </a:ext>
            </a:extLst>
          </p:cNvPr>
          <p:cNvSpPr>
            <a:spLocks noGrp="1"/>
          </p:cNvSpPr>
          <p:nvPr/>
        </p:nvSpPr>
        <p:spPr>
          <a:xfrm>
            <a:off x="35623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activity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5606B7-6D9E-EBB0-9B8C-B8C62CF0DAA1}"/>
              </a:ext>
            </a:extLst>
          </p:cNvPr>
          <p:cNvSpPr>
            <a:spLocks noGrp="1"/>
          </p:cNvSpPr>
          <p:nvPr/>
        </p:nvSpPr>
        <p:spPr>
          <a:xfrm>
            <a:off x="35623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reports, policies, evidence uploads, approvals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61EEC2-CD91-E5D2-60D2-40131E99A695}"/>
              </a:ext>
            </a:extLst>
          </p:cNvPr>
          <p:cNvSpPr>
            <a:spLocks noGrp="1"/>
          </p:cNvSpPr>
          <p:nvPr/>
        </p:nvSpPr>
        <p:spPr>
          <a:xfrm>
            <a:off x="5962650" y="3067050"/>
            <a:ext cx="2381250" cy="13525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9FACA9-0AA0-1249-EDDC-6646AF35508C}"/>
              </a:ext>
            </a:extLst>
          </p:cNvPr>
          <p:cNvSpPr>
            <a:spLocks noGrp="1"/>
          </p:cNvSpPr>
          <p:nvPr/>
        </p:nvSpPr>
        <p:spPr>
          <a:xfrm>
            <a:off x="61722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signal quality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8FADCA-9D26-DDD0-0F3D-7A3CE500862B}"/>
              </a:ext>
            </a:extLst>
          </p:cNvPr>
          <p:cNvSpPr>
            <a:spLocks noGrp="1"/>
          </p:cNvSpPr>
          <p:nvPr/>
        </p:nvSpPr>
        <p:spPr>
          <a:xfrm>
            <a:off x="61722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reviewable events, public profiles, score history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610257-E468-8331-8C47-D9226830A0CB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2381250" cy="1352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B8B611-D447-08A9-1CBA-2FE0CCD94A0B}"/>
              </a:ext>
            </a:extLst>
          </p:cNvPr>
          <p:cNvSpPr>
            <a:spLocks noGrp="1"/>
          </p:cNvSpPr>
          <p:nvPr/>
        </p:nvSpPr>
        <p:spPr>
          <a:xfrm>
            <a:off x="87820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Stakeholder confidence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63B9C5-7B4C-8F60-1617-C50C7B2C0835}"/>
              </a:ext>
            </a:extLst>
          </p:cNvPr>
          <p:cNvSpPr>
            <a:spLocks noGrp="1"/>
          </p:cNvSpPr>
          <p:nvPr/>
        </p:nvSpPr>
        <p:spPr>
          <a:xfrm>
            <a:off x="87820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donor readability and reviewer efficiency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DC8C5A-7467-C24D-A866-0D0672A9E8F9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pitch notes and Phase 2 architecture map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9ED3EC-79B9-2374-133E-4DB5CC9B7362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73268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5FAF4-78E6-BB1B-62DB-DB719AA3B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SUSTAINABILITY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BA700-323B-B78B-9567-17F2C397E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Public-good outcomes can connect to a sustainable operating model.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B096D8-0CFA-C8DD-5BAC-3654E001B12D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FA4576-86BE-33A9-74A4-4EA7B02B3FC2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C488F2-9E8E-25F7-AF7B-FF7A705967A6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3AE86F-08E7-BF49-7C36-748B5D8AFFF7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51F6F0-462B-1C8E-09F7-9AF8D798DECF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848D67-56B3-4BEC-8B51-3B7E6EBA43A7}"/>
              </a:ext>
            </a:extLst>
          </p:cNvPr>
          <p:cNvSpPr>
            <a:spLocks noGrp="1"/>
          </p:cNvSpPr>
          <p:nvPr/>
        </p:nvSpPr>
        <p:spPr>
          <a:xfrm>
            <a:off x="971550" y="23812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 tools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D0F0D1-4CE3-A9C8-0267-AC2F22BDACE3}"/>
              </a:ext>
            </a:extLst>
          </p:cNvPr>
          <p:cNvSpPr>
            <a:spLocks noGrp="1"/>
          </p:cNvSpPr>
          <p:nvPr/>
        </p:nvSpPr>
        <p:spPr>
          <a:xfrm>
            <a:off x="3200400" y="23431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org subscription / sponsored access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CB648A-8812-8AE9-7351-D23065A7DD82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E035DE-330C-BF76-D2F8-B9555128D302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80FCA2-6F7F-3354-6CCC-13CD42A1D3E3}"/>
              </a:ext>
            </a:extLst>
          </p:cNvPr>
          <p:cNvSpPr>
            <a:spLocks noGrp="1"/>
          </p:cNvSpPr>
          <p:nvPr/>
        </p:nvSpPr>
        <p:spPr>
          <a:xfrm>
            <a:off x="971550" y="29908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verification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CF6571-E1B8-1735-4703-A5115D520A1E}"/>
              </a:ext>
            </a:extLst>
          </p:cNvPr>
          <p:cNvSpPr>
            <a:spLocks noGrp="1"/>
          </p:cNvSpPr>
          <p:nvPr/>
        </p:nvSpPr>
        <p:spPr>
          <a:xfrm>
            <a:off x="3200400" y="29527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reviewer and certification workflows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010873-F368-71B0-2E1D-A739CC874BB6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9B815E-0EC3-876D-E16F-2067BF11345E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52EC51-385E-5704-8896-E5F44DA6EC8F}"/>
              </a:ext>
            </a:extLst>
          </p:cNvPr>
          <p:cNvSpPr>
            <a:spLocks noGrp="1"/>
          </p:cNvSpPr>
          <p:nvPr/>
        </p:nvSpPr>
        <p:spPr>
          <a:xfrm>
            <a:off x="971550" y="36004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Compliance reporting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50E5EE-9066-9F2C-235E-FE3D05051594}"/>
              </a:ext>
            </a:extLst>
          </p:cNvPr>
          <p:cNvSpPr>
            <a:spLocks noGrp="1"/>
          </p:cNvSpPr>
          <p:nvPr/>
        </p:nvSpPr>
        <p:spPr>
          <a:xfrm>
            <a:off x="3200400" y="35623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export packs for funders and regulators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916F1A-3B8F-5F7D-97E3-C06EF3C84F2D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5135A9-5A7C-6F77-02DA-D2C2BCB78870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655655-2A81-5F0A-87E3-150BD209C73A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Public trust profiles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83A110-44A6-2DE1-A13E-796ED0544957}"/>
              </a:ext>
            </a:extLst>
          </p:cNvPr>
          <p:cNvSpPr>
            <a:spLocks noGrp="1"/>
          </p:cNvSpPr>
          <p:nvPr/>
        </p:nvSpPr>
        <p:spPr>
          <a:xfrm>
            <a:off x="3200400" y="41719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donor confidence and fundraising lift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01D727-64A9-F388-809C-05A91B2FD9B7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pitch sustainability notes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091C29-1EE4-E642-6D32-FE72DB14B4EA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965675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FA2DC-ED88-AC70-52D0-BC1747EA6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ROADMAP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E21FF-3B00-8DF0-4CFD-B507C3B8B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The roadmap should earn trust before scaling trust.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E60038-1075-3D67-53FE-8A9DDA29C3E9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836750-EC76-75F2-75F2-0E9277B1A304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346D00-51E2-5D24-38E5-4EF9B8404F4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B0A1DC-27F2-5F88-6152-404A25C15E79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381250" cy="1352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66B94E-EF47-B457-81B6-847786BAFDF7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F35DE6-6BA2-E738-F5C8-EB350E21ED4F}"/>
              </a:ext>
            </a:extLst>
          </p:cNvPr>
          <p:cNvSpPr>
            <a:spLocks noGrp="1"/>
          </p:cNvSpPr>
          <p:nvPr/>
        </p:nvSpPr>
        <p:spPr>
          <a:xfrm>
            <a:off x="95250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Foundation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E4A833-929B-FB92-AAA4-7DC012F32E0B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AmanahHub, Console, CTCF, Amanah Index, payments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FF2A39-4ED4-5007-72B9-27E8D307216F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2381250" cy="1352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8CEAB8-BBFC-C2E0-F4CC-742E51AF08BC}"/>
              </a:ext>
            </a:extLst>
          </p:cNvPr>
          <p:cNvSpPr>
            <a:spLocks noGrp="1"/>
          </p:cNvSpPr>
          <p:nvPr/>
        </p:nvSpPr>
        <p:spPr>
          <a:xfrm>
            <a:off x="356235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412FDB-B7BF-AE04-5072-8F674D83E31C}"/>
              </a:ext>
            </a:extLst>
          </p:cNvPr>
          <p:cNvSpPr>
            <a:spLocks noGrp="1"/>
          </p:cNvSpPr>
          <p:nvPr/>
        </p:nvSpPr>
        <p:spPr>
          <a:xfrm>
            <a:off x="356235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Org workspace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F5AA28-63AD-EFD4-8C22-B8D5A80E341F}"/>
              </a:ext>
            </a:extLst>
          </p:cNvPr>
          <p:cNvSpPr>
            <a:spLocks noGrp="1"/>
          </p:cNvSpPr>
          <p:nvPr/>
        </p:nvSpPr>
        <p:spPr>
          <a:xfrm>
            <a:off x="356235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amanahOS, accounting, policy kit, evidence workflows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F314DC-904D-5813-A2C0-F4BD1BA39AA2}"/>
              </a:ext>
            </a:extLst>
          </p:cNvPr>
          <p:cNvSpPr>
            <a:spLocks noGrp="1"/>
          </p:cNvSpPr>
          <p:nvPr/>
        </p:nvSpPr>
        <p:spPr>
          <a:xfrm>
            <a:off x="5962650" y="3067050"/>
            <a:ext cx="2381250" cy="13525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1413B8-6385-3E0C-7B43-69D00582CAD7}"/>
              </a:ext>
            </a:extLst>
          </p:cNvPr>
          <p:cNvSpPr>
            <a:spLocks noGrp="1"/>
          </p:cNvSpPr>
          <p:nvPr/>
        </p:nvSpPr>
        <p:spPr>
          <a:xfrm>
            <a:off x="617220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ED30A9-13BD-B2AA-2C02-D03FD35B61D2}"/>
              </a:ext>
            </a:extLst>
          </p:cNvPr>
          <p:cNvSpPr>
            <a:spLocks noGrp="1"/>
          </p:cNvSpPr>
          <p:nvPr/>
        </p:nvSpPr>
        <p:spPr>
          <a:xfrm>
            <a:off x="617220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intelligence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F9E582-C840-609F-338F-738FA40F10CF}"/>
              </a:ext>
            </a:extLst>
          </p:cNvPr>
          <p:cNvSpPr>
            <a:spLocks noGrp="1"/>
          </p:cNvSpPr>
          <p:nvPr/>
        </p:nvSpPr>
        <p:spPr>
          <a:xfrm>
            <a:off x="617220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current trust health, event registry, public timeline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3DF3C7-D351-1102-74CC-BD9DE71F3B40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2381250" cy="1352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A07D00-2CE1-8C9D-9F4A-DADFD5D97D03}"/>
              </a:ext>
            </a:extLst>
          </p:cNvPr>
          <p:cNvSpPr>
            <a:spLocks noGrp="1"/>
          </p:cNvSpPr>
          <p:nvPr/>
        </p:nvSpPr>
        <p:spPr>
          <a:xfrm>
            <a:off x="878205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2CCACC-9190-68ED-F66F-3F44002ABA1D}"/>
              </a:ext>
            </a:extLst>
          </p:cNvPr>
          <p:cNvSpPr>
            <a:spLocks noGrp="1"/>
          </p:cNvSpPr>
          <p:nvPr/>
        </p:nvSpPr>
        <p:spPr>
          <a:xfrm>
            <a:off x="878205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Ecosystem scale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A334DB-01E4-0AE3-0BC5-51E0DB81023F}"/>
              </a:ext>
            </a:extLst>
          </p:cNvPr>
          <p:cNvSpPr>
            <a:spLocks noGrp="1"/>
          </p:cNvSpPr>
          <p:nvPr/>
        </p:nvSpPr>
        <p:spPr>
          <a:xfrm>
            <a:off x="878205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multi-stakeholder pilots, reporting packs, partner model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77B797-CF94-F3D5-F8AC-EC63C9A40E2F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docs/ARCHITECTURE_MAP.md Phase 2 build order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E6BD8C-2346-C3DA-1D54-9DD07595324A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87724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606B-30C9-3F19-2318-20E5EF08F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STAKEHOLDER COMMITMENTS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F8B41-E114-6ED5-1F82-B01FA01DE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The next step is ecosystem alignment, not just software approval.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EEA009-3578-775A-59AC-8DD784979D95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EA936D-765C-C086-05AE-6421961A91E5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B2E06E-C586-0ADC-317B-C3D89CF4E446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781C09-F699-835E-C271-DC6EFBE744F3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381250" cy="1352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BDB7F5-BCAF-A88E-1FD9-B5803B586AB8}"/>
              </a:ext>
            </a:extLst>
          </p:cNvPr>
          <p:cNvSpPr>
            <a:spLocks noGrp="1"/>
          </p:cNvSpPr>
          <p:nvPr/>
        </p:nvSpPr>
        <p:spPr>
          <a:xfrm>
            <a:off x="9525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Authorities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37BA11-B701-F5C6-48F3-AA7EB240279B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define pilot guardrails and review expectations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5488A4-0235-DBFE-A638-098C909BFF50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2381250" cy="1352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CC6AE1-CAFE-1308-0FDA-7F1AD3B16202}"/>
              </a:ext>
            </a:extLst>
          </p:cNvPr>
          <p:cNvSpPr>
            <a:spLocks noGrp="1"/>
          </p:cNvSpPr>
          <p:nvPr/>
        </p:nvSpPr>
        <p:spPr>
          <a:xfrm>
            <a:off x="35623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Pilot organizations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63E447-D376-D591-3100-DD11F8E8801A}"/>
              </a:ext>
            </a:extLst>
          </p:cNvPr>
          <p:cNvSpPr>
            <a:spLocks noGrp="1"/>
          </p:cNvSpPr>
          <p:nvPr/>
        </p:nvSpPr>
        <p:spPr>
          <a:xfrm>
            <a:off x="35623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use amanahOS for real governance workflows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B0C6D5-9726-FA9D-E413-C27B4AA2466E}"/>
              </a:ext>
            </a:extLst>
          </p:cNvPr>
          <p:cNvSpPr>
            <a:spLocks noGrp="1"/>
          </p:cNvSpPr>
          <p:nvPr/>
        </p:nvSpPr>
        <p:spPr>
          <a:xfrm>
            <a:off x="5962650" y="3067050"/>
            <a:ext cx="2381250" cy="13525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1D6158-8202-5E63-66F9-140130EA717B}"/>
              </a:ext>
            </a:extLst>
          </p:cNvPr>
          <p:cNvSpPr>
            <a:spLocks noGrp="1"/>
          </p:cNvSpPr>
          <p:nvPr/>
        </p:nvSpPr>
        <p:spPr>
          <a:xfrm>
            <a:off x="61722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Reviewers / scholars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24356D-1B2E-A750-27B5-9BC9F82D4E1B}"/>
              </a:ext>
            </a:extLst>
          </p:cNvPr>
          <p:cNvSpPr>
            <a:spLocks noGrp="1"/>
          </p:cNvSpPr>
          <p:nvPr/>
        </p:nvSpPr>
        <p:spPr>
          <a:xfrm>
            <a:off x="61722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validate scoring, evidence, and public-readiness logic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F1015A-425C-8C0A-8FAA-D7B05EE7B6FA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2381250" cy="1352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27747F-647F-696B-0E55-391645AC60B2}"/>
              </a:ext>
            </a:extLst>
          </p:cNvPr>
          <p:cNvSpPr>
            <a:spLocks noGrp="1"/>
          </p:cNvSpPr>
          <p:nvPr/>
        </p:nvSpPr>
        <p:spPr>
          <a:xfrm>
            <a:off x="87820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Funders / partners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9519ED-8D16-2EFA-B09C-02321C8CBB33}"/>
              </a:ext>
            </a:extLst>
          </p:cNvPr>
          <p:cNvSpPr>
            <a:spLocks noGrp="1"/>
          </p:cNvSpPr>
          <p:nvPr/>
        </p:nvSpPr>
        <p:spPr>
          <a:xfrm>
            <a:off x="87820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support build, onboarding, evaluation, and training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A1B861-97B9-F81A-6D03-D2F7662D5013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stakeholder framing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A69D9B-AB90-A598-D49D-9844A705DF14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0655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99FC6-DB95-A10A-EFCB-E52D45C85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DECISION ASK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931E8-1A3F-FA5E-AEED-7591CF9DA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Sponsor the pilot, validate the trust model, and help AGP become shared infrastructure.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CF4F40-6AA1-7A23-BB9C-1718F9E70474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7B1188-D22A-471D-3426-8A0B86A437ED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FD17DC-DBCC-BB82-B0D1-8294B1E902E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663CD8-EB50-05E6-1B14-C51895B1D8B9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381250" cy="1352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BC1DC8-CAD7-0EF6-5833-1F416BFBFA70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E6FA67-56CE-D7C3-3930-49A96AED1A2B}"/>
              </a:ext>
            </a:extLst>
          </p:cNvPr>
          <p:cNvSpPr>
            <a:spLocks noGrp="1"/>
          </p:cNvSpPr>
          <p:nvPr/>
        </p:nvSpPr>
        <p:spPr>
          <a:xfrm>
            <a:off x="95250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Pilot cohort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5C7971-F7CB-D472-E684-531882314BE2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representative charities, mosques, NGOs, waqf bodies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BF1CA0-6E96-66CC-724E-5B4A581E2356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2381250" cy="1352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39A8EB-8E2A-35DA-D5E0-E33C324647C5}"/>
              </a:ext>
            </a:extLst>
          </p:cNvPr>
          <p:cNvSpPr>
            <a:spLocks noGrp="1"/>
          </p:cNvSpPr>
          <p:nvPr/>
        </p:nvSpPr>
        <p:spPr>
          <a:xfrm>
            <a:off x="356235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2B8056-6869-C9C0-9250-6353AA985F6F}"/>
              </a:ext>
            </a:extLst>
          </p:cNvPr>
          <p:cNvSpPr>
            <a:spLocks noGrp="1"/>
          </p:cNvSpPr>
          <p:nvPr/>
        </p:nvSpPr>
        <p:spPr>
          <a:xfrm>
            <a:off x="356235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council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4A3535-DE73-7071-05A0-BF033C4FAD2A}"/>
              </a:ext>
            </a:extLst>
          </p:cNvPr>
          <p:cNvSpPr>
            <a:spLocks noGrp="1"/>
          </p:cNvSpPr>
          <p:nvPr/>
        </p:nvSpPr>
        <p:spPr>
          <a:xfrm>
            <a:off x="356235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reviewers, scholars, policy owners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D6A277-257B-8182-0D0A-BF664EE83496}"/>
              </a:ext>
            </a:extLst>
          </p:cNvPr>
          <p:cNvSpPr>
            <a:spLocks noGrp="1"/>
          </p:cNvSpPr>
          <p:nvPr/>
        </p:nvSpPr>
        <p:spPr>
          <a:xfrm>
            <a:off x="5962650" y="3067050"/>
            <a:ext cx="2381250" cy="13525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227378-5263-20C7-0D86-4B9BBC5E4233}"/>
              </a:ext>
            </a:extLst>
          </p:cNvPr>
          <p:cNvSpPr>
            <a:spLocks noGrp="1"/>
          </p:cNvSpPr>
          <p:nvPr/>
        </p:nvSpPr>
        <p:spPr>
          <a:xfrm>
            <a:off x="617220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2EA8A7-B49F-ED18-4572-37B42CCDB147}"/>
              </a:ext>
            </a:extLst>
          </p:cNvPr>
          <p:cNvSpPr>
            <a:spLocks noGrp="1"/>
          </p:cNvSpPr>
          <p:nvPr/>
        </p:nvSpPr>
        <p:spPr>
          <a:xfrm>
            <a:off x="617220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Implementation support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EDB192-FD86-6586-777F-D6EE3DC779B9}"/>
              </a:ext>
            </a:extLst>
          </p:cNvPr>
          <p:cNvSpPr>
            <a:spLocks noGrp="1"/>
          </p:cNvSpPr>
          <p:nvPr/>
        </p:nvSpPr>
        <p:spPr>
          <a:xfrm>
            <a:off x="617220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onboarding, training, evaluation, hardening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61046A-00B8-FF1D-8311-94B1FA0215B6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2381250" cy="1352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B254AC-BA57-9408-0529-6183B17AF4EA}"/>
              </a:ext>
            </a:extLst>
          </p:cNvPr>
          <p:cNvSpPr>
            <a:spLocks noGrp="1"/>
          </p:cNvSpPr>
          <p:nvPr/>
        </p:nvSpPr>
        <p:spPr>
          <a:xfrm>
            <a:off x="878205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1C47A2-961F-D133-C02D-F886D4C8733E}"/>
              </a:ext>
            </a:extLst>
          </p:cNvPr>
          <p:cNvSpPr>
            <a:spLocks noGrp="1"/>
          </p:cNvSpPr>
          <p:nvPr/>
        </p:nvSpPr>
        <p:spPr>
          <a:xfrm>
            <a:off x="878205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Public trust standard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B8EA7E-2A17-6457-82B4-F4B103F24DF9}"/>
              </a:ext>
            </a:extLst>
          </p:cNvPr>
          <p:cNvSpPr>
            <a:spLocks noGrp="1"/>
          </p:cNvSpPr>
          <p:nvPr/>
        </p:nvSpPr>
        <p:spPr>
          <a:xfrm>
            <a:off x="878205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evidence, scoring, publication governance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53844A-B375-923F-A1F0-B5B72F1C46D8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Prepared from AGP repository docs and pitch notes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38DD2D-4DBB-DCAC-4A6A-DBD53EB3E037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2641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2ED8B-A357-210E-0B6A-49A6F9CE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AMANAHHUB / ABOUT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2D0AE-55CF-8002-592A-DE6FF5E4D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AmanahHub exists because trust is the foundation of giving.</a:t>
            </a:r>
          </a:p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When donors cannot see where their Sadaqah goes, or whether governance is sound, they give less - and those who need help receive less.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B1FC76-59D8-3CF9-A680-4821EF867613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0DE08-CA4B-4A3B-7BF5-98A2E5911D6F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D53EE7-6E48-0DA5-F83F-130DC2D8AD62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AB69C-FC31-E9CF-5A3D-9E89BE4B6F42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956FBA-9C28-2FB7-927E-C55D8CD1B26A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BA9792-9026-3DC8-D814-3E2223743F2E}"/>
              </a:ext>
            </a:extLst>
          </p:cNvPr>
          <p:cNvSpPr>
            <a:spLocks noGrp="1"/>
          </p:cNvSpPr>
          <p:nvPr/>
        </p:nvSpPr>
        <p:spPr>
          <a:xfrm>
            <a:off x="971550" y="35623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Malaysia-first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F836FA-1839-D1E8-4424-0CF2793ABC8B}"/>
              </a:ext>
            </a:extLst>
          </p:cNvPr>
          <p:cNvSpPr>
            <a:spLocks noGrp="1"/>
          </p:cNvSpPr>
          <p:nvPr/>
        </p:nvSpPr>
        <p:spPr>
          <a:xfrm>
            <a:off x="3200400" y="35242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Built for ROS, JAKIM, SIRC, and state-level regulatory contexts.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1E76AB-555E-8019-3254-A9236481538C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ABC824-B31D-6FD5-65D0-5BAE79E51E34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671FA8-33AC-AC51-AA98-67892879CCF9}"/>
              </a:ext>
            </a:extLst>
          </p:cNvPr>
          <p:cNvSpPr>
            <a:spLocks noGrp="1"/>
          </p:cNvSpPr>
          <p:nvPr/>
        </p:nvSpPr>
        <p:spPr>
          <a:xfrm>
            <a:off x="971550" y="41719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Non-custodial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616C98-0B11-137A-2DC0-345D7F705E73}"/>
              </a:ext>
            </a:extLst>
          </p:cNvPr>
          <p:cNvSpPr>
            <a:spLocks noGrp="1"/>
          </p:cNvSpPr>
          <p:nvPr/>
        </p:nvSpPr>
        <p:spPr>
          <a:xfrm>
            <a:off x="3200400" y="41338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Donations flow directly from donor to charity.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08ED12-E2C3-5E09-E2C4-8FFEFDDE7EE7}"/>
              </a:ext>
            </a:extLst>
          </p:cNvPr>
          <p:cNvSpPr>
            <a:spLocks noGrp="1"/>
          </p:cNvSpPr>
          <p:nvPr/>
        </p:nvSpPr>
        <p:spPr>
          <a:xfrm>
            <a:off x="742950" y="46672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3D3EDE-F03C-52DF-730C-97C9D31D50E7}"/>
              </a:ext>
            </a:extLst>
          </p:cNvPr>
          <p:cNvSpPr>
            <a:spLocks noGrp="1"/>
          </p:cNvSpPr>
          <p:nvPr/>
        </p:nvSpPr>
        <p:spPr>
          <a:xfrm>
            <a:off x="742950" y="46672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5E18C2-1DFB-9F9C-795B-3088D02809E6}"/>
              </a:ext>
            </a:extLst>
          </p:cNvPr>
          <p:cNvSpPr>
            <a:spLocks noGrp="1"/>
          </p:cNvSpPr>
          <p:nvPr/>
        </p:nvSpPr>
        <p:spPr>
          <a:xfrm>
            <a:off x="971550" y="47815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Evidence-based scoring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97EBE0-CF17-1C61-0E7E-8C559B22DCF4}"/>
              </a:ext>
            </a:extLst>
          </p:cNvPr>
          <p:cNvSpPr>
            <a:spLocks noGrp="1"/>
          </p:cNvSpPr>
          <p:nvPr/>
        </p:nvSpPr>
        <p:spPr>
          <a:xfrm>
            <a:off x="3200400" y="47434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Computed from verified documents, records and field evidence.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6DFDB8-BD8B-1B06-D33A-4320C548EE86}"/>
              </a:ext>
            </a:extLst>
          </p:cNvPr>
          <p:cNvSpPr>
            <a:spLocks noGrp="1"/>
          </p:cNvSpPr>
          <p:nvPr/>
        </p:nvSpPr>
        <p:spPr>
          <a:xfrm>
            <a:off x="742950" y="52768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6FA97B-F353-7CFB-125D-94FC6C8BA591}"/>
              </a:ext>
            </a:extLst>
          </p:cNvPr>
          <p:cNvSpPr>
            <a:spLocks noGrp="1"/>
          </p:cNvSpPr>
          <p:nvPr/>
        </p:nvSpPr>
        <p:spPr>
          <a:xfrm>
            <a:off x="742950" y="52768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DB6481-F481-C338-D16B-F2213273ADCA}"/>
              </a:ext>
            </a:extLst>
          </p:cNvPr>
          <p:cNvSpPr>
            <a:spLocks noGrp="1"/>
          </p:cNvSpPr>
          <p:nvPr/>
        </p:nvSpPr>
        <p:spPr>
          <a:xfrm>
            <a:off x="971550" y="53911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Open to all org types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B2619B-7B57-7D57-FB9E-6592C13B52B9}"/>
              </a:ext>
            </a:extLst>
          </p:cNvPr>
          <p:cNvSpPr>
            <a:spLocks noGrp="1"/>
          </p:cNvSpPr>
          <p:nvPr/>
        </p:nvSpPr>
        <p:spPr>
          <a:xfrm>
            <a:off x="3200400" y="53530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NGOs, mosques, waqf institutions, and foundations.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39CDE1-C930-5AE2-01FF-60D77941DEB1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apps/user/app/about/page.tsx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E517CB-5285-FD1D-5CCD-FE6209218330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385945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5F4BD-6B1A-B670-708B-34CF0062D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OUR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36933-8BB9-2B49-77BC-A338DEF4C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Three pillars of Amanah turn values into platform architecture.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8E45C6-2F88-F112-A7AE-BC0433C0DB79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042157-4B70-D789-C3B4-E729F368A8D4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90778F-8B8E-D949-7467-F8F7DC15BE0D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CB62DD-B18F-53DD-8438-26DAFC4B9B1E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2990850" cy="23431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1353C5-9E5C-E7FF-B3E2-C75F8A7672C1}"/>
              </a:ext>
            </a:extLst>
          </p:cNvPr>
          <p:cNvSpPr>
            <a:spLocks noGrp="1"/>
          </p:cNvSpPr>
          <p:nvPr/>
        </p:nvSpPr>
        <p:spPr>
          <a:xfrm>
            <a:off x="1066800" y="29146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أمانة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3516B8-B7CD-8760-D161-EF7A8610725A}"/>
              </a:ext>
            </a:extLst>
          </p:cNvPr>
          <p:cNvSpPr>
            <a:spLocks noGrp="1"/>
          </p:cNvSpPr>
          <p:nvPr/>
        </p:nvSpPr>
        <p:spPr>
          <a:xfrm>
            <a:off x="1066800" y="3581400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 - Trust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5800DD-553F-9657-594A-A04B4805F6BB}"/>
              </a:ext>
            </a:extLst>
          </p:cNvPr>
          <p:cNvSpPr>
            <a:spLocks noGrp="1"/>
          </p:cNvSpPr>
          <p:nvPr/>
        </p:nvSpPr>
        <p:spPr>
          <a:xfrm>
            <a:off x="1066800" y="3962400"/>
            <a:ext cx="23050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Trusteeship of donor funds is made visible and verifiable.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9024CF-8940-8C94-C824-46560292CB1B}"/>
              </a:ext>
            </a:extLst>
          </p:cNvPr>
          <p:cNvSpPr>
            <a:spLocks noGrp="1"/>
          </p:cNvSpPr>
          <p:nvPr/>
        </p:nvSpPr>
        <p:spPr>
          <a:xfrm>
            <a:off x="4419600" y="2647950"/>
            <a:ext cx="2990850" cy="23431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95851A-E3CA-C391-F194-C56C9E0A4DEC}"/>
              </a:ext>
            </a:extLst>
          </p:cNvPr>
          <p:cNvSpPr>
            <a:spLocks noGrp="1"/>
          </p:cNvSpPr>
          <p:nvPr/>
        </p:nvSpPr>
        <p:spPr>
          <a:xfrm>
            <a:off x="4667250" y="29146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شفافية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9A2580-7038-958E-EFDD-F5AA040E4DD6}"/>
              </a:ext>
            </a:extLst>
          </p:cNvPr>
          <p:cNvSpPr>
            <a:spLocks noGrp="1"/>
          </p:cNvSpPr>
          <p:nvPr/>
        </p:nvSpPr>
        <p:spPr>
          <a:xfrm>
            <a:off x="4667250" y="3581400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Shafafiyyah - Transparency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4F7547-2604-2E1C-143C-37DBB090E5D8}"/>
              </a:ext>
            </a:extLst>
          </p:cNvPr>
          <p:cNvSpPr>
            <a:spLocks noGrp="1"/>
          </p:cNvSpPr>
          <p:nvPr/>
        </p:nvSpPr>
        <p:spPr>
          <a:xfrm>
            <a:off x="4667250" y="3962400"/>
            <a:ext cx="23050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Beyond basic financials: Shariah compliance and AAOIFI-aligned evidence.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C3064E-7EB0-8CAB-05AD-BC9D9AB16A75}"/>
              </a:ext>
            </a:extLst>
          </p:cNvPr>
          <p:cNvSpPr>
            <a:spLocks noGrp="1"/>
          </p:cNvSpPr>
          <p:nvPr/>
        </p:nvSpPr>
        <p:spPr>
          <a:xfrm>
            <a:off x="8020050" y="2647950"/>
            <a:ext cx="2990850" cy="23431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544D75-27DA-5DED-108B-7E68F2590732}"/>
              </a:ext>
            </a:extLst>
          </p:cNvPr>
          <p:cNvSpPr>
            <a:spLocks noGrp="1"/>
          </p:cNvSpPr>
          <p:nvPr/>
        </p:nvSpPr>
        <p:spPr>
          <a:xfrm>
            <a:off x="8267700" y="29146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24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مساءلة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5DB22A-D7AC-A626-D6D4-293C2DFF7369}"/>
              </a:ext>
            </a:extLst>
          </p:cNvPr>
          <p:cNvSpPr>
            <a:spLocks noGrp="1"/>
          </p:cNvSpPr>
          <p:nvPr/>
        </p:nvSpPr>
        <p:spPr>
          <a:xfrm>
            <a:off x="8267700" y="3581400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Mas'uliyyah - Accountability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C3E37E-318F-BE02-E1F5-F39429D20DCD}"/>
              </a:ext>
            </a:extLst>
          </p:cNvPr>
          <p:cNvSpPr>
            <a:spLocks noGrp="1"/>
          </p:cNvSpPr>
          <p:nvPr/>
        </p:nvSpPr>
        <p:spPr>
          <a:xfrm>
            <a:off x="8267700" y="3962400"/>
            <a:ext cx="23050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Actions are logged, timestamped, preserved, and history-tracked.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61C4F4-8940-AA60-FBE4-C5786752719B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/about - Our principles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6A3BA2-3A42-CCB1-1E8B-5804E2529A8A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398310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74E5B-A869-9489-E110-D916B51C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THEOLOGICAL FOUNDATION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301B7-C318-2425-D2D4-CF6CE334B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AmanahHub is a response to managing charity with integrity and accountability.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C12B92-92AD-2BC1-337F-119BB2174026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A3F9B-04D6-D161-FFF5-CE592A142ADC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4080D0-0B96-1683-E07D-063E0926FD72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BBB207-47E0-3086-7B0F-D44F783155B4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815843-94CE-53CD-16BE-5F2F1CC0D3DD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0A7F97-26B2-228E-998F-DCF997936477}"/>
              </a:ext>
            </a:extLst>
          </p:cNvPr>
          <p:cNvSpPr>
            <a:spLocks noGrp="1"/>
          </p:cNvSpPr>
          <p:nvPr/>
        </p:nvSpPr>
        <p:spPr>
          <a:xfrm>
            <a:off x="971550" y="23812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At-Tawbah 9:60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442D2E-4C85-4F42-E131-222A83E4C9C5}"/>
              </a:ext>
            </a:extLst>
          </p:cNvPr>
          <p:cNvSpPr>
            <a:spLocks noGrp="1"/>
          </p:cNvSpPr>
          <p:nvPr/>
        </p:nvSpPr>
        <p:spPr>
          <a:xfrm>
            <a:off x="3200400" y="23431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Proper governance structures before certification.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CB647D-EACD-39C9-B768-4AB6B4D77AEA}"/>
              </a:ext>
            </a:extLst>
          </p:cNvPr>
          <p:cNvSpPr>
            <a:spLocks noGrp="1"/>
          </p:cNvSpPr>
          <p:nvPr/>
        </p:nvSpPr>
        <p:spPr>
          <a:xfrm>
            <a:off x="7029450" y="2305050"/>
            <a:ext cx="2343150" cy="342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EA3842-6B53-1C7C-C176-37B5C97B3D06}"/>
              </a:ext>
            </a:extLst>
          </p:cNvPr>
          <p:cNvSpPr>
            <a:spLocks noGrp="1"/>
          </p:cNvSpPr>
          <p:nvPr/>
        </p:nvSpPr>
        <p:spPr>
          <a:xfrm>
            <a:off x="7239000" y="23907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Layer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F53E3F-D5FE-E174-281B-D5D451D3D7A5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12840A-39EB-3880-A074-3E104ED7F228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29065B-1428-8B30-AA93-0EC5E951A4E5}"/>
              </a:ext>
            </a:extLst>
          </p:cNvPr>
          <p:cNvSpPr>
            <a:spLocks noGrp="1"/>
          </p:cNvSpPr>
          <p:nvPr/>
        </p:nvSpPr>
        <p:spPr>
          <a:xfrm>
            <a:off x="971550" y="29908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Al-Baqarah 2:188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579FFE-887E-9341-61DD-01130163BBD4}"/>
              </a:ext>
            </a:extLst>
          </p:cNvPr>
          <p:cNvSpPr>
            <a:spLocks noGrp="1"/>
          </p:cNvSpPr>
          <p:nvPr/>
        </p:nvSpPr>
        <p:spPr>
          <a:xfrm>
            <a:off x="3200400" y="29527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Trusteeship of charitable funds and protection from misuse.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9B4BFC-8986-EAE7-C394-45D2BDFA3FAF}"/>
              </a:ext>
            </a:extLst>
          </p:cNvPr>
          <p:cNvSpPr>
            <a:spLocks noGrp="1"/>
          </p:cNvSpPr>
          <p:nvPr/>
        </p:nvSpPr>
        <p:spPr>
          <a:xfrm>
            <a:off x="7029450" y="2914650"/>
            <a:ext cx="2343150" cy="342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3C654F-67FC-8905-D171-5D2FBED9DEC1}"/>
              </a:ext>
            </a:extLst>
          </p:cNvPr>
          <p:cNvSpPr>
            <a:spLocks noGrp="1"/>
          </p:cNvSpPr>
          <p:nvPr/>
        </p:nvSpPr>
        <p:spPr>
          <a:xfrm>
            <a:off x="7239000" y="30003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Layer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05BE0A-DFA8-3CCC-28EB-5D5C8553EE01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2276CA-C17F-3B0C-B420-07AB3A3C1859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E6FDAC-3DF0-4ACD-0A17-3C25959EAB43}"/>
              </a:ext>
            </a:extLst>
          </p:cNvPr>
          <p:cNvSpPr>
            <a:spLocks noGrp="1"/>
          </p:cNvSpPr>
          <p:nvPr/>
        </p:nvSpPr>
        <p:spPr>
          <a:xfrm>
            <a:off x="971550" y="36004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Al-Baqarah 2:263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37019F-BE30-11B3-B34D-E4497D4DEED3}"/>
              </a:ext>
            </a:extLst>
          </p:cNvPr>
          <p:cNvSpPr>
            <a:spLocks noGrp="1"/>
          </p:cNvSpPr>
          <p:nvPr/>
        </p:nvSpPr>
        <p:spPr>
          <a:xfrm>
            <a:off x="3200400" y="35623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Evidence of how beneficiaries were reached and treated.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4C52B9-CBB4-5CE0-921F-F2E5C8B2F22F}"/>
              </a:ext>
            </a:extLst>
          </p:cNvPr>
          <p:cNvSpPr>
            <a:spLocks noGrp="1"/>
          </p:cNvSpPr>
          <p:nvPr/>
        </p:nvSpPr>
        <p:spPr>
          <a:xfrm>
            <a:off x="7029450" y="3524250"/>
            <a:ext cx="2343150" cy="3429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56DF7C-91B7-E3FA-E195-705862B2F3A8}"/>
              </a:ext>
            </a:extLst>
          </p:cNvPr>
          <p:cNvSpPr>
            <a:spLocks noGrp="1"/>
          </p:cNvSpPr>
          <p:nvPr/>
        </p:nvSpPr>
        <p:spPr>
          <a:xfrm>
            <a:off x="7239000" y="36099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Layer 3 &amp; 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7708F1-9F84-EBF3-8155-C8E15C9A2809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2BC403-E476-2663-5B47-0F1653E5F8D1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314C00-C040-9975-AB77-BB64A8731F8A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Hadith accountability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E2F2C8-5D83-2108-28CD-6CDEAAC53DA4}"/>
              </a:ext>
            </a:extLst>
          </p:cNvPr>
          <p:cNvSpPr>
            <a:spLocks noGrp="1"/>
          </p:cNvSpPr>
          <p:nvPr/>
        </p:nvSpPr>
        <p:spPr>
          <a:xfrm>
            <a:off x="3200400" y="41719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Every platform role creates a verifiable trail.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AC7577-C80E-E625-E7AA-B16351A42BC5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2343150" cy="3429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EE925B-AF7D-DEB7-1920-0DDD984E4FEF}"/>
              </a:ext>
            </a:extLst>
          </p:cNvPr>
          <p:cNvSpPr>
            <a:spLocks noGrp="1"/>
          </p:cNvSpPr>
          <p:nvPr/>
        </p:nvSpPr>
        <p:spPr>
          <a:xfrm>
            <a:off x="7239000" y="42195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Audit logs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EC9E37-6F72-DECD-FD94-CDC79FBD486F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A81B88-4CD4-5F48-4FF8-2C05E33C2249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95250" cy="4191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3541E6-A084-D5A5-FD37-61F1C04A513F}"/>
              </a:ext>
            </a:extLst>
          </p:cNvPr>
          <p:cNvSpPr>
            <a:spLocks noGrp="1"/>
          </p:cNvSpPr>
          <p:nvPr/>
        </p:nvSpPr>
        <p:spPr>
          <a:xfrm>
            <a:off x="971550" y="48196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AAOIFI Standard No. 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7336E41-1C3C-45B3-4A12-09B50178A845}"/>
              </a:ext>
            </a:extLst>
          </p:cNvPr>
          <p:cNvSpPr>
            <a:spLocks noGrp="1"/>
          </p:cNvSpPr>
          <p:nvPr/>
        </p:nvSpPr>
        <p:spPr>
          <a:xfrm>
            <a:off x="3200400" y="47815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Shariah supervision, FAS 9 Zakat and oversight.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500892-ABE9-DD39-6F41-85DBAAB111E5}"/>
              </a:ext>
            </a:extLst>
          </p:cNvPr>
          <p:cNvSpPr>
            <a:spLocks noGrp="1"/>
          </p:cNvSpPr>
          <p:nvPr/>
        </p:nvSpPr>
        <p:spPr>
          <a:xfrm>
            <a:off x="7029450" y="4743450"/>
            <a:ext cx="2343150" cy="342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F658FCD-0E2A-5503-8EBB-67A030819890}"/>
              </a:ext>
            </a:extLst>
          </p:cNvPr>
          <p:cNvSpPr>
            <a:spLocks noGrp="1"/>
          </p:cNvSpPr>
          <p:nvPr/>
        </p:nvSpPr>
        <p:spPr>
          <a:xfrm>
            <a:off x="7239000" y="48291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Layer 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96E46E-E180-F52C-1245-DEB891B3E82E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/about - Built on Quran and Sunnah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9051E5-AD5B-D881-BC41-73EEB448C692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16836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2F86C-BC1E-5D15-F92E-6CBD96A42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HOW IT 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DE94E-4902-CD88-2F61-A00F5D251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The donor journey is simple; the verification layer remains rigorous.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140B08-6FEE-CE62-279B-93D4EA9B337D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AA4FF-D5EF-EB9B-A8DB-46263991EED8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BADF9A-78AA-DC98-579B-F277E2C3799D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B18A5F-C812-936E-2A8E-E8F49266396C}"/>
              </a:ext>
            </a:extLst>
          </p:cNvPr>
          <p:cNvSpPr>
            <a:spLocks noGrp="1"/>
          </p:cNvSpPr>
          <p:nvPr/>
        </p:nvSpPr>
        <p:spPr>
          <a:xfrm>
            <a:off x="628650" y="3333750"/>
            <a:ext cx="1466850" cy="7429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A79345-51C0-94C0-8AF4-B176DCAAC7ED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921D6B-102F-2F72-ADB2-4D38E59BFE08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directory filters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9F1BC8-6464-722C-FF57-050A6988363E}"/>
              </a:ext>
            </a:extLst>
          </p:cNvPr>
          <p:cNvSpPr>
            <a:spLocks noGrp="1"/>
          </p:cNvSpPr>
          <p:nvPr/>
        </p:nvSpPr>
        <p:spPr>
          <a:xfrm>
            <a:off x="22098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20E372-C47C-F325-FBA5-17A73E6E6F5A}"/>
              </a:ext>
            </a:extLst>
          </p:cNvPr>
          <p:cNvSpPr>
            <a:spLocks noGrp="1"/>
          </p:cNvSpPr>
          <p:nvPr/>
        </p:nvSpPr>
        <p:spPr>
          <a:xfrm>
            <a:off x="2838450" y="3333750"/>
            <a:ext cx="1466850" cy="7429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876747-33B0-5761-6635-332354AB7AE7}"/>
              </a:ext>
            </a:extLst>
          </p:cNvPr>
          <p:cNvSpPr>
            <a:spLocks noGrp="1"/>
          </p:cNvSpPr>
          <p:nvPr/>
        </p:nvSpPr>
        <p:spPr>
          <a:xfrm>
            <a:off x="29908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D9AC75-3D5C-9BED-E55A-57046EFE3B1B}"/>
              </a:ext>
            </a:extLst>
          </p:cNvPr>
          <p:cNvSpPr>
            <a:spLocks noGrp="1"/>
          </p:cNvSpPr>
          <p:nvPr/>
        </p:nvSpPr>
        <p:spPr>
          <a:xfrm>
            <a:off x="29908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reports and scores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4DC48D-59D6-E4F0-A1BD-8744834E054C}"/>
              </a:ext>
            </a:extLst>
          </p:cNvPr>
          <p:cNvSpPr>
            <a:spLocks noGrp="1"/>
          </p:cNvSpPr>
          <p:nvPr/>
        </p:nvSpPr>
        <p:spPr>
          <a:xfrm>
            <a:off x="44196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51A540-C58E-6D39-B462-1744B7C7E7D7}"/>
              </a:ext>
            </a:extLst>
          </p:cNvPr>
          <p:cNvSpPr>
            <a:spLocks noGrp="1"/>
          </p:cNvSpPr>
          <p:nvPr/>
        </p:nvSpPr>
        <p:spPr>
          <a:xfrm>
            <a:off x="5048250" y="3333750"/>
            <a:ext cx="1466850" cy="7429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1AEA09-C05D-1350-F03D-C6678A159436}"/>
              </a:ext>
            </a:extLst>
          </p:cNvPr>
          <p:cNvSpPr>
            <a:spLocks noGrp="1"/>
          </p:cNvSpPr>
          <p:nvPr/>
        </p:nvSpPr>
        <p:spPr>
          <a:xfrm>
            <a:off x="52006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77BD1C-918D-7B05-9D10-ABBB22760B22}"/>
              </a:ext>
            </a:extLst>
          </p:cNvPr>
          <p:cNvSpPr>
            <a:spLocks noGrp="1"/>
          </p:cNvSpPr>
          <p:nvPr/>
        </p:nvSpPr>
        <p:spPr>
          <a:xfrm>
            <a:off x="52006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ToyyibPay direct flow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C9F636-FE14-2DD9-4522-55CBFE123225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852BAE-63BE-6513-8091-FFECE622C29A}"/>
              </a:ext>
            </a:extLst>
          </p:cNvPr>
          <p:cNvSpPr>
            <a:spLocks noGrp="1"/>
          </p:cNvSpPr>
          <p:nvPr/>
        </p:nvSpPr>
        <p:spPr>
          <a:xfrm>
            <a:off x="7258050" y="3333750"/>
            <a:ext cx="1466850" cy="7429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3E89CB-8039-EEA3-8D70-D7E38D8E5B23}"/>
              </a:ext>
            </a:extLst>
          </p:cNvPr>
          <p:cNvSpPr>
            <a:spLocks noGrp="1"/>
          </p:cNvSpPr>
          <p:nvPr/>
        </p:nvSpPr>
        <p:spPr>
          <a:xfrm>
            <a:off x="74104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Track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0D5CDF-4A59-FF6B-64B3-1AF3C018A279}"/>
              </a:ext>
            </a:extLst>
          </p:cNvPr>
          <p:cNvSpPr>
            <a:spLocks noGrp="1"/>
          </p:cNvSpPr>
          <p:nvPr/>
        </p:nvSpPr>
        <p:spPr>
          <a:xfrm>
            <a:off x="74104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receipts and impact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0B8982-24F7-CF0D-4C7B-0DA25609B2AE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/how-it-works - Your giving journey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6F6C9B-817C-4F65-E669-2B4C21B666CA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417697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9BDBE-C198-5714-F426-8E1583A15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CERTIFICATION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7DEA8-EC03-A09D-55ED-E6E31EDC8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CTCF is a five-layer evaluation framework; Layer 1 is a disqualifying gate.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8B672B-CBC6-4237-3021-27D48BB380D0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3B1456-2982-92F3-591F-606E6E7F6D70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2F8D83-68E5-4463-E346-2811154C8F66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D4BAE9-AD49-8EBB-B874-92376CCF0243}"/>
              </a:ext>
            </a:extLst>
          </p:cNvPr>
          <p:cNvSpPr>
            <a:spLocks noGrp="1"/>
          </p:cNvSpPr>
          <p:nvPr/>
        </p:nvSpPr>
        <p:spPr>
          <a:xfrm>
            <a:off x="1181100" y="2343150"/>
            <a:ext cx="514350" cy="342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6F81E6-D610-059A-C203-5151233D6925}"/>
              </a:ext>
            </a:extLst>
          </p:cNvPr>
          <p:cNvSpPr>
            <a:spLocks noGrp="1"/>
          </p:cNvSpPr>
          <p:nvPr/>
        </p:nvSpPr>
        <p:spPr>
          <a:xfrm>
            <a:off x="1352550" y="24288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B99E71-1177-2244-31EB-9F78324A3A95}"/>
              </a:ext>
            </a:extLst>
          </p:cNvPr>
          <p:cNvSpPr>
            <a:spLocks noGrp="1"/>
          </p:cNvSpPr>
          <p:nvPr/>
        </p:nvSpPr>
        <p:spPr>
          <a:xfrm>
            <a:off x="2038350" y="24288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 Gate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F3001E-7FC4-637F-F4BD-AA5B9DB68B1D}"/>
              </a:ext>
            </a:extLst>
          </p:cNvPr>
          <p:cNvSpPr>
            <a:spLocks noGrp="1"/>
          </p:cNvSpPr>
          <p:nvPr/>
        </p:nvSpPr>
        <p:spPr>
          <a:xfrm>
            <a:off x="4991100" y="24288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AAD8E6-2A66-0CA6-1495-9602138E6FF5}"/>
              </a:ext>
            </a:extLst>
          </p:cNvPr>
          <p:cNvSpPr>
            <a:spLocks noGrp="1"/>
          </p:cNvSpPr>
          <p:nvPr/>
        </p:nvSpPr>
        <p:spPr>
          <a:xfrm>
            <a:off x="6057900" y="2495550"/>
            <a:ext cx="2381250" cy="38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406386-3937-958B-079F-1D67DCF17527}"/>
              </a:ext>
            </a:extLst>
          </p:cNvPr>
          <p:cNvSpPr>
            <a:spLocks noGrp="1"/>
          </p:cNvSpPr>
          <p:nvPr/>
        </p:nvSpPr>
        <p:spPr>
          <a:xfrm>
            <a:off x="1181100" y="2876550"/>
            <a:ext cx="514350" cy="342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A6F923-275B-F94C-84FD-4124C24AD5E8}"/>
              </a:ext>
            </a:extLst>
          </p:cNvPr>
          <p:cNvSpPr>
            <a:spLocks noGrp="1"/>
          </p:cNvSpPr>
          <p:nvPr/>
        </p:nvSpPr>
        <p:spPr>
          <a:xfrm>
            <a:off x="1352550" y="29622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BF677A-9273-6B62-C4F5-E9983119D92D}"/>
              </a:ext>
            </a:extLst>
          </p:cNvPr>
          <p:cNvSpPr>
            <a:spLocks noGrp="1"/>
          </p:cNvSpPr>
          <p:nvPr/>
        </p:nvSpPr>
        <p:spPr>
          <a:xfrm>
            <a:off x="2038350" y="29622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 Transparency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82389E-7CF6-DC8B-E9DD-3F864B0FC925}"/>
              </a:ext>
            </a:extLst>
          </p:cNvPr>
          <p:cNvSpPr>
            <a:spLocks noGrp="1"/>
          </p:cNvSpPr>
          <p:nvPr/>
        </p:nvSpPr>
        <p:spPr>
          <a:xfrm>
            <a:off x="4991100" y="29622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01B718-0C35-2E69-95E1-25672446E9FE}"/>
              </a:ext>
            </a:extLst>
          </p:cNvPr>
          <p:cNvSpPr>
            <a:spLocks noGrp="1"/>
          </p:cNvSpPr>
          <p:nvPr/>
        </p:nvSpPr>
        <p:spPr>
          <a:xfrm>
            <a:off x="6057900" y="3028950"/>
            <a:ext cx="2152650" cy="38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D66868-E677-9BC2-DDED-9CF4F113180A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514350" cy="342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C73E0E-74E1-9FAE-8E7C-BF6FFBA300E5}"/>
              </a:ext>
            </a:extLst>
          </p:cNvPr>
          <p:cNvSpPr>
            <a:spLocks noGrp="1"/>
          </p:cNvSpPr>
          <p:nvPr/>
        </p:nvSpPr>
        <p:spPr>
          <a:xfrm>
            <a:off x="1352550" y="34956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377672-888C-95AD-23F5-98524AC269CA}"/>
              </a:ext>
            </a:extLst>
          </p:cNvPr>
          <p:cNvSpPr>
            <a:spLocks noGrp="1"/>
          </p:cNvSpPr>
          <p:nvPr/>
        </p:nvSpPr>
        <p:spPr>
          <a:xfrm>
            <a:off x="2038350" y="34956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 Transparency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83B8C6-88D0-F9C0-4065-427282A57ACF}"/>
              </a:ext>
            </a:extLst>
          </p:cNvPr>
          <p:cNvSpPr>
            <a:spLocks noGrp="1"/>
          </p:cNvSpPr>
          <p:nvPr/>
        </p:nvSpPr>
        <p:spPr>
          <a:xfrm>
            <a:off x="4991100" y="34956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749669-CBFE-CEBA-E31F-10BA1FD640A9}"/>
              </a:ext>
            </a:extLst>
          </p:cNvPr>
          <p:cNvSpPr>
            <a:spLocks noGrp="1"/>
          </p:cNvSpPr>
          <p:nvPr/>
        </p:nvSpPr>
        <p:spPr>
          <a:xfrm>
            <a:off x="6057900" y="3562350"/>
            <a:ext cx="1924050" cy="38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3AC90E-5DD5-F29F-0F17-F8AF9285A4FF}"/>
              </a:ext>
            </a:extLst>
          </p:cNvPr>
          <p:cNvSpPr>
            <a:spLocks noGrp="1"/>
          </p:cNvSpPr>
          <p:nvPr/>
        </p:nvSpPr>
        <p:spPr>
          <a:xfrm>
            <a:off x="1181100" y="3943350"/>
            <a:ext cx="514350" cy="3429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01C4FA-8B7D-7DF7-71EE-95EF3C763A69}"/>
              </a:ext>
            </a:extLst>
          </p:cNvPr>
          <p:cNvSpPr>
            <a:spLocks noGrp="1"/>
          </p:cNvSpPr>
          <p:nvPr/>
        </p:nvSpPr>
        <p:spPr>
          <a:xfrm>
            <a:off x="1352550" y="40290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98E405-3518-234F-F611-CAE99A6095D4}"/>
              </a:ext>
            </a:extLst>
          </p:cNvPr>
          <p:cNvSpPr>
            <a:spLocks noGrp="1"/>
          </p:cNvSpPr>
          <p:nvPr/>
        </p:nvSpPr>
        <p:spPr>
          <a:xfrm>
            <a:off x="2038350" y="40290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0E3802-F1D9-6B8F-DE73-D787449135D0}"/>
              </a:ext>
            </a:extLst>
          </p:cNvPr>
          <p:cNvSpPr>
            <a:spLocks noGrp="1"/>
          </p:cNvSpPr>
          <p:nvPr/>
        </p:nvSpPr>
        <p:spPr>
          <a:xfrm>
            <a:off x="4991100" y="40290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6C6EF6-62C5-6CE3-A87A-27B55A483650}"/>
              </a:ext>
            </a:extLst>
          </p:cNvPr>
          <p:cNvSpPr>
            <a:spLocks noGrp="1"/>
          </p:cNvSpPr>
          <p:nvPr/>
        </p:nvSpPr>
        <p:spPr>
          <a:xfrm>
            <a:off x="6057900" y="4095750"/>
            <a:ext cx="1695450" cy="38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ECF42A-900C-F7D6-A876-1621B1BCBED6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514350" cy="3429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15EF5F-3ACA-805F-48FA-7D5C1F434595}"/>
              </a:ext>
            </a:extLst>
          </p:cNvPr>
          <p:cNvSpPr>
            <a:spLocks noGrp="1"/>
          </p:cNvSpPr>
          <p:nvPr/>
        </p:nvSpPr>
        <p:spPr>
          <a:xfrm>
            <a:off x="1352550" y="45624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D395980-944E-9DE3-1793-FF7CE02DFF74}"/>
              </a:ext>
            </a:extLst>
          </p:cNvPr>
          <p:cNvSpPr>
            <a:spLocks noGrp="1"/>
          </p:cNvSpPr>
          <p:nvPr/>
        </p:nvSpPr>
        <p:spPr>
          <a:xfrm>
            <a:off x="2038350" y="45624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 Governance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577B560-2BA6-F012-7304-E07125A7CE3E}"/>
              </a:ext>
            </a:extLst>
          </p:cNvPr>
          <p:cNvSpPr>
            <a:spLocks noGrp="1"/>
          </p:cNvSpPr>
          <p:nvPr/>
        </p:nvSpPr>
        <p:spPr>
          <a:xfrm>
            <a:off x="4991100" y="45624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35D48C2-EC31-7708-A0A1-378DC813B194}"/>
              </a:ext>
            </a:extLst>
          </p:cNvPr>
          <p:cNvSpPr>
            <a:spLocks noGrp="1"/>
          </p:cNvSpPr>
          <p:nvPr/>
        </p:nvSpPr>
        <p:spPr>
          <a:xfrm>
            <a:off x="6057900" y="4629150"/>
            <a:ext cx="1466850" cy="381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EBE7EC-C489-35C4-1D29-D0751AFC54A5}"/>
              </a:ext>
            </a:extLst>
          </p:cNvPr>
          <p:cNvSpPr>
            <a:spLocks noGrp="1"/>
          </p:cNvSpPr>
          <p:nvPr/>
        </p:nvSpPr>
        <p:spPr>
          <a:xfrm>
            <a:off x="8001000" y="2381250"/>
            <a:ext cx="2476500" cy="12192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6F00FA-5EF3-F2E2-3965-FE91A12B13FE}"/>
              </a:ext>
            </a:extLst>
          </p:cNvPr>
          <p:cNvSpPr>
            <a:spLocks noGrp="1"/>
          </p:cNvSpPr>
          <p:nvPr/>
        </p:nvSpPr>
        <p:spPr>
          <a:xfrm>
            <a:off x="8286750" y="26289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Certification tiers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3924320-5CB4-5841-BBEE-A1045F4B7DE4}"/>
              </a:ext>
            </a:extLst>
          </p:cNvPr>
          <p:cNvSpPr>
            <a:spLocks noGrp="1"/>
          </p:cNvSpPr>
          <p:nvPr/>
        </p:nvSpPr>
        <p:spPr>
          <a:xfrm>
            <a:off x="8286750" y="293370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Platinum Amanah (85+)</a:t>
            </a:r>
          </a:p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Gold Amanah (70-84)</a:t>
            </a:r>
          </a:p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Silver Amanah (55-69)</a:t>
            </a:r>
          </a:p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Basic (below 55)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8BCFAB-8A79-A38B-A8ED-B19EA33A3519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/how-it-works - CTCF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1E9E30-91FB-05EB-153F-251BC8FE7FF5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594049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59E82-7699-E7BD-4651-F95CCB317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AMANAH INDEX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50CB0-81CB-8550-418B-11BCAC4D6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The Amanah Index is a living score, not a self-reported claim.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D4DDA6-AA7F-996F-B276-B4093F77A9CA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31A96B-9FCE-BD2D-F922-262B58BC478E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48DA0E-766E-A4D2-996F-B297B6EA4358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CFAE01-46F1-2073-ED31-3C5D6AA827BD}"/>
              </a:ext>
            </a:extLst>
          </p:cNvPr>
          <p:cNvSpPr>
            <a:spLocks noGrp="1"/>
          </p:cNvSpPr>
          <p:nvPr/>
        </p:nvSpPr>
        <p:spPr>
          <a:xfrm>
            <a:off x="1257300" y="265747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1C101E-23BF-4DC0-6BF0-60F8833A8A0C}"/>
              </a:ext>
            </a:extLst>
          </p:cNvPr>
          <p:cNvSpPr>
            <a:spLocks noGrp="1"/>
          </p:cNvSpPr>
          <p:nvPr/>
        </p:nvSpPr>
        <p:spPr>
          <a:xfrm>
            <a:off x="2876550" y="272415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033F63-9A43-A375-08D8-A82BED495974}"/>
              </a:ext>
            </a:extLst>
          </p:cNvPr>
          <p:cNvSpPr>
            <a:spLocks noGrp="1"/>
          </p:cNvSpPr>
          <p:nvPr/>
        </p:nvSpPr>
        <p:spPr>
          <a:xfrm>
            <a:off x="2876550" y="2724150"/>
            <a:ext cx="2286000" cy="85725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5A0F61-96AE-2FAE-22C0-598679886747}"/>
              </a:ext>
            </a:extLst>
          </p:cNvPr>
          <p:cNvSpPr>
            <a:spLocks noGrp="1"/>
          </p:cNvSpPr>
          <p:nvPr/>
        </p:nvSpPr>
        <p:spPr>
          <a:xfrm>
            <a:off x="6115050" y="26479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F386EA-66F3-93D1-3DA5-6BE394B8490E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BA5456-23E8-78C5-EB75-4F1C4858C8D1}"/>
              </a:ext>
            </a:extLst>
          </p:cNvPr>
          <p:cNvSpPr>
            <a:spLocks noGrp="1"/>
          </p:cNvSpPr>
          <p:nvPr/>
        </p:nvSpPr>
        <p:spPr>
          <a:xfrm>
            <a:off x="2876550" y="320040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E6650F-8343-33E3-EFEA-9402BC74661F}"/>
              </a:ext>
            </a:extLst>
          </p:cNvPr>
          <p:cNvSpPr>
            <a:spLocks noGrp="1"/>
          </p:cNvSpPr>
          <p:nvPr/>
        </p:nvSpPr>
        <p:spPr>
          <a:xfrm>
            <a:off x="2876550" y="3200400"/>
            <a:ext cx="1905000" cy="85725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7FCDAB-2AE9-B6A7-F9B9-F5A76F2E9249}"/>
              </a:ext>
            </a:extLst>
          </p:cNvPr>
          <p:cNvSpPr>
            <a:spLocks noGrp="1"/>
          </p:cNvSpPr>
          <p:nvPr/>
        </p:nvSpPr>
        <p:spPr>
          <a:xfrm>
            <a:off x="6115050" y="31242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1BDE47-0EF0-84CA-B85A-23B0BC14E77F}"/>
              </a:ext>
            </a:extLst>
          </p:cNvPr>
          <p:cNvSpPr>
            <a:spLocks noGrp="1"/>
          </p:cNvSpPr>
          <p:nvPr/>
        </p:nvSpPr>
        <p:spPr>
          <a:xfrm>
            <a:off x="1257300" y="360997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B6C544-CEA0-2AD2-A8D1-66815AB12AB1}"/>
              </a:ext>
            </a:extLst>
          </p:cNvPr>
          <p:cNvSpPr>
            <a:spLocks noGrp="1"/>
          </p:cNvSpPr>
          <p:nvPr/>
        </p:nvSpPr>
        <p:spPr>
          <a:xfrm>
            <a:off x="2876550" y="367665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48C7FC-D082-A691-A345-7D44A89E36C0}"/>
              </a:ext>
            </a:extLst>
          </p:cNvPr>
          <p:cNvSpPr>
            <a:spLocks noGrp="1"/>
          </p:cNvSpPr>
          <p:nvPr/>
        </p:nvSpPr>
        <p:spPr>
          <a:xfrm>
            <a:off x="2876550" y="3676650"/>
            <a:ext cx="1524000" cy="85725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DF8212-CC2B-E426-BB4F-97939B80951B}"/>
              </a:ext>
            </a:extLst>
          </p:cNvPr>
          <p:cNvSpPr>
            <a:spLocks noGrp="1"/>
          </p:cNvSpPr>
          <p:nvPr/>
        </p:nvSpPr>
        <p:spPr>
          <a:xfrm>
            <a:off x="6115050" y="36004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1E690D-30B0-DB5F-92AA-89B33F0AD814}"/>
              </a:ext>
            </a:extLst>
          </p:cNvPr>
          <p:cNvSpPr>
            <a:spLocks noGrp="1"/>
          </p:cNvSpPr>
          <p:nvPr/>
        </p:nvSpPr>
        <p:spPr>
          <a:xfrm>
            <a:off x="1257300" y="408622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7C4A5B-16A8-EBBB-9BFA-7B3171E2079E}"/>
              </a:ext>
            </a:extLst>
          </p:cNvPr>
          <p:cNvSpPr>
            <a:spLocks noGrp="1"/>
          </p:cNvSpPr>
          <p:nvPr/>
        </p:nvSpPr>
        <p:spPr>
          <a:xfrm>
            <a:off x="2876550" y="415290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6791FF-43B4-92F6-0447-B97F8F129DDD}"/>
              </a:ext>
            </a:extLst>
          </p:cNvPr>
          <p:cNvSpPr>
            <a:spLocks noGrp="1"/>
          </p:cNvSpPr>
          <p:nvPr/>
        </p:nvSpPr>
        <p:spPr>
          <a:xfrm>
            <a:off x="2876550" y="4152900"/>
            <a:ext cx="1143000" cy="8572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FC9411-F394-78CE-713B-286CAC85FD33}"/>
              </a:ext>
            </a:extLst>
          </p:cNvPr>
          <p:cNvSpPr>
            <a:spLocks noGrp="1"/>
          </p:cNvSpPr>
          <p:nvPr/>
        </p:nvSpPr>
        <p:spPr>
          <a:xfrm>
            <a:off x="6115050" y="40767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3C82DC-6CD8-F443-B9EB-443F83B3BE86}"/>
              </a:ext>
            </a:extLst>
          </p:cNvPr>
          <p:cNvSpPr>
            <a:spLocks noGrp="1"/>
          </p:cNvSpPr>
          <p:nvPr/>
        </p:nvSpPr>
        <p:spPr>
          <a:xfrm>
            <a:off x="1257300" y="456247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DC9AA9-6781-8A74-8A04-BA2C65405757}"/>
              </a:ext>
            </a:extLst>
          </p:cNvPr>
          <p:cNvSpPr>
            <a:spLocks noGrp="1"/>
          </p:cNvSpPr>
          <p:nvPr/>
        </p:nvSpPr>
        <p:spPr>
          <a:xfrm>
            <a:off x="2876550" y="462915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4929F4-65F0-6936-E947-7ADE959C81DE}"/>
              </a:ext>
            </a:extLst>
          </p:cNvPr>
          <p:cNvSpPr>
            <a:spLocks noGrp="1"/>
          </p:cNvSpPr>
          <p:nvPr/>
        </p:nvSpPr>
        <p:spPr>
          <a:xfrm>
            <a:off x="2876550" y="4629150"/>
            <a:ext cx="1143000" cy="85725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EEEE33-5944-EF39-086F-4FF14C9C451A}"/>
              </a:ext>
            </a:extLst>
          </p:cNvPr>
          <p:cNvSpPr>
            <a:spLocks noGrp="1"/>
          </p:cNvSpPr>
          <p:nvPr/>
        </p:nvSpPr>
        <p:spPr>
          <a:xfrm>
            <a:off x="6115050" y="45529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A53CA4-D680-2F64-3035-8634AF06F4B8}"/>
              </a:ext>
            </a:extLst>
          </p:cNvPr>
          <p:cNvSpPr>
            <a:spLocks noGrp="1"/>
          </p:cNvSpPr>
          <p:nvPr/>
        </p:nvSpPr>
        <p:spPr>
          <a:xfrm>
            <a:off x="7810500" y="2686050"/>
            <a:ext cx="2571750" cy="13716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97C2CE-C8E8-DC3E-B1BE-2104AAF4BDA1}"/>
              </a:ext>
            </a:extLst>
          </p:cNvPr>
          <p:cNvSpPr>
            <a:spLocks noGrp="1"/>
          </p:cNvSpPr>
          <p:nvPr/>
        </p:nvSpPr>
        <p:spPr>
          <a:xfrm>
            <a:off x="8096250" y="29718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Computed from verified data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D02EB7D-8A65-1005-39BB-97123958D6E5}"/>
              </a:ext>
            </a:extLst>
          </p:cNvPr>
          <p:cNvSpPr>
            <a:spLocks noGrp="1"/>
          </p:cNvSpPr>
          <p:nvPr/>
        </p:nvSpPr>
        <p:spPr>
          <a:xfrm>
            <a:off x="8096250" y="3314700"/>
            <a:ext cx="171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Every score version keeps its timestamp, trigger event, and breakdown.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5947D1-2E36-822B-4C94-7BC4E417FFE6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/how-it-works - Amanah Index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354302-751A-1454-B6EE-C8FE6E9E4D10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338793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2730-7FA9-8B7A-15B3-F2507401B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DONATION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BE3D9-CA38-2E30-51C5-3C53D6481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AmanahHub is a transparency layer, not a payment intermediary.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44BA24-EA7F-C903-BC6D-D1D233415B1A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6D932E-CC09-A10D-54AC-8E5A045E4E66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20DFEC-9C32-56DC-8E50-6C7577CC3BDE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B01E09-4751-5E98-F1EA-908AFA478741}"/>
              </a:ext>
            </a:extLst>
          </p:cNvPr>
          <p:cNvSpPr>
            <a:spLocks noGrp="1"/>
          </p:cNvSpPr>
          <p:nvPr/>
        </p:nvSpPr>
        <p:spPr>
          <a:xfrm>
            <a:off x="628650" y="3333750"/>
            <a:ext cx="1466850" cy="7429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93DFEB-06D5-BCDD-7D96-DB2D56BE3CB8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Donor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FFB3AC-1E92-AF88-8384-F7D3889413B8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chooses charity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BA180A-D0A6-154F-B11A-ECC976CEB8DA}"/>
              </a:ext>
            </a:extLst>
          </p:cNvPr>
          <p:cNvSpPr>
            <a:spLocks noGrp="1"/>
          </p:cNvSpPr>
          <p:nvPr/>
        </p:nvSpPr>
        <p:spPr>
          <a:xfrm>
            <a:off x="22098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F21858-B7AE-DDB9-DA8B-7D4740B362A4}"/>
              </a:ext>
            </a:extLst>
          </p:cNvPr>
          <p:cNvSpPr>
            <a:spLocks noGrp="1"/>
          </p:cNvSpPr>
          <p:nvPr/>
        </p:nvSpPr>
        <p:spPr>
          <a:xfrm>
            <a:off x="2838450" y="3333750"/>
            <a:ext cx="1466850" cy="7429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820398-2C2A-E05A-1681-12095B46966D}"/>
              </a:ext>
            </a:extLst>
          </p:cNvPr>
          <p:cNvSpPr>
            <a:spLocks noGrp="1"/>
          </p:cNvSpPr>
          <p:nvPr/>
        </p:nvSpPr>
        <p:spPr>
          <a:xfrm>
            <a:off x="29908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ToyyibPay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4AAC48-272A-3B98-2862-C26BD0493257}"/>
              </a:ext>
            </a:extLst>
          </p:cNvPr>
          <p:cNvSpPr>
            <a:spLocks noGrp="1"/>
          </p:cNvSpPr>
          <p:nvPr/>
        </p:nvSpPr>
        <p:spPr>
          <a:xfrm>
            <a:off x="29908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processes payment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3A5FF7-B7D6-858E-AF71-90FECC5F875F}"/>
              </a:ext>
            </a:extLst>
          </p:cNvPr>
          <p:cNvSpPr>
            <a:spLocks noGrp="1"/>
          </p:cNvSpPr>
          <p:nvPr/>
        </p:nvSpPr>
        <p:spPr>
          <a:xfrm>
            <a:off x="44196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8C04C4-FC1D-4588-35F5-3808AB6CF439}"/>
              </a:ext>
            </a:extLst>
          </p:cNvPr>
          <p:cNvSpPr>
            <a:spLocks noGrp="1"/>
          </p:cNvSpPr>
          <p:nvPr/>
        </p:nvSpPr>
        <p:spPr>
          <a:xfrm>
            <a:off x="5048250" y="3333750"/>
            <a:ext cx="1466850" cy="7429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9B79C-EDA3-0A4D-229B-3023A7F32B8A}"/>
              </a:ext>
            </a:extLst>
          </p:cNvPr>
          <p:cNvSpPr>
            <a:spLocks noGrp="1"/>
          </p:cNvSpPr>
          <p:nvPr/>
        </p:nvSpPr>
        <p:spPr>
          <a:xfrm>
            <a:off x="52006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Charity account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E801D3-AC5C-55EE-C3F9-B2D1C2FF1D5D}"/>
              </a:ext>
            </a:extLst>
          </p:cNvPr>
          <p:cNvSpPr>
            <a:spLocks noGrp="1"/>
          </p:cNvSpPr>
          <p:nvPr/>
        </p:nvSpPr>
        <p:spPr>
          <a:xfrm>
            <a:off x="52006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receives funds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F3A4DD-D4F1-B7BC-0744-EB516243E739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FFACDC-B23D-1FA7-3242-12A9E246271D}"/>
              </a:ext>
            </a:extLst>
          </p:cNvPr>
          <p:cNvSpPr>
            <a:spLocks noGrp="1"/>
          </p:cNvSpPr>
          <p:nvPr/>
        </p:nvSpPr>
        <p:spPr>
          <a:xfrm>
            <a:off x="7258050" y="3333750"/>
            <a:ext cx="1466850" cy="7429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8446D6-1057-0C00-B3DC-F073D9C06C38}"/>
              </a:ext>
            </a:extLst>
          </p:cNvPr>
          <p:cNvSpPr>
            <a:spLocks noGrp="1"/>
          </p:cNvSpPr>
          <p:nvPr/>
        </p:nvSpPr>
        <p:spPr>
          <a:xfrm>
            <a:off x="74104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record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67B707-EFDA-EB16-DE24-63653987BDBB}"/>
              </a:ext>
            </a:extLst>
          </p:cNvPr>
          <p:cNvSpPr>
            <a:spLocks noGrp="1"/>
          </p:cNvSpPr>
          <p:nvPr/>
        </p:nvSpPr>
        <p:spPr>
          <a:xfrm>
            <a:off x="74104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receipt generated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FE083F-761F-FA10-A654-46AE2FA3FCB3}"/>
              </a:ext>
            </a:extLst>
          </p:cNvPr>
          <p:cNvSpPr>
            <a:spLocks noGrp="1"/>
          </p:cNvSpPr>
          <p:nvPr/>
        </p:nvSpPr>
        <p:spPr>
          <a:xfrm>
            <a:off x="88392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0D51CF-8565-AADC-172D-C67AC3DC236A}"/>
              </a:ext>
            </a:extLst>
          </p:cNvPr>
          <p:cNvSpPr>
            <a:spLocks noGrp="1"/>
          </p:cNvSpPr>
          <p:nvPr/>
        </p:nvSpPr>
        <p:spPr>
          <a:xfrm>
            <a:off x="9467850" y="3333750"/>
            <a:ext cx="1466850" cy="74295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C50E23-8EB6-1757-A89C-53F02D2893EC}"/>
              </a:ext>
            </a:extLst>
          </p:cNvPr>
          <p:cNvSpPr>
            <a:spLocks noGrp="1"/>
          </p:cNvSpPr>
          <p:nvPr/>
        </p:nvSpPr>
        <p:spPr>
          <a:xfrm>
            <a:off x="96202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Public report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CC1FDE-F207-5DBE-1DCF-5EEB914DCACC}"/>
              </a:ext>
            </a:extLst>
          </p:cNvPr>
          <p:cNvSpPr>
            <a:spLocks noGrp="1"/>
          </p:cNvSpPr>
          <p:nvPr/>
        </p:nvSpPr>
        <p:spPr>
          <a:xfrm>
            <a:off x="96202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fund usage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1217CF-0873-6855-3062-EE05FE737F36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/how-it-works - How donations work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A667DE-A2DC-FB7F-5E8C-41DE7D14CDBB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22800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1306</Words>
  <Application>Microsoft Office PowerPoint</Application>
  <PresentationFormat>Custom</PresentationFormat>
  <Paragraphs>291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Georgia</vt:lpstr>
      <vt:lpstr>Office Theme</vt:lpstr>
      <vt:lpstr>STAKEHOLDER BRIEFING</vt:lpstr>
      <vt:lpstr>WHY NOW</vt:lpstr>
      <vt:lpstr>PLATFORM THESIS</vt:lpstr>
      <vt:lpstr>STAKEHOLDER MAP</vt:lpstr>
      <vt:lpstr>PRODUCT SYSTEM</vt:lpstr>
      <vt:lpstr>TRUST ENGINE</vt:lpstr>
      <vt:lpstr>SECURITY MODEL</vt:lpstr>
      <vt:lpstr>PILOT MODEL</vt:lpstr>
      <vt:lpstr>SUSTAINABILITY</vt:lpstr>
      <vt:lpstr>ROADMAP</vt:lpstr>
      <vt:lpstr>STAKEHOLDER COMMITMENTS</vt:lpstr>
      <vt:lpstr>DECISION ASK</vt:lpstr>
      <vt:lpstr>AMANAHHUB / ABOUT</vt:lpstr>
      <vt:lpstr>OUR PRINCIPLES</vt:lpstr>
      <vt:lpstr>THEOLOGICAL FOUNDATION</vt:lpstr>
      <vt:lpstr>HOW IT WORKS</vt:lpstr>
      <vt:lpstr>CERTIFICATION FRAMEWORK</vt:lpstr>
      <vt:lpstr>AMANAH INDEX</vt:lpstr>
      <vt:lpstr>DONATION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kamal latif</dc:creator>
  <cp:lastModifiedBy>kamal latif</cp:lastModifiedBy>
  <cp:revision>1</cp:revision>
  <dcterms:created xsi:type="dcterms:W3CDTF">2026-07-08T16:23:47Z</dcterms:created>
  <dcterms:modified xsi:type="dcterms:W3CDTF">2026-07-08T16:23:47Z</dcterms:modified>
</cp:coreProperties>
</file>