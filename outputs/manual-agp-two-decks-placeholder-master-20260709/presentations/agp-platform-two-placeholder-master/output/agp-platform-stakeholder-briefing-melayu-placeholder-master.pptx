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D02F9924-5EB4-98DC-B830-85BF687E0F3C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F5B8A-939B-E8A8-C990-821B32418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00" y="1955800"/>
            <a:ext cx="7747000" cy="838200"/>
          </a:xfrm>
        </p:spPr>
        <p:txBody>
          <a:bodyPr anchor="b"/>
          <a:lstStyle>
            <a:lvl1pPr algn="ctr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F3021C-0B74-BD2B-05C1-3B7129729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 marL="0" indent="0" algn="ctr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6F2A2-5057-69E2-92BF-1D06333B12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C2DA4-F6AE-747C-9C65-EF16786E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9F35E-82A2-B0E5-F74F-5EC62DEE2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546C45C1-0113-CE8E-780D-033D5BC94B3E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62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A62612AA-7928-1115-48BE-5EED4BD66502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3C1D5-F759-67BA-DED1-47A8C67C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C8EDE-0BFA-3F7B-B491-62045B451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BFB3F-C565-A83D-6F6F-7BEE495D98F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6146D-9EA7-D60B-26C4-278B8157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5F4D1-0DD6-7AF7-9A65-72F92D084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BF6D3631-3EEB-0252-5C5E-C0F195DA352F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437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27F4016-FADF-575B-E566-FBE974DFD318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8B00CC-1180-2194-71F4-7B5856C25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 anchor="b"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F2557C-16AA-2CD7-D909-4524C1CC9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E1CA7-E066-A8C7-EE21-86D3C9D076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1083C-393B-47FB-20C2-599BAC81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54AF9-9DCA-1449-A74E-76E2E1CA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FF25EFA2-62C5-F470-6BE4-A7D2B80E26CB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146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FEF77E54-314B-C332-BCB4-D5C5659DBFF6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419AC2-0257-CF11-75D6-1B66A596C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4EA5C-FAE5-7944-138A-3586126491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BB61C-F3B6-349B-552F-690A7ECCE5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5DF433-057D-7166-585E-46C182A1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DA21F-246D-8D4D-9358-E8AE96A6E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B1AFF-CF77-3DD3-C01E-034CA3E96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6616A167-45B0-1AD2-C84C-74A8CF683DE7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018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GP Master Dark Background">
            <a:extLst>
              <a:ext uri="{FF2B5EF4-FFF2-40B4-BE49-F238E27FC236}">
                <a16:creationId xmlns:a16="http://schemas.microsoft.com/office/drawing/2014/main" id="{33EB8269-8DBD-F5D1-8A5E-EB09B248C8FF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1DBC84-3696-4CD5-5355-C418EE0C6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B6BFB-E08E-CCCD-FF63-899894967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999" y="1955800"/>
            <a:ext cx="7747000" cy="838200"/>
          </a:xfrm>
        </p:spPr>
        <p:txBody>
          <a:bodyPr anchor="b"/>
          <a:lstStyle>
            <a:lvl1pPr marL="0" indent="0">
              <a:buFontTx/>
              <a:buNone/>
              <a:defRPr sz="1100" b="1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D9BA3-0166-CDE3-CF97-41BF61891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99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88174-CC42-D0D4-8B7A-1019EF016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5000" y="1955800"/>
            <a:ext cx="7747000" cy="838200"/>
          </a:xfrm>
        </p:spPr>
        <p:txBody>
          <a:bodyPr anchor="b"/>
          <a:lstStyle>
            <a:lvl1pPr marL="0" indent="0">
              <a:buFontTx/>
              <a:buNone/>
              <a:defRPr sz="1100" b="1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F02458-EAEF-505D-5B01-03E8912132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FF8E0-5D1B-E686-FE2F-47EA50B2E9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446B2-1B44-DF63-C94D-FE61629A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9A5FDC-BBEA-0B53-F457-99E054AA3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AGP Master Gold Top Rule">
            <a:extLst>
              <a:ext uri="{FF2B5EF4-FFF2-40B4-BE49-F238E27FC236}">
                <a16:creationId xmlns:a16="http://schemas.microsoft.com/office/drawing/2014/main" id="{F244B9EE-EFFD-38F3-E9C0-60807C7E79E0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543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GP Master Dark Background">
            <a:extLst>
              <a:ext uri="{FF2B5EF4-FFF2-40B4-BE49-F238E27FC236}">
                <a16:creationId xmlns:a16="http://schemas.microsoft.com/office/drawing/2014/main" id="{D22D24D5-4192-7CC3-4F15-E77C73C5FF9E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96AA8-8262-13E6-D587-C8F671D4A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AD4C54-D6DC-A1A9-2D5D-8D947BFE69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165BD-C6E5-84E0-67DE-A09AB445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5D7015-8167-C03B-B5F7-0963C5AF2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AGP Master Gold Top Rule">
            <a:extLst>
              <a:ext uri="{FF2B5EF4-FFF2-40B4-BE49-F238E27FC236}">
                <a16:creationId xmlns:a16="http://schemas.microsoft.com/office/drawing/2014/main" id="{52C167F2-0205-5F0E-5346-5D2790FEFB94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13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GP Master Dark Background">
            <a:extLst>
              <a:ext uri="{FF2B5EF4-FFF2-40B4-BE49-F238E27FC236}">
                <a16:creationId xmlns:a16="http://schemas.microsoft.com/office/drawing/2014/main" id="{1E94FA38-29B7-90B4-E440-0FE5E5C94881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6339C8-4959-A78E-DA2D-53386EC9EC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F60D0A-97B3-D282-EF7A-ED5AA8D2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DE3D1-8A83-CCD8-F68B-F72E7ADF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AGP Master Gold Top Rule">
            <a:extLst>
              <a:ext uri="{FF2B5EF4-FFF2-40B4-BE49-F238E27FC236}">
                <a16:creationId xmlns:a16="http://schemas.microsoft.com/office/drawing/2014/main" id="{3E4BE00F-9550-55BC-5EE2-1587DE731C29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070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EE8D5C60-F715-F20D-E915-7AED89D35BE5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4BA90-4B34-3BB4-BF99-81D8A93A4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914400"/>
            <a:ext cx="9652000" cy="990600"/>
          </a:xfrm>
        </p:spPr>
        <p:txBody>
          <a:bodyPr anchor="b"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9231-E99E-D51B-DB6B-3716DDBD2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FE75A-7C16-B8EC-FFED-45CD3D7F9B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999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1F34F-CD67-DEF9-3357-7E7414C47A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DD720-4832-F855-CF44-6F7206794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1CE8-925E-AB9E-F756-5F81F5035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C7D4731A-880E-D40A-32BD-67A6A496B838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569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GP Master Dark Background">
            <a:extLst>
              <a:ext uri="{FF2B5EF4-FFF2-40B4-BE49-F238E27FC236}">
                <a16:creationId xmlns:a16="http://schemas.microsoft.com/office/drawing/2014/main" id="{6817C2F5-9797-3E9B-2CA6-9C3033142E85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2D4A8-84CC-F7E0-DD79-8C7576C76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914400"/>
            <a:ext cx="9652000" cy="990600"/>
          </a:xfrm>
        </p:spPr>
        <p:txBody>
          <a:bodyPr anchor="b"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6467BB-B238-98E6-FBD9-6A53C667CA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35000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1B92D9-092A-6A10-163B-6FE999266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4999" y="1955800"/>
            <a:ext cx="7747000" cy="838200"/>
          </a:xfrm>
        </p:spPr>
        <p:txBody>
          <a:bodyPr/>
          <a:lstStyle>
            <a:lvl1pPr marL="0" indent="0"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E7C50-81EE-2B96-6CEE-7FAFB651F2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3A5B7-F036-4C69-596D-C2013B334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E6A7F-827A-70B8-66CA-64B3DB9FD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AGP Master Gold Top Rule">
            <a:extLst>
              <a:ext uri="{FF2B5EF4-FFF2-40B4-BE49-F238E27FC236}">
                <a16:creationId xmlns:a16="http://schemas.microsoft.com/office/drawing/2014/main" id="{D71C8415-D012-C321-82F2-0CDF75FAB8CD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087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C624AC6-BC06-B765-FE93-448AAC9A6E1E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8F47CE-BA54-B1E0-B90F-6BEB31DE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/>
          <a:lstStyle>
            <a:lvl1pPr>
              <a:buFontTx/>
              <a:buNone/>
              <a:defRPr sz="2900">
                <a:solidFill>
                  <a:srgbClr val="F6F1E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CEC043-4719-5247-0723-FBAD29996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35000" y="1955800"/>
            <a:ext cx="7747000" cy="838200"/>
          </a:xfrm>
        </p:spPr>
        <p:txBody>
          <a:bodyPr vert="eaVert"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8FA972-80AD-B0BF-7C86-2000654FC64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1CA98-CEE0-00C4-FFB2-E8D9F631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82569-61F4-6807-323F-C5F2233E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2ABD67BF-241D-F2F9-2DB7-C99D41BCCF4A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1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509F248E-9EC0-D84D-84A5-49032958167A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CCDF78-53E2-9A95-97CB-5280381ECC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35000" y="1955800"/>
            <a:ext cx="7747000" cy="838200"/>
          </a:xfrm>
        </p:spPr>
        <p:txBody>
          <a:bodyPr vert="eaVert"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A542C2-F709-715C-4A0B-A23F38161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35000" y="1955800"/>
            <a:ext cx="7747000" cy="838200"/>
          </a:xfrm>
        </p:spPr>
        <p:txBody>
          <a:bodyPr vert="eaVert"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  <a:lvl2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2pPr>
            <a:lvl3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3pPr>
            <a:lvl4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4pPr>
            <a:lvl5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74E83-DD69-8E73-E1EB-059FD6D8CD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E340D58F-D77A-4DBC-9A66-B6A09FD5A3F7}" type="datetimeFigureOut">
              <a:rPr lang="en-US" smtClean="0"/>
              <a:pPr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32F4C-A316-6738-E7DD-A145D0AC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8BE63-6CD1-96FC-3602-A56ED28AE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5000" y="1955799"/>
            <a:ext cx="7747000" cy="838200"/>
          </a:xfrm>
        </p:spPr>
        <p:txBody>
          <a:bodyPr/>
          <a:lstStyle>
            <a:lvl1pPr>
              <a:buFontTx/>
              <a:buNone/>
              <a:defRPr sz="1100">
                <a:solidFill>
                  <a:srgbClr val="C8D5CF"/>
                </a:solidFill>
                <a:latin typeface="Aptos" panose="020B0004020202020204" pitchFamily="34" charset="0"/>
              </a:defRPr>
            </a:lvl1pPr>
          </a:lstStyle>
          <a:p>
            <a:fld id="{FC0D7B74-F58B-447A-A0AC-CD3A08CEBB1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505303FD-E382-817B-823A-A1A807D7E2F6}"/>
              </a:ext>
            </a:extLst>
          </p:cNvPr>
          <p:cNvSpPr/>
          <p:nvPr userDrawn="1"/>
        </p:nvSpPr>
        <p:spPr>
          <a:xfrm>
            <a:off x="635000" y="1955800"/>
            <a:ext cx="7747000" cy="838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endParaRPr lang="en-US" sz="110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284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96504-55BF-6F9F-2703-BD74E12C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12C6A-D867-49D0-CF27-ED57B63CE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5B60E-0153-41FC-0149-44F143B6B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0D58F-D77A-4DBC-9A66-B6A09FD5A3F7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FFE82-99D2-320A-20FC-3FC82DB7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728A2-1DB8-94E6-5F90-F8CF9422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D7B74-F58B-447A-A0AC-CD3A08CEB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025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GP Dark Placeholder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GP Master Dark Background">
            <a:extLst>
              <a:ext uri="{FF2B5EF4-FFF2-40B4-BE49-F238E27FC236}">
                <a16:creationId xmlns:a16="http://schemas.microsoft.com/office/drawing/2014/main" id="{F3EF592C-44B6-DD6A-1042-75D4EBC03EC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B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A8A1F8-B06B-3395-077C-B78DAF57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4B4E8-10EC-3729-7637-ACF974D26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9D017-FED6-9049-F5BE-2648E901B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0D58F-D77A-4DBC-9A66-B6A09FD5A3F7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7B2BB-CC08-5961-0D42-C33458A4A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EC19B-AD9C-45AF-12DC-8E78B5F09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D7B74-F58B-447A-A0AC-CD3A08CEBB1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AGP Master Gold Top Rule">
            <a:extLst>
              <a:ext uri="{FF2B5EF4-FFF2-40B4-BE49-F238E27FC236}">
                <a16:creationId xmlns:a16="http://schemas.microsoft.com/office/drawing/2014/main" id="{DCEE22BF-9D2E-612F-D6E3-99E831DBD191}"/>
              </a:ext>
            </a:extLst>
          </p:cNvPr>
          <p:cNvSpPr/>
          <p:nvPr userDrawn="1"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44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EB1A8-2FA5-E7A0-1F5B-65AB273B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TAKLIMAT PIHAK BERKEPENTINGAN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0D3AD8-83EA-51C3-C797-C31A39973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AGP membina semula keyakinan penderma melalui tadbir urus yang boleh disemak.</a:t>
            </a:r>
          </a:p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Amanah Governance Platform membantu organisasi amal Islam membuktikan amanah, mengurus bukti tadbir urus, dan memberi isyarat keyakinan yang jelas.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155BB6-B675-0D33-DCA3-B3EA026BE5B6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CF0E76-3151-7A4F-E504-4D2BEB731886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8BF37F-892B-630F-1616-E69916EDE23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0DABCE-A835-8DDF-73FE-3F94C161FA5A}"/>
              </a:ext>
            </a:extLst>
          </p:cNvPr>
          <p:cNvSpPr>
            <a:spLocks noGrp="1"/>
          </p:cNvSpPr>
          <p:nvPr/>
        </p:nvSpPr>
        <p:spPr>
          <a:xfrm>
            <a:off x="8420100" y="1695450"/>
            <a:ext cx="2571750" cy="723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5E019E-FD30-C814-5120-14E627571A94}"/>
              </a:ext>
            </a:extLst>
          </p:cNvPr>
          <p:cNvSpPr>
            <a:spLocks noGrp="1"/>
          </p:cNvSpPr>
          <p:nvPr/>
        </p:nvSpPr>
        <p:spPr>
          <a:xfrm>
            <a:off x="8667750" y="18669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A9EDEA-BA70-7827-4547-79D584115485}"/>
              </a:ext>
            </a:extLst>
          </p:cNvPr>
          <p:cNvSpPr>
            <a:spLocks noGrp="1"/>
          </p:cNvSpPr>
          <p:nvPr/>
        </p:nvSpPr>
        <p:spPr>
          <a:xfrm>
            <a:off x="8667750" y="21145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aplikasi awam untuk penderma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1FF0A2-3C52-47A9-F6DB-F626954910CC}"/>
              </a:ext>
            </a:extLst>
          </p:cNvPr>
          <p:cNvSpPr>
            <a:spLocks noGrp="1"/>
          </p:cNvSpPr>
          <p:nvPr/>
        </p:nvSpPr>
        <p:spPr>
          <a:xfrm>
            <a:off x="8420100" y="2762250"/>
            <a:ext cx="2571750" cy="723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542359-C179-D5CD-DA64-01B0797834C4}"/>
              </a:ext>
            </a:extLst>
          </p:cNvPr>
          <p:cNvSpPr>
            <a:spLocks noGrp="1"/>
          </p:cNvSpPr>
          <p:nvPr/>
        </p:nvSpPr>
        <p:spPr>
          <a:xfrm>
            <a:off x="8667750" y="29337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B2FFFF-E03A-805A-6FB9-FE8216D3233F}"/>
              </a:ext>
            </a:extLst>
          </p:cNvPr>
          <p:cNvSpPr>
            <a:spLocks noGrp="1"/>
          </p:cNvSpPr>
          <p:nvPr/>
        </p:nvSpPr>
        <p:spPr>
          <a:xfrm>
            <a:off x="8667750" y="31813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ruang kerja tadbir urus organisasi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D30F02-E89E-EE83-A912-EE7A195A63A0}"/>
              </a:ext>
            </a:extLst>
          </p:cNvPr>
          <p:cNvSpPr>
            <a:spLocks noGrp="1"/>
          </p:cNvSpPr>
          <p:nvPr/>
        </p:nvSpPr>
        <p:spPr>
          <a:xfrm>
            <a:off x="8420100" y="3829050"/>
            <a:ext cx="2571750" cy="723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909F83-65D9-11B4-1ABB-820AC2CAFE83}"/>
              </a:ext>
            </a:extLst>
          </p:cNvPr>
          <p:cNvSpPr>
            <a:spLocks noGrp="1"/>
          </p:cNvSpPr>
          <p:nvPr/>
        </p:nvSpPr>
        <p:spPr>
          <a:xfrm>
            <a:off x="8667750" y="4000500"/>
            <a:ext cx="1790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DB0C29-88FB-271D-38E7-13FA8E3AEE82}"/>
              </a:ext>
            </a:extLst>
          </p:cNvPr>
          <p:cNvSpPr>
            <a:spLocks noGrp="1"/>
          </p:cNvSpPr>
          <p:nvPr/>
        </p:nvSpPr>
        <p:spPr>
          <a:xfrm>
            <a:off x="8667750" y="42481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semakan, pensijilan dan penerbitan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49DA49-1124-C370-A085-B126BF4CD957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Dek AGP untuk pihak berkepentingan - versi Bahasa Melayu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15F60D-7D36-5F37-04C1-3E021A9ABD3E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3314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C8F11-8932-9B03-47F5-0570AB0B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MISI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F66DB-237B-5DB0-5A90-79D55EC4F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AmanahHub wujud kerana kepercayaan ialah asas kepada pemberian.</a:t>
            </a:r>
          </a:p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Apabila penderma tidak dapat melihat ke mana sumbangan disalurkan, keyakinan menurun. Akhirnya, golongan yang memerlukan turut menerima kesannya.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0568CE-C965-5C7B-AC10-5C6E2B032AFF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799BB-F8F6-F03E-615E-F781A906C92D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8B4B54-B0A7-F95A-456A-8A415FB43F9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D0DAA5-66D3-B2A0-C40B-2A498B1FAED6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12CB40-F689-5E5F-56F5-4BA05698644C}"/>
              </a:ext>
            </a:extLst>
          </p:cNvPr>
          <p:cNvSpPr>
            <a:spLocks noGrp="1"/>
          </p:cNvSpPr>
          <p:nvPr/>
        </p:nvSpPr>
        <p:spPr>
          <a:xfrm>
            <a:off x="742950" y="34480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CADDCB-6ACF-1B71-5399-80B0DE965792}"/>
              </a:ext>
            </a:extLst>
          </p:cNvPr>
          <p:cNvSpPr>
            <a:spLocks noGrp="1"/>
          </p:cNvSpPr>
          <p:nvPr/>
        </p:nvSpPr>
        <p:spPr>
          <a:xfrm>
            <a:off x="971550" y="35623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Berpaksikan Malaysia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8970B8-16DD-8048-6EEC-CD28560D346A}"/>
              </a:ext>
            </a:extLst>
          </p:cNvPr>
          <p:cNvSpPr>
            <a:spLocks noGrp="1"/>
          </p:cNvSpPr>
          <p:nvPr/>
        </p:nvSpPr>
        <p:spPr>
          <a:xfrm>
            <a:off x="3200400" y="35242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Direka untuk konteks ROS, JAKIM, SIRC dan keperluan negeri.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35506C-0ABF-C68D-30FB-4D6415C710CA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DF3C40-A835-F5D8-9A4C-12151AB2A974}"/>
              </a:ext>
            </a:extLst>
          </p:cNvPr>
          <p:cNvSpPr>
            <a:spLocks noGrp="1"/>
          </p:cNvSpPr>
          <p:nvPr/>
        </p:nvSpPr>
        <p:spPr>
          <a:xfrm>
            <a:off x="742950" y="40576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DE6B80-2D2B-D986-84A5-A1A40DCD43DF}"/>
              </a:ext>
            </a:extLst>
          </p:cNvPr>
          <p:cNvSpPr>
            <a:spLocks noGrp="1"/>
          </p:cNvSpPr>
          <p:nvPr/>
        </p:nvSpPr>
        <p:spPr>
          <a:xfrm>
            <a:off x="971550" y="41719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Non-custodial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7DEF51-D2E1-6E80-2E35-5F4B98C1EC38}"/>
              </a:ext>
            </a:extLst>
          </p:cNvPr>
          <p:cNvSpPr>
            <a:spLocks noGrp="1"/>
          </p:cNvSpPr>
          <p:nvPr/>
        </p:nvSpPr>
        <p:spPr>
          <a:xfrm>
            <a:off x="3200400" y="41338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Dana bergerak terus daripada penderma kepada akaun organisasi.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354BB9-51EC-4F17-3A9C-39CAAEF00D21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7E856C-EB8A-6E31-B023-444A19874957}"/>
              </a:ext>
            </a:extLst>
          </p:cNvPr>
          <p:cNvSpPr>
            <a:spLocks noGrp="1"/>
          </p:cNvSpPr>
          <p:nvPr/>
        </p:nvSpPr>
        <p:spPr>
          <a:xfrm>
            <a:off x="742950" y="46672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2EE128-A8DF-10F3-16DE-2625BB565EE4}"/>
              </a:ext>
            </a:extLst>
          </p:cNvPr>
          <p:cNvSpPr>
            <a:spLocks noGrp="1"/>
          </p:cNvSpPr>
          <p:nvPr/>
        </p:nvSpPr>
        <p:spPr>
          <a:xfrm>
            <a:off x="971550" y="47815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Skor berasaskan bukti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77423EB-C9CB-4723-C1F0-8072384F7535}"/>
              </a:ext>
            </a:extLst>
          </p:cNvPr>
          <p:cNvSpPr>
            <a:spLocks noGrp="1"/>
          </p:cNvSpPr>
          <p:nvPr/>
        </p:nvSpPr>
        <p:spPr>
          <a:xfrm>
            <a:off x="3200400" y="47434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 Index dikira daripada dokumen dan rekod yang disahkan.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E27AAA-073D-C266-94CF-8E0B95572FD0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9D93FD-6650-CAE3-49C8-723E95CD24D3}"/>
              </a:ext>
            </a:extLst>
          </p:cNvPr>
          <p:cNvSpPr>
            <a:spLocks noGrp="1"/>
          </p:cNvSpPr>
          <p:nvPr/>
        </p:nvSpPr>
        <p:spPr>
          <a:xfrm>
            <a:off x="742950" y="52768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A41571-F9CC-8FD9-EB4B-4DA8ABE4D549}"/>
              </a:ext>
            </a:extLst>
          </p:cNvPr>
          <p:cNvSpPr>
            <a:spLocks noGrp="1"/>
          </p:cNvSpPr>
          <p:nvPr/>
        </p:nvSpPr>
        <p:spPr>
          <a:xfrm>
            <a:off x="971550" y="53911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Terbuka untuk pelbagai organisasi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C78829-F3EC-5E6A-B5DB-A51FAB59BDB4}"/>
              </a:ext>
            </a:extLst>
          </p:cNvPr>
          <p:cNvSpPr>
            <a:spLocks noGrp="1"/>
          </p:cNvSpPr>
          <p:nvPr/>
        </p:nvSpPr>
        <p:spPr>
          <a:xfrm>
            <a:off x="3200400" y="53530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NGO, masjid, institusi waqf dan yayasan boleh dinilai setara.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822FE5-A92A-7FFB-A3F6-2D16825625EA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apps/user/app/about/page.tsx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4190C8-DB0E-2B35-B3D3-987B6D644F20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397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002C-EC6F-4378-1F5C-00D705CC4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PRINSIP TERAS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B09BA-A159-13C0-6DA1-54E935168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Tiga tonggak Amanah menjadi asas reka bentuk platform.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F0B724-4197-56B6-E299-D74A65EE85F2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BD51BE-534A-292C-E28B-43F68FA002DC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AE5FA1-545C-51A0-F583-73553A36084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8397F5-416D-A833-885F-C28C464C4BB4}"/>
              </a:ext>
            </a:extLst>
          </p:cNvPr>
          <p:cNvSpPr>
            <a:spLocks noGrp="1"/>
          </p:cNvSpPr>
          <p:nvPr/>
        </p:nvSpPr>
        <p:spPr>
          <a:xfrm>
            <a:off x="819150" y="2647950"/>
            <a:ext cx="2990850" cy="23431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BAABF3-584B-7E42-FF4A-69D64C9C6241}"/>
              </a:ext>
            </a:extLst>
          </p:cNvPr>
          <p:cNvSpPr>
            <a:spLocks noGrp="1"/>
          </p:cNvSpPr>
          <p:nvPr/>
        </p:nvSpPr>
        <p:spPr>
          <a:xfrm>
            <a:off x="106680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أمانة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4904E7-BF81-12EA-B9CD-05A8CF50AF84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 - Kepercayaan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6735D0-3A14-785D-1EB1-73763846E88B}"/>
              </a:ext>
            </a:extLst>
          </p:cNvPr>
          <p:cNvSpPr>
            <a:spLocks noGrp="1"/>
          </p:cNvSpPr>
          <p:nvPr/>
        </p:nvSpPr>
        <p:spPr>
          <a:xfrm>
            <a:off x="106680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Amanah dana penderma dijadikan kelihatan, boleh disemak dan boleh dibuktikan.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20A684-8908-979B-2A02-F0A0830DF701}"/>
              </a:ext>
            </a:extLst>
          </p:cNvPr>
          <p:cNvSpPr>
            <a:spLocks noGrp="1"/>
          </p:cNvSpPr>
          <p:nvPr/>
        </p:nvSpPr>
        <p:spPr>
          <a:xfrm>
            <a:off x="4419600" y="2647950"/>
            <a:ext cx="2990850" cy="23431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777D66-1DB5-A65B-27AA-AF078037FB72}"/>
              </a:ext>
            </a:extLst>
          </p:cNvPr>
          <p:cNvSpPr>
            <a:spLocks noGrp="1"/>
          </p:cNvSpPr>
          <p:nvPr/>
        </p:nvSpPr>
        <p:spPr>
          <a:xfrm>
            <a:off x="466725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شفافية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105BEE-0365-7008-71B0-3E54D929151C}"/>
              </a:ext>
            </a:extLst>
          </p:cNvPr>
          <p:cNvSpPr>
            <a:spLocks noGrp="1"/>
          </p:cNvSpPr>
          <p:nvPr/>
        </p:nvSpPr>
        <p:spPr>
          <a:xfrm>
            <a:off x="466725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Shafafiyyah - Ketelusan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71F9D7-4A77-3B7C-A4C6-98FD44886D9E}"/>
              </a:ext>
            </a:extLst>
          </p:cNvPr>
          <p:cNvSpPr>
            <a:spLocks noGrp="1"/>
          </p:cNvSpPr>
          <p:nvPr/>
        </p:nvSpPr>
        <p:spPr>
          <a:xfrm>
            <a:off x="466725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 pematuhan Syariah dan bukti sejajar AAOIFI mudah dicapai.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EB2A39-2CC9-1EA1-9510-B5EA1ADFB2A5}"/>
              </a:ext>
            </a:extLst>
          </p:cNvPr>
          <p:cNvSpPr>
            <a:spLocks noGrp="1"/>
          </p:cNvSpPr>
          <p:nvPr/>
        </p:nvSpPr>
        <p:spPr>
          <a:xfrm>
            <a:off x="8020050" y="2647950"/>
            <a:ext cx="2990850" cy="23431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BFA04F4-7936-FE29-7CD5-41F3D52530C6}"/>
              </a:ext>
            </a:extLst>
          </p:cNvPr>
          <p:cNvSpPr>
            <a:spLocks noGrp="1"/>
          </p:cNvSpPr>
          <p:nvPr/>
        </p:nvSpPr>
        <p:spPr>
          <a:xfrm>
            <a:off x="8267700" y="2914650"/>
            <a:ext cx="2343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r">
              <a:defRPr sz="24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مساءلة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712168-25E1-056A-4DB0-365430EC5842}"/>
              </a:ext>
            </a:extLst>
          </p:cNvPr>
          <p:cNvSpPr>
            <a:spLocks noGrp="1"/>
          </p:cNvSpPr>
          <p:nvPr/>
        </p:nvSpPr>
        <p:spPr>
          <a:xfrm>
            <a:off x="8267700" y="3581400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Mas'uliyyah - Kebertanggungjawaban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153460-7F46-A173-0C24-1499215463F1}"/>
              </a:ext>
            </a:extLst>
          </p:cNvPr>
          <p:cNvSpPr>
            <a:spLocks noGrp="1"/>
          </p:cNvSpPr>
          <p:nvPr/>
        </p:nvSpPr>
        <p:spPr>
          <a:xfrm>
            <a:off x="8267700" y="3962400"/>
            <a:ext cx="23050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Tindakan penting direkod, diberi timestamp dan dipelihara.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855EB6-1919-5DC7-98B5-15178FF226C5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/about - Our principles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2ECD78-EC52-FD87-797A-F728D3D7957E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7530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331C-C92E-1211-96B8-2161F416A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ASAS SYARIAH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41A52-70C5-571C-9534-02E61FA47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Platform ini menterjemah tanggungjawab amanah kepada kawalan tadbir urus.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91E97D-DF7D-42D0-760B-9BB4E69EDA3E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F3EC0-B148-8068-2CF0-366679859782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FC1170-3219-99AE-3D9F-A149F36E553F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A4F937-23BC-E81A-2A4C-8BF990D90DB5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A063F1-ABF2-F9F5-7A88-2016AB8628E5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13AFB7-6279-DE61-C5E9-5B180B91C5E7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At-Tawbah 9:60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3155CA-FC7F-D5EF-0406-2B053B0B5DAF}"/>
              </a:ext>
            </a:extLst>
          </p:cNvPr>
          <p:cNvSpPr>
            <a:spLocks noGrp="1"/>
          </p:cNvSpPr>
          <p:nvPr/>
        </p:nvSpPr>
        <p:spPr>
          <a:xfrm>
            <a:off x="3200400" y="2343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Struktur tadbir urus perlu jelas sebelum pensijilan.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9F2494-7510-1DC5-43B5-2D99718A28A7}"/>
              </a:ext>
            </a:extLst>
          </p:cNvPr>
          <p:cNvSpPr>
            <a:spLocks noGrp="1"/>
          </p:cNvSpPr>
          <p:nvPr/>
        </p:nvSpPr>
        <p:spPr>
          <a:xfrm>
            <a:off x="7029450" y="2305050"/>
            <a:ext cx="23431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D6DE24-4020-A62F-4366-68A7B92600DB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CTCF Lapisan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6B6866-6730-FEB8-7308-5D5E2110109E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F40733-3423-1AED-DBDA-2C5206AFDE37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30D163-F5F0-1482-C8FC-8650C2FD067A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2:188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79E9CD-8491-76FD-6FFD-04BC47F7B430}"/>
              </a:ext>
            </a:extLst>
          </p:cNvPr>
          <p:cNvSpPr>
            <a:spLocks noGrp="1"/>
          </p:cNvSpPr>
          <p:nvPr/>
        </p:nvSpPr>
        <p:spPr>
          <a:xfrm>
            <a:off x="3200400" y="29527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Dana amal mesti dipisahkan, direkod dan dilindungi.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3C3229-B0F1-B840-65E7-D98D95D3DBF4}"/>
              </a:ext>
            </a:extLst>
          </p:cNvPr>
          <p:cNvSpPr>
            <a:spLocks noGrp="1"/>
          </p:cNvSpPr>
          <p:nvPr/>
        </p:nvSpPr>
        <p:spPr>
          <a:xfrm>
            <a:off x="7029450" y="2914650"/>
            <a:ext cx="23431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8D3DBA4-5ED8-B7C7-F0BF-788D372A2AB6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676469-9B0C-FFCA-FF90-D0373623A9C3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C71B09-B188-91C0-A6C7-56B8E39D4F62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F73419-B907-C4B3-D159-A830F82A4452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Al-Baqarah 2:263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0D1822-AB55-1F9A-B139-83228658DD0B}"/>
              </a:ext>
            </a:extLst>
          </p:cNvPr>
          <p:cNvSpPr>
            <a:spLocks noGrp="1"/>
          </p:cNvSpPr>
          <p:nvPr/>
        </p:nvSpPr>
        <p:spPr>
          <a:xfrm>
            <a:off x="32004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Bantuan dilapor dengan menjaga maruah penerima.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68850A-5A24-70E3-E102-1C8A96609708}"/>
              </a:ext>
            </a:extLst>
          </p:cNvPr>
          <p:cNvSpPr>
            <a:spLocks noGrp="1"/>
          </p:cNvSpPr>
          <p:nvPr/>
        </p:nvSpPr>
        <p:spPr>
          <a:xfrm>
            <a:off x="7029450" y="3524250"/>
            <a:ext cx="23431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0A7C31-CB7A-B9BF-FEB4-A7E8F99CEBAD}"/>
              </a:ext>
            </a:extLst>
          </p:cNvPr>
          <p:cNvSpPr>
            <a:spLocks noGrp="1"/>
          </p:cNvSpPr>
          <p:nvPr/>
        </p:nvSpPr>
        <p:spPr>
          <a:xfrm>
            <a:off x="7239000" y="36099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3 &amp; 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58E105-D69E-6DD4-A307-50E518669029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57658B5-9681-ECC8-445E-A4CA654B36AE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5E066F-99C5-44EB-E24D-5B69100EE5FF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Hadith amanah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CCCC29-538A-58C2-D247-2FC1D4FF9D71}"/>
              </a:ext>
            </a:extLst>
          </p:cNvPr>
          <p:cNvSpPr>
            <a:spLocks noGrp="1"/>
          </p:cNvSpPr>
          <p:nvPr/>
        </p:nvSpPr>
        <p:spPr>
          <a:xfrm>
            <a:off x="32004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Setiap peranan meninggalkan jejak tindakan.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38EC32-C591-15BB-94BC-31BEFE32CFB8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23431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F12E93-5458-8534-A700-B884DE0A9BEA}"/>
              </a:ext>
            </a:extLst>
          </p:cNvPr>
          <p:cNvSpPr>
            <a:spLocks noGrp="1"/>
          </p:cNvSpPr>
          <p:nvPr/>
        </p:nvSpPr>
        <p:spPr>
          <a:xfrm>
            <a:off x="7239000" y="42195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82E3C26-204C-AED2-9E70-C5C720859E72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913FEC3-11E5-6830-5DBB-EE284376B583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95250" cy="419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9EFB460-1BA3-EF28-171B-544575933651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AAOIFI Standard No. 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55B5304-38F0-DD42-2C25-5CC1FAA0F0F1}"/>
              </a:ext>
            </a:extLst>
          </p:cNvPr>
          <p:cNvSpPr>
            <a:spLocks noGrp="1"/>
          </p:cNvSpPr>
          <p:nvPr/>
        </p:nvSpPr>
        <p:spPr>
          <a:xfrm>
            <a:off x="3200400" y="47815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Pemantauan Syariah menjadi sebahagian skor.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0B8847-74F5-9035-5F65-1912D9FE83A8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23431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B7A835-584C-FD0E-D73E-CA540E507D32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CTCF Lapisan 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90B9FA-1A0F-D118-D28C-4816D0F92E6D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/about - Built on Quran and Sunnah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7E5EB4-A714-2608-9F53-AC5ECE30CAC1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05817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D90C-AE74-608F-81EB-4B07FA828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PERJALANAN PENDERMA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C2A96-3DDE-9D9B-EA58-E1C23D660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Pengalaman memberi dibuat ringkas; lapisan pengesahan kekal ketat.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5AA0B8-69F3-69E4-051D-B85E23AC32D8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A2A82-1AB8-C286-3A78-93BF9DDABA10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7476B2-D98E-4CEB-7E56-87EB26CD1F7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D3C371-2F8A-1D90-5131-9E1A7DF8AA56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85AE48-2D80-B4A2-59C4-25AD8204B9A6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Teroka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AADE0A-85F4-4D4C-425C-5A94BE92E7C5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negeri, jenis, dana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ECF600-556F-7BAB-014C-428FC1942B8F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772703-1855-DDA7-E192-2D6942E4E4DA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C7243A-F132-01CD-CBB0-A17DABDBABCA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Nilai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1EA456-CE54-C2D9-BDE6-BA06AD5E1D94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 dan skor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59B27E-43E0-0795-68A4-8FC41A2D0168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84CADE-3DB4-005C-2527-9B36F3FF41C2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C99E54-B975-E308-6C78-30861F997CC9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Sumbang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998DC0-4FBE-D326-2800-3C63AA49B64B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ToyyibPay terus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F28541-C94D-ED68-C34F-55109E0B95ED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915EE0-CCA2-B411-FA74-E2644026EBE3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12956E-E0CE-55B7-3186-30F446D7886A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Ikuti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1A36C3-31CC-E42E-8CC2-1D4D3ADB39F4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resit dan impak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B39FCA-9E20-C54D-A939-57F702455C7D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/how-it-works - Your giving journey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9C4326-307A-9C86-DDA1-132B6A22132D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080556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2878-2D61-1E69-D281-8252AED9B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PENSIJILAN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02364-6133-096D-CBFE-BDE958221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CTCF menilai organisasi melalui lima lapisan; Lapisan 1 ialah syarat kelayakan.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C47682-8B98-7DE5-C108-22DA5B09FC0F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DD55A-3977-FB63-970D-052A1B4D3826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48F0FB-0A65-A848-10E5-AD4882C0BBC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FDEF85-0FD0-004D-AA07-670D8D98B1E8}"/>
              </a:ext>
            </a:extLst>
          </p:cNvPr>
          <p:cNvSpPr>
            <a:spLocks noGrp="1"/>
          </p:cNvSpPr>
          <p:nvPr/>
        </p:nvSpPr>
        <p:spPr>
          <a:xfrm>
            <a:off x="1181100" y="2343150"/>
            <a:ext cx="5143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5C248-21EC-733C-B39A-507F39A47442}"/>
              </a:ext>
            </a:extLst>
          </p:cNvPr>
          <p:cNvSpPr>
            <a:spLocks noGrp="1"/>
          </p:cNvSpPr>
          <p:nvPr/>
        </p:nvSpPr>
        <p:spPr>
          <a:xfrm>
            <a:off x="1352550" y="24288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BA414F-B50F-AC24-CA35-254F09C83EAB}"/>
              </a:ext>
            </a:extLst>
          </p:cNvPr>
          <p:cNvSpPr>
            <a:spLocks noGrp="1"/>
          </p:cNvSpPr>
          <p:nvPr/>
        </p:nvSpPr>
        <p:spPr>
          <a:xfrm>
            <a:off x="2038350" y="24288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 Gate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38B41E-A73D-1AF9-9ACB-01807498CBB0}"/>
              </a:ext>
            </a:extLst>
          </p:cNvPr>
          <p:cNvSpPr>
            <a:spLocks noGrp="1"/>
          </p:cNvSpPr>
          <p:nvPr/>
        </p:nvSpPr>
        <p:spPr>
          <a:xfrm>
            <a:off x="4991100" y="24288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B46A4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A4C"/>
                </a:solidFill>
                <a:latin typeface="Aptos"/>
                <a:ea typeface="Aptos"/>
                <a:cs typeface="Aptos"/>
              </a:rPr>
              <a:t>wajib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197A84-BD12-F20D-7692-5134AEAE4327}"/>
              </a:ext>
            </a:extLst>
          </p:cNvPr>
          <p:cNvSpPr>
            <a:spLocks noGrp="1"/>
          </p:cNvSpPr>
          <p:nvPr/>
        </p:nvSpPr>
        <p:spPr>
          <a:xfrm>
            <a:off x="6057900" y="2495550"/>
            <a:ext cx="2381250" cy="38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18564C-D31E-D53E-8F78-14CFCA4BAE54}"/>
              </a:ext>
            </a:extLst>
          </p:cNvPr>
          <p:cNvSpPr>
            <a:spLocks noGrp="1"/>
          </p:cNvSpPr>
          <p:nvPr/>
        </p:nvSpPr>
        <p:spPr>
          <a:xfrm>
            <a:off x="1181100" y="2876550"/>
            <a:ext cx="5143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512DF2-4DC8-30B6-C3A6-5755BA0F24C9}"/>
              </a:ext>
            </a:extLst>
          </p:cNvPr>
          <p:cNvSpPr>
            <a:spLocks noGrp="1"/>
          </p:cNvSpPr>
          <p:nvPr/>
        </p:nvSpPr>
        <p:spPr>
          <a:xfrm>
            <a:off x="1352550" y="29622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F8E723-2B0A-1F1C-EEC0-8E6C5893CC0B}"/>
              </a:ext>
            </a:extLst>
          </p:cNvPr>
          <p:cNvSpPr>
            <a:spLocks noGrp="1"/>
          </p:cNvSpPr>
          <p:nvPr/>
        </p:nvSpPr>
        <p:spPr>
          <a:xfrm>
            <a:off x="2038350" y="29622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 Transparency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AE8B02-B736-87B9-F27F-C021DD209BC9}"/>
              </a:ext>
            </a:extLst>
          </p:cNvPr>
          <p:cNvSpPr>
            <a:spLocks noGrp="1"/>
          </p:cNvSpPr>
          <p:nvPr/>
        </p:nvSpPr>
        <p:spPr>
          <a:xfrm>
            <a:off x="4991100" y="29622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8D8149-9479-074D-05BC-9045CF73D1A2}"/>
              </a:ext>
            </a:extLst>
          </p:cNvPr>
          <p:cNvSpPr>
            <a:spLocks noGrp="1"/>
          </p:cNvSpPr>
          <p:nvPr/>
        </p:nvSpPr>
        <p:spPr>
          <a:xfrm>
            <a:off x="6057900" y="3028950"/>
            <a:ext cx="2152650" cy="38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727EF0-6057-C22F-4BED-B4F1024C7BFE}"/>
              </a:ext>
            </a:extLst>
          </p:cNvPr>
          <p:cNvSpPr>
            <a:spLocks noGrp="1"/>
          </p:cNvSpPr>
          <p:nvPr/>
        </p:nvSpPr>
        <p:spPr>
          <a:xfrm>
            <a:off x="1181100" y="3409950"/>
            <a:ext cx="5143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033825-2844-06A2-D407-08B54603C4D8}"/>
              </a:ext>
            </a:extLst>
          </p:cNvPr>
          <p:cNvSpPr>
            <a:spLocks noGrp="1"/>
          </p:cNvSpPr>
          <p:nvPr/>
        </p:nvSpPr>
        <p:spPr>
          <a:xfrm>
            <a:off x="1352550" y="34956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45FE98-34D4-78D2-E198-48AE946E5744}"/>
              </a:ext>
            </a:extLst>
          </p:cNvPr>
          <p:cNvSpPr>
            <a:spLocks noGrp="1"/>
          </p:cNvSpPr>
          <p:nvPr/>
        </p:nvSpPr>
        <p:spPr>
          <a:xfrm>
            <a:off x="2038350" y="34956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 Transparency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C2C690C-1603-2283-F7CA-04C532121619}"/>
              </a:ext>
            </a:extLst>
          </p:cNvPr>
          <p:cNvSpPr>
            <a:spLocks noGrp="1"/>
          </p:cNvSpPr>
          <p:nvPr/>
        </p:nvSpPr>
        <p:spPr>
          <a:xfrm>
            <a:off x="4991100" y="34956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836C63-CE75-D3F2-EBA3-F9ED6B0CE4AC}"/>
              </a:ext>
            </a:extLst>
          </p:cNvPr>
          <p:cNvSpPr>
            <a:spLocks noGrp="1"/>
          </p:cNvSpPr>
          <p:nvPr/>
        </p:nvSpPr>
        <p:spPr>
          <a:xfrm>
            <a:off x="6057900" y="3562350"/>
            <a:ext cx="1924050" cy="38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91C9C4-6332-E5DE-422D-8710878F48BB}"/>
              </a:ext>
            </a:extLst>
          </p:cNvPr>
          <p:cNvSpPr>
            <a:spLocks noGrp="1"/>
          </p:cNvSpPr>
          <p:nvPr/>
        </p:nvSpPr>
        <p:spPr>
          <a:xfrm>
            <a:off x="1181100" y="3943350"/>
            <a:ext cx="5143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42C788-1BD4-38C3-D05F-3849536A47B2}"/>
              </a:ext>
            </a:extLst>
          </p:cNvPr>
          <p:cNvSpPr>
            <a:spLocks noGrp="1"/>
          </p:cNvSpPr>
          <p:nvPr/>
        </p:nvSpPr>
        <p:spPr>
          <a:xfrm>
            <a:off x="1352550" y="40290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9AB012-B8A0-135E-5F5B-C458D45C074B}"/>
              </a:ext>
            </a:extLst>
          </p:cNvPr>
          <p:cNvSpPr>
            <a:spLocks noGrp="1"/>
          </p:cNvSpPr>
          <p:nvPr/>
        </p:nvSpPr>
        <p:spPr>
          <a:xfrm>
            <a:off x="2038350" y="40290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EE3F4A-D6A9-5DE1-E54D-7FAB95F2148F}"/>
              </a:ext>
            </a:extLst>
          </p:cNvPr>
          <p:cNvSpPr>
            <a:spLocks noGrp="1"/>
          </p:cNvSpPr>
          <p:nvPr/>
        </p:nvSpPr>
        <p:spPr>
          <a:xfrm>
            <a:off x="4991100" y="40290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C29AAB-44ED-AD47-EC93-92190EA7AC0C}"/>
              </a:ext>
            </a:extLst>
          </p:cNvPr>
          <p:cNvSpPr>
            <a:spLocks noGrp="1"/>
          </p:cNvSpPr>
          <p:nvPr/>
        </p:nvSpPr>
        <p:spPr>
          <a:xfrm>
            <a:off x="6057900" y="4095750"/>
            <a:ext cx="1695450" cy="38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956F8F-762E-EC61-D10C-20CCFC6F33B2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5143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09335A-8AE2-8895-641E-E422A618A135}"/>
              </a:ext>
            </a:extLst>
          </p:cNvPr>
          <p:cNvSpPr>
            <a:spLocks noGrp="1"/>
          </p:cNvSpPr>
          <p:nvPr/>
        </p:nvSpPr>
        <p:spPr>
          <a:xfrm>
            <a:off x="1352550" y="4562475"/>
            <a:ext cx="152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ctr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914AB1-BF88-0D19-72E1-0756906D15B6}"/>
              </a:ext>
            </a:extLst>
          </p:cNvPr>
          <p:cNvSpPr>
            <a:spLocks noGrp="1"/>
          </p:cNvSpPr>
          <p:nvPr/>
        </p:nvSpPr>
        <p:spPr>
          <a:xfrm>
            <a:off x="2038350" y="4562475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 Governance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6EAF2B-27B8-0AD7-181E-21E2B5DF0177}"/>
              </a:ext>
            </a:extLst>
          </p:cNvPr>
          <p:cNvSpPr>
            <a:spLocks noGrp="1"/>
          </p:cNvSpPr>
          <p:nvPr/>
        </p:nvSpPr>
        <p:spPr>
          <a:xfrm>
            <a:off x="4991100" y="4562475"/>
            <a:ext cx="66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8396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3968F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F5A497-C310-05C1-5B15-623AEC994671}"/>
              </a:ext>
            </a:extLst>
          </p:cNvPr>
          <p:cNvSpPr>
            <a:spLocks noGrp="1"/>
          </p:cNvSpPr>
          <p:nvPr/>
        </p:nvSpPr>
        <p:spPr>
          <a:xfrm>
            <a:off x="6057900" y="4629150"/>
            <a:ext cx="1466850" cy="38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A2C427-5628-0C00-BE5A-E2ED07066F9C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2476500" cy="12192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07D16B-688A-0FF0-13E4-1B40DD9397DC}"/>
              </a:ext>
            </a:extLst>
          </p:cNvPr>
          <p:cNvSpPr>
            <a:spLocks noGrp="1"/>
          </p:cNvSpPr>
          <p:nvPr/>
        </p:nvSpPr>
        <p:spPr>
          <a:xfrm>
            <a:off x="8286750" y="26289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Tahap Amanah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63F2405-2DB7-C5BA-6D50-F051E511D247}"/>
              </a:ext>
            </a:extLst>
          </p:cNvPr>
          <p:cNvSpPr>
            <a:spLocks noGrp="1"/>
          </p:cNvSpPr>
          <p:nvPr/>
        </p:nvSpPr>
        <p:spPr>
          <a:xfrm>
            <a:off x="8286750" y="2933700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Platinum Amanah (85+)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Gold Amanah (70-84)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Silver Amanah (55-69)</a:t>
            </a:r>
          </a:p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Basic (below 55)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E62670-3893-26D1-149B-F893916B8288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/how-it-works - CTCF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F26EE1-3B61-83AE-4DE5-B93549406214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67414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82282-281B-AC46-B94A-3981BAF3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AMANAH INDEX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48F82-F097-352A-0C05-A1DBE62BA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Amanah Index ialah skor hidup yang dikira daripada bukti disahkan.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64F4E8-CF7A-751F-6CE8-C6F518D19D1E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E72FD-91EF-9546-DAB8-8D8E117621CC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BB651B-3581-BFEE-E8E1-F689C2DAA934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9CAF05-4617-F0F6-961D-8E09367CD2E8}"/>
              </a:ext>
            </a:extLst>
          </p:cNvPr>
          <p:cNvSpPr>
            <a:spLocks noGrp="1"/>
          </p:cNvSpPr>
          <p:nvPr/>
        </p:nvSpPr>
        <p:spPr>
          <a:xfrm>
            <a:off x="1257300" y="26574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14D0A0-BDAF-5A16-529D-8B152948E18D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87DA6-331E-87ED-F922-C5249D8FE575}"/>
              </a:ext>
            </a:extLst>
          </p:cNvPr>
          <p:cNvSpPr>
            <a:spLocks noGrp="1"/>
          </p:cNvSpPr>
          <p:nvPr/>
        </p:nvSpPr>
        <p:spPr>
          <a:xfrm>
            <a:off x="2876550" y="2724150"/>
            <a:ext cx="2286000" cy="85725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CDD3A4-3172-25C9-81AC-A82FC50AD9D5}"/>
              </a:ext>
            </a:extLst>
          </p:cNvPr>
          <p:cNvSpPr>
            <a:spLocks noGrp="1"/>
          </p:cNvSpPr>
          <p:nvPr/>
        </p:nvSpPr>
        <p:spPr>
          <a:xfrm>
            <a:off x="6115050" y="26479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7EC8C6-1140-AED3-8F09-0296328E0B46}"/>
              </a:ext>
            </a:extLst>
          </p:cNvPr>
          <p:cNvSpPr>
            <a:spLocks noGrp="1"/>
          </p:cNvSpPr>
          <p:nvPr/>
        </p:nvSpPr>
        <p:spPr>
          <a:xfrm>
            <a:off x="1257300" y="313372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AAC652-8303-2060-7937-32C310E4D623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F42BD8-294C-CD41-B7AC-B798BC61CF0C}"/>
              </a:ext>
            </a:extLst>
          </p:cNvPr>
          <p:cNvSpPr>
            <a:spLocks noGrp="1"/>
          </p:cNvSpPr>
          <p:nvPr/>
        </p:nvSpPr>
        <p:spPr>
          <a:xfrm>
            <a:off x="2876550" y="3200400"/>
            <a:ext cx="1905000" cy="85725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161970-37D2-A7C6-16FD-6CED14EEDED7}"/>
              </a:ext>
            </a:extLst>
          </p:cNvPr>
          <p:cNvSpPr>
            <a:spLocks noGrp="1"/>
          </p:cNvSpPr>
          <p:nvPr/>
        </p:nvSpPr>
        <p:spPr>
          <a:xfrm>
            <a:off x="6115050" y="31242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3E6F6E-CC44-C3F0-A189-24431A056D2B}"/>
              </a:ext>
            </a:extLst>
          </p:cNvPr>
          <p:cNvSpPr>
            <a:spLocks noGrp="1"/>
          </p:cNvSpPr>
          <p:nvPr/>
        </p:nvSpPr>
        <p:spPr>
          <a:xfrm>
            <a:off x="1257300" y="36099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1A5276-464D-E274-4C90-97610A7DD57C}"/>
              </a:ext>
            </a:extLst>
          </p:cNvPr>
          <p:cNvSpPr>
            <a:spLocks noGrp="1"/>
          </p:cNvSpPr>
          <p:nvPr/>
        </p:nvSpPr>
        <p:spPr>
          <a:xfrm>
            <a:off x="2876550" y="36766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85D4426-7DC4-C4F2-E65A-B669C650C083}"/>
              </a:ext>
            </a:extLst>
          </p:cNvPr>
          <p:cNvSpPr>
            <a:spLocks noGrp="1"/>
          </p:cNvSpPr>
          <p:nvPr/>
        </p:nvSpPr>
        <p:spPr>
          <a:xfrm>
            <a:off x="2876550" y="3676650"/>
            <a:ext cx="1524000" cy="85725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CB670C-C367-BD96-C245-1C168610AFF0}"/>
              </a:ext>
            </a:extLst>
          </p:cNvPr>
          <p:cNvSpPr>
            <a:spLocks noGrp="1"/>
          </p:cNvSpPr>
          <p:nvPr/>
        </p:nvSpPr>
        <p:spPr>
          <a:xfrm>
            <a:off x="6115050" y="36004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A5BE18-DE21-7D9E-7BFA-BAD034AF5B1A}"/>
              </a:ext>
            </a:extLst>
          </p:cNvPr>
          <p:cNvSpPr>
            <a:spLocks noGrp="1"/>
          </p:cNvSpPr>
          <p:nvPr/>
        </p:nvSpPr>
        <p:spPr>
          <a:xfrm>
            <a:off x="1257300" y="408622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22FC7B-C423-C8C4-D51E-A842478E6B3F}"/>
              </a:ext>
            </a:extLst>
          </p:cNvPr>
          <p:cNvSpPr>
            <a:spLocks noGrp="1"/>
          </p:cNvSpPr>
          <p:nvPr/>
        </p:nvSpPr>
        <p:spPr>
          <a:xfrm>
            <a:off x="2876550" y="415290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AC881A-CA75-8A04-E7E9-FFFE4A4C07F2}"/>
              </a:ext>
            </a:extLst>
          </p:cNvPr>
          <p:cNvSpPr>
            <a:spLocks noGrp="1"/>
          </p:cNvSpPr>
          <p:nvPr/>
        </p:nvSpPr>
        <p:spPr>
          <a:xfrm>
            <a:off x="2876550" y="4152900"/>
            <a:ext cx="1143000" cy="8572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D33A8E-5E2F-CC20-A7D4-3ED0ABA4BE17}"/>
              </a:ext>
            </a:extLst>
          </p:cNvPr>
          <p:cNvSpPr>
            <a:spLocks noGrp="1"/>
          </p:cNvSpPr>
          <p:nvPr/>
        </p:nvSpPr>
        <p:spPr>
          <a:xfrm>
            <a:off x="6115050" y="407670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AD6A28-CADF-2352-A8BD-4DD8E9348F70}"/>
              </a:ext>
            </a:extLst>
          </p:cNvPr>
          <p:cNvSpPr>
            <a:spLocks noGrp="1"/>
          </p:cNvSpPr>
          <p:nvPr/>
        </p:nvSpPr>
        <p:spPr>
          <a:xfrm>
            <a:off x="1257300" y="4562475"/>
            <a:ext cx="12573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Shariah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6BD31C4-EF3E-940A-4C7B-32EF5FEE18C2}"/>
              </a:ext>
            </a:extLst>
          </p:cNvPr>
          <p:cNvSpPr>
            <a:spLocks noGrp="1"/>
          </p:cNvSpPr>
          <p:nvPr/>
        </p:nvSpPr>
        <p:spPr>
          <a:xfrm>
            <a:off x="2876550" y="4629150"/>
            <a:ext cx="2952750" cy="85725"/>
          </a:xfrm>
          <a:prstGeom prst="rect">
            <a:avLst/>
          </a:prstGeom>
          <a:solidFill>
            <a:srgbClr val="20342F"/>
          </a:solidFill>
          <a:ln w="9525">
            <a:solidFill>
              <a:srgbClr val="33584F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367EC9-ABA8-D1DB-E04B-F15523D3F579}"/>
              </a:ext>
            </a:extLst>
          </p:cNvPr>
          <p:cNvSpPr>
            <a:spLocks noGrp="1"/>
          </p:cNvSpPr>
          <p:nvPr/>
        </p:nvSpPr>
        <p:spPr>
          <a:xfrm>
            <a:off x="2876550" y="4629150"/>
            <a:ext cx="1143000" cy="85725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33857E-B8C8-B4F0-00CB-460B69A653EE}"/>
              </a:ext>
            </a:extLst>
          </p:cNvPr>
          <p:cNvSpPr>
            <a:spLocks noGrp="1"/>
          </p:cNvSpPr>
          <p:nvPr/>
        </p:nvSpPr>
        <p:spPr>
          <a:xfrm>
            <a:off x="6115050" y="4552950"/>
            <a:ext cx="400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1">
                <a:solidFill>
                  <a:srgbClr val="D8A8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8A84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571798C-6114-AF48-35E5-8843B66A4052}"/>
              </a:ext>
            </a:extLst>
          </p:cNvPr>
          <p:cNvSpPr>
            <a:spLocks noGrp="1"/>
          </p:cNvSpPr>
          <p:nvPr/>
        </p:nvSpPr>
        <p:spPr>
          <a:xfrm>
            <a:off x="7810500" y="2686050"/>
            <a:ext cx="2571750" cy="13716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431CB6-A163-7EA7-F59A-A732F582AA8E}"/>
              </a:ext>
            </a:extLst>
          </p:cNvPr>
          <p:cNvSpPr>
            <a:spLocks noGrp="1"/>
          </p:cNvSpPr>
          <p:nvPr/>
        </p:nvSpPr>
        <p:spPr>
          <a:xfrm>
            <a:off x="8096250" y="29718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Dikira daripada rekod sah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A64DFF3-4743-1C91-C526-1F0782505948}"/>
              </a:ext>
            </a:extLst>
          </p:cNvPr>
          <p:cNvSpPr>
            <a:spLocks noGrp="1"/>
          </p:cNvSpPr>
          <p:nvPr/>
        </p:nvSpPr>
        <p:spPr>
          <a:xfrm>
            <a:off x="8096250" y="3314700"/>
            <a:ext cx="1714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Setiap versi menyimpan timestamp, sebab perubahan dan pecahan skor.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1A2F51-DF4E-47DA-2167-8A032777AA78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/how-it-works - Amanah Index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D51A5D-33B5-58B0-EB04-1A5FE47E7FDD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2120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5B5F-CA18-CA5C-B76D-376E7899D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ALIRAN SUMBANGAN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F4628-9ADD-C33F-7E89-6B2988748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AGP ialah lapisan ketelusan, bukan perantara yang memegang dana.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B62B0E-13E4-9868-33EE-34DF6520286C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5792D-1352-9BA3-034A-C15A0AE0899B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82AFB4-3B3A-B56F-3E79-473CB5FA229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97F2BA-CE00-3E52-AE86-04EAA4F47C1A}"/>
              </a:ext>
            </a:extLst>
          </p:cNvPr>
          <p:cNvSpPr>
            <a:spLocks noGrp="1"/>
          </p:cNvSpPr>
          <p:nvPr/>
        </p:nvSpPr>
        <p:spPr>
          <a:xfrm>
            <a:off x="628650" y="3333750"/>
            <a:ext cx="1466850" cy="7429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11F57C-841A-0765-6778-D12913AB008E}"/>
              </a:ext>
            </a:extLst>
          </p:cNvPr>
          <p:cNvSpPr>
            <a:spLocks noGrp="1"/>
          </p:cNvSpPr>
          <p:nvPr/>
        </p:nvSpPr>
        <p:spPr>
          <a:xfrm>
            <a:off x="7810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CE974F-6D75-7273-1A5E-2F1C9BA9C3EA}"/>
              </a:ext>
            </a:extLst>
          </p:cNvPr>
          <p:cNvSpPr>
            <a:spLocks noGrp="1"/>
          </p:cNvSpPr>
          <p:nvPr/>
        </p:nvSpPr>
        <p:spPr>
          <a:xfrm>
            <a:off x="7810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pilih organisasi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0927614-A603-DEED-5492-6A60B62A35F4}"/>
              </a:ext>
            </a:extLst>
          </p:cNvPr>
          <p:cNvSpPr>
            <a:spLocks noGrp="1"/>
          </p:cNvSpPr>
          <p:nvPr/>
        </p:nvSpPr>
        <p:spPr>
          <a:xfrm>
            <a:off x="22098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8F619C-FD14-49FC-B727-D7B00AC173CD}"/>
              </a:ext>
            </a:extLst>
          </p:cNvPr>
          <p:cNvSpPr>
            <a:spLocks noGrp="1"/>
          </p:cNvSpPr>
          <p:nvPr/>
        </p:nvSpPr>
        <p:spPr>
          <a:xfrm>
            <a:off x="2838450" y="3333750"/>
            <a:ext cx="1466850" cy="7429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41FB12-1176-C78B-5E97-ED588ED11046}"/>
              </a:ext>
            </a:extLst>
          </p:cNvPr>
          <p:cNvSpPr>
            <a:spLocks noGrp="1"/>
          </p:cNvSpPr>
          <p:nvPr/>
        </p:nvSpPr>
        <p:spPr>
          <a:xfrm>
            <a:off x="29908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ToyyibPay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AA6946-5A94-5324-2488-AC0BEA1F7226}"/>
              </a:ext>
            </a:extLst>
          </p:cNvPr>
          <p:cNvSpPr>
            <a:spLocks noGrp="1"/>
          </p:cNvSpPr>
          <p:nvPr/>
        </p:nvSpPr>
        <p:spPr>
          <a:xfrm>
            <a:off x="29908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proses bayaran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13B2D1-8BF2-6CAB-4972-52C86218CD8F}"/>
              </a:ext>
            </a:extLst>
          </p:cNvPr>
          <p:cNvSpPr>
            <a:spLocks noGrp="1"/>
          </p:cNvSpPr>
          <p:nvPr/>
        </p:nvSpPr>
        <p:spPr>
          <a:xfrm>
            <a:off x="44196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073284-88A1-BB60-75E3-2D3C12FDF938}"/>
              </a:ext>
            </a:extLst>
          </p:cNvPr>
          <p:cNvSpPr>
            <a:spLocks noGrp="1"/>
          </p:cNvSpPr>
          <p:nvPr/>
        </p:nvSpPr>
        <p:spPr>
          <a:xfrm>
            <a:off x="5048250" y="3333750"/>
            <a:ext cx="1466850" cy="7429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B11007-EEB7-096D-12AA-5FF27AA01A36}"/>
              </a:ext>
            </a:extLst>
          </p:cNvPr>
          <p:cNvSpPr>
            <a:spLocks noGrp="1"/>
          </p:cNvSpPr>
          <p:nvPr/>
        </p:nvSpPr>
        <p:spPr>
          <a:xfrm>
            <a:off x="52006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Akaun organisasi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59707A-DD97-6E4A-4EBB-D53264F1EF4D}"/>
              </a:ext>
            </a:extLst>
          </p:cNvPr>
          <p:cNvSpPr>
            <a:spLocks noGrp="1"/>
          </p:cNvSpPr>
          <p:nvPr/>
        </p:nvSpPr>
        <p:spPr>
          <a:xfrm>
            <a:off x="52006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terima dana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9E4E16-C4F9-4727-96DA-35BCF8401918}"/>
              </a:ext>
            </a:extLst>
          </p:cNvPr>
          <p:cNvSpPr>
            <a:spLocks noGrp="1"/>
          </p:cNvSpPr>
          <p:nvPr/>
        </p:nvSpPr>
        <p:spPr>
          <a:xfrm>
            <a:off x="66294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937889-2FB2-6CFE-B21F-717019E00453}"/>
              </a:ext>
            </a:extLst>
          </p:cNvPr>
          <p:cNvSpPr>
            <a:spLocks noGrp="1"/>
          </p:cNvSpPr>
          <p:nvPr/>
        </p:nvSpPr>
        <p:spPr>
          <a:xfrm>
            <a:off x="7258050" y="3333750"/>
            <a:ext cx="1466850" cy="7429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78658C-A4FD-D197-C3BA-2057D2C03A27}"/>
              </a:ext>
            </a:extLst>
          </p:cNvPr>
          <p:cNvSpPr>
            <a:spLocks noGrp="1"/>
          </p:cNvSpPr>
          <p:nvPr/>
        </p:nvSpPr>
        <p:spPr>
          <a:xfrm>
            <a:off x="74104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Rekod AGP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85C70D-A8D7-C314-0242-14435ECE7F5F}"/>
              </a:ext>
            </a:extLst>
          </p:cNvPr>
          <p:cNvSpPr>
            <a:spLocks noGrp="1"/>
          </p:cNvSpPr>
          <p:nvPr/>
        </p:nvSpPr>
        <p:spPr>
          <a:xfrm>
            <a:off x="74104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resit dijana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8093C1-2249-91A0-48E5-6759880F84F3}"/>
              </a:ext>
            </a:extLst>
          </p:cNvPr>
          <p:cNvSpPr>
            <a:spLocks noGrp="1"/>
          </p:cNvSpPr>
          <p:nvPr/>
        </p:nvSpPr>
        <p:spPr>
          <a:xfrm>
            <a:off x="8839200" y="3695700"/>
            <a:ext cx="400050" cy="28575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F76224-2864-78DF-45EC-DAE707F8B366}"/>
              </a:ext>
            </a:extLst>
          </p:cNvPr>
          <p:cNvSpPr>
            <a:spLocks noGrp="1"/>
          </p:cNvSpPr>
          <p:nvPr/>
        </p:nvSpPr>
        <p:spPr>
          <a:xfrm>
            <a:off x="9467850" y="3333750"/>
            <a:ext cx="1466850" cy="74295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6F3964D-BB8F-4006-2035-4340098B7E92}"/>
              </a:ext>
            </a:extLst>
          </p:cNvPr>
          <p:cNvSpPr>
            <a:spLocks noGrp="1"/>
          </p:cNvSpPr>
          <p:nvPr/>
        </p:nvSpPr>
        <p:spPr>
          <a:xfrm>
            <a:off x="9620250" y="350520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Laporan awam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1FF00A-77DF-467F-868D-804EE3F91942}"/>
              </a:ext>
            </a:extLst>
          </p:cNvPr>
          <p:cNvSpPr>
            <a:spLocks noGrp="1"/>
          </p:cNvSpPr>
          <p:nvPr/>
        </p:nvSpPr>
        <p:spPr>
          <a:xfrm>
            <a:off x="9620250" y="3733800"/>
            <a:ext cx="1104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guna dana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ADDB05-0F59-27E9-5463-1A049CA911C3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/how-it-works - How donations work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9C2CD6A-0944-6E87-6D63-3FC26B0D07C4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28456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23CA-02BA-9811-C24C-E9E6A5A90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SISTEM PLATFORM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D9CFF-083E-105E-0081-83943FB6F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Tiga permukaan produk berkongsi satu enjin bukti dan kepercayaan.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41AF8C-CC7B-8B1D-ECEE-EE5AC36324D9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C48A5E-C1D3-868A-59B0-737A3D358C8E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3AE385-D2C6-F305-466A-339D4BEE529C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1593A-DA8D-C51D-5C9F-4A9DC156E930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3105150" cy="16192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830F8C-CB6E-E031-F445-015F3D68F02B}"/>
              </a:ext>
            </a:extLst>
          </p:cNvPr>
          <p:cNvSpPr>
            <a:spLocks noGrp="1"/>
          </p:cNvSpPr>
          <p:nvPr/>
        </p:nvSpPr>
        <p:spPr>
          <a:xfrm>
            <a:off x="106680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E8597F-1F07-8692-2D18-A74281FD66CF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aplikasi awam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C39FB2-1A14-7DB7-81C2-379A09DCDD14}"/>
              </a:ext>
            </a:extLst>
          </p:cNvPr>
          <p:cNvSpPr>
            <a:spLocks noGrp="1"/>
          </p:cNvSpPr>
          <p:nvPr/>
        </p:nvSpPr>
        <p:spPr>
          <a:xfrm>
            <a:off x="4191000" y="2400300"/>
            <a:ext cx="3105150" cy="16192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7B2229-C407-4C03-BCBB-4D8772570307}"/>
              </a:ext>
            </a:extLst>
          </p:cNvPr>
          <p:cNvSpPr>
            <a:spLocks noGrp="1"/>
          </p:cNvSpPr>
          <p:nvPr/>
        </p:nvSpPr>
        <p:spPr>
          <a:xfrm>
            <a:off x="440055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127B96-9DB3-B29C-6B89-C2CB579BA568}"/>
              </a:ext>
            </a:extLst>
          </p:cNvPr>
          <p:cNvSpPr>
            <a:spLocks noGrp="1"/>
          </p:cNvSpPr>
          <p:nvPr/>
        </p:nvSpPr>
        <p:spPr>
          <a:xfrm>
            <a:off x="440055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ruang kerja organisasi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C2187-E3D2-84BB-BEF0-98ABBC3EADF5}"/>
              </a:ext>
            </a:extLst>
          </p:cNvPr>
          <p:cNvSpPr>
            <a:spLocks noGrp="1"/>
          </p:cNvSpPr>
          <p:nvPr/>
        </p:nvSpPr>
        <p:spPr>
          <a:xfrm>
            <a:off x="7524750" y="2400300"/>
            <a:ext cx="3105150" cy="16192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D44F9F-A917-6735-B3A7-4CFEF8B81BF8}"/>
              </a:ext>
            </a:extLst>
          </p:cNvPr>
          <p:cNvSpPr>
            <a:spLocks noGrp="1"/>
          </p:cNvSpPr>
          <p:nvPr/>
        </p:nvSpPr>
        <p:spPr>
          <a:xfrm>
            <a:off x="7734300" y="2628900"/>
            <a:ext cx="2609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F358CF-C71D-4641-D529-E73E150489CF}"/>
              </a:ext>
            </a:extLst>
          </p:cNvPr>
          <p:cNvSpPr>
            <a:spLocks noGrp="1"/>
          </p:cNvSpPr>
          <p:nvPr/>
        </p:nvSpPr>
        <p:spPr>
          <a:xfrm>
            <a:off x="7734300" y="2952750"/>
            <a:ext cx="25908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lapisan pihak penyemak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32EDAC-6C90-ECD3-D16C-046887EE31F2}"/>
              </a:ext>
            </a:extLst>
          </p:cNvPr>
          <p:cNvSpPr>
            <a:spLocks noGrp="1"/>
          </p:cNvSpPr>
          <p:nvPr/>
        </p:nvSpPr>
        <p:spPr>
          <a:xfrm>
            <a:off x="1390650" y="4267200"/>
            <a:ext cx="9410700" cy="6096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B6758D-88D6-DA2F-550E-1524B3C48B81}"/>
              </a:ext>
            </a:extLst>
          </p:cNvPr>
          <p:cNvSpPr>
            <a:spLocks noGrp="1"/>
          </p:cNvSpPr>
          <p:nvPr/>
        </p:nvSpPr>
        <p:spPr>
          <a:xfrm>
            <a:off x="1676400" y="4457700"/>
            <a:ext cx="3524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05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@agp/scoring + lapisan bukti Supabase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C47E89-1DDB-AB53-BF29-4348ED6A0872}"/>
              </a:ext>
            </a:extLst>
          </p:cNvPr>
          <p:cNvSpPr>
            <a:spLocks noGrp="1"/>
          </p:cNvSpPr>
          <p:nvPr/>
        </p:nvSpPr>
        <p:spPr>
          <a:xfrm>
            <a:off x="1676400" y="46863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Amanah/CTCF scoring, Postgres dengan RLS, private storage, signed URLs, audit log append-only, trust event dan sejarah skor.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98ACC7-BD67-EC12-CAE8-5D507A8999F9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docs/ARCHITECTURE_MAP.md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CA7B4A-D4FC-CE7B-EE3D-D679F3B5C9D4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3041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75AE1-2CD9-A877-EA6F-0FC29FF6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KEBERTANGGUNGJAWABAN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0E434-D04D-B18B-DFF9-7D6529113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sv-SE" sz="1050">
                <a:solidFill>
                  <a:srgbClr val="C8D5CF"/>
                </a:solidFill>
                <a:latin typeface="Aptos" panose="020B0004020202020204" pitchFamily="34" charset="0"/>
              </a:rPr>
              <a:t>Mas'uliyyah dibina ke dalam seni bina, bukan diletakkan sebagai slogan.</a:t>
            </a:r>
            <a:endParaRPr lang="en-US" sz="105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D40B98-BA18-5B38-9F87-CC7A1256E465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7AB745-BBCC-B79E-6C38-ACD95631BC69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7C2413-339B-0EAB-59D2-3DA3FB8FCEB3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19A1371-6BA2-8C2A-9D85-61EC727435A5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0F9CCEF-36B4-5541-7CD3-6B1B933E9F16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Audit log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C0190F-0616-BABE-61DD-C38763AA7977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tindakan penting direkod dan diberi timestamp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3E43B8-B3F1-A86F-9571-F9F24079CF72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8AF7EB-BB4F-AB22-AAE5-25C2DAA3A41B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Sejarah append-only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B37279-7BEA-AB38-49A0-5BC82230EA01}"/>
              </a:ext>
            </a:extLst>
          </p:cNvPr>
          <p:cNvSpPr>
            <a:spLocks noGrp="1"/>
          </p:cNvSpPr>
          <p:nvPr/>
        </p:nvSpPr>
        <p:spPr>
          <a:xfrm>
            <a:off x="35623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laporan, keputusan dan snapshot skor tidak diubah senyap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7E855E-BB1B-5319-9DDB-2CAAEDD5B90E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7DB53C-A373-1A27-118F-95CD5F9FFBA8}"/>
              </a:ext>
            </a:extLst>
          </p:cNvPr>
          <p:cNvSpPr>
            <a:spLocks noGrp="1"/>
          </p:cNvSpPr>
          <p:nvPr/>
        </p:nvSpPr>
        <p:spPr>
          <a:xfrm>
            <a:off x="61722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Sempadan RLS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64B686-D30B-EBA7-C60B-2EE5EBF6CBDB}"/>
              </a:ext>
            </a:extLst>
          </p:cNvPr>
          <p:cNvSpPr>
            <a:spLocks noGrp="1"/>
          </p:cNvSpPr>
          <p:nvPr/>
        </p:nvSpPr>
        <p:spPr>
          <a:xfrm>
            <a:off x="61722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organization_id menjadi batas keselamatan tenant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B177F9-14DF-62B8-B324-215812885D8C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1E6AD2-6B72-D8AC-1EDD-4C2755EE29D1}"/>
              </a:ext>
            </a:extLst>
          </p:cNvPr>
          <p:cNvSpPr>
            <a:spLocks noGrp="1"/>
          </p:cNvSpPr>
          <p:nvPr/>
        </p:nvSpPr>
        <p:spPr>
          <a:xfrm>
            <a:off x="87820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Disiplin service role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A3DEC2-3A91-A384-B3C8-6452D379B246}"/>
              </a:ext>
            </a:extLst>
          </p:cNvPr>
          <p:cNvSpPr>
            <a:spLocks noGrp="1"/>
          </p:cNvSpPr>
          <p:nvPr/>
        </p:nvSpPr>
        <p:spPr>
          <a:xfrm>
            <a:off x="87820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logik berkuasa tinggi berjalan server-side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B51942-86A5-1BB8-A497-BA2165BEEE26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/about principles, ADR-001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D654F5-75C2-D3FE-82A1-EA553945F45F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06682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2AE7-648A-3473-98EB-F3AFF68BC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NILAI UNTUK PIHAK BERKEPENTINGAN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63074-C63A-C05D-E788-4B63C7ABA1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Setiap pihak membaca rekod kepercayaan yang sama melalui paparan yang sesuai.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C4BA4B-8909-A8BB-1FD7-06F62A7471C6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EE02FF-B0F0-6F56-9574-DF599B5172C5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8233DA-95C1-4C6D-E420-EB748441EF3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AE048-E4EF-D067-DA35-7D33B21A5080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ADCF5-CF69-1217-C758-DBA6CE82DA36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95250" cy="4191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1CCD4F-C1F3-E2CC-E301-42C4BE24CAD1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Penderma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151014-D37C-02DC-2C56-8B6B4BD1DFC1}"/>
              </a:ext>
            </a:extLst>
          </p:cNvPr>
          <p:cNvSpPr>
            <a:spLocks noGrp="1"/>
          </p:cNvSpPr>
          <p:nvPr/>
        </p:nvSpPr>
        <p:spPr>
          <a:xfrm>
            <a:off x="3200400" y="23431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membuat sumbangan dengan lebih yakin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5FF418-1F54-A087-F24D-D3D631F6676D}"/>
              </a:ext>
            </a:extLst>
          </p:cNvPr>
          <p:cNvSpPr>
            <a:spLocks noGrp="1"/>
          </p:cNvSpPr>
          <p:nvPr/>
        </p:nvSpPr>
        <p:spPr>
          <a:xfrm>
            <a:off x="7029450" y="2305050"/>
            <a:ext cx="2343150" cy="3429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89099-4643-B474-D168-BF9DBBCC2C4E}"/>
              </a:ext>
            </a:extLst>
          </p:cNvPr>
          <p:cNvSpPr>
            <a:spLocks noGrp="1"/>
          </p:cNvSpPr>
          <p:nvPr/>
        </p:nvSpPr>
        <p:spPr>
          <a:xfrm>
            <a:off x="7239000" y="23907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AmanahHub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DC8906-0A43-673C-0D55-D8F1F97988BF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780528-82C9-F78A-50AE-1F8D96454571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95250" cy="41910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48F5B0-8CCA-F9D4-FFBB-EA95CB6421CC}"/>
              </a:ext>
            </a:extLst>
          </p:cNvPr>
          <p:cNvSpPr>
            <a:spLocks noGrp="1"/>
          </p:cNvSpPr>
          <p:nvPr/>
        </p:nvSpPr>
        <p:spPr>
          <a:xfrm>
            <a:off x="971550" y="29908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Organisasi amal / masjid / NGO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6C70A8-1AF8-CAA9-0252-82D23EE5978C}"/>
              </a:ext>
            </a:extLst>
          </p:cNvPr>
          <p:cNvSpPr>
            <a:spLocks noGrp="1"/>
          </p:cNvSpPr>
          <p:nvPr/>
        </p:nvSpPr>
        <p:spPr>
          <a:xfrm>
            <a:off x="3200400" y="29527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memperbaiki disiplin tadbir urus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565EC6-8E86-74E5-822A-66C86F9EB80B}"/>
              </a:ext>
            </a:extLst>
          </p:cNvPr>
          <p:cNvSpPr>
            <a:spLocks noGrp="1"/>
          </p:cNvSpPr>
          <p:nvPr/>
        </p:nvSpPr>
        <p:spPr>
          <a:xfrm>
            <a:off x="7029450" y="2914650"/>
            <a:ext cx="2343150" cy="3429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BEA903-1067-24D3-AAA0-57405A44C5F8}"/>
              </a:ext>
            </a:extLst>
          </p:cNvPr>
          <p:cNvSpPr>
            <a:spLocks noGrp="1"/>
          </p:cNvSpPr>
          <p:nvPr/>
        </p:nvSpPr>
        <p:spPr>
          <a:xfrm>
            <a:off x="7239000" y="30003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amanahOS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F4B017-E669-1EAC-E7E2-81B3D2C5091C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4292FE-4C55-BAFD-4B91-838F91D0BB85}"/>
              </a:ext>
            </a:extLst>
          </p:cNvPr>
          <p:cNvSpPr>
            <a:spLocks noGrp="1"/>
          </p:cNvSpPr>
          <p:nvPr/>
        </p:nvSpPr>
        <p:spPr>
          <a:xfrm>
            <a:off x="742950" y="3486150"/>
            <a:ext cx="95250" cy="41910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F89931-0EF7-6F17-716B-A08D9C803F9F}"/>
              </a:ext>
            </a:extLst>
          </p:cNvPr>
          <p:cNvSpPr>
            <a:spLocks noGrp="1"/>
          </p:cNvSpPr>
          <p:nvPr/>
        </p:nvSpPr>
        <p:spPr>
          <a:xfrm>
            <a:off x="971550" y="36004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Majlis zakat / waqf / pihak berkuasa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A99B07-6CAC-DA3B-591C-4E21488AB3CC}"/>
              </a:ext>
            </a:extLst>
          </p:cNvPr>
          <p:cNvSpPr>
            <a:spLocks noGrp="1"/>
          </p:cNvSpPr>
          <p:nvPr/>
        </p:nvSpPr>
        <p:spPr>
          <a:xfrm>
            <a:off x="3200400" y="35623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memantau dan menyemak secara tersusun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FAA3D6-F8C3-E850-079D-01FA4BED1C91}"/>
              </a:ext>
            </a:extLst>
          </p:cNvPr>
          <p:cNvSpPr>
            <a:spLocks noGrp="1"/>
          </p:cNvSpPr>
          <p:nvPr/>
        </p:nvSpPr>
        <p:spPr>
          <a:xfrm>
            <a:off x="7029450" y="3524250"/>
            <a:ext cx="2343150" cy="3429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D4E1696-F424-4C1C-8397-0AFA83975DCA}"/>
              </a:ext>
            </a:extLst>
          </p:cNvPr>
          <p:cNvSpPr>
            <a:spLocks noGrp="1"/>
          </p:cNvSpPr>
          <p:nvPr/>
        </p:nvSpPr>
        <p:spPr>
          <a:xfrm>
            <a:off x="7239000" y="36099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04C693B-8BA7-61A3-43B1-DAC92F57B5AB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F477AF-4E48-7285-61B7-96B3AA755D20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95250" cy="41910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66D4A9-1CDE-29F8-C53D-C17FE28BB7E3}"/>
              </a:ext>
            </a:extLst>
          </p:cNvPr>
          <p:cNvSpPr>
            <a:spLocks noGrp="1"/>
          </p:cNvSpPr>
          <p:nvPr/>
        </p:nvSpPr>
        <p:spPr>
          <a:xfrm>
            <a:off x="971550" y="42100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Penyemak / sarjana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4A0983-2F54-6DBF-4294-8939100DF52D}"/>
              </a:ext>
            </a:extLst>
          </p:cNvPr>
          <p:cNvSpPr>
            <a:spLocks noGrp="1"/>
          </p:cNvSpPr>
          <p:nvPr/>
        </p:nvSpPr>
        <p:spPr>
          <a:xfrm>
            <a:off x="3200400" y="41719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melihat bukti dan jejak keputusan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BA6C88-79E6-0046-3257-1FB4B6D39512}"/>
              </a:ext>
            </a:extLst>
          </p:cNvPr>
          <p:cNvSpPr>
            <a:spLocks noGrp="1"/>
          </p:cNvSpPr>
          <p:nvPr/>
        </p:nvSpPr>
        <p:spPr>
          <a:xfrm>
            <a:off x="7029450" y="4133850"/>
            <a:ext cx="2343150" cy="3429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DF499F1-F7EC-5ED1-E710-BD8535788CE2}"/>
              </a:ext>
            </a:extLst>
          </p:cNvPr>
          <p:cNvSpPr>
            <a:spLocks noGrp="1"/>
          </p:cNvSpPr>
          <p:nvPr/>
        </p:nvSpPr>
        <p:spPr>
          <a:xfrm>
            <a:off x="7239000" y="42195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AGP Console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A85B27-9330-40E9-F83A-26407848EA8E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095500" cy="419100"/>
          </a:xfrm>
          <a:prstGeom prst="rect">
            <a:avLst/>
          </a:prstGeom>
          <a:solidFill>
            <a:srgbClr val="20342F"/>
          </a:solidFill>
          <a:ln w="9525">
            <a:solidFill>
              <a:srgbClr val="36534B"/>
            </a:solidFill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A59F7BC-BFDB-4B03-DBAC-854E18D384F9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95250" cy="419100"/>
          </a:xfrm>
          <a:prstGeom prst="rect">
            <a:avLst/>
          </a:prstGeom>
          <a:solidFill>
            <a:srgbClr val="A6B96D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788F9E-552E-8CA6-2C3E-6955C7389E5D}"/>
              </a:ext>
            </a:extLst>
          </p:cNvPr>
          <p:cNvSpPr>
            <a:spLocks noGrp="1"/>
          </p:cNvSpPr>
          <p:nvPr/>
        </p:nvSpPr>
        <p:spPr>
          <a:xfrm>
            <a:off x="971550" y="4819650"/>
            <a:ext cx="1619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Penaja / CSR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C124216-A1D7-71C3-173A-DA67A1873355}"/>
              </a:ext>
            </a:extLst>
          </p:cNvPr>
          <p:cNvSpPr>
            <a:spLocks noGrp="1"/>
          </p:cNvSpPr>
          <p:nvPr/>
        </p:nvSpPr>
        <p:spPr>
          <a:xfrm>
            <a:off x="3200400" y="4781550"/>
            <a:ext cx="3314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7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menilai hasil rintis dan isyarat kepercayaan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F6C014-43BD-0BDD-4CED-7A3398ED3B2B}"/>
              </a:ext>
            </a:extLst>
          </p:cNvPr>
          <p:cNvSpPr>
            <a:spLocks noGrp="1"/>
          </p:cNvSpPr>
          <p:nvPr/>
        </p:nvSpPr>
        <p:spPr>
          <a:xfrm>
            <a:off x="7029450" y="4743450"/>
            <a:ext cx="2343150" cy="3429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1505CB-6663-9486-FF2E-FF353F3E51C1}"/>
              </a:ext>
            </a:extLst>
          </p:cNvPr>
          <p:cNvSpPr>
            <a:spLocks noGrp="1"/>
          </p:cNvSpPr>
          <p:nvPr/>
        </p:nvSpPr>
        <p:spPr>
          <a:xfrm>
            <a:off x="7239000" y="4829175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9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Laporan + profil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DC3D2F-4427-AC01-2A22-E8DC0172D3E5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architecture map dan pitch notes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E8EE00-7774-51D3-82E7-CDCC6EA37B7B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427784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7A840-A90E-2864-2083-2BAA3D49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PROGRAM RINTIS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7E098B-2FB8-F470-0681-3BF223459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Program rintis perlu membuktikan amalan tadbir urus, bukan sekadar angka penggunaan.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8D29F1-3387-2AC5-D9FC-7CBE6DE24374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A69363-60D4-3878-C3FC-07E88A2B39F9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11B260-D3EA-D307-DBB3-8FE5E020A8C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3073DE-1186-D507-FB3F-6FFF2B657575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A8EB6A-1F97-4F67-603F-6FD5D366B28C}"/>
              </a:ext>
            </a:extLst>
          </p:cNvPr>
          <p:cNvSpPr>
            <a:spLocks noGrp="1"/>
          </p:cNvSpPr>
          <p:nvPr/>
        </p:nvSpPr>
        <p:spPr>
          <a:xfrm>
            <a:off x="9525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532F63-FF48-EC7E-17CA-A2C4AC1A7FDB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organisasi amal, masjid, NGO atau badan waqf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A5B2C9-75E7-FC68-47E4-3B5CEF2B9D60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B46091-26EE-06DB-2332-C5B5BF6B3A88}"/>
              </a:ext>
            </a:extLst>
          </p:cNvPr>
          <p:cNvSpPr>
            <a:spLocks noGrp="1"/>
          </p:cNvSpPr>
          <p:nvPr/>
        </p:nvSpPr>
        <p:spPr>
          <a:xfrm>
            <a:off x="35623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Aktiviti tadbir urus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0FD16D-EF97-AA4A-D676-D332779969D8}"/>
              </a:ext>
            </a:extLst>
          </p:cNvPr>
          <p:cNvSpPr>
            <a:spLocks noGrp="1"/>
          </p:cNvSpPr>
          <p:nvPr/>
        </p:nvSpPr>
        <p:spPr>
          <a:xfrm>
            <a:off x="35623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laporan, polisi, bukti dimuat naik dan kelulusan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7A20A2-8353-8AB6-A5FE-00C64E8DDB96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CDE81A-BA21-B9FB-0C3A-BA44A7ED010D}"/>
              </a:ext>
            </a:extLst>
          </p:cNvPr>
          <p:cNvSpPr>
            <a:spLocks noGrp="1"/>
          </p:cNvSpPr>
          <p:nvPr/>
        </p:nvSpPr>
        <p:spPr>
          <a:xfrm>
            <a:off x="617220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Kualiti isyarat kepercayaan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A25D90-56FE-2DED-9137-386F7E976CD5}"/>
              </a:ext>
            </a:extLst>
          </p:cNvPr>
          <p:cNvSpPr>
            <a:spLocks noGrp="1"/>
          </p:cNvSpPr>
          <p:nvPr/>
        </p:nvSpPr>
        <p:spPr>
          <a:xfrm>
            <a:off x="617220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trust event, profil awam dan sejarah skor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B7F0E7-D500-863D-9C3B-D89D6DC1A29D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734186-64ED-0786-B2B0-FC07F8DEE8DE}"/>
              </a:ext>
            </a:extLst>
          </p:cNvPr>
          <p:cNvSpPr>
            <a:spLocks noGrp="1"/>
          </p:cNvSpPr>
          <p:nvPr/>
        </p:nvSpPr>
        <p:spPr>
          <a:xfrm>
            <a:off x="8782050" y="32956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Keyakinan pihak berkepentingan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265BC1-97CF-751B-0D4B-DF1773AB2818}"/>
              </a:ext>
            </a:extLst>
          </p:cNvPr>
          <p:cNvSpPr>
            <a:spLocks noGrp="1"/>
          </p:cNvSpPr>
          <p:nvPr/>
        </p:nvSpPr>
        <p:spPr>
          <a:xfrm>
            <a:off x="8782050" y="3619500"/>
            <a:ext cx="18669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kebolehbacaan penderma dan kecekapan penyemak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C29ABE-E595-9B19-91B6-368E8ADA1297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Sumber: pitch notes dan Phase 2 architecture map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538BE4-F15C-7C39-1A44-ED9F5DB17E08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308927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DA667-F6B4-4D73-4046-DB67EF950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KEPUTUSAN DIPERLUKAN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E5392-B675-CBF6-729B-238BAF600D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sv-SE" sz="1050">
                <a:solidFill>
                  <a:srgbClr val="C8D5CF"/>
                </a:solidFill>
                <a:latin typeface="Aptos" panose="020B0004020202020204" pitchFamily="34" charset="0"/>
              </a:rPr>
              <a:t>Yang diperlukan sekarang: penaja, kohort rintis, majlis tadbir dan piawaian bukti.</a:t>
            </a:r>
            <a:endParaRPr lang="en-US" sz="1050">
              <a:solidFill>
                <a:srgbClr val="C8D5CF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4E032B-C5CB-FE06-DF33-5C9997553C9D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D7CFA0-08F8-B1A7-2BD9-5CA69786664E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79D376-0746-A152-0C8A-4737AF397D79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9CF774-4717-12B1-E3EE-DCDC26B3318B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381250" cy="1352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3DA770-831B-F569-2F55-A54F6F143EC3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4A9F8F-ECE3-2001-3678-4AC0AB44F0DA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Kohort rintis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2F39C7-42B2-7ABD-52B3-6939EDA1E50A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kenal pasti organisasi wakil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395EE2-914F-0310-9754-B600C59F318F}"/>
              </a:ext>
            </a:extLst>
          </p:cNvPr>
          <p:cNvSpPr>
            <a:spLocks noGrp="1"/>
          </p:cNvSpPr>
          <p:nvPr/>
        </p:nvSpPr>
        <p:spPr>
          <a:xfrm>
            <a:off x="3352800" y="3067050"/>
            <a:ext cx="2381250" cy="1352550"/>
          </a:xfrm>
          <a:prstGeom prst="rect">
            <a:avLst/>
          </a:prstGeom>
          <a:solidFill>
            <a:srgbClr val="7BAA98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5BD8FF-E7D3-629C-31A7-8FA7143C4D94}"/>
              </a:ext>
            </a:extLst>
          </p:cNvPr>
          <p:cNvSpPr>
            <a:spLocks noGrp="1"/>
          </p:cNvSpPr>
          <p:nvPr/>
        </p:nvSpPr>
        <p:spPr>
          <a:xfrm>
            <a:off x="35623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F40A0A-2ED9-0AB5-7F11-F7A748D928EC}"/>
              </a:ext>
            </a:extLst>
          </p:cNvPr>
          <p:cNvSpPr>
            <a:spLocks noGrp="1"/>
          </p:cNvSpPr>
          <p:nvPr/>
        </p:nvSpPr>
        <p:spPr>
          <a:xfrm>
            <a:off x="35623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Majlis tadbir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4163A-E21A-62CD-D872-29A1F7E2D3ED}"/>
              </a:ext>
            </a:extLst>
          </p:cNvPr>
          <p:cNvSpPr>
            <a:spLocks noGrp="1"/>
          </p:cNvSpPr>
          <p:nvPr/>
        </p:nvSpPr>
        <p:spPr>
          <a:xfrm>
            <a:off x="35623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penyemak, sarjana, pemilik polisi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68956A-D827-E0F9-82FB-4A85E3BAB823}"/>
              </a:ext>
            </a:extLst>
          </p:cNvPr>
          <p:cNvSpPr>
            <a:spLocks noGrp="1"/>
          </p:cNvSpPr>
          <p:nvPr/>
        </p:nvSpPr>
        <p:spPr>
          <a:xfrm>
            <a:off x="5962650" y="3067050"/>
            <a:ext cx="2381250" cy="1352550"/>
          </a:xfrm>
          <a:prstGeom prst="rect">
            <a:avLst/>
          </a:prstGeom>
          <a:solidFill>
            <a:srgbClr val="466A7A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9A2F0-82D7-003D-AB13-C387BC1D02EE}"/>
              </a:ext>
            </a:extLst>
          </p:cNvPr>
          <p:cNvSpPr>
            <a:spLocks noGrp="1"/>
          </p:cNvSpPr>
          <p:nvPr/>
        </p:nvSpPr>
        <p:spPr>
          <a:xfrm>
            <a:off x="617220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910527-48E0-CE1F-39D6-B0C156C3F2C8}"/>
              </a:ext>
            </a:extLst>
          </p:cNvPr>
          <p:cNvSpPr>
            <a:spLocks noGrp="1"/>
          </p:cNvSpPr>
          <p:nvPr/>
        </p:nvSpPr>
        <p:spPr>
          <a:xfrm>
            <a:off x="617220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Sokongan pelaksanaan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D9D94F-39A1-7CC9-FA92-B639F99B9D64}"/>
              </a:ext>
            </a:extLst>
          </p:cNvPr>
          <p:cNvSpPr>
            <a:spLocks noGrp="1"/>
          </p:cNvSpPr>
          <p:nvPr/>
        </p:nvSpPr>
        <p:spPr>
          <a:xfrm>
            <a:off x="617220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onboarding, latihan, pengukuhan sistem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F6E733-63EE-1B7D-EC4D-BAFE67271AAE}"/>
              </a:ext>
            </a:extLst>
          </p:cNvPr>
          <p:cNvSpPr>
            <a:spLocks noGrp="1"/>
          </p:cNvSpPr>
          <p:nvPr/>
        </p:nvSpPr>
        <p:spPr>
          <a:xfrm>
            <a:off x="8572500" y="3067050"/>
            <a:ext cx="2381250" cy="1352550"/>
          </a:xfrm>
          <a:prstGeom prst="rect">
            <a:avLst/>
          </a:prstGeom>
          <a:solidFill>
            <a:srgbClr val="B46A4C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9B7EB0-D832-81E3-01FC-39918F3DD8C4}"/>
              </a:ext>
            </a:extLst>
          </p:cNvPr>
          <p:cNvSpPr>
            <a:spLocks noGrp="1"/>
          </p:cNvSpPr>
          <p:nvPr/>
        </p:nvSpPr>
        <p:spPr>
          <a:xfrm>
            <a:off x="8782050" y="3257550"/>
            <a:ext cx="342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125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0E57D1-C0B3-693D-26ED-5C84D3371EF2}"/>
              </a:ext>
            </a:extLst>
          </p:cNvPr>
          <p:cNvSpPr>
            <a:spLocks noGrp="1"/>
          </p:cNvSpPr>
          <p:nvPr/>
        </p:nvSpPr>
        <p:spPr>
          <a:xfrm>
            <a:off x="8782050" y="3562350"/>
            <a:ext cx="1885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00" b="1">
                <a:solidFill>
                  <a:srgbClr val="F6F1E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7"/>
                </a:solidFill>
                <a:latin typeface="Aptos"/>
                <a:ea typeface="Aptos"/>
                <a:cs typeface="Aptos"/>
              </a:rPr>
              <a:t>Piawaian kepercayaan awam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05F07C-EE0E-016C-2D6B-D43AB2F71D2F}"/>
              </a:ext>
            </a:extLst>
          </p:cNvPr>
          <p:cNvSpPr>
            <a:spLocks noGrp="1"/>
          </p:cNvSpPr>
          <p:nvPr/>
        </p:nvSpPr>
        <p:spPr>
          <a:xfrm>
            <a:off x="8782050" y="3829050"/>
            <a:ext cx="18669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825" b="0">
                <a:solidFill>
                  <a:srgbClr val="C8D5C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CF"/>
                </a:solidFill>
                <a:latin typeface="Aptos"/>
                <a:ea typeface="Aptos"/>
                <a:cs typeface="Aptos"/>
              </a:rPr>
              <a:t>bukti, kaedah skor dan penerbitan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FA1AB5-EEF1-7E43-5321-EEDE33B73679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Disediakan untuk perbincangan pihak berkepentingan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B968F4-2A85-F142-278F-37621EE7CBB7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6657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62214-9F43-C18E-C907-0F34804B2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14400"/>
            <a:ext cx="9652000" cy="990600"/>
          </a:xfrm>
        </p:spPr>
        <p:txBody>
          <a:bodyPr>
            <a:normAutofit/>
          </a:bodyPr>
          <a:lstStyle/>
          <a:p>
            <a:r>
              <a:rPr lang="en-US" sz="2900">
                <a:solidFill>
                  <a:srgbClr val="F6F1E7"/>
                </a:solidFill>
                <a:latin typeface="Georgia" panose="02040502050405020303" pitchFamily="18" charset="0"/>
              </a:rPr>
              <a:t>PENUTUP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557212-E832-5D69-5388-F694A147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000" y="1955800"/>
            <a:ext cx="7747000" cy="863600"/>
          </a:xfrm>
        </p:spPr>
        <p:txBody>
          <a:bodyPr lIns="0" tIns="0" rIns="0" bIns="0">
            <a:normAutofit/>
          </a:bodyPr>
          <a:lstStyle/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AGP boleh menjadi infrastruktur kepercayaan bersama untuk ekosistem pemberian Islam.</a:t>
            </a:r>
          </a:p>
          <a:p>
            <a:pPr marL="0" indent="0">
              <a:buNone/>
            </a:pPr>
            <a:r>
              <a:rPr lang="en-US" sz="1050">
                <a:solidFill>
                  <a:srgbClr val="C8D5CF"/>
                </a:solidFill>
                <a:latin typeface="Aptos" panose="020B0004020202020204" pitchFamily="34" charset="0"/>
              </a:rPr>
              <a:t>Matlamatnya mudah: membantu organisasi memperkukuh tadbir urus, membantu pihak penyemak menilai bukti secara tersusun, dan membantu penderma memberi dengan lebih yakin.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CEEFE9-E8B5-B9A1-66AA-CB178702A7CC}"/>
              </a:ext>
            </a:extLst>
          </p:cNvPr>
          <p:cNvSpPr/>
          <p:nvPr/>
        </p:nvSpPr>
        <p:spPr>
          <a:xfrm>
            <a:off x="609600" y="495300"/>
            <a:ext cx="88900" cy="203200"/>
          </a:xfrm>
          <a:prstGeom prst="rect">
            <a:avLst/>
          </a:prstGeom>
          <a:solidFill>
            <a:srgbClr val="D8A84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00812-AFA2-A718-3678-CC8FF1543E7A}"/>
              </a:ext>
            </a:extLst>
          </p:cNvPr>
          <p:cNvSpPr txBox="1"/>
          <p:nvPr/>
        </p:nvSpPr>
        <p:spPr>
          <a:xfrm>
            <a:off x="812800" y="431800"/>
            <a:ext cx="5588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AMANAH GOVERNANCE 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B13BE9-5EFA-BDA9-81DE-63CBD092C58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85725" cy="20955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E484B9-8FD0-2B8B-4A98-B3DB889F187F}"/>
              </a:ext>
            </a:extLst>
          </p:cNvPr>
          <p:cNvSpPr>
            <a:spLocks noGrp="1"/>
          </p:cNvSpPr>
          <p:nvPr/>
        </p:nvSpPr>
        <p:spPr>
          <a:xfrm>
            <a:off x="742950" y="4476750"/>
            <a:ext cx="2476500" cy="609600"/>
          </a:xfrm>
          <a:prstGeom prst="rect">
            <a:avLst/>
          </a:prstGeom>
          <a:solidFill>
            <a:srgbClr val="D8A84E"/>
          </a:solidFill>
          <a:ln w="0">
            <a:solidFill>
              <a:srgbClr val="000000">
                <a:alpha val="0"/>
              </a:srgbClr>
            </a:solidFill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7CA2-2895-4529-DE50-EB74BDAAA051}"/>
              </a:ext>
            </a:extLst>
          </p:cNvPr>
          <p:cNvSpPr>
            <a:spLocks noGrp="1"/>
          </p:cNvSpPr>
          <p:nvPr/>
        </p:nvSpPr>
        <p:spPr>
          <a:xfrm>
            <a:off x="1009650" y="46482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1275" b="1">
                <a:solidFill>
                  <a:srgbClr val="0E1B1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1B18"/>
                </a:solidFill>
                <a:latin typeface="Aptos"/>
                <a:ea typeface="Aptos"/>
                <a:cs typeface="Aptos"/>
              </a:rPr>
              <a:t>Amanah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BC62FC-FBC1-7B87-569B-3D276DB6000B}"/>
              </a:ext>
            </a:extLst>
          </p:cNvPr>
          <p:cNvSpPr>
            <a:spLocks noGrp="1"/>
          </p:cNvSpPr>
          <p:nvPr/>
        </p:nvSpPr>
        <p:spPr>
          <a:xfrm>
            <a:off x="1009650" y="4895850"/>
            <a:ext cx="171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19050" tIns="19050" rIns="19050" bIns="19050" anchor="t"/>
          <a:lstStyle/>
          <a:p>
            <a:pPr algn="l">
              <a:defRPr sz="750" b="0">
                <a:solidFill>
                  <a:srgbClr val="263B35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263B35"/>
                </a:solidFill>
                <a:latin typeface="Aptos"/>
                <a:ea typeface="Aptos"/>
                <a:cs typeface="Aptos"/>
              </a:rPr>
              <a:t>kelihatan, boleh disahkan, boleh dipertanggungjawabkan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3F01AF-3105-AA09-D00B-9F2546EE84A5}"/>
              </a:ext>
            </a:extLst>
          </p:cNvPr>
          <p:cNvSpPr txBox="1"/>
          <p:nvPr/>
        </p:nvSpPr>
        <p:spPr>
          <a:xfrm>
            <a:off x="609600" y="6426200"/>
            <a:ext cx="8636000" cy="133370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r>
              <a:rPr lang="en-US" sz="700">
                <a:solidFill>
                  <a:srgbClr val="83968F"/>
                </a:solidFill>
                <a:latin typeface="Aptos" panose="020B0004020202020204" pitchFamily="34" charset="0"/>
              </a:rPr>
              <a:t>AGP Melayu stakeholder deck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8A3103-BA24-908C-C997-94CC5D567FED}"/>
              </a:ext>
            </a:extLst>
          </p:cNvPr>
          <p:cNvSpPr txBox="1"/>
          <p:nvPr/>
        </p:nvSpPr>
        <p:spPr>
          <a:xfrm>
            <a:off x="10795000" y="6375400"/>
            <a:ext cx="762000" cy="164148"/>
          </a:xfrm>
          <a:prstGeom prst="rect">
            <a:avLst/>
          </a:prstGeom>
          <a:noFill/>
        </p:spPr>
        <p:txBody>
          <a:bodyPr vert="horz" lIns="12700" tIns="12700" rIns="12700" bIns="12700" rtlCol="0">
            <a:spAutoFit/>
          </a:bodyPr>
          <a:lstStyle/>
          <a:p>
            <a:pPr algn="r"/>
            <a:r>
              <a:rPr lang="en-US" sz="900" b="1">
                <a:solidFill>
                  <a:srgbClr val="D8A84E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379167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928</Words>
  <Application>Microsoft Office PowerPoint</Application>
  <PresentationFormat>Widescreen</PresentationFormat>
  <Paragraphs>214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Georgia</vt:lpstr>
      <vt:lpstr>Office Theme</vt:lpstr>
      <vt:lpstr>TAKLIMAT PIHAK BERKEPENTINGAN</vt:lpstr>
      <vt:lpstr>MISI</vt:lpstr>
      <vt:lpstr>PRINSIP TERAS</vt:lpstr>
      <vt:lpstr>ASAS SYARIAH</vt:lpstr>
      <vt:lpstr>PERJALANAN PENDERMA</vt:lpstr>
      <vt:lpstr>PENSIJILAN</vt:lpstr>
      <vt:lpstr>AMANAH INDEX</vt:lpstr>
      <vt:lpstr>ALIRAN SUMBANGAN</vt:lpstr>
      <vt:lpstr>SISTEM PLATFORM</vt:lpstr>
      <vt:lpstr>KEBERTANGGUNGJAWABAN</vt:lpstr>
      <vt:lpstr>NILAI UNTUK PIHAK BERKEPENTINGAN</vt:lpstr>
      <vt:lpstr>PROGRAM RINTIS</vt:lpstr>
      <vt:lpstr>KEPUTUSAN DIPERLUKAN</vt:lpstr>
      <vt:lpstr>PENUTUP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kamal latif</dc:creator>
  <cp:lastModifiedBy>kamal latif</cp:lastModifiedBy>
  <cp:revision>1</cp:revision>
  <dcterms:created xsi:type="dcterms:W3CDTF">2026-07-08T16:24:39Z</dcterms:created>
  <dcterms:modified xsi:type="dcterms:W3CDTF">2026-07-08T16:28:48Z</dcterms:modified>
</cp:coreProperties>
</file>