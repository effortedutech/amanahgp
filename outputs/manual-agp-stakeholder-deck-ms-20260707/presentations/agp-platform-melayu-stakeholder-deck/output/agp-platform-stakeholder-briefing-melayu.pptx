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256EA0-6E34-4CAC-8203-AEF5F6622C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62D3446A-DBED-494D-B894-082E4B2E102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F9761C13-4C2A-44F0-90FF-566F55367EC8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TAKLIMAT STAKEHOLDER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0507CB-BF70-4449-A652-F21E03B9B38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810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42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membina semula kepercayaan donor dalam Islamic charity.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A0334-783C-438A-9F9F-AE3A80F552D7}"/>
              </a:ext>
            </a:extLst>
          </p:cNvPr>
          <p:cNvSpPr>
            <a:spLocks noGrp="1"/>
          </p:cNvSpPr>
          <p:nvPr/>
        </p:nvSpPr>
        <p:spPr>
          <a:xfrm>
            <a:off x="647700" y="3810000"/>
            <a:ext cx="6572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Versi Melayu dengan English technical terms: platform, scoring, certification, audit log, non-custodial, RLS, dan trust event.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09682-B307-40AF-9D3B-CB0CDD20834E}"/>
              </a:ext>
            </a:extLst>
          </p:cNvPr>
          <p:cNvSpPr>
            <a:spLocks noGrp="1"/>
          </p:cNvSpPr>
          <p:nvPr/>
        </p:nvSpPr>
        <p:spPr>
          <a:xfrm>
            <a:off x="8420100" y="1352550"/>
            <a:ext cx="2571750" cy="7810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84260B-CC5B-41D9-969D-4B4D7E056F06}"/>
              </a:ext>
            </a:extLst>
          </p:cNvPr>
          <p:cNvSpPr>
            <a:spLocks noGrp="1"/>
          </p:cNvSpPr>
          <p:nvPr/>
        </p:nvSpPr>
        <p:spPr>
          <a:xfrm>
            <a:off x="8667750" y="15430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53F132-6693-4F47-B3E8-819E76AE7CCE}"/>
              </a:ext>
            </a:extLst>
          </p:cNvPr>
          <p:cNvSpPr>
            <a:spLocks noGrp="1"/>
          </p:cNvSpPr>
          <p:nvPr/>
        </p:nvSpPr>
        <p:spPr>
          <a:xfrm>
            <a:off x="8667750" y="18288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F6FCB3-F49D-4553-BFF5-05582887D4DC}"/>
              </a:ext>
            </a:extLst>
          </p:cNvPr>
          <p:cNvSpPr>
            <a:spLocks noGrp="1"/>
          </p:cNvSpPr>
          <p:nvPr/>
        </p:nvSpPr>
        <p:spPr>
          <a:xfrm>
            <a:off x="8420100" y="2571750"/>
            <a:ext cx="2571750" cy="7810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FD329-AAD1-4B8A-A1E2-49AF97869EE3}"/>
              </a:ext>
            </a:extLst>
          </p:cNvPr>
          <p:cNvSpPr>
            <a:spLocks noGrp="1"/>
          </p:cNvSpPr>
          <p:nvPr/>
        </p:nvSpPr>
        <p:spPr>
          <a:xfrm>
            <a:off x="8667750" y="2762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9EF061-79DC-45E3-9A01-EBB10D29371E}"/>
              </a:ext>
            </a:extLst>
          </p:cNvPr>
          <p:cNvSpPr>
            <a:spLocks noGrp="1"/>
          </p:cNvSpPr>
          <p:nvPr/>
        </p:nvSpPr>
        <p:spPr>
          <a:xfrm>
            <a:off x="8667750" y="30480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B1BA01-EEF3-4DB8-B6C7-DF39A38BDB8A}"/>
              </a:ext>
            </a:extLst>
          </p:cNvPr>
          <p:cNvSpPr>
            <a:spLocks noGrp="1"/>
          </p:cNvSpPr>
          <p:nvPr/>
        </p:nvSpPr>
        <p:spPr>
          <a:xfrm>
            <a:off x="8420100" y="3790950"/>
            <a:ext cx="2571750" cy="7810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C95BC-4426-45BC-BA66-E2FD7466648B}"/>
              </a:ext>
            </a:extLst>
          </p:cNvPr>
          <p:cNvSpPr>
            <a:spLocks noGrp="1"/>
          </p:cNvSpPr>
          <p:nvPr/>
        </p:nvSpPr>
        <p:spPr>
          <a:xfrm>
            <a:off x="8667750" y="3981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3ED773-06A6-468D-A763-820B5C1CBBCF}"/>
              </a:ext>
            </a:extLst>
          </p:cNvPr>
          <p:cNvSpPr>
            <a:spLocks noGrp="1"/>
          </p:cNvSpPr>
          <p:nvPr/>
        </p:nvSpPr>
        <p:spPr>
          <a:xfrm>
            <a:off x="8667750" y="42672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 / authority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25D61A-FC5C-4223-86E2-C33F9EB5379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AGP Platform stakeholder deck - Melayu version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ED4D91-DB80-46BF-A829-85FE8CA0B7B4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2387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68F3FBD-B6D4-43BB-9A31-42D3441CE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1C9C1AE0-3AC1-4D00-A8A8-84B4D93813D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F219E15A-DEDC-46D4-811A-BFD75A0C45EF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MISI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327B68-58E3-4D94-B0C7-AD7D9C6A0F6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7239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AmanahHub wujud kerana trust ialah asas kepada giving.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891118-84F8-4E18-A5F9-2D92B361D6AF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7429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D4A4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D4A46"/>
                </a:solidFill>
                <a:latin typeface="Aptos"/>
                <a:ea typeface="Aptos"/>
                <a:cs typeface="Aptos"/>
              </a:rPr>
              <a:t>Apabila donor tidak dapat melihat ke mana Sadaqah pergi, atau sama ada governance sesebuah organisasi kukuh, mereka memberi kurang - dan penerima bantuan menerima kurang.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266CA1-41D9-4059-94B6-97BD0D986B12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171450" cy="1714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04980-8419-476D-8A6E-C0175675A6A6}"/>
              </a:ext>
            </a:extLst>
          </p:cNvPr>
          <p:cNvSpPr>
            <a:spLocks noGrp="1"/>
          </p:cNvSpPr>
          <p:nvPr/>
        </p:nvSpPr>
        <p:spPr>
          <a:xfrm>
            <a:off x="1181100" y="322897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Malaysia-first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84ADB-9AC5-4325-8870-8DF7B6000D73}"/>
              </a:ext>
            </a:extLst>
          </p:cNvPr>
          <p:cNvSpPr>
            <a:spLocks noGrp="1"/>
          </p:cNvSpPr>
          <p:nvPr/>
        </p:nvSpPr>
        <p:spPr>
          <a:xfrm>
            <a:off x="3429000" y="32385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Dibina untuk konteks ROS, JAKIM, SIRC dan state-level regulatory context.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C4B008-1C01-4BC1-A08F-631528619C32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171450" cy="1714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C327B9-3E80-40E8-8A85-B023205DF0D5}"/>
              </a:ext>
            </a:extLst>
          </p:cNvPr>
          <p:cNvSpPr>
            <a:spLocks noGrp="1"/>
          </p:cNvSpPr>
          <p:nvPr/>
        </p:nvSpPr>
        <p:spPr>
          <a:xfrm>
            <a:off x="1181100" y="37814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5C61CE-3B5E-421A-AE2F-789009642C09}"/>
              </a:ext>
            </a:extLst>
          </p:cNvPr>
          <p:cNvSpPr>
            <a:spLocks noGrp="1"/>
          </p:cNvSpPr>
          <p:nvPr/>
        </p:nvSpPr>
        <p:spPr>
          <a:xfrm>
            <a:off x="3429000" y="379095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AGP tidak memegang dana donor; payment bergerak donor → gateway → akaun charity.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B24C7-51F5-4ED9-BAAE-AD517970144E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171450" cy="1714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88D6F8-ECBD-4A4B-9D0C-C2B6D927BEE6}"/>
              </a:ext>
            </a:extLst>
          </p:cNvPr>
          <p:cNvSpPr>
            <a:spLocks noGrp="1"/>
          </p:cNvSpPr>
          <p:nvPr/>
        </p:nvSpPr>
        <p:spPr>
          <a:xfrm>
            <a:off x="1181100" y="433387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Evidence-based scoring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A027D3-6B3F-40F7-9979-7AE5BD5CEA23}"/>
              </a:ext>
            </a:extLst>
          </p:cNvPr>
          <p:cNvSpPr>
            <a:spLocks noGrp="1"/>
          </p:cNvSpPr>
          <p:nvPr/>
        </p:nvSpPr>
        <p:spPr>
          <a:xfrm>
            <a:off x="3429000" y="43434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Amanah Index dikira daripada verified documents, records dan field evidence.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DB063-D86B-4192-B68C-5C76AB30D07C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171450" cy="1714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BECD28-83B8-42E8-B781-018A03F45633}"/>
              </a:ext>
            </a:extLst>
          </p:cNvPr>
          <p:cNvSpPr>
            <a:spLocks noGrp="1"/>
          </p:cNvSpPr>
          <p:nvPr/>
        </p:nvSpPr>
        <p:spPr>
          <a:xfrm>
            <a:off x="1181100" y="48863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Open to all org types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4CF5EB-AE82-4B9E-8EB6-C092FEC5418D}"/>
              </a:ext>
            </a:extLst>
          </p:cNvPr>
          <p:cNvSpPr>
            <a:spLocks noGrp="1"/>
          </p:cNvSpPr>
          <p:nvPr/>
        </p:nvSpPr>
        <p:spPr>
          <a:xfrm>
            <a:off x="3429000" y="489585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NGO, masjid, waqf institution dan foundation boleh dinilai dengan framework yang sama.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ABE2F-028F-41DE-8FDB-132D3E552954}"/>
              </a:ext>
            </a:extLst>
          </p:cNvPr>
          <p:cNvSpPr>
            <a:spLocks noGrp="1"/>
          </p:cNvSpPr>
          <p:nvPr/>
        </p:nvSpPr>
        <p:spPr>
          <a:xfrm>
            <a:off x="8724900" y="1485900"/>
            <a:ext cx="2152650" cy="17145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96DA0A-8697-4F00-B9D5-0044130674D3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Core message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123F21-EF7F-4CC6-95DC-3525445E5836}"/>
              </a:ext>
            </a:extLst>
          </p:cNvPr>
          <p:cNvSpPr>
            <a:spLocks noGrp="1"/>
          </p:cNvSpPr>
          <p:nvPr/>
        </p:nvSpPr>
        <p:spPr>
          <a:xfrm>
            <a:off x="8953500" y="203835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Ini </a:t>
            </a:r>
            <a:r>
              <a:rPr sz="1125" b="0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bukan</a:t>
            </a:r>
            <a:r>
              <a:rPr sz="1125" b="0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hanya</a:t>
            </a:r>
            <a:r>
              <a:rPr sz="1125" b="0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software; </a:t>
            </a:r>
            <a:r>
              <a:rPr sz="1125" b="0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ini</a:t>
            </a:r>
            <a:r>
              <a:rPr sz="1125" b="0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transparency infrastructure </a:t>
            </a:r>
            <a:r>
              <a:rPr sz="1125" b="0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untuk</a:t>
            </a:r>
            <a:r>
              <a:rPr sz="1125" b="0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 charity ecosystem.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095741-D275-48BD-A56C-329D4318D69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Sumber: apps/user/app/about/page.tsx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8FCA91-17D4-4B79-BF10-0640E0383E76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505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0A8D979-A2A6-41E9-8472-7711A5E6B3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FF278876-C85B-4819-86B4-1301AA08D6B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308E777F-A50D-484E-9AFF-69013E1FFEE0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OUR PRINCIPLES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FF22F-8324-405A-82B4-C2064E80FD80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pillars of Amanah menjadi design principle platform.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454DA8-0422-4A19-84B9-44C840E139F9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3009900" cy="21717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0DAF22-95FB-4E85-843F-9A32787BEA33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7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77A43-8CA0-4061-A8C8-76E4EA93AAC8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— Trust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45782-1C08-442B-B0DC-A71C97F5D048}"/>
              </a:ext>
            </a:extLst>
          </p:cNvPr>
          <p:cNvSpPr>
            <a:spLocks noGrp="1"/>
          </p:cNvSpPr>
          <p:nvPr/>
        </p:nvSpPr>
        <p:spPr>
          <a:xfrm>
            <a:off x="1066800" y="4057650"/>
            <a:ext cx="2266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Charity managers ialah trustees of donor funds. Ini bukan metafora; ia legal dan spiritual designation dengan consequences.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9CAAEE-4E1E-4677-ABF2-CCEB3C01B2F5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3009900" cy="21717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872BAE-871D-4007-A9FE-0AA34823F35D}"/>
              </a:ext>
            </a:extLst>
          </p:cNvPr>
          <p:cNvSpPr>
            <a:spLocks noGrp="1"/>
          </p:cNvSpPr>
          <p:nvPr/>
        </p:nvSpPr>
        <p:spPr>
          <a:xfrm>
            <a:off x="4686300" y="29908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7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41FE85-66C2-4547-93E7-E5B6820107A0}"/>
              </a:ext>
            </a:extLst>
          </p:cNvPr>
          <p:cNvSpPr>
            <a:spLocks noGrp="1"/>
          </p:cNvSpPr>
          <p:nvPr/>
        </p:nvSpPr>
        <p:spPr>
          <a:xfrm>
            <a:off x="4686300" y="36766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— Transparency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50B8D1-AAB7-435B-B712-00890E7A5941}"/>
              </a:ext>
            </a:extLst>
          </p:cNvPr>
          <p:cNvSpPr>
            <a:spLocks noGrp="1"/>
          </p:cNvSpPr>
          <p:nvPr/>
        </p:nvSpPr>
        <p:spPr>
          <a:xfrm>
            <a:off x="4686300" y="4057650"/>
            <a:ext cx="2266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Bukan sekadar basic financials. Shariah compliance reports dan AAOIFI-aligned evidence mesti accessible untuk small organizations.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1C9B82-E394-4856-BBBB-772D39B78577}"/>
              </a:ext>
            </a:extLst>
          </p:cNvPr>
          <p:cNvSpPr>
            <a:spLocks noGrp="1"/>
          </p:cNvSpPr>
          <p:nvPr/>
        </p:nvSpPr>
        <p:spPr>
          <a:xfrm>
            <a:off x="8039100" y="2705100"/>
            <a:ext cx="3009900" cy="21717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248B83-1307-4438-9CE8-4FF708F903E4}"/>
              </a:ext>
            </a:extLst>
          </p:cNvPr>
          <p:cNvSpPr>
            <a:spLocks noGrp="1"/>
          </p:cNvSpPr>
          <p:nvPr/>
        </p:nvSpPr>
        <p:spPr>
          <a:xfrm>
            <a:off x="8305800" y="29908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7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06EE5A-95DC-474A-B7B8-627C644201D5}"/>
              </a:ext>
            </a:extLst>
          </p:cNvPr>
          <p:cNvSpPr>
            <a:spLocks noGrp="1"/>
          </p:cNvSpPr>
          <p:nvPr/>
        </p:nvSpPr>
        <p:spPr>
          <a:xfrm>
            <a:off x="8305800" y="36766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— Accountability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EDC11-3CE1-4A52-9CC0-5F8547FFBC7F}"/>
              </a:ext>
            </a:extLst>
          </p:cNvPr>
          <p:cNvSpPr>
            <a:spLocks noGrp="1"/>
          </p:cNvSpPr>
          <p:nvPr/>
        </p:nvSpPr>
        <p:spPr>
          <a:xfrm>
            <a:off x="8305800" y="4057650"/>
            <a:ext cx="2266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significant action dilog, timestamped dan preserved. Reports, certification decisions dan scores disimpan sebagai history.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571EA-2C7E-459A-A230-3EC3D04E60E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/about - Our principles, Three pillars of Amanah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3C40C3-7325-4F37-8212-2D96A129E1D9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694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D283435-D814-4F39-970C-14C40457A5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C3F7ACBA-E7B8-45EE-B76A-48815D84AB5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2FFAA901-B2D8-467C-A5D0-B4C3C01D266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11290-4035-45B3-AB36-4BBC51247B6A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Platform ini response kepada tanggungjawab Islamic governance.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8A23F-9836-4CA8-90BD-FD4EAC3297F8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2571750" cy="5905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27D4DD-C259-4337-83C9-E2A1B8B52547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Surah At-Tawbah 9:60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9134A-0B51-4498-A6DE-E5D7B49AF8A7}"/>
              </a:ext>
            </a:extLst>
          </p:cNvPr>
          <p:cNvSpPr>
            <a:spLocks noGrp="1"/>
          </p:cNvSpPr>
          <p:nvPr/>
        </p:nvSpPr>
        <p:spPr>
          <a:xfrm>
            <a:off x="3714750" y="2133600"/>
            <a:ext cx="2571750" cy="590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8ED9FC-BEA6-42D5-AF62-C6C4827E9250}"/>
              </a:ext>
            </a:extLst>
          </p:cNvPr>
          <p:cNvSpPr>
            <a:spLocks noGrp="1"/>
          </p:cNvSpPr>
          <p:nvPr/>
        </p:nvSpPr>
        <p:spPr>
          <a:xfrm>
            <a:off x="3943350" y="23050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1 governance gate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9B7DCB-C87C-4848-9DFD-D7C6306BD93A}"/>
              </a:ext>
            </a:extLst>
          </p:cNvPr>
          <p:cNvSpPr>
            <a:spLocks noGrp="1"/>
          </p:cNvSpPr>
          <p:nvPr/>
        </p:nvSpPr>
        <p:spPr>
          <a:xfrm>
            <a:off x="6667500" y="22288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Kategori penerima Zakat dan peranan Amil memerlukan structure, authority dan accountability.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A6B6D9-9A57-455D-959F-9B6F058AA597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2571750" cy="590550"/>
          </a:xfrm>
          <a:prstGeom prst="rect">
            <a:avLst/>
          </a:prstGeom>
          <a:solidFill>
            <a:srgbClr val="EFE7D8"/>
          </a:solidFill>
          <a:ln w="9525">
            <a:solidFill>
              <a:srgbClr val="DED4C4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4F5781-893B-49B9-ACDA-B3FBF8DB5666}"/>
              </a:ext>
            </a:extLst>
          </p:cNvPr>
          <p:cNvSpPr>
            <a:spLocks noGrp="1"/>
          </p:cNvSpPr>
          <p:nvPr/>
        </p:nvSpPr>
        <p:spPr>
          <a:xfrm>
            <a:off x="990600" y="32004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FF4D65-26CD-4449-8BCD-FC779F699C73}"/>
              </a:ext>
            </a:extLst>
          </p:cNvPr>
          <p:cNvSpPr>
            <a:spLocks noGrp="1"/>
          </p:cNvSpPr>
          <p:nvPr/>
        </p:nvSpPr>
        <p:spPr>
          <a:xfrm>
            <a:off x="3714750" y="3009900"/>
            <a:ext cx="2571750" cy="590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B3DFE8-C16F-4B13-9084-E94AD736E085}"/>
              </a:ext>
            </a:extLst>
          </p:cNvPr>
          <p:cNvSpPr>
            <a:spLocks noGrp="1"/>
          </p:cNvSpPr>
          <p:nvPr/>
        </p:nvSpPr>
        <p:spPr>
          <a:xfrm>
            <a:off x="3943350" y="3181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2 financial transparency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D9D8A6-D3C8-4D5C-9908-D9353EBB21E6}"/>
              </a:ext>
            </a:extLst>
          </p:cNvPr>
          <p:cNvSpPr>
            <a:spLocks noGrp="1"/>
          </p:cNvSpPr>
          <p:nvPr/>
        </p:nvSpPr>
        <p:spPr>
          <a:xfrm>
            <a:off x="6667500" y="31051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Dana charity ialah amanah; misuse atau negligence perlu dicegah melalui transparent records.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9656CE-84B1-498C-8155-816A6846D2B0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2571750" cy="5905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63062C-78C5-4D02-81E3-C388FCD4D813}"/>
              </a:ext>
            </a:extLst>
          </p:cNvPr>
          <p:cNvSpPr>
            <a:spLocks noGrp="1"/>
          </p:cNvSpPr>
          <p:nvPr/>
        </p:nvSpPr>
        <p:spPr>
          <a:xfrm>
            <a:off x="990600" y="40767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1B7DB7-D602-47FA-A6DA-A1D03B84A31C}"/>
              </a:ext>
            </a:extLst>
          </p:cNvPr>
          <p:cNvSpPr>
            <a:spLocks noGrp="1"/>
          </p:cNvSpPr>
          <p:nvPr/>
        </p:nvSpPr>
        <p:spPr>
          <a:xfrm>
            <a:off x="3714750" y="3886200"/>
            <a:ext cx="2571750" cy="590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5193AE-ACE7-4335-802F-C5C5EA664E07}"/>
              </a:ext>
            </a:extLst>
          </p:cNvPr>
          <p:cNvSpPr>
            <a:spLocks noGrp="1"/>
          </p:cNvSpPr>
          <p:nvPr/>
        </p:nvSpPr>
        <p:spPr>
          <a:xfrm>
            <a:off x="3943350" y="40576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3 &amp; 4 impact reporting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A82E5F-2270-45D8-B9F9-8905ABF30B4C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Beneficiary dignity menuntut evidence tentang cara bantuan sampai, bukan hanya jumlah wang dibelanja.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5917F2-E517-44B2-BF71-6ED76BE95DF4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2571750" cy="590550"/>
          </a:xfrm>
          <a:prstGeom prst="rect">
            <a:avLst/>
          </a:prstGeom>
          <a:solidFill>
            <a:srgbClr val="EFE7D8"/>
          </a:solidFill>
          <a:ln w="9525">
            <a:solidFill>
              <a:srgbClr val="DED4C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7B1F80-950D-4C8E-9BA9-873ADDA6456F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AAOIFI Standard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AD7CC0-956E-421B-9E73-6EC7E86F2846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2571750" cy="590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98CB6A-9D66-48A4-8976-6B3A0EDFC024}"/>
              </a:ext>
            </a:extLst>
          </p:cNvPr>
          <p:cNvSpPr>
            <a:spLocks noGrp="1"/>
          </p:cNvSpPr>
          <p:nvPr/>
        </p:nvSpPr>
        <p:spPr>
          <a:xfrm>
            <a:off x="3943350" y="4933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5 Shariah governance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ED612C-2993-444A-ABB6-D3E061EE85A5}"/>
              </a:ext>
            </a:extLst>
          </p:cNvPr>
          <p:cNvSpPr>
            <a:spLocks noGrp="1"/>
          </p:cNvSpPr>
          <p:nvPr/>
        </p:nvSpPr>
        <p:spPr>
          <a:xfrm>
            <a:off x="6667500" y="48577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Shariah supervision, Zakat/Waqf governance dan documented rulings menjadi sebahagian scoring.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5ECA8E-C026-4509-9D0C-EF3AB72733D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Sumber: /about - Built on Quran and Sunnah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3B38E4-C82A-4CFD-BFE3-3A90384901B6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3047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5A97EB2-4A5F-4491-BEE1-BBD8C27605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7E771FFA-B80B-4249-B418-F14FE03A354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07D7618A-B23C-4EF5-890E-0B9B5A1BFDA9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DONOR JOURNEY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00D1F-FBBB-4FD5-9979-D752A60303F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Donor journey dibuat ringkas, tetapi verification layer tetap kuat.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6C1CB-EAAD-4DCF-91E8-9F40024640FD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152650" cy="16383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992EFF-20DE-439E-9AE9-9D197D28C9B6}"/>
              </a:ext>
            </a:extLst>
          </p:cNvPr>
          <p:cNvSpPr>
            <a:spLocks noGrp="1"/>
          </p:cNvSpPr>
          <p:nvPr/>
        </p:nvSpPr>
        <p:spPr>
          <a:xfrm>
            <a:off x="971550" y="30289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43CCE2-2E2F-4346-86EB-3357A484DCD1}"/>
              </a:ext>
            </a:extLst>
          </p:cNvPr>
          <p:cNvSpPr>
            <a:spLocks noGrp="1"/>
          </p:cNvSpPr>
          <p:nvPr/>
        </p:nvSpPr>
        <p:spPr>
          <a:xfrm>
            <a:off x="971550" y="33909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59EDF-1416-43BB-884D-CECC8514D448}"/>
              </a:ext>
            </a:extLst>
          </p:cNvPr>
          <p:cNvSpPr>
            <a:spLocks noGrp="1"/>
          </p:cNvSpPr>
          <p:nvPr/>
        </p:nvSpPr>
        <p:spPr>
          <a:xfrm>
            <a:off x="971550" y="3771900"/>
            <a:ext cx="1600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Browse directory; filter by state, org type, Amanah tier atau fund type.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A1F2FC-8612-4936-AC65-643E93921E3A}"/>
              </a:ext>
            </a:extLst>
          </p:cNvPr>
          <p:cNvSpPr>
            <a:spLocks noGrp="1"/>
          </p:cNvSpPr>
          <p:nvPr/>
        </p:nvSpPr>
        <p:spPr>
          <a:xfrm>
            <a:off x="2914650" y="3562350"/>
            <a:ext cx="57150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1CCDD7-5F40-4773-B9C0-7E62E562B8A3}"/>
              </a:ext>
            </a:extLst>
          </p:cNvPr>
          <p:cNvSpPr>
            <a:spLocks noGrp="1"/>
          </p:cNvSpPr>
          <p:nvPr/>
        </p:nvSpPr>
        <p:spPr>
          <a:xfrm>
            <a:off x="3486150" y="2781300"/>
            <a:ext cx="2152650" cy="16383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234B09-6357-4627-A29C-6D9E27AC28BD}"/>
              </a:ext>
            </a:extLst>
          </p:cNvPr>
          <p:cNvSpPr>
            <a:spLocks noGrp="1"/>
          </p:cNvSpPr>
          <p:nvPr/>
        </p:nvSpPr>
        <p:spPr>
          <a:xfrm>
            <a:off x="3695700" y="30289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21AAE-489C-4BE6-9E19-199CB846A4C4}"/>
              </a:ext>
            </a:extLst>
          </p:cNvPr>
          <p:cNvSpPr>
            <a:spLocks noGrp="1"/>
          </p:cNvSpPr>
          <p:nvPr/>
        </p:nvSpPr>
        <p:spPr>
          <a:xfrm>
            <a:off x="3695700" y="33909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72336A-F6B5-49E4-BED4-FE07D828305F}"/>
              </a:ext>
            </a:extLst>
          </p:cNvPr>
          <p:cNvSpPr>
            <a:spLocks noGrp="1"/>
          </p:cNvSpPr>
          <p:nvPr/>
        </p:nvSpPr>
        <p:spPr>
          <a:xfrm>
            <a:off x="3695700" y="3771900"/>
            <a:ext cx="1600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Baca verified reports, financial statements, scholar notes dan score breakdown.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560AE-BA77-47EE-BBD5-D9CB4FA3AD69}"/>
              </a:ext>
            </a:extLst>
          </p:cNvPr>
          <p:cNvSpPr>
            <a:spLocks noGrp="1"/>
          </p:cNvSpPr>
          <p:nvPr/>
        </p:nvSpPr>
        <p:spPr>
          <a:xfrm>
            <a:off x="5638800" y="3562350"/>
            <a:ext cx="57150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A333C7-9A7B-4AF1-A652-8649077FA5EA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152650" cy="16383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6D7C04-652D-4E85-8C56-20A1AE80B71A}"/>
              </a:ext>
            </a:extLst>
          </p:cNvPr>
          <p:cNvSpPr>
            <a:spLocks noGrp="1"/>
          </p:cNvSpPr>
          <p:nvPr/>
        </p:nvSpPr>
        <p:spPr>
          <a:xfrm>
            <a:off x="6419850" y="30289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A9011-40B1-4ED1-909A-2E20929E7AA5}"/>
              </a:ext>
            </a:extLst>
          </p:cNvPr>
          <p:cNvSpPr>
            <a:spLocks noGrp="1"/>
          </p:cNvSpPr>
          <p:nvPr/>
        </p:nvSpPr>
        <p:spPr>
          <a:xfrm>
            <a:off x="6419850" y="33909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716697-0785-46E1-95FD-A83B5891C914}"/>
              </a:ext>
            </a:extLst>
          </p:cNvPr>
          <p:cNvSpPr>
            <a:spLocks noGrp="1"/>
          </p:cNvSpPr>
          <p:nvPr/>
        </p:nvSpPr>
        <p:spPr>
          <a:xfrm>
            <a:off x="6419850" y="3771900"/>
            <a:ext cx="1600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Payment direct ke charity via ToyyibPay; AmanahHub tidak memegang dana.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433641-F59B-4820-B431-176D4CB0E4DA}"/>
              </a:ext>
            </a:extLst>
          </p:cNvPr>
          <p:cNvSpPr>
            <a:spLocks noGrp="1"/>
          </p:cNvSpPr>
          <p:nvPr/>
        </p:nvSpPr>
        <p:spPr>
          <a:xfrm>
            <a:off x="8362950" y="3562350"/>
            <a:ext cx="57150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374E96-D979-47FA-901A-D46F7C9139CD}"/>
              </a:ext>
            </a:extLst>
          </p:cNvPr>
          <p:cNvSpPr>
            <a:spLocks noGrp="1"/>
          </p:cNvSpPr>
          <p:nvPr/>
        </p:nvSpPr>
        <p:spPr>
          <a:xfrm>
            <a:off x="8934450" y="2781300"/>
            <a:ext cx="2152650" cy="1638300"/>
          </a:xfrm>
          <a:prstGeom prst="rect">
            <a:avLst/>
          </a:prstGeom>
          <a:solidFill>
            <a:srgbClr val="253B35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2396BE-AC31-4451-9103-0ADE129CE675}"/>
              </a:ext>
            </a:extLst>
          </p:cNvPr>
          <p:cNvSpPr>
            <a:spLocks noGrp="1"/>
          </p:cNvSpPr>
          <p:nvPr/>
        </p:nvSpPr>
        <p:spPr>
          <a:xfrm>
            <a:off x="9144000" y="30289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C21B3B-99CB-4D88-868E-956D2EE20669}"/>
              </a:ext>
            </a:extLst>
          </p:cNvPr>
          <p:cNvSpPr>
            <a:spLocks noGrp="1"/>
          </p:cNvSpPr>
          <p:nvPr/>
        </p:nvSpPr>
        <p:spPr>
          <a:xfrm>
            <a:off x="9144000" y="33909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2C11CE-96F5-439F-8BE3-4619A69BB368}"/>
              </a:ext>
            </a:extLst>
          </p:cNvPr>
          <p:cNvSpPr>
            <a:spLocks noGrp="1"/>
          </p:cNvSpPr>
          <p:nvPr/>
        </p:nvSpPr>
        <p:spPr>
          <a:xfrm>
            <a:off x="9144000" y="3771900"/>
            <a:ext cx="1600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Akaun percuma untuk donation history, receipts dan follow impact.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3566F0-3D12-4B57-A7DB-DA8AE8BEADA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/how-it-works - Your giving journey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45014C-7EEE-4F3F-9396-17F84F563C0C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931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B8ACB2E-7872-4B6E-8AA9-10551F3FAE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90A0B21F-574D-49F2-96B9-A166E43A618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63E94F0C-84A7-4DA4-BAB4-84147B182EC4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CERTIFICATION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5C237C-6B61-44B0-9692-A7F61D9FF7C2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CTCF ialah five-layer framework; Layer 1 ialah gate.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F7D1-4CAE-4042-B192-48A31A4C04D7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762000" cy="4381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E2A38-F898-4049-8200-88EFFF444E12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4D98C5-8470-4210-842E-FD6E5DF20C81}"/>
              </a:ext>
            </a:extLst>
          </p:cNvPr>
          <p:cNvSpPr>
            <a:spLocks noGrp="1"/>
          </p:cNvSpPr>
          <p:nvPr/>
        </p:nvSpPr>
        <p:spPr>
          <a:xfrm>
            <a:off x="1885950" y="22669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8C6187-D45F-4BCD-84D8-E01F8E0E4BA9}"/>
              </a:ext>
            </a:extLst>
          </p:cNvPr>
          <p:cNvSpPr>
            <a:spLocks noGrp="1"/>
          </p:cNvSpPr>
          <p:nvPr/>
        </p:nvSpPr>
        <p:spPr>
          <a:xfrm>
            <a:off x="4953000" y="22860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12068E-983D-438A-BDB9-04750FA232B2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3333750" cy="762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D29AFF-FC39-465A-BC89-1E1AC60C8032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762000" cy="438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948782-A420-4822-9337-6AFC0B7A4511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E7D3C-9556-4A7D-A5AB-D6BA627D0144}"/>
              </a:ext>
            </a:extLst>
          </p:cNvPr>
          <p:cNvSpPr>
            <a:spLocks noGrp="1"/>
          </p:cNvSpPr>
          <p:nvPr/>
        </p:nvSpPr>
        <p:spPr>
          <a:xfrm>
            <a:off x="1885950" y="29146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C7ADBF-1C99-49E6-92CB-C8A6137DF3DB}"/>
              </a:ext>
            </a:extLst>
          </p:cNvPr>
          <p:cNvSpPr>
            <a:spLocks noGrp="1"/>
          </p:cNvSpPr>
          <p:nvPr/>
        </p:nvSpPr>
        <p:spPr>
          <a:xfrm>
            <a:off x="4953000" y="29337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606ECD-D91F-414D-A9E5-33DAD659F022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3048000" cy="762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4148A5-E665-4790-B91E-95D504E56CB8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762000" cy="438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CB1373-1194-4092-90CC-95A2C3770D2A}"/>
              </a:ext>
            </a:extLst>
          </p:cNvPr>
          <p:cNvSpPr>
            <a:spLocks noGrp="1"/>
          </p:cNvSpPr>
          <p:nvPr/>
        </p:nvSpPr>
        <p:spPr>
          <a:xfrm>
            <a:off x="1104900" y="36004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A08F38-1503-40EB-86C6-962C7B1E1CC5}"/>
              </a:ext>
            </a:extLst>
          </p:cNvPr>
          <p:cNvSpPr>
            <a:spLocks noGrp="1"/>
          </p:cNvSpPr>
          <p:nvPr/>
        </p:nvSpPr>
        <p:spPr>
          <a:xfrm>
            <a:off x="1885950" y="35623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20C4D3-370F-4C91-AF48-3FCA5FBF2EE0}"/>
              </a:ext>
            </a:extLst>
          </p:cNvPr>
          <p:cNvSpPr>
            <a:spLocks noGrp="1"/>
          </p:cNvSpPr>
          <p:nvPr/>
        </p:nvSpPr>
        <p:spPr>
          <a:xfrm>
            <a:off x="4953000" y="35814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3B0412-5CFA-4B4F-947E-A436A30C96D9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2762250" cy="762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B77DD5-D75F-429E-A141-58880568098A}"/>
              </a:ext>
            </a:extLst>
          </p:cNvPr>
          <p:cNvSpPr>
            <a:spLocks noGrp="1"/>
          </p:cNvSpPr>
          <p:nvPr/>
        </p:nvSpPr>
        <p:spPr>
          <a:xfrm>
            <a:off x="819150" y="4133850"/>
            <a:ext cx="762000" cy="438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03C288-3F54-4C1E-9238-C51C8297EBDF}"/>
              </a:ext>
            </a:extLst>
          </p:cNvPr>
          <p:cNvSpPr>
            <a:spLocks noGrp="1"/>
          </p:cNvSpPr>
          <p:nvPr/>
        </p:nvSpPr>
        <p:spPr>
          <a:xfrm>
            <a:off x="1104900" y="42481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498056-83CF-4D20-BD46-9ADC5163FCA0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9037C2-2682-48E6-83EA-3D693BCF85EF}"/>
              </a:ext>
            </a:extLst>
          </p:cNvPr>
          <p:cNvSpPr>
            <a:spLocks noGrp="1"/>
          </p:cNvSpPr>
          <p:nvPr/>
        </p:nvSpPr>
        <p:spPr>
          <a:xfrm>
            <a:off x="4953000" y="42291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F60C7F-0274-4228-9DBA-20615DE53558}"/>
              </a:ext>
            </a:extLst>
          </p:cNvPr>
          <p:cNvSpPr>
            <a:spLocks noGrp="1"/>
          </p:cNvSpPr>
          <p:nvPr/>
        </p:nvSpPr>
        <p:spPr>
          <a:xfrm>
            <a:off x="6096000" y="4343400"/>
            <a:ext cx="2476500" cy="762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5904E6-2920-4135-B771-233FC6CE589C}"/>
              </a:ext>
            </a:extLst>
          </p:cNvPr>
          <p:cNvSpPr>
            <a:spLocks noGrp="1"/>
          </p:cNvSpPr>
          <p:nvPr/>
        </p:nvSpPr>
        <p:spPr>
          <a:xfrm>
            <a:off x="819150" y="4781550"/>
            <a:ext cx="762000" cy="4381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888A6D-36FB-41F4-A9BD-9F723B51A835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F9DBC4-A671-4307-A491-F2B77A8AD54B}"/>
              </a:ext>
            </a:extLst>
          </p:cNvPr>
          <p:cNvSpPr>
            <a:spLocks noGrp="1"/>
          </p:cNvSpPr>
          <p:nvPr/>
        </p:nvSpPr>
        <p:spPr>
          <a:xfrm>
            <a:off x="1885950" y="48577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169192-75AC-41B2-AA9D-AC72A9B10E5D}"/>
              </a:ext>
            </a:extLst>
          </p:cNvPr>
          <p:cNvSpPr>
            <a:spLocks noGrp="1"/>
          </p:cNvSpPr>
          <p:nvPr/>
        </p:nvSpPr>
        <p:spPr>
          <a:xfrm>
            <a:off x="4953000" y="48768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A257E9-5E4F-4F5F-8D84-045BDF9A41D7}"/>
              </a:ext>
            </a:extLst>
          </p:cNvPr>
          <p:cNvSpPr>
            <a:spLocks noGrp="1"/>
          </p:cNvSpPr>
          <p:nvPr/>
        </p:nvSpPr>
        <p:spPr>
          <a:xfrm>
            <a:off x="6096000" y="4991100"/>
            <a:ext cx="2190750" cy="762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507EDE-1811-4FBE-AC90-C50144DA9882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190750" cy="150495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DFBD2C-C313-4162-8692-E07B3389FCE5}"/>
              </a:ext>
            </a:extLst>
          </p:cNvPr>
          <p:cNvSpPr>
            <a:spLocks noGrp="1"/>
          </p:cNvSpPr>
          <p:nvPr/>
        </p:nvSpPr>
        <p:spPr>
          <a:xfrm>
            <a:off x="8820150" y="2362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tiers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207BE6-67D2-4EFF-87F6-9BB45913E24B}"/>
              </a:ext>
            </a:extLst>
          </p:cNvPr>
          <p:cNvSpPr>
            <a:spLocks noGrp="1"/>
          </p:cNvSpPr>
          <p:nvPr/>
        </p:nvSpPr>
        <p:spPr>
          <a:xfrm>
            <a:off x="8820150" y="2743200"/>
            <a:ext cx="1619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1AAE9B-759B-418A-AB28-23EB58A06C3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Sumber: /how-it-works - CTCF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3F5708-1905-453F-9C6B-9E4D83957150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458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18F75BB-CAC8-4F64-8916-2791E0BF8A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2E3E3B52-886E-4CE7-A064-CFF6C21F415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D6BB0416-9E86-4ACF-B7CE-BCBFBBFB535D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2AE79B-DD8E-4C30-B929-5C7675E6FBA7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 Index ialah living score, bukan self-reported claim.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3DC83-5DC0-4B7B-B0A6-3BEA226DAAFD}"/>
              </a:ext>
            </a:extLst>
          </p:cNvPr>
          <p:cNvSpPr>
            <a:spLocks noGrp="1"/>
          </p:cNvSpPr>
          <p:nvPr/>
        </p:nvSpPr>
        <p:spPr>
          <a:xfrm>
            <a:off x="1047750" y="23622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FA460-6E8E-4966-9311-31CB934DEF13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4095750" cy="1143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FDBA3-B8A9-4369-A44A-B888B5348DCE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3429000" cy="1143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9C6E6-E373-4D8A-B903-C5E38422483F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92862-2536-4730-B3B5-FE96FC3F4A11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51D59E-C73B-42EE-BC41-984996D774B9}"/>
              </a:ext>
            </a:extLst>
          </p:cNvPr>
          <p:cNvSpPr>
            <a:spLocks noGrp="1"/>
          </p:cNvSpPr>
          <p:nvPr/>
        </p:nvSpPr>
        <p:spPr>
          <a:xfrm>
            <a:off x="2571750" y="2952750"/>
            <a:ext cx="4095750" cy="1143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BE9DF5-E489-4DFB-9DAC-38814F55D618}"/>
              </a:ext>
            </a:extLst>
          </p:cNvPr>
          <p:cNvSpPr>
            <a:spLocks noGrp="1"/>
          </p:cNvSpPr>
          <p:nvPr/>
        </p:nvSpPr>
        <p:spPr>
          <a:xfrm>
            <a:off x="2571750" y="2952750"/>
            <a:ext cx="2857500" cy="1143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70B2D9-46BB-4E67-A6F6-AB137E8053B3}"/>
              </a:ext>
            </a:extLst>
          </p:cNvPr>
          <p:cNvSpPr>
            <a:spLocks noGrp="1"/>
          </p:cNvSpPr>
          <p:nvPr/>
        </p:nvSpPr>
        <p:spPr>
          <a:xfrm>
            <a:off x="6858000" y="28956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068DEA-340A-4B09-8451-B17C2496367A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FE32CC-A514-46F1-8FE3-0348DBCAC2DE}"/>
              </a:ext>
            </a:extLst>
          </p:cNvPr>
          <p:cNvSpPr>
            <a:spLocks noGrp="1"/>
          </p:cNvSpPr>
          <p:nvPr/>
        </p:nvSpPr>
        <p:spPr>
          <a:xfrm>
            <a:off x="2571750" y="3486150"/>
            <a:ext cx="4095750" cy="1143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28692D-EA55-4EEF-A887-28BDD223AF0D}"/>
              </a:ext>
            </a:extLst>
          </p:cNvPr>
          <p:cNvSpPr>
            <a:spLocks noGrp="1"/>
          </p:cNvSpPr>
          <p:nvPr/>
        </p:nvSpPr>
        <p:spPr>
          <a:xfrm>
            <a:off x="2571750" y="3486150"/>
            <a:ext cx="2286000" cy="1143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CC1634-B365-45AB-84CC-BCAC8AB95FAE}"/>
              </a:ext>
            </a:extLst>
          </p:cNvPr>
          <p:cNvSpPr>
            <a:spLocks noGrp="1"/>
          </p:cNvSpPr>
          <p:nvPr/>
        </p:nvSpPr>
        <p:spPr>
          <a:xfrm>
            <a:off x="6858000" y="34290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5D2ABA-A9E0-4E05-B905-9DEEE66B42FB}"/>
              </a:ext>
            </a:extLst>
          </p:cNvPr>
          <p:cNvSpPr>
            <a:spLocks noGrp="1"/>
          </p:cNvSpPr>
          <p:nvPr/>
        </p:nvSpPr>
        <p:spPr>
          <a:xfrm>
            <a:off x="1047750" y="3962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145D20-1349-4DF9-972B-B41722E8EC84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4095750" cy="1143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A4DF26-F378-4271-A595-5B9D84B2897C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1714500" cy="1143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266AE6-336C-4B7E-B319-D5DEA4045C38}"/>
              </a:ext>
            </a:extLst>
          </p:cNvPr>
          <p:cNvSpPr>
            <a:spLocks noGrp="1"/>
          </p:cNvSpPr>
          <p:nvPr/>
        </p:nvSpPr>
        <p:spPr>
          <a:xfrm>
            <a:off x="6858000" y="39624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10DC09-70BB-468E-A93C-2468823FFA32}"/>
              </a:ext>
            </a:extLst>
          </p:cNvPr>
          <p:cNvSpPr>
            <a:spLocks noGrp="1"/>
          </p:cNvSpPr>
          <p:nvPr/>
        </p:nvSpPr>
        <p:spPr>
          <a:xfrm>
            <a:off x="1047750" y="44958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43896D-018A-4C6F-893D-BA67EE2C3647}"/>
              </a:ext>
            </a:extLst>
          </p:cNvPr>
          <p:cNvSpPr>
            <a:spLocks noGrp="1"/>
          </p:cNvSpPr>
          <p:nvPr/>
        </p:nvSpPr>
        <p:spPr>
          <a:xfrm>
            <a:off x="2571750" y="4552950"/>
            <a:ext cx="4095750" cy="1143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B5597D-A26B-4439-BC40-37C845928EC9}"/>
              </a:ext>
            </a:extLst>
          </p:cNvPr>
          <p:cNvSpPr>
            <a:spLocks noGrp="1"/>
          </p:cNvSpPr>
          <p:nvPr/>
        </p:nvSpPr>
        <p:spPr>
          <a:xfrm>
            <a:off x="2571750" y="4552950"/>
            <a:ext cx="1714500" cy="1143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91EC70-31ED-4C7C-AF1C-8A4C7BFBD485}"/>
              </a:ext>
            </a:extLst>
          </p:cNvPr>
          <p:cNvSpPr>
            <a:spLocks noGrp="1"/>
          </p:cNvSpPr>
          <p:nvPr/>
        </p:nvSpPr>
        <p:spPr>
          <a:xfrm>
            <a:off x="6858000" y="44958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FC5856-7275-420C-8A88-A78732456801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2571750" cy="17907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AA89C1-E2EE-4CB8-9F18-20617EE108DA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Computed from verified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5470A6-9DD2-4743-8C62-AD8B6CF8BB8F}"/>
              </a:ext>
            </a:extLst>
          </p:cNvPr>
          <p:cNvSpPr>
            <a:spLocks noGrp="1"/>
          </p:cNvSpPr>
          <p:nvPr/>
        </p:nvSpPr>
        <p:spPr>
          <a:xfrm>
            <a:off x="8382000" y="2876550"/>
            <a:ext cx="1962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Updated apabila report verified, certification renewed atau trust event recorded. Setiap score version disimpan dengan timestamp, trigger event dan breakdown.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080AA3-90E1-4267-BBA8-1FF8C377371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/how-it-works - Amanah Index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58D6E0-6902-40A8-AC26-86C4BEE1DFD5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928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70C38DA-665C-45E5-8503-CE636E6587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1316F86E-7CF1-47E8-9E9B-1349031529A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C05EA191-040B-499C-A1D5-8C8144635F32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DONATION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C6CB2E-03F3-4ADF-B44A-9DE996176A4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9144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Non-custodial guarantee: AGP ialah transparency layer, bukan payment intermediary.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4B1C4-CDBD-47AD-8250-72B95098D5FF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1695450" cy="9906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5DA14-7226-4292-9561-DEF691389A15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1E7ECA-6E29-49B0-AC0D-F82CCE868F9E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pilih charity &amp; amount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A196F-6A0F-4BE2-B348-00E4191E014D}"/>
              </a:ext>
            </a:extLst>
          </p:cNvPr>
          <p:cNvSpPr>
            <a:spLocks noGrp="1"/>
          </p:cNvSpPr>
          <p:nvPr/>
        </p:nvSpPr>
        <p:spPr>
          <a:xfrm>
            <a:off x="2362200" y="3390900"/>
            <a:ext cx="4953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02BC7B-5409-4262-BB74-3E0A07CF3DCE}"/>
              </a:ext>
            </a:extLst>
          </p:cNvPr>
          <p:cNvSpPr>
            <a:spLocks noGrp="1"/>
          </p:cNvSpPr>
          <p:nvPr/>
        </p:nvSpPr>
        <p:spPr>
          <a:xfrm>
            <a:off x="2857500" y="2914650"/>
            <a:ext cx="1695450" cy="9906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4811B-736B-449B-A0F4-4F4EE8956B49}"/>
              </a:ext>
            </a:extLst>
          </p:cNvPr>
          <p:cNvSpPr>
            <a:spLocks noGrp="1"/>
          </p:cNvSpPr>
          <p:nvPr/>
        </p:nvSpPr>
        <p:spPr>
          <a:xfrm>
            <a:off x="3028950" y="31432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98D150-9486-475C-B255-ECD040E6F26F}"/>
              </a:ext>
            </a:extLst>
          </p:cNvPr>
          <p:cNvSpPr>
            <a:spLocks noGrp="1"/>
          </p:cNvSpPr>
          <p:nvPr/>
        </p:nvSpPr>
        <p:spPr>
          <a:xfrm>
            <a:off x="3028950" y="3467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payment processed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709285-B121-49B2-8D97-AC57DF56C36B}"/>
              </a:ext>
            </a:extLst>
          </p:cNvPr>
          <p:cNvSpPr>
            <a:spLocks noGrp="1"/>
          </p:cNvSpPr>
          <p:nvPr/>
        </p:nvSpPr>
        <p:spPr>
          <a:xfrm>
            <a:off x="4552950" y="3390900"/>
            <a:ext cx="4953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564CCC-1DE6-49F2-A30A-B7D879A5A8C9}"/>
              </a:ext>
            </a:extLst>
          </p:cNvPr>
          <p:cNvSpPr>
            <a:spLocks noGrp="1"/>
          </p:cNvSpPr>
          <p:nvPr/>
        </p:nvSpPr>
        <p:spPr>
          <a:xfrm>
            <a:off x="5048250" y="2914650"/>
            <a:ext cx="1695450" cy="9906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FB94B-0581-491E-92A7-14951564F53D}"/>
              </a:ext>
            </a:extLst>
          </p:cNvPr>
          <p:cNvSpPr>
            <a:spLocks noGrp="1"/>
          </p:cNvSpPr>
          <p:nvPr/>
        </p:nvSpPr>
        <p:spPr>
          <a:xfrm>
            <a:off x="5219700" y="31432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account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387DC0-72AB-4F93-AFE1-D670FF1BCE60}"/>
              </a:ext>
            </a:extLst>
          </p:cNvPr>
          <p:cNvSpPr>
            <a:spLocks noGrp="1"/>
          </p:cNvSpPr>
          <p:nvPr/>
        </p:nvSpPr>
        <p:spPr>
          <a:xfrm>
            <a:off x="5219700" y="3467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funds diterima terus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E95B9-FA44-4DDF-9504-E7A748611A58}"/>
              </a:ext>
            </a:extLst>
          </p:cNvPr>
          <p:cNvSpPr>
            <a:spLocks noGrp="1"/>
          </p:cNvSpPr>
          <p:nvPr/>
        </p:nvSpPr>
        <p:spPr>
          <a:xfrm>
            <a:off x="6743700" y="3390900"/>
            <a:ext cx="4953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F0EACB-0337-4300-B530-AEBF9928254B}"/>
              </a:ext>
            </a:extLst>
          </p:cNvPr>
          <p:cNvSpPr>
            <a:spLocks noGrp="1"/>
          </p:cNvSpPr>
          <p:nvPr/>
        </p:nvSpPr>
        <p:spPr>
          <a:xfrm>
            <a:off x="7239000" y="2914650"/>
            <a:ext cx="1695450" cy="9906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28AC44-2623-47D0-82DB-4C1E170E2AEC}"/>
              </a:ext>
            </a:extLst>
          </p:cNvPr>
          <p:cNvSpPr>
            <a:spLocks noGrp="1"/>
          </p:cNvSpPr>
          <p:nvPr/>
        </p:nvSpPr>
        <p:spPr>
          <a:xfrm>
            <a:off x="7410450" y="31432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record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09BF2A-7297-487B-A432-EFA762F196F7}"/>
              </a:ext>
            </a:extLst>
          </p:cNvPr>
          <p:cNvSpPr>
            <a:spLocks noGrp="1"/>
          </p:cNvSpPr>
          <p:nvPr/>
        </p:nvSpPr>
        <p:spPr>
          <a:xfrm>
            <a:off x="7410450" y="3467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 confirms, receipt generated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7A98C2-F21C-4D15-88AD-E7B2D2F1AF5C}"/>
              </a:ext>
            </a:extLst>
          </p:cNvPr>
          <p:cNvSpPr>
            <a:spLocks noGrp="1"/>
          </p:cNvSpPr>
          <p:nvPr/>
        </p:nvSpPr>
        <p:spPr>
          <a:xfrm>
            <a:off x="8934450" y="3390900"/>
            <a:ext cx="4953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FAD546-D8BF-4204-897D-B2AFC9495855}"/>
              </a:ext>
            </a:extLst>
          </p:cNvPr>
          <p:cNvSpPr>
            <a:spLocks noGrp="1"/>
          </p:cNvSpPr>
          <p:nvPr/>
        </p:nvSpPr>
        <p:spPr>
          <a:xfrm>
            <a:off x="9429750" y="2914650"/>
            <a:ext cx="1695450" cy="9906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2F38D-1A87-42F2-9CB3-F6FEA1BA081D}"/>
              </a:ext>
            </a:extLst>
          </p:cNvPr>
          <p:cNvSpPr>
            <a:spLocks noGrp="1"/>
          </p:cNvSpPr>
          <p:nvPr/>
        </p:nvSpPr>
        <p:spPr>
          <a:xfrm>
            <a:off x="9601200" y="31432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report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8F65FC-0238-4131-9749-1E86D91800AF}"/>
              </a:ext>
            </a:extLst>
          </p:cNvPr>
          <p:cNvSpPr>
            <a:spLocks noGrp="1"/>
          </p:cNvSpPr>
          <p:nvPr/>
        </p:nvSpPr>
        <p:spPr>
          <a:xfrm>
            <a:off x="9601200" y="3467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charity lapor penggunaan dana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6DF2B4-758E-4719-AB87-E4822CCFF0FA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Guest donation supported — no account required.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380D16-BC6E-430C-86D5-87BDAA26847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Sumber: /how-it-works - How donations work; ADR-003; ADR-004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1F3B1B-4A2B-4EED-AC9A-C43256F6250B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4424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B657EF1-EFC8-4C5E-A246-66443AB8F2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69FB25E3-C2BB-485F-A0A9-6D92E02C3BC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ADD1BB94-417F-4F7F-BDB9-468ECF008453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507BF-7783-45EC-860D-C36C72DC9E87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product surface, satu evidence dan trust engine.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AE74F0-A159-47CB-800C-4EACF12E66A5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724150" cy="1200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0C195-59DC-4B8C-9CA2-CB52CCA95243}"/>
              </a:ext>
            </a:extLst>
          </p:cNvPr>
          <p:cNvSpPr>
            <a:spLocks noGrp="1"/>
          </p:cNvSpPr>
          <p:nvPr/>
        </p:nvSpPr>
        <p:spPr>
          <a:xfrm>
            <a:off x="1028700" y="26289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417AB3-4C67-4F4D-8283-C94BF5CBDB76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AEDF9E-95F4-4F9D-9B65-C3C17B44B6EF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discover, evaluate, donate, track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3C65D3-23EF-4A72-9359-DF44CCE85149}"/>
              </a:ext>
            </a:extLst>
          </p:cNvPr>
          <p:cNvSpPr>
            <a:spLocks noGrp="1"/>
          </p:cNvSpPr>
          <p:nvPr/>
        </p:nvSpPr>
        <p:spPr>
          <a:xfrm>
            <a:off x="4514850" y="2381250"/>
            <a:ext cx="2724150" cy="1200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C0BA55-97DE-4890-81A3-1092324F6E0F}"/>
              </a:ext>
            </a:extLst>
          </p:cNvPr>
          <p:cNvSpPr>
            <a:spLocks noGrp="1"/>
          </p:cNvSpPr>
          <p:nvPr/>
        </p:nvSpPr>
        <p:spPr>
          <a:xfrm>
            <a:off x="4743450" y="26289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7E10D-88A3-4D29-A5D0-0D933AE0BDAB}"/>
              </a:ext>
            </a:extLst>
          </p:cNvPr>
          <p:cNvSpPr>
            <a:spLocks noGrp="1"/>
          </p:cNvSpPr>
          <p:nvPr/>
        </p:nvSpPr>
        <p:spPr>
          <a:xfrm>
            <a:off x="4743450" y="29527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36A696-A919-4243-AEA5-58C4A721B4FD}"/>
              </a:ext>
            </a:extLst>
          </p:cNvPr>
          <p:cNvSpPr>
            <a:spLocks noGrp="1"/>
          </p:cNvSpPr>
          <p:nvPr/>
        </p:nvSpPr>
        <p:spPr>
          <a:xfrm>
            <a:off x="4743450" y="32385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projects, reports, evidence, accounting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20B89D-6D6A-4515-AE52-92A97E802960}"/>
              </a:ext>
            </a:extLst>
          </p:cNvPr>
          <p:cNvSpPr>
            <a:spLocks noGrp="1"/>
          </p:cNvSpPr>
          <p:nvPr/>
        </p:nvSpPr>
        <p:spPr>
          <a:xfrm>
            <a:off x="8229600" y="2381250"/>
            <a:ext cx="2724150" cy="1200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E00CEA-060F-40A0-BB76-8EC17205469E}"/>
              </a:ext>
            </a:extLst>
          </p:cNvPr>
          <p:cNvSpPr>
            <a:spLocks noGrp="1"/>
          </p:cNvSpPr>
          <p:nvPr/>
        </p:nvSpPr>
        <p:spPr>
          <a:xfrm>
            <a:off x="8458200" y="26289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141660-F26A-459B-BB68-68A2912B23F3}"/>
              </a:ext>
            </a:extLst>
          </p:cNvPr>
          <p:cNvSpPr>
            <a:spLocks noGrp="1"/>
          </p:cNvSpPr>
          <p:nvPr/>
        </p:nvSpPr>
        <p:spPr>
          <a:xfrm>
            <a:off x="8458200" y="29527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 / authority 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2E98B-5A56-4D61-AE28-C02A0D5A8CA0}"/>
              </a:ext>
            </a:extLst>
          </p:cNvPr>
          <p:cNvSpPr>
            <a:spLocks noGrp="1"/>
          </p:cNvSpPr>
          <p:nvPr/>
        </p:nvSpPr>
        <p:spPr>
          <a:xfrm>
            <a:off x="8458200" y="32385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cases, reviews, audit, publication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BCB24-F9B2-49F3-AAFD-60515A2571A7}"/>
              </a:ext>
            </a:extLst>
          </p:cNvPr>
          <p:cNvSpPr>
            <a:spLocks noGrp="1"/>
          </p:cNvSpPr>
          <p:nvPr/>
        </p:nvSpPr>
        <p:spPr>
          <a:xfrm>
            <a:off x="2343150" y="4343400"/>
            <a:ext cx="7524750" cy="89535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E810D4-296A-4796-B794-8B4746E5D31C}"/>
              </a:ext>
            </a:extLst>
          </p:cNvPr>
          <p:cNvSpPr>
            <a:spLocks noGrp="1"/>
          </p:cNvSpPr>
          <p:nvPr/>
        </p:nvSpPr>
        <p:spPr>
          <a:xfrm>
            <a:off x="2724150" y="4591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AE6AC9-C6D6-4171-8EB1-4CD66244B8D9}"/>
              </a:ext>
            </a:extLst>
          </p:cNvPr>
          <p:cNvSpPr>
            <a:spLocks noGrp="1"/>
          </p:cNvSpPr>
          <p:nvPr/>
        </p:nvSpPr>
        <p:spPr>
          <a:xfrm>
            <a:off x="2724150" y="4914900"/>
            <a:ext cx="581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 scoring, RLS-protected Postgres, private storage, signed URLs, append-only audit logs, trust events dan score history.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BCE5F1-E860-4135-A5C6-2645DE5D4A2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docs/ARCHITECTURE_MAP.md dan source inspection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862DB5-0434-4C93-8095-5AF4A990FE37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861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EA47D16-033B-461A-A76D-4042DD70C4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CEA5838-9F6F-485A-9CBD-ECB2F268231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3D964D8A-5507-4F53-A8DF-08AE350FE2C6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ACCOUNTABILITY BY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41CA76-1A7B-4729-BA16-44F16447FC52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Mas'uliyyah diterjemah sebagai architecture, bukan slogan.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979971-50BA-4A2A-854C-865D6685F87C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4286250" cy="819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8C573-3C65-401F-9822-7C890DFAF990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C29321-2171-48B0-B6B0-A0CD14E56FF9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setiap significant action logged dan timestamped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E7DB0F-2187-4200-BF5A-0DEE8F2A923A}"/>
              </a:ext>
            </a:extLst>
          </p:cNvPr>
          <p:cNvSpPr>
            <a:spLocks noGrp="1"/>
          </p:cNvSpPr>
          <p:nvPr/>
        </p:nvSpPr>
        <p:spPr>
          <a:xfrm>
            <a:off x="5943600" y="2476500"/>
            <a:ext cx="4286250" cy="819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D29E0-ECD3-44FD-B7A3-771FC9F69948}"/>
              </a:ext>
            </a:extLst>
          </p:cNvPr>
          <p:cNvSpPr>
            <a:spLocks noGrp="1"/>
          </p:cNvSpPr>
          <p:nvPr/>
        </p:nvSpPr>
        <p:spPr>
          <a:xfrm>
            <a:off x="6191250" y="26860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Append-only history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DE9801-C5A8-4BE4-9B12-B593CF25CDC6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decisions, score snapshots tidak diubah secara senyap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188AB-3D3A-4B44-8C6F-DC3416BBA8F1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4286250" cy="819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1DBBBB-D280-416A-816B-F69CB29A37FD}"/>
              </a:ext>
            </a:extLst>
          </p:cNvPr>
          <p:cNvSpPr>
            <a:spLocks noGrp="1"/>
          </p:cNvSpPr>
          <p:nvPr/>
        </p:nvSpPr>
        <p:spPr>
          <a:xfrm>
            <a:off x="1047750" y="3886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RLS tenant boundary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7FD3CF-0B4C-4346-9FE9-BDD8105B9BB4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menjadi security boundary utama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68AEA9-0E56-43B3-BAB8-F5CF146F17ED}"/>
              </a:ext>
            </a:extLst>
          </p:cNvPr>
          <p:cNvSpPr>
            <a:spLocks noGrp="1"/>
          </p:cNvSpPr>
          <p:nvPr/>
        </p:nvSpPr>
        <p:spPr>
          <a:xfrm>
            <a:off x="5943600" y="3676650"/>
            <a:ext cx="4286250" cy="81915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F3B92C-BBCD-4368-A8F0-DA4A50DA9E67}"/>
              </a:ext>
            </a:extLst>
          </p:cNvPr>
          <p:cNvSpPr>
            <a:spLocks noGrp="1"/>
          </p:cNvSpPr>
          <p:nvPr/>
        </p:nvSpPr>
        <p:spPr>
          <a:xfrm>
            <a:off x="6191250" y="3886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Service role discipline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BAF595-ED33-4632-859A-2E9727ABFB20}"/>
              </a:ext>
            </a:extLst>
          </p:cNvPr>
          <p:cNvSpPr>
            <a:spLocks noGrp="1"/>
          </p:cNvSpPr>
          <p:nvPr/>
        </p:nvSpPr>
        <p:spPr>
          <a:xfrm>
            <a:off x="6191250" y="419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privileged logic hanya server-side / Edge Functions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D40794-237B-4C29-AF94-452E1CC517E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Sumber: /about principles, ADR-001, architecture constraints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F4EC88-C0B3-4520-856D-754C41A58637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240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5933DA7-9F2C-42BE-AAC1-7B8359BCBF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1C1451B6-98BE-4785-8284-611F1D03E84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378E18A4-9DCB-4076-8B9C-DD29E0E22C28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5D5571-57BE-4C95-813A-89F72F544423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Setiap stakeholder mendapat view berbeza daripada trust record yang sama.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620FD-4F50-4395-A7E0-C202A8CA6225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9810750" cy="438150"/>
          </a:xfrm>
          <a:prstGeom prst="rect">
            <a:avLst/>
          </a:prstGeom>
          <a:solidFill>
            <a:srgbClr val="263D37"/>
          </a:solidFill>
          <a:ln w="9525">
            <a:solidFill>
              <a:srgbClr val="7BAA98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F04D1E-E860-4DA7-B66D-DB33D069EDC3}"/>
              </a:ext>
            </a:extLst>
          </p:cNvPr>
          <p:cNvSpPr>
            <a:spLocks noGrp="1"/>
          </p:cNvSpPr>
          <p:nvPr/>
        </p:nvSpPr>
        <p:spPr>
          <a:xfrm>
            <a:off x="1104900" y="23241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DE9852-A241-4FEE-80D0-62E1CF93E5F7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donate with confidence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EE2CC5-0C3D-4CCB-8B6A-BCAEF24F454A}"/>
              </a:ext>
            </a:extLst>
          </p:cNvPr>
          <p:cNvSpPr>
            <a:spLocks noGrp="1"/>
          </p:cNvSpPr>
          <p:nvPr/>
        </p:nvSpPr>
        <p:spPr>
          <a:xfrm>
            <a:off x="7810500" y="23241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4925B-CEAE-461B-A7F8-BACCB015328C}"/>
              </a:ext>
            </a:extLst>
          </p:cNvPr>
          <p:cNvSpPr>
            <a:spLocks noGrp="1"/>
          </p:cNvSpPr>
          <p:nvPr/>
        </p:nvSpPr>
        <p:spPr>
          <a:xfrm>
            <a:off x="857250" y="2819400"/>
            <a:ext cx="9810750" cy="43815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A55D6-0A12-425C-A0E1-49102B597A2E}"/>
              </a:ext>
            </a:extLst>
          </p:cNvPr>
          <p:cNvSpPr>
            <a:spLocks noGrp="1"/>
          </p:cNvSpPr>
          <p:nvPr/>
        </p:nvSpPr>
        <p:spPr>
          <a:xfrm>
            <a:off x="1104900" y="2933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/ mosque / NGO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B1D112-9C50-4267-8DE5-AFCCA6D40E80}"/>
              </a:ext>
            </a:extLst>
          </p:cNvPr>
          <p:cNvSpPr>
            <a:spLocks noGrp="1"/>
          </p:cNvSpPr>
          <p:nvPr/>
        </p:nvSpPr>
        <p:spPr>
          <a:xfrm>
            <a:off x="3714750" y="2933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improve governance capability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62F0D7-7085-4FD2-BF04-0409000856DF}"/>
              </a:ext>
            </a:extLst>
          </p:cNvPr>
          <p:cNvSpPr>
            <a:spLocks noGrp="1"/>
          </p:cNvSpPr>
          <p:nvPr/>
        </p:nvSpPr>
        <p:spPr>
          <a:xfrm>
            <a:off x="7810500" y="29337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56064D-3DA9-4CDC-B529-CCC8F203235E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9810750" cy="438150"/>
          </a:xfrm>
          <a:prstGeom prst="rect">
            <a:avLst/>
          </a:prstGeom>
          <a:solidFill>
            <a:srgbClr val="263D37"/>
          </a:solidFill>
          <a:ln w="9525">
            <a:solidFill>
              <a:srgbClr val="7BAA98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7B6EA-8BC8-4230-A536-A6BE3FC44B29}"/>
              </a:ext>
            </a:extLst>
          </p:cNvPr>
          <p:cNvSpPr>
            <a:spLocks noGrp="1"/>
          </p:cNvSpPr>
          <p:nvPr/>
        </p:nvSpPr>
        <p:spPr>
          <a:xfrm>
            <a:off x="1104900" y="3543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Zakat / waqf authority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D77EE1-5BDD-46CD-AFFC-96EBABDFF16C}"/>
              </a:ext>
            </a:extLst>
          </p:cNvPr>
          <p:cNvSpPr>
            <a:spLocks noGrp="1"/>
          </p:cNvSpPr>
          <p:nvPr/>
        </p:nvSpPr>
        <p:spPr>
          <a:xfrm>
            <a:off x="3714750" y="35433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monitoring and structured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9136C6-DC24-4AEF-914B-CD7B1891C2CE}"/>
              </a:ext>
            </a:extLst>
          </p:cNvPr>
          <p:cNvSpPr>
            <a:spLocks noGrp="1"/>
          </p:cNvSpPr>
          <p:nvPr/>
        </p:nvSpPr>
        <p:spPr>
          <a:xfrm>
            <a:off x="7810500" y="35433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73B1B3-56C6-420A-9E5D-788372224DE4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9810750" cy="43815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1F12D0-DAA5-4FB7-BD30-4B2F38696E9C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 / scholar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5D1708-9C8E-4950-9CE1-94198015BD9E}"/>
              </a:ext>
            </a:extLst>
          </p:cNvPr>
          <p:cNvSpPr>
            <a:spLocks noGrp="1"/>
          </p:cNvSpPr>
          <p:nvPr/>
        </p:nvSpPr>
        <p:spPr>
          <a:xfrm>
            <a:off x="3714750" y="41529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evidence, decision trail, certification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5BD64A-E4C8-4726-A31C-68C098A61CEA}"/>
              </a:ext>
            </a:extLst>
          </p:cNvPr>
          <p:cNvSpPr>
            <a:spLocks noGrp="1"/>
          </p:cNvSpPr>
          <p:nvPr/>
        </p:nvSpPr>
        <p:spPr>
          <a:xfrm>
            <a:off x="7810500" y="41529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B449C1-A68F-4F3E-B676-75D1339BFAD5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9810750" cy="438150"/>
          </a:xfrm>
          <a:prstGeom prst="rect">
            <a:avLst/>
          </a:prstGeom>
          <a:solidFill>
            <a:srgbClr val="263D37"/>
          </a:solidFill>
          <a:ln w="9525">
            <a:solidFill>
              <a:srgbClr val="7BAA98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314814-F97B-4792-BF6A-592AE6886270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Funder / CSR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70B4C2-71EC-4B8A-ACE7-AD1615F210BD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pilot outcomes and public trust signal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725132-67B0-491E-959C-22A6A291BCDF}"/>
              </a:ext>
            </a:extLst>
          </p:cNvPr>
          <p:cNvSpPr>
            <a:spLocks noGrp="1"/>
          </p:cNvSpPr>
          <p:nvPr/>
        </p:nvSpPr>
        <p:spPr>
          <a:xfrm>
            <a:off x="7810500" y="47625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Reports + profiles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1E5C68-CA96-43A5-9A76-93BC42567A1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AGP architecture map dan pitch notes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394AB7-8A36-4294-92B8-9EC8DCEB4930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6008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77004EC-27F0-49D6-9BBC-FFDC9A461F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F7FDEC2E-337F-4F66-AF78-71CD48DBCE5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45DC56A0-D6FB-4C03-B29A-F128EC14D6E3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A500A-F114-4E81-8C58-CAC7396C5E4F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Pilot perlu membuktikan adoption governance, bukan vanity usage.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545C1E-4042-4CB8-9050-FBED7733A6F2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4286250" cy="8763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57A6C-EB49-4B3B-9B9D-809A2AA5C836}"/>
              </a:ext>
            </a:extLst>
          </p:cNvPr>
          <p:cNvSpPr>
            <a:spLocks noGrp="1"/>
          </p:cNvSpPr>
          <p:nvPr/>
        </p:nvSpPr>
        <p:spPr>
          <a:xfrm>
            <a:off x="1123950" y="28003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9D99D4-C938-42F3-AD2E-E5E05C63DBBC}"/>
              </a:ext>
            </a:extLst>
          </p:cNvPr>
          <p:cNvSpPr>
            <a:spLocks noGrp="1"/>
          </p:cNvSpPr>
          <p:nvPr/>
        </p:nvSpPr>
        <p:spPr>
          <a:xfrm>
            <a:off x="1123950" y="31242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selected charities, mosques, NGOs atau waqf bodies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58F76-69AB-425D-A120-931AE3DDF4AA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4286250" cy="8763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5778F4-37D7-4707-BEBB-1B54F90D266C}"/>
              </a:ext>
            </a:extLst>
          </p:cNvPr>
          <p:cNvSpPr>
            <a:spLocks noGrp="1"/>
          </p:cNvSpPr>
          <p:nvPr/>
        </p:nvSpPr>
        <p:spPr>
          <a:xfrm>
            <a:off x="6267450" y="28003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activity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6DE28E-31FC-4DB3-8EAC-EB5F0B0EED04}"/>
              </a:ext>
            </a:extLst>
          </p:cNvPr>
          <p:cNvSpPr>
            <a:spLocks noGrp="1"/>
          </p:cNvSpPr>
          <p:nvPr/>
        </p:nvSpPr>
        <p:spPr>
          <a:xfrm>
            <a:off x="6267450" y="31242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policies, evidence uploads, approvals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D9D3A5-3427-4FA3-8753-9EC01B695EBB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4286250" cy="8763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ADB683-3644-4861-B9D0-8FD5B9CA36F1}"/>
              </a:ext>
            </a:extLst>
          </p:cNvPr>
          <p:cNvSpPr>
            <a:spLocks noGrp="1"/>
          </p:cNvSpPr>
          <p:nvPr/>
        </p:nvSpPr>
        <p:spPr>
          <a:xfrm>
            <a:off x="1123950" y="40576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signal quality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67308D-BDB2-4BA9-A7D0-1ABAEB011172}"/>
              </a:ext>
            </a:extLst>
          </p:cNvPr>
          <p:cNvSpPr>
            <a:spLocks noGrp="1"/>
          </p:cNvSpPr>
          <p:nvPr/>
        </p:nvSpPr>
        <p:spPr>
          <a:xfrm>
            <a:off x="1123950" y="43815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reviewable events, public profiles, score history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E4A7C5-BFD7-4093-8CDD-2C98A8A7F466}"/>
              </a:ext>
            </a:extLst>
          </p:cNvPr>
          <p:cNvSpPr>
            <a:spLocks noGrp="1"/>
          </p:cNvSpPr>
          <p:nvPr/>
        </p:nvSpPr>
        <p:spPr>
          <a:xfrm>
            <a:off x="6000750" y="3829050"/>
            <a:ext cx="4286250" cy="8763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DFDA8F-1CCF-42E6-8307-895C075CE0A7}"/>
              </a:ext>
            </a:extLst>
          </p:cNvPr>
          <p:cNvSpPr>
            <a:spLocks noGrp="1"/>
          </p:cNvSpPr>
          <p:nvPr/>
        </p:nvSpPr>
        <p:spPr>
          <a:xfrm>
            <a:off x="6267450" y="40576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 confidence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C98B98-B115-4A51-91D4-C7D104F015D8}"/>
              </a:ext>
            </a:extLst>
          </p:cNvPr>
          <p:cNvSpPr>
            <a:spLocks noGrp="1"/>
          </p:cNvSpPr>
          <p:nvPr/>
        </p:nvSpPr>
        <p:spPr>
          <a:xfrm>
            <a:off x="6267450" y="43815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readability and reviewer efficiency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678806-EE71-46EB-AE0A-35DB71B3E76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Sumber: pitch notes dan Phase 2 architecture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850F2-4E96-4545-BD4D-E0EB276C7C0B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25060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B40262-7C96-4939-A40D-89771C5DE8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6B6A92DF-B2C5-4926-9F1D-9F1B5EDC28D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8C4B5CDD-356E-461D-990B-6089920CC454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A5946-9892-4454-A779-A43EE5E8358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Yang diperlukan sekarang: sponsor, pilot, govern dan validate.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9031B-1A9B-427B-940F-610EDBDE38C3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2190750" cy="16573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D57C6-B21A-427D-994D-22B24B417C11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292B7-ED5F-4998-AD79-1C57F48CD0D0}"/>
              </a:ext>
            </a:extLst>
          </p:cNvPr>
          <p:cNvSpPr>
            <a:spLocks noGrp="1"/>
          </p:cNvSpPr>
          <p:nvPr/>
        </p:nvSpPr>
        <p:spPr>
          <a:xfrm>
            <a:off x="1028700" y="3886200"/>
            <a:ext cx="1676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1FE56C-AF55-4D9E-B88B-843140CFDC1A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 pasti organisasi wakil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9E3A21-7CBC-490F-A617-B4523AA69CC0}"/>
              </a:ext>
            </a:extLst>
          </p:cNvPr>
          <p:cNvSpPr>
            <a:spLocks noGrp="1"/>
          </p:cNvSpPr>
          <p:nvPr/>
        </p:nvSpPr>
        <p:spPr>
          <a:xfrm>
            <a:off x="3524250" y="3257550"/>
            <a:ext cx="2190750" cy="16573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9A340-D61B-48E7-A292-10556E99C833}"/>
              </a:ext>
            </a:extLst>
          </p:cNvPr>
          <p:cNvSpPr>
            <a:spLocks noGrp="1"/>
          </p:cNvSpPr>
          <p:nvPr/>
        </p:nvSpPr>
        <p:spPr>
          <a:xfrm>
            <a:off x="3733800" y="3486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51BDB-5719-4BA8-99CB-D906D4C55A66}"/>
              </a:ext>
            </a:extLst>
          </p:cNvPr>
          <p:cNvSpPr>
            <a:spLocks noGrp="1"/>
          </p:cNvSpPr>
          <p:nvPr/>
        </p:nvSpPr>
        <p:spPr>
          <a:xfrm>
            <a:off x="3733800" y="3886200"/>
            <a:ext cx="1676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council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ED975-4F60-4C1C-BABB-6485EA893351}"/>
              </a:ext>
            </a:extLst>
          </p:cNvPr>
          <p:cNvSpPr>
            <a:spLocks noGrp="1"/>
          </p:cNvSpPr>
          <p:nvPr/>
        </p:nvSpPr>
        <p:spPr>
          <a:xfrm>
            <a:off x="3733800" y="44386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reviewers, scholars, policy owners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5FEEFB-2E68-4D9B-A7EF-A7F23237C5F5}"/>
              </a:ext>
            </a:extLst>
          </p:cNvPr>
          <p:cNvSpPr>
            <a:spLocks noGrp="1"/>
          </p:cNvSpPr>
          <p:nvPr/>
        </p:nvSpPr>
        <p:spPr>
          <a:xfrm>
            <a:off x="6229350" y="3257550"/>
            <a:ext cx="2190750" cy="16573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1206FD-F292-42A4-B80C-8A703CB19E42}"/>
              </a:ext>
            </a:extLst>
          </p:cNvPr>
          <p:cNvSpPr>
            <a:spLocks noGrp="1"/>
          </p:cNvSpPr>
          <p:nvPr/>
        </p:nvSpPr>
        <p:spPr>
          <a:xfrm>
            <a:off x="6438900" y="3486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B717D0-284F-4AA6-B5E2-88471830068B}"/>
              </a:ext>
            </a:extLst>
          </p:cNvPr>
          <p:cNvSpPr>
            <a:spLocks noGrp="1"/>
          </p:cNvSpPr>
          <p:nvPr/>
        </p:nvSpPr>
        <p:spPr>
          <a:xfrm>
            <a:off x="6438900" y="3886200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Implementation support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110B03-BBD0-45E8-9C5D-72845748E5B5}"/>
              </a:ext>
            </a:extLst>
          </p:cNvPr>
          <p:cNvSpPr>
            <a:spLocks noGrp="1"/>
          </p:cNvSpPr>
          <p:nvPr/>
        </p:nvSpPr>
        <p:spPr>
          <a:xfrm>
            <a:off x="6438900" y="44386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onboarding, training, hardening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02EE25-2812-4C7E-974B-7B16131230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2190750" cy="16573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132453-FAB8-4DC7-B615-404A305849A2}"/>
              </a:ext>
            </a:extLst>
          </p:cNvPr>
          <p:cNvSpPr>
            <a:spLocks noGrp="1"/>
          </p:cNvSpPr>
          <p:nvPr/>
        </p:nvSpPr>
        <p:spPr>
          <a:xfrm>
            <a:off x="9144000" y="3486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F429E-76CE-450E-83A5-1B0CE0F33D1E}"/>
              </a:ext>
            </a:extLst>
          </p:cNvPr>
          <p:cNvSpPr>
            <a:spLocks noGrp="1"/>
          </p:cNvSpPr>
          <p:nvPr/>
        </p:nvSpPr>
        <p:spPr>
          <a:xfrm>
            <a:off x="9144000" y="3886200"/>
            <a:ext cx="1676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standard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80BDCB-4C96-47BC-B1BC-9442050F208A}"/>
              </a:ext>
            </a:extLst>
          </p:cNvPr>
          <p:cNvSpPr>
            <a:spLocks noGrp="1"/>
          </p:cNvSpPr>
          <p:nvPr/>
        </p:nvSpPr>
        <p:spPr>
          <a:xfrm>
            <a:off x="9144000" y="44386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setuju evidence, scoring, publication rules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668564-6098-4BD2-BC4C-8642DA07741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Prepared for stakeholder discussion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B1AFE0-6A52-4A13-A8A4-8AE048E6B84C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9575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3720D9-E48D-47B8-9679-FF7E83E44B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>
              <a:ext uri="{FF2B5EF4-FFF2-40B4-BE49-F238E27FC236}">
                <a16:creationId xmlns:a16="http://schemas.microsoft.com/office/drawing/2014/main" id="{EDAF47C6-C93A-4A65-915E-11C11A94591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>
              <a:ext uri="{FF2B5EF4-FFF2-40B4-BE49-F238E27FC236}">
                <a16:creationId xmlns:a16="http://schemas.microsoft.com/office/drawing/2014/main" id="{3846997A-6194-4B9F-9007-56C043007B56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19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6BE7D0-A8B3-4CE4-BB49-CC3C861A998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8572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boleh menjadi shared trust infrastructure untuk trusted giving.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FE6804-DC16-4CB8-A0BB-41D2F88099F7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723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Matlamatnya mudah: bantu organisasi membuat governance dengan lebih baik, bantu reviewers verify dengan lebih tersusun, dan bantu donor memberi dengan confidence.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44034-7117-4BA8-8116-8C761CD86369}"/>
              </a:ext>
            </a:extLst>
          </p:cNvPr>
          <p:cNvSpPr>
            <a:spLocks noGrp="1"/>
          </p:cNvSpPr>
          <p:nvPr/>
        </p:nvSpPr>
        <p:spPr>
          <a:xfrm>
            <a:off x="8382000" y="2914650"/>
            <a:ext cx="2381250" cy="1238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E7AB6-4A9F-426B-8D7E-5CF889A24BDB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04514C-3B73-438F-8FA3-F320713A79DD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visible, verifiable, accountable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E36FE5-AD26-423A-B293-DFED0009CD1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AGP Melayu stakeholder deck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609180-7B0A-41FF-B787-DA0BF0C3438F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259423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1040</Words>
  <Application>Microsoft Office PowerPoint</Application>
  <DocSecurity>0</DocSecurity>
  <PresentationFormat>Widescreen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kamal latif</cp:lastModifiedBy>
  <cp:revision>4</cp:revision>
  <dcterms:created xsi:type="dcterms:W3CDTF">2026-07-07T14:16:36Z</dcterms:created>
  <dcterms:modified xsi:type="dcterms:W3CDTF">2026-07-07T15:06:54Z</dcterms:modified>
</cp:coreProperties>
</file>