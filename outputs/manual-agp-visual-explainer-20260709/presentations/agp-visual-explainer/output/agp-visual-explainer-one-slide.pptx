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6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1455C-7940-8C40-8D2D-987A5E6DB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4200" y="1193800"/>
            <a:ext cx="7048500" cy="533400"/>
          </a:xfrm>
        </p:spPr>
        <p:txBody>
          <a:bodyPr anchor="b"/>
          <a:lstStyle>
            <a:lvl1pPr algn="ctr"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DFF55D-0866-8DBB-F4CB-88BFEE2E4F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4200" y="1193800"/>
            <a:ext cx="7048500" cy="533400"/>
          </a:xfrm>
        </p:spPr>
        <p:txBody>
          <a:bodyPr/>
          <a:lstStyle>
            <a:lvl1pPr marL="0" indent="0" algn="ctr">
              <a:buNone/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A38FC-70BF-CD9B-5818-2E5FE611A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4200" y="1193799"/>
            <a:ext cx="7048500" cy="533400"/>
          </a:xfrm>
        </p:spPr>
        <p:txBody>
          <a:bodyPr/>
          <a:lstStyle>
            <a:lvl1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18471B26-80D5-48CC-9263-1B98CB611A43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E67DD-2BDE-6491-9F2E-D4D330BC5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4200" y="1193799"/>
            <a:ext cx="7048500" cy="533400"/>
          </a:xfrm>
        </p:spPr>
        <p:txBody>
          <a:bodyPr/>
          <a:lstStyle>
            <a:lvl1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>
              <a:solidFill>
                <a:srgbClr val="C8D5C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F37C6-BDF8-0B6A-EADC-6046303DB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4200" y="1193799"/>
            <a:ext cx="7048500" cy="533400"/>
          </a:xfrm>
        </p:spPr>
        <p:txBody>
          <a:bodyPr/>
          <a:lstStyle>
            <a:lvl1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CF7E9AE3-0F66-4E50-AF94-C9DF7AAE65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814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94534-D19D-F833-7438-D3F0A8F44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482600"/>
            <a:ext cx="6477000" cy="685800"/>
          </a:xfrm>
        </p:spPr>
        <p:txBody>
          <a:bodyPr/>
          <a:lstStyle>
            <a:lvl1pPr>
              <a:defRPr sz="24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C224B-1EF7-FEB1-1585-096FF622C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200" y="1193800"/>
            <a:ext cx="7048500" cy="533400"/>
          </a:xfrm>
        </p:spPr>
        <p:txBody>
          <a:bodyPr/>
          <a:lstStyle>
            <a:lvl1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2pPr>
            <a:lvl3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3pPr>
            <a:lvl4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4pPr>
            <a:lvl5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EF817-EF4A-9FD7-6EC3-1D80536C96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4200" y="1193799"/>
            <a:ext cx="7048500" cy="533400"/>
          </a:xfrm>
        </p:spPr>
        <p:txBody>
          <a:bodyPr/>
          <a:lstStyle>
            <a:lvl1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18471B26-80D5-48CC-9263-1B98CB611A43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09FEA-8EFA-12A8-19D1-531EE0B50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4200" y="1193799"/>
            <a:ext cx="7048500" cy="533400"/>
          </a:xfrm>
        </p:spPr>
        <p:txBody>
          <a:bodyPr/>
          <a:lstStyle>
            <a:lvl1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>
              <a:solidFill>
                <a:srgbClr val="C8D5C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0A585-C424-D0D6-E454-8C6A3E25B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4200" y="1193799"/>
            <a:ext cx="7048500" cy="533400"/>
          </a:xfrm>
        </p:spPr>
        <p:txBody>
          <a:bodyPr/>
          <a:lstStyle>
            <a:lvl1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CF7E9AE3-0F66-4E50-AF94-C9DF7AAE65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795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0CECD-6843-BBFA-3B55-F94B8909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482600"/>
            <a:ext cx="6477000" cy="685800"/>
          </a:xfrm>
        </p:spPr>
        <p:txBody>
          <a:bodyPr anchor="b"/>
          <a:lstStyle>
            <a:lvl1pPr>
              <a:defRPr sz="24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ACB552-BE48-FF9E-F040-F96484705E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4200" y="1193800"/>
            <a:ext cx="7048500" cy="533400"/>
          </a:xfrm>
        </p:spPr>
        <p:txBody>
          <a:bodyPr/>
          <a:lstStyle>
            <a:lvl1pPr marL="0" indent="0">
              <a:buNone/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39734-6621-19DA-5039-0753ABA6DC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4200" y="1193799"/>
            <a:ext cx="7048500" cy="533400"/>
          </a:xfrm>
        </p:spPr>
        <p:txBody>
          <a:bodyPr/>
          <a:lstStyle>
            <a:lvl1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18471B26-80D5-48CC-9263-1B98CB611A43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B4D64-ADF2-43F0-6479-3BBE5BC34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4200" y="1193799"/>
            <a:ext cx="7048500" cy="533400"/>
          </a:xfrm>
        </p:spPr>
        <p:txBody>
          <a:bodyPr/>
          <a:lstStyle>
            <a:lvl1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>
              <a:solidFill>
                <a:srgbClr val="C8D5C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B1E712-A006-961E-7077-ED7AE2328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4200" y="1193799"/>
            <a:ext cx="7048500" cy="533400"/>
          </a:xfrm>
        </p:spPr>
        <p:txBody>
          <a:bodyPr/>
          <a:lstStyle>
            <a:lvl1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CF7E9AE3-0F66-4E50-AF94-C9DF7AAE65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965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9C220-274D-035C-AE97-F47BC9191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482600"/>
            <a:ext cx="6477000" cy="685800"/>
          </a:xfrm>
        </p:spPr>
        <p:txBody>
          <a:bodyPr/>
          <a:lstStyle>
            <a:lvl1pPr>
              <a:defRPr sz="24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9E0F1-5BB4-C731-0AB9-D3966B77DF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4200" y="1193800"/>
            <a:ext cx="7048500" cy="533400"/>
          </a:xfrm>
        </p:spPr>
        <p:txBody>
          <a:bodyPr/>
          <a:lstStyle>
            <a:lvl1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2pPr>
            <a:lvl3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3pPr>
            <a:lvl4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4pPr>
            <a:lvl5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B15D73-E5D9-EEF7-1D0D-3034C92150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4200" y="1193800"/>
            <a:ext cx="7048500" cy="533400"/>
          </a:xfrm>
        </p:spPr>
        <p:txBody>
          <a:bodyPr/>
          <a:lstStyle>
            <a:lvl1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2pPr>
            <a:lvl3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3pPr>
            <a:lvl4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4pPr>
            <a:lvl5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03100E-A21E-4857-3D12-57C3CCFCE0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4200" y="1193799"/>
            <a:ext cx="7048500" cy="533400"/>
          </a:xfrm>
        </p:spPr>
        <p:txBody>
          <a:bodyPr/>
          <a:lstStyle>
            <a:lvl1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18471B26-80D5-48CC-9263-1B98CB611A43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6C5A8-01E4-7AC7-A6AF-1B278BD1F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4200" y="1193799"/>
            <a:ext cx="7048500" cy="533400"/>
          </a:xfrm>
        </p:spPr>
        <p:txBody>
          <a:bodyPr/>
          <a:lstStyle>
            <a:lvl1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>
              <a:solidFill>
                <a:srgbClr val="C8D5CF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095BCB-D397-4AA7-1AFB-7431AD191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4200" y="1193799"/>
            <a:ext cx="7048500" cy="533400"/>
          </a:xfrm>
        </p:spPr>
        <p:txBody>
          <a:bodyPr/>
          <a:lstStyle>
            <a:lvl1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CF7E9AE3-0F66-4E50-AF94-C9DF7AAE65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315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73054-7920-85F3-0CC0-6F59FEDEC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482600"/>
            <a:ext cx="6477000" cy="685800"/>
          </a:xfrm>
        </p:spPr>
        <p:txBody>
          <a:bodyPr/>
          <a:lstStyle>
            <a:lvl1pPr>
              <a:defRPr sz="24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733C0-CF4C-9C60-1390-B81AFC67F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4199" y="1193800"/>
            <a:ext cx="7048500" cy="533400"/>
          </a:xfrm>
        </p:spPr>
        <p:txBody>
          <a:bodyPr anchor="b"/>
          <a:lstStyle>
            <a:lvl1pPr marL="0" indent="0">
              <a:buNone/>
              <a:defRPr sz="950" b="1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387AEF-BD48-7806-AC91-3AE68DA1B7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4199" y="1193800"/>
            <a:ext cx="7048500" cy="533400"/>
          </a:xfrm>
        </p:spPr>
        <p:txBody>
          <a:bodyPr/>
          <a:lstStyle>
            <a:lvl1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2pPr>
            <a:lvl3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3pPr>
            <a:lvl4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4pPr>
            <a:lvl5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A55419-EC52-351F-D6FE-A39604B306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4200" y="1193800"/>
            <a:ext cx="7048500" cy="533400"/>
          </a:xfrm>
        </p:spPr>
        <p:txBody>
          <a:bodyPr anchor="b"/>
          <a:lstStyle>
            <a:lvl1pPr marL="0" indent="0">
              <a:buNone/>
              <a:defRPr sz="950" b="1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496990-BD3C-A787-3C8D-E0C68059CD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4200" y="1193800"/>
            <a:ext cx="7048500" cy="533400"/>
          </a:xfrm>
        </p:spPr>
        <p:txBody>
          <a:bodyPr/>
          <a:lstStyle>
            <a:lvl1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2pPr>
            <a:lvl3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3pPr>
            <a:lvl4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4pPr>
            <a:lvl5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86DA5B-9AB3-95E8-6BDE-91DAB7EB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4200" y="1193799"/>
            <a:ext cx="7048500" cy="533400"/>
          </a:xfrm>
        </p:spPr>
        <p:txBody>
          <a:bodyPr/>
          <a:lstStyle>
            <a:lvl1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18471B26-80D5-48CC-9263-1B98CB611A43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E3089B-BFDB-187D-2579-EAB131F26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4200" y="1193799"/>
            <a:ext cx="7048500" cy="533400"/>
          </a:xfrm>
        </p:spPr>
        <p:txBody>
          <a:bodyPr/>
          <a:lstStyle>
            <a:lvl1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>
              <a:solidFill>
                <a:srgbClr val="C8D5CF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9C8C7F-4487-5EE4-55CD-25F59ACF7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4200" y="1193799"/>
            <a:ext cx="7048500" cy="533400"/>
          </a:xfrm>
        </p:spPr>
        <p:txBody>
          <a:bodyPr/>
          <a:lstStyle>
            <a:lvl1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CF7E9AE3-0F66-4E50-AF94-C9DF7AAE65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322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FEFEF-8A9B-82D6-4B57-034B43384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482600"/>
            <a:ext cx="6477000" cy="685800"/>
          </a:xfrm>
        </p:spPr>
        <p:txBody>
          <a:bodyPr/>
          <a:lstStyle>
            <a:lvl1pPr>
              <a:defRPr sz="24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4BB5C2-00E0-2ADF-9BD8-A5DC1F6D83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4200" y="1193799"/>
            <a:ext cx="7048500" cy="533400"/>
          </a:xfrm>
        </p:spPr>
        <p:txBody>
          <a:bodyPr/>
          <a:lstStyle>
            <a:lvl1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18471B26-80D5-48CC-9263-1B98CB611A43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D5915D-E712-424C-59DD-4289839F6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4200" y="1193799"/>
            <a:ext cx="7048500" cy="533400"/>
          </a:xfrm>
        </p:spPr>
        <p:txBody>
          <a:bodyPr/>
          <a:lstStyle>
            <a:lvl1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>
              <a:solidFill>
                <a:srgbClr val="C8D5C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1158A9-033B-C19B-851D-B9F1471D5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4200" y="1193799"/>
            <a:ext cx="7048500" cy="533400"/>
          </a:xfrm>
        </p:spPr>
        <p:txBody>
          <a:bodyPr/>
          <a:lstStyle>
            <a:lvl1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CF7E9AE3-0F66-4E50-AF94-C9DF7AAE65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1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2F346B-7EB0-F79E-02AB-2B1DA9F192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4200" y="1193799"/>
            <a:ext cx="7048500" cy="533400"/>
          </a:xfrm>
        </p:spPr>
        <p:txBody>
          <a:bodyPr/>
          <a:lstStyle>
            <a:lvl1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18471B26-80D5-48CC-9263-1B98CB611A43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29E808-472B-936D-F7D0-42EDED1E2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4200" y="1193799"/>
            <a:ext cx="7048500" cy="533400"/>
          </a:xfrm>
        </p:spPr>
        <p:txBody>
          <a:bodyPr/>
          <a:lstStyle>
            <a:lvl1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>
              <a:solidFill>
                <a:srgbClr val="C8D5C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6CBE2-5ED2-0ECE-8B88-07025DC11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4200" y="1193799"/>
            <a:ext cx="7048500" cy="533400"/>
          </a:xfrm>
        </p:spPr>
        <p:txBody>
          <a:bodyPr/>
          <a:lstStyle>
            <a:lvl1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CF7E9AE3-0F66-4E50-AF94-C9DF7AAE65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056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14FDF-CF88-53DD-8A94-1F6FA2301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799" y="482600"/>
            <a:ext cx="6477000" cy="685800"/>
          </a:xfrm>
        </p:spPr>
        <p:txBody>
          <a:bodyPr anchor="b"/>
          <a:lstStyle>
            <a:lvl1pPr>
              <a:defRPr sz="24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1D26C-951B-CC7A-C957-BB8C77AA3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200" y="1193800"/>
            <a:ext cx="7048500" cy="533400"/>
          </a:xfrm>
        </p:spPr>
        <p:txBody>
          <a:bodyPr/>
          <a:lstStyle>
            <a:lvl1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2pPr>
            <a:lvl3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3pPr>
            <a:lvl4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4pPr>
            <a:lvl5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1D091-C0AE-3AD7-B970-8EDA567A45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84199" y="1193800"/>
            <a:ext cx="7048500" cy="533400"/>
          </a:xfrm>
        </p:spPr>
        <p:txBody>
          <a:bodyPr/>
          <a:lstStyle>
            <a:lvl1pPr marL="0" indent="0">
              <a:buNone/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0D996E-F124-3A35-2B85-0CA6DD81F4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4200" y="1193799"/>
            <a:ext cx="7048500" cy="533400"/>
          </a:xfrm>
        </p:spPr>
        <p:txBody>
          <a:bodyPr/>
          <a:lstStyle>
            <a:lvl1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18471B26-80D5-48CC-9263-1B98CB611A43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CB43CC-AD4C-C04F-D493-0DCADC588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4200" y="1193799"/>
            <a:ext cx="7048500" cy="533400"/>
          </a:xfrm>
        </p:spPr>
        <p:txBody>
          <a:bodyPr/>
          <a:lstStyle>
            <a:lvl1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>
              <a:solidFill>
                <a:srgbClr val="C8D5CF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1FAC7-8C4B-DF84-1A4A-E9E6313B8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4200" y="1193799"/>
            <a:ext cx="7048500" cy="533400"/>
          </a:xfrm>
        </p:spPr>
        <p:txBody>
          <a:bodyPr/>
          <a:lstStyle>
            <a:lvl1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CF7E9AE3-0F66-4E50-AF94-C9DF7AAE65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550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B4A49-2A1C-A450-1202-92A128113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799" y="482600"/>
            <a:ext cx="6477000" cy="685800"/>
          </a:xfrm>
        </p:spPr>
        <p:txBody>
          <a:bodyPr anchor="b"/>
          <a:lstStyle>
            <a:lvl1pPr>
              <a:defRPr sz="24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834F8F-CC56-1C43-E1C1-86B9D99B1D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84200" y="1193800"/>
            <a:ext cx="7048500" cy="533400"/>
          </a:xfrm>
        </p:spPr>
        <p:txBody>
          <a:bodyPr/>
          <a:lstStyle>
            <a:lvl1pPr marL="0" indent="0">
              <a:buNone/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1CB1A5-08FA-A9DA-3FD5-C1E35C0A35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84199" y="1193800"/>
            <a:ext cx="7048500" cy="533400"/>
          </a:xfrm>
        </p:spPr>
        <p:txBody>
          <a:bodyPr/>
          <a:lstStyle>
            <a:lvl1pPr marL="0" indent="0">
              <a:buNone/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62155B-0814-D1F6-6155-BC655600F9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4200" y="1193799"/>
            <a:ext cx="7048500" cy="533400"/>
          </a:xfrm>
        </p:spPr>
        <p:txBody>
          <a:bodyPr/>
          <a:lstStyle>
            <a:lvl1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18471B26-80D5-48CC-9263-1B98CB611A43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A70857-035F-8F4B-DD2D-B073E783E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4200" y="1193799"/>
            <a:ext cx="7048500" cy="533400"/>
          </a:xfrm>
        </p:spPr>
        <p:txBody>
          <a:bodyPr/>
          <a:lstStyle>
            <a:lvl1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>
              <a:solidFill>
                <a:srgbClr val="C8D5CF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91A233-A34C-8144-308D-58E16A8BD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4200" y="1193799"/>
            <a:ext cx="7048500" cy="533400"/>
          </a:xfrm>
        </p:spPr>
        <p:txBody>
          <a:bodyPr/>
          <a:lstStyle>
            <a:lvl1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CF7E9AE3-0F66-4E50-AF94-C9DF7AAE65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826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6200F-5ECD-47D5-2463-336B7F0BC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482600"/>
            <a:ext cx="6477000" cy="685800"/>
          </a:xfrm>
        </p:spPr>
        <p:txBody>
          <a:bodyPr/>
          <a:lstStyle>
            <a:lvl1pPr>
              <a:defRPr sz="24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8E0F65-5136-6F8D-4868-E5F6E764AD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84200" y="1193800"/>
            <a:ext cx="7048500" cy="533400"/>
          </a:xfrm>
        </p:spPr>
        <p:txBody>
          <a:bodyPr vert="eaVert"/>
          <a:lstStyle>
            <a:lvl1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2pPr>
            <a:lvl3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3pPr>
            <a:lvl4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4pPr>
            <a:lvl5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C4FAF-1B54-4629-B503-31F670DC84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4200" y="1193799"/>
            <a:ext cx="7048500" cy="533400"/>
          </a:xfrm>
        </p:spPr>
        <p:txBody>
          <a:bodyPr/>
          <a:lstStyle>
            <a:lvl1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18471B26-80D5-48CC-9263-1B98CB611A43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8CE60-7325-5BFF-4687-33A5B5392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4200" y="1193799"/>
            <a:ext cx="7048500" cy="533400"/>
          </a:xfrm>
        </p:spPr>
        <p:txBody>
          <a:bodyPr/>
          <a:lstStyle>
            <a:lvl1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>
              <a:solidFill>
                <a:srgbClr val="C8D5C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0D96E-220B-E988-6392-C3555B3C5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4200" y="1193799"/>
            <a:ext cx="7048500" cy="533400"/>
          </a:xfrm>
        </p:spPr>
        <p:txBody>
          <a:bodyPr/>
          <a:lstStyle>
            <a:lvl1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CF7E9AE3-0F66-4E50-AF94-C9DF7AAE65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282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D74532-006B-27E0-172F-51FBEC60FB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584200" y="1193800"/>
            <a:ext cx="7048500" cy="533400"/>
          </a:xfrm>
        </p:spPr>
        <p:txBody>
          <a:bodyPr vert="eaVert"/>
          <a:lstStyle>
            <a:lvl1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41049D-8EAF-CD96-E2BD-D296290D8F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84200" y="1193800"/>
            <a:ext cx="7048500" cy="533400"/>
          </a:xfrm>
        </p:spPr>
        <p:txBody>
          <a:bodyPr vert="eaVert"/>
          <a:lstStyle>
            <a:lvl1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2pPr>
            <a:lvl3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3pPr>
            <a:lvl4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4pPr>
            <a:lvl5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0092E-4950-71BC-40BD-7FA0321B7E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4200" y="1193799"/>
            <a:ext cx="7048500" cy="533400"/>
          </a:xfrm>
        </p:spPr>
        <p:txBody>
          <a:bodyPr/>
          <a:lstStyle>
            <a:lvl1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18471B26-80D5-48CC-9263-1B98CB611A43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30AAC-C94D-BF83-FFAC-1CEA02F62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4200" y="1193799"/>
            <a:ext cx="7048500" cy="533400"/>
          </a:xfrm>
        </p:spPr>
        <p:txBody>
          <a:bodyPr/>
          <a:lstStyle>
            <a:lvl1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>
              <a:solidFill>
                <a:srgbClr val="C8D5C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31DED-A5FE-1D53-CF32-83A3FBFB1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4200" y="1193799"/>
            <a:ext cx="7048500" cy="533400"/>
          </a:xfrm>
        </p:spPr>
        <p:txBody>
          <a:bodyPr/>
          <a:lstStyle>
            <a:lvl1pPr>
              <a:defRPr sz="95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CF7E9AE3-0F66-4E50-AF94-C9DF7AAE65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5288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266FD-FB61-9023-C162-F3FFA338F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C2408B-44AD-2E6B-4722-54DCB05B3F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65065-0715-91A0-AA46-1452180BC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71B26-80D5-48CC-9263-1B98CB611A43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E990D-8C77-9ADF-4023-1516146EB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FE1B2-6997-02C6-E226-7562468A7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E9AE3-0F66-4E50-AF94-C9DF7AAE6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74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AGP Visual Explainer Dark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GP Master Dark Background">
            <a:extLst>
              <a:ext uri="{FF2B5EF4-FFF2-40B4-BE49-F238E27FC236}">
                <a16:creationId xmlns:a16="http://schemas.microsoft.com/office/drawing/2014/main" id="{F80D2A1B-ED51-1FD4-F6F8-AE0FFDA67A7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7EE692-2327-AAEF-6A07-968BCDA10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782194-B4D7-A1C1-D88E-E86F958C18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037EF-2FB2-0FC2-E8BB-56E68EB772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71B26-80D5-48CC-9263-1B98CB611A43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B0B83-70C6-E648-EA71-90BE1663AD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7A60B-1254-1624-3F36-F927858E38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7E9AE3-0F66-4E50-AF94-C9DF7AAE655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AGP Master Gold Top Rule">
            <a:extLst>
              <a:ext uri="{FF2B5EF4-FFF2-40B4-BE49-F238E27FC236}">
                <a16:creationId xmlns:a16="http://schemas.microsoft.com/office/drawing/2014/main" id="{6BFAF39F-3FAD-615D-DD48-395201FD9E7E}"/>
              </a:ext>
            </a:extLst>
          </p:cNvPr>
          <p:cNvSpPr/>
          <p:nvPr userDrawn="1"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70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98566-1544-8DB5-4AAD-232B80158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482600"/>
            <a:ext cx="6604000" cy="685800"/>
          </a:xfrm>
        </p:spPr>
        <p:txBody>
          <a:bodyPr>
            <a:normAutofit/>
          </a:bodyPr>
          <a:lstStyle/>
          <a:p>
            <a:r>
              <a:rPr lang="en-US" sz="2500">
                <a:solidFill>
                  <a:srgbClr val="F6F1E7"/>
                </a:solidFill>
                <a:latin typeface="Georgia" panose="02040502050405020303" pitchFamily="18" charset="0"/>
              </a:rPr>
              <a:t>Amanah Governance Platform (AGP)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B652B9-6189-A68D-6930-684D47EFB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4200" y="1168400"/>
            <a:ext cx="7302500" cy="533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980">
                <a:solidFill>
                  <a:srgbClr val="C8D5CF"/>
                </a:solidFill>
                <a:latin typeface="Aptos" panose="020B0004020202020204" pitchFamily="34" charset="0"/>
              </a:rPr>
              <a:t>A shared trust infrastructure that helps charities govern properly, helps authorities review evidence, and helps donors give with confidence.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97B9E6-C86B-92F2-15A9-53E424CACF00}"/>
              </a:ext>
            </a:extLst>
          </p:cNvPr>
          <p:cNvSpPr txBox="1"/>
          <p:nvPr/>
        </p:nvSpPr>
        <p:spPr>
          <a:xfrm>
            <a:off x="584200" y="1816100"/>
            <a:ext cx="4191000" cy="15645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850" b="1">
                <a:solidFill>
                  <a:srgbClr val="D8A84E"/>
                </a:solidFill>
                <a:latin typeface="Aptos" panose="020B0004020202020204" pitchFamily="34" charset="0"/>
              </a:rPr>
              <a:t>ONE PLATFORM, FOUR STAKEHOLDER VIEWS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6C7735-7676-019B-58FA-6918DA2EB128}"/>
              </a:ext>
            </a:extLst>
          </p:cNvPr>
          <p:cNvSpPr/>
          <p:nvPr/>
        </p:nvSpPr>
        <p:spPr>
          <a:xfrm>
            <a:off x="711200" y="2463800"/>
            <a:ext cx="2387600" cy="11684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95812E-7AF7-0CD4-9EC6-6B5C61330540}"/>
              </a:ext>
            </a:extLst>
          </p:cNvPr>
          <p:cNvSpPr txBox="1"/>
          <p:nvPr/>
        </p:nvSpPr>
        <p:spPr>
          <a:xfrm>
            <a:off x="889000" y="2641600"/>
            <a:ext cx="2032000" cy="17184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950" b="1">
                <a:solidFill>
                  <a:srgbClr val="0E1B18"/>
                </a:solidFill>
                <a:latin typeface="Aptos" panose="020B0004020202020204" pitchFamily="34" charset="0"/>
              </a:rPr>
              <a:t>Charity organizations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AEE73E-02B2-1CE5-79D7-C9294A69A7CA}"/>
              </a:ext>
            </a:extLst>
          </p:cNvPr>
          <p:cNvSpPr txBox="1"/>
          <p:nvPr/>
        </p:nvSpPr>
        <p:spPr>
          <a:xfrm>
            <a:off x="889000" y="2946400"/>
            <a:ext cx="2032000" cy="371897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750">
                <a:solidFill>
                  <a:srgbClr val="263B35"/>
                </a:solidFill>
                <a:latin typeface="Aptos" panose="020B0004020202020204" pitchFamily="34" charset="0"/>
              </a:rPr>
              <a:t>Use amanahOS to manage policies, reports, evidence, fund records, impact updates and certification readiness.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3B278E-3E60-9715-D0EF-112D463306EB}"/>
              </a:ext>
            </a:extLst>
          </p:cNvPr>
          <p:cNvSpPr/>
          <p:nvPr/>
        </p:nvSpPr>
        <p:spPr>
          <a:xfrm>
            <a:off x="1092200" y="3810000"/>
            <a:ext cx="1498600" cy="330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B2ED5B-0BF0-762F-3DD2-071D1159CA05}"/>
              </a:ext>
            </a:extLst>
          </p:cNvPr>
          <p:cNvSpPr txBox="1"/>
          <p:nvPr/>
        </p:nvSpPr>
        <p:spPr>
          <a:xfrm>
            <a:off x="1193800" y="3898900"/>
            <a:ext cx="1295400" cy="13798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730" b="1">
                <a:solidFill>
                  <a:srgbClr val="0E1B18"/>
                </a:solidFill>
                <a:latin typeface="Aptos" panose="020B0004020202020204" pitchFamily="34" charset="0"/>
              </a:rPr>
              <a:t>amanahOS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0BBD2A-072B-87EF-551F-7390421FEFB3}"/>
              </a:ext>
            </a:extLst>
          </p:cNvPr>
          <p:cNvSpPr/>
          <p:nvPr/>
        </p:nvSpPr>
        <p:spPr>
          <a:xfrm>
            <a:off x="4648200" y="2184400"/>
            <a:ext cx="2895600" cy="1727200"/>
          </a:xfrm>
          <a:prstGeom prst="rect">
            <a:avLst/>
          </a:prstGeom>
          <a:solidFill>
            <a:srgbClr val="2034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F188E6-B67D-AA43-2656-2A644B2D802E}"/>
              </a:ext>
            </a:extLst>
          </p:cNvPr>
          <p:cNvSpPr txBox="1"/>
          <p:nvPr/>
        </p:nvSpPr>
        <p:spPr>
          <a:xfrm>
            <a:off x="4826000" y="2362200"/>
            <a:ext cx="2540000" cy="17184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950" b="1">
                <a:solidFill>
                  <a:srgbClr val="F6F1E7"/>
                </a:solidFill>
                <a:latin typeface="Aptos" panose="020B0004020202020204" pitchFamily="34" charset="0"/>
              </a:rPr>
              <a:t>AGP trust engine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364646-6155-8A26-851A-0D027786473F}"/>
              </a:ext>
            </a:extLst>
          </p:cNvPr>
          <p:cNvSpPr txBox="1"/>
          <p:nvPr/>
        </p:nvSpPr>
        <p:spPr>
          <a:xfrm>
            <a:off x="4826000" y="2667000"/>
            <a:ext cx="2540000" cy="371897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750">
                <a:solidFill>
                  <a:srgbClr val="C8D5CF"/>
                </a:solidFill>
                <a:latin typeface="Aptos" panose="020B0004020202020204" pitchFamily="34" charset="0"/>
              </a:rPr>
              <a:t>Evidence vault, audit log, Trust Events, CTCF, Amanah Index and public-readiness rules convert governance work into verifiable trust signals.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685457-ECBD-2542-2FE8-63F42514BB35}"/>
              </a:ext>
            </a:extLst>
          </p:cNvPr>
          <p:cNvSpPr txBox="1"/>
          <p:nvPr/>
        </p:nvSpPr>
        <p:spPr>
          <a:xfrm>
            <a:off x="4991100" y="3581400"/>
            <a:ext cx="2209800" cy="136448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720" b="1">
                <a:solidFill>
                  <a:srgbClr val="D8A84E"/>
                </a:solidFill>
                <a:latin typeface="Aptos" panose="020B0004020202020204" pitchFamily="34" charset="0"/>
              </a:rPr>
              <a:t>verified evidence  -&gt;  score history  -&gt;  review trail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EB939C-7C28-5F4E-693D-0CAADEE8778B}"/>
              </a:ext>
            </a:extLst>
          </p:cNvPr>
          <p:cNvSpPr/>
          <p:nvPr/>
        </p:nvSpPr>
        <p:spPr>
          <a:xfrm>
            <a:off x="8864600" y="1930400"/>
            <a:ext cx="2463800" cy="1041400"/>
          </a:xfrm>
          <a:prstGeom prst="rect">
            <a:avLst/>
          </a:prstGeom>
          <a:solidFill>
            <a:srgbClr val="7BAA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A38534-9836-CF8D-A355-CEAC5B46FE2A}"/>
              </a:ext>
            </a:extLst>
          </p:cNvPr>
          <p:cNvSpPr txBox="1"/>
          <p:nvPr/>
        </p:nvSpPr>
        <p:spPr>
          <a:xfrm>
            <a:off x="9042400" y="2108200"/>
            <a:ext cx="2108200" cy="17184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950" b="1">
                <a:solidFill>
                  <a:srgbClr val="0E1B18"/>
                </a:solidFill>
                <a:latin typeface="Aptos" panose="020B0004020202020204" pitchFamily="34" charset="0"/>
              </a:rPr>
              <a:t>Governing bodies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F9624C-6A7B-9002-AC6A-7CFD392CB6AD}"/>
              </a:ext>
            </a:extLst>
          </p:cNvPr>
          <p:cNvSpPr txBox="1"/>
          <p:nvPr/>
        </p:nvSpPr>
        <p:spPr>
          <a:xfrm>
            <a:off x="9042400" y="2413000"/>
            <a:ext cx="2108200" cy="371897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750">
                <a:solidFill>
                  <a:srgbClr val="263B35"/>
                </a:solidFill>
                <a:latin typeface="Aptos" panose="020B0004020202020204" pitchFamily="34" charset="0"/>
              </a:rPr>
              <a:t>State Islamic Affairs, JAKIM, zakat/waqf bodies and reviewers use AGP Console to review, monitor and certify.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BAE23B-D5E9-CD8E-09B8-CA3AEB4974F2}"/>
              </a:ext>
            </a:extLst>
          </p:cNvPr>
          <p:cNvSpPr/>
          <p:nvPr/>
        </p:nvSpPr>
        <p:spPr>
          <a:xfrm>
            <a:off x="9347200" y="3124200"/>
            <a:ext cx="1498600" cy="330200"/>
          </a:xfrm>
          <a:prstGeom prst="rect">
            <a:avLst/>
          </a:prstGeom>
          <a:solidFill>
            <a:srgbClr val="7BAA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623276-E3E8-3DC6-AC2A-9B33384E2A02}"/>
              </a:ext>
            </a:extLst>
          </p:cNvPr>
          <p:cNvSpPr txBox="1"/>
          <p:nvPr/>
        </p:nvSpPr>
        <p:spPr>
          <a:xfrm>
            <a:off x="9448800" y="3213100"/>
            <a:ext cx="1295400" cy="13798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730" b="1">
                <a:solidFill>
                  <a:srgbClr val="0E1B18"/>
                </a:solidFill>
                <a:latin typeface="Aptos" panose="020B0004020202020204" pitchFamily="34" charset="0"/>
              </a:rPr>
              <a:t>AGP Console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EF94793-5CA4-4442-2C52-C167C4A7C45E}"/>
              </a:ext>
            </a:extLst>
          </p:cNvPr>
          <p:cNvSpPr/>
          <p:nvPr/>
        </p:nvSpPr>
        <p:spPr>
          <a:xfrm>
            <a:off x="8864600" y="4038600"/>
            <a:ext cx="2463800" cy="1092200"/>
          </a:xfrm>
          <a:prstGeom prst="rect">
            <a:avLst/>
          </a:prstGeom>
          <a:solidFill>
            <a:srgbClr val="466A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33A6A9-FDEB-0045-D2FD-1B35EA421640}"/>
              </a:ext>
            </a:extLst>
          </p:cNvPr>
          <p:cNvSpPr txBox="1"/>
          <p:nvPr/>
        </p:nvSpPr>
        <p:spPr>
          <a:xfrm>
            <a:off x="9042400" y="4216400"/>
            <a:ext cx="2108200" cy="17184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950" b="1">
                <a:solidFill>
                  <a:srgbClr val="F6F1E7"/>
                </a:solidFill>
                <a:latin typeface="Aptos" panose="020B0004020202020204" pitchFamily="34" charset="0"/>
              </a:rPr>
              <a:t>Donors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D0E80D-50B2-8BA5-887A-B85054213B49}"/>
              </a:ext>
            </a:extLst>
          </p:cNvPr>
          <p:cNvSpPr txBox="1"/>
          <p:nvPr/>
        </p:nvSpPr>
        <p:spPr>
          <a:xfrm>
            <a:off x="9042400" y="4521200"/>
            <a:ext cx="2108200" cy="371897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750">
                <a:solidFill>
                  <a:srgbClr val="C8D5CF"/>
                </a:solidFill>
                <a:latin typeface="Aptos" panose="020B0004020202020204" pitchFamily="34" charset="0"/>
              </a:rPr>
              <a:t>Use AmanahHub to discover verified organizations, read reports and give with confidence.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942FA58-9CFE-6DCF-22E7-F79EE868C033}"/>
              </a:ext>
            </a:extLst>
          </p:cNvPr>
          <p:cNvSpPr/>
          <p:nvPr/>
        </p:nvSpPr>
        <p:spPr>
          <a:xfrm>
            <a:off x="9347200" y="5283200"/>
            <a:ext cx="1498600" cy="330200"/>
          </a:xfrm>
          <a:prstGeom prst="rect">
            <a:avLst/>
          </a:prstGeom>
          <a:solidFill>
            <a:srgbClr val="466A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DA3B12-69D9-AE10-5A6A-779222F1D400}"/>
              </a:ext>
            </a:extLst>
          </p:cNvPr>
          <p:cNvSpPr txBox="1"/>
          <p:nvPr/>
        </p:nvSpPr>
        <p:spPr>
          <a:xfrm>
            <a:off x="9448800" y="5372100"/>
            <a:ext cx="1295400" cy="13798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730" b="1">
                <a:solidFill>
                  <a:srgbClr val="F6F1E7"/>
                </a:solidFill>
                <a:latin typeface="Aptos" panose="020B0004020202020204" pitchFamily="34" charset="0"/>
              </a:rPr>
              <a:t>AmanahHub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4EEC9D9-0FB6-5250-E526-322F866F786A}"/>
              </a:ext>
            </a:extLst>
          </p:cNvPr>
          <p:cNvSpPr/>
          <p:nvPr/>
        </p:nvSpPr>
        <p:spPr>
          <a:xfrm>
            <a:off x="711200" y="4521200"/>
            <a:ext cx="2387600" cy="965200"/>
          </a:xfrm>
          <a:prstGeom prst="rect">
            <a:avLst/>
          </a:prstGeom>
          <a:solidFill>
            <a:srgbClr val="B46A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6A6E7D2-8AE8-DDD8-3A56-63DD8E886127}"/>
              </a:ext>
            </a:extLst>
          </p:cNvPr>
          <p:cNvSpPr txBox="1"/>
          <p:nvPr/>
        </p:nvSpPr>
        <p:spPr>
          <a:xfrm>
            <a:off x="889000" y="4699000"/>
            <a:ext cx="2032000" cy="17184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950" b="1">
                <a:solidFill>
                  <a:srgbClr val="F6F1E7"/>
                </a:solidFill>
                <a:latin typeface="Aptos" panose="020B0004020202020204" pitchFamily="34" charset="0"/>
              </a:rPr>
              <a:t>Sponsors + grants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A4FE6C-F167-9DC1-54CE-0FC44B909E57}"/>
              </a:ext>
            </a:extLst>
          </p:cNvPr>
          <p:cNvSpPr txBox="1"/>
          <p:nvPr/>
        </p:nvSpPr>
        <p:spPr>
          <a:xfrm>
            <a:off x="889000" y="5003800"/>
            <a:ext cx="2032000" cy="256480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750">
                <a:solidFill>
                  <a:srgbClr val="C8D5CF"/>
                </a:solidFill>
                <a:latin typeface="Aptos" panose="020B0004020202020204" pitchFamily="34" charset="0"/>
              </a:rPr>
              <a:t>Fund platform access, onboarding and training so charities can use AGP without paying.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2FE25DC-9911-CD7D-45FE-A7B6E07C715B}"/>
              </a:ext>
            </a:extLst>
          </p:cNvPr>
          <p:cNvCxnSpPr/>
          <p:nvPr/>
        </p:nvCxnSpPr>
        <p:spPr>
          <a:xfrm>
            <a:off x="3098800" y="3035300"/>
            <a:ext cx="1549400" cy="0"/>
          </a:xfrm>
          <a:prstGeom prst="straightConnector1">
            <a:avLst/>
          </a:prstGeom>
          <a:ln w="21590">
            <a:solidFill>
              <a:srgbClr val="D8A84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6FFD79B-0422-9976-1F76-ACFF6935ED46}"/>
              </a:ext>
            </a:extLst>
          </p:cNvPr>
          <p:cNvCxnSpPr/>
          <p:nvPr/>
        </p:nvCxnSpPr>
        <p:spPr>
          <a:xfrm flipV="1">
            <a:off x="7543800" y="2451100"/>
            <a:ext cx="1320800" cy="342900"/>
          </a:xfrm>
          <a:prstGeom prst="straightConnector1">
            <a:avLst/>
          </a:prstGeom>
          <a:ln w="21590">
            <a:solidFill>
              <a:srgbClr val="7BAA9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F3B3166-8B44-4A96-28EA-991E0848BFCF}"/>
              </a:ext>
            </a:extLst>
          </p:cNvPr>
          <p:cNvCxnSpPr/>
          <p:nvPr/>
        </p:nvCxnSpPr>
        <p:spPr>
          <a:xfrm>
            <a:off x="7543800" y="3276600"/>
            <a:ext cx="1320800" cy="1244600"/>
          </a:xfrm>
          <a:prstGeom prst="straightConnector1">
            <a:avLst/>
          </a:prstGeom>
          <a:ln w="21590">
            <a:solidFill>
              <a:srgbClr val="466A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8012842-8D04-B073-7FA8-ED05B9F40C4D}"/>
              </a:ext>
            </a:extLst>
          </p:cNvPr>
          <p:cNvCxnSpPr/>
          <p:nvPr/>
        </p:nvCxnSpPr>
        <p:spPr>
          <a:xfrm flipV="1">
            <a:off x="1905000" y="3670300"/>
            <a:ext cx="2743200" cy="850900"/>
          </a:xfrm>
          <a:prstGeom prst="straightConnector1">
            <a:avLst/>
          </a:prstGeom>
          <a:ln w="21590">
            <a:solidFill>
              <a:srgbClr val="B46A4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B572194-BE45-3FCD-B6EF-209F9E4A3784}"/>
              </a:ext>
            </a:extLst>
          </p:cNvPr>
          <p:cNvCxnSpPr/>
          <p:nvPr/>
        </p:nvCxnSpPr>
        <p:spPr>
          <a:xfrm flipH="1" flipV="1">
            <a:off x="3098800" y="3314700"/>
            <a:ext cx="5765800" cy="1498600"/>
          </a:xfrm>
          <a:prstGeom prst="straightConnector1">
            <a:avLst/>
          </a:prstGeom>
          <a:ln w="17780">
            <a:solidFill>
              <a:srgbClr val="A6B96D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11AFD73-4D4F-1B38-DE63-785753B1B9D3}"/>
              </a:ext>
            </a:extLst>
          </p:cNvPr>
          <p:cNvSpPr txBox="1"/>
          <p:nvPr/>
        </p:nvSpPr>
        <p:spPr>
          <a:xfrm>
            <a:off x="4724400" y="5143500"/>
            <a:ext cx="3911600" cy="139525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740" b="1">
                <a:solidFill>
                  <a:srgbClr val="A6B96D"/>
                </a:solidFill>
                <a:latin typeface="Aptos" panose="020B0004020202020204" pitchFamily="34" charset="0"/>
              </a:rPr>
              <a:t>donation goes direct to charity (AGP does not hold donor funds)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9945921-9276-D339-0EED-BD85150F50B6}"/>
              </a:ext>
            </a:extLst>
          </p:cNvPr>
          <p:cNvSpPr/>
          <p:nvPr/>
        </p:nvSpPr>
        <p:spPr>
          <a:xfrm>
            <a:off x="3746500" y="4394200"/>
            <a:ext cx="4292600" cy="19050"/>
          </a:xfrm>
          <a:prstGeom prst="rect">
            <a:avLst/>
          </a:prstGeom>
          <a:solidFill>
            <a:srgbClr val="5C70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BFD016-AEF4-AB04-F284-16A77CA93486}"/>
              </a:ext>
            </a:extLst>
          </p:cNvPr>
          <p:cNvSpPr txBox="1"/>
          <p:nvPr/>
        </p:nvSpPr>
        <p:spPr>
          <a:xfrm>
            <a:off x="4660900" y="4140200"/>
            <a:ext cx="2286000" cy="148759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800" b="1">
                <a:solidFill>
                  <a:srgbClr val="D8A84E"/>
                </a:solidFill>
                <a:latin typeface="Aptos" panose="020B0004020202020204" pitchFamily="34" charset="0"/>
              </a:rPr>
              <a:t>What AGP makes visible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C4C1F1-CBF2-A4B2-BCCB-31725232DC3C}"/>
              </a:ext>
            </a:extLst>
          </p:cNvPr>
          <p:cNvSpPr/>
          <p:nvPr/>
        </p:nvSpPr>
        <p:spPr>
          <a:xfrm>
            <a:off x="3886200" y="4546600"/>
            <a:ext cx="1498600" cy="330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7CDFD82-4637-FEF5-35C9-F80DE50CCB34}"/>
              </a:ext>
            </a:extLst>
          </p:cNvPr>
          <p:cNvSpPr txBox="1"/>
          <p:nvPr/>
        </p:nvSpPr>
        <p:spPr>
          <a:xfrm>
            <a:off x="3987800" y="4635500"/>
            <a:ext cx="1295400" cy="13798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730" b="1">
                <a:solidFill>
                  <a:srgbClr val="0E1B18"/>
                </a:solidFill>
                <a:latin typeface="Aptos" panose="020B0004020202020204" pitchFamily="34" charset="0"/>
              </a:rPr>
              <a:t>Amanah - trust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93B45AC-BA10-2E9C-0B44-9CAC761ED238}"/>
              </a:ext>
            </a:extLst>
          </p:cNvPr>
          <p:cNvSpPr/>
          <p:nvPr/>
        </p:nvSpPr>
        <p:spPr>
          <a:xfrm>
            <a:off x="5359400" y="4546600"/>
            <a:ext cx="1498600" cy="330200"/>
          </a:xfrm>
          <a:prstGeom prst="rect">
            <a:avLst/>
          </a:prstGeom>
          <a:solidFill>
            <a:srgbClr val="7BAA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E46FA34-C79B-15DA-41E4-F09A4799DB22}"/>
              </a:ext>
            </a:extLst>
          </p:cNvPr>
          <p:cNvSpPr txBox="1"/>
          <p:nvPr/>
        </p:nvSpPr>
        <p:spPr>
          <a:xfrm>
            <a:off x="5461000" y="4635500"/>
            <a:ext cx="1295400" cy="13798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730" b="1">
                <a:solidFill>
                  <a:srgbClr val="0E1B18"/>
                </a:solidFill>
                <a:latin typeface="Aptos" panose="020B0004020202020204" pitchFamily="34" charset="0"/>
              </a:rPr>
              <a:t>Shafafiyyah - transparency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6A4B344-683F-9F05-890F-0DE75AACF935}"/>
              </a:ext>
            </a:extLst>
          </p:cNvPr>
          <p:cNvSpPr/>
          <p:nvPr/>
        </p:nvSpPr>
        <p:spPr>
          <a:xfrm>
            <a:off x="6832600" y="4546600"/>
            <a:ext cx="1498600" cy="330200"/>
          </a:xfrm>
          <a:prstGeom prst="rect">
            <a:avLst/>
          </a:prstGeom>
          <a:solidFill>
            <a:srgbClr val="466A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AE136D-73B9-2AFE-42C6-2B4334004BCE}"/>
              </a:ext>
            </a:extLst>
          </p:cNvPr>
          <p:cNvSpPr txBox="1"/>
          <p:nvPr/>
        </p:nvSpPr>
        <p:spPr>
          <a:xfrm>
            <a:off x="6934200" y="4635500"/>
            <a:ext cx="1295400" cy="137986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730" b="1">
                <a:solidFill>
                  <a:srgbClr val="F6F1E7"/>
                </a:solidFill>
                <a:latin typeface="Aptos" panose="020B0004020202020204" pitchFamily="34" charset="0"/>
              </a:rPr>
              <a:t>Mas'uliyyah - accountability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A69E591-C72F-42BD-5D4B-1054817806B4}"/>
              </a:ext>
            </a:extLst>
          </p:cNvPr>
          <p:cNvSpPr txBox="1"/>
          <p:nvPr/>
        </p:nvSpPr>
        <p:spPr>
          <a:xfrm>
            <a:off x="584200" y="5892800"/>
            <a:ext cx="8382000" cy="15645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850" b="1">
                <a:solidFill>
                  <a:srgbClr val="F6F1E7"/>
                </a:solidFill>
                <a:latin typeface="Aptos" panose="020B0004020202020204" pitchFamily="34" charset="0"/>
              </a:rPr>
              <a:t>Simple explanation: AGP is not a donation app only. It is the governance-and-trust layer behind trusted giving.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8392106-D04D-3641-0EBD-528118145B27}"/>
              </a:ext>
            </a:extLst>
          </p:cNvPr>
          <p:cNvSpPr txBox="1"/>
          <p:nvPr/>
        </p:nvSpPr>
        <p:spPr>
          <a:xfrm>
            <a:off x="584200" y="6426200"/>
            <a:ext cx="7366000" cy="130292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680">
                <a:solidFill>
                  <a:srgbClr val="83968F"/>
                </a:solidFill>
                <a:latin typeface="Aptos" panose="020B0004020202020204" pitchFamily="34" charset="0"/>
              </a:rPr>
              <a:t>Source: AGP /about, /how-it-works, architecture map and stakeholder decks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A23F681-C7DB-C927-C2FA-1B23318A53D1}"/>
              </a:ext>
            </a:extLst>
          </p:cNvPr>
          <p:cNvSpPr txBox="1"/>
          <p:nvPr/>
        </p:nvSpPr>
        <p:spPr>
          <a:xfrm>
            <a:off x="11074400" y="6375400"/>
            <a:ext cx="508000" cy="156453"/>
          </a:xfrm>
          <a:prstGeom prst="rect">
            <a:avLst/>
          </a:prstGeom>
          <a:noFill/>
        </p:spPr>
        <p:txBody>
          <a:bodyPr vert="horz" lIns="25400" tIns="12700" rIns="25400" bIns="12700" rtlCol="0">
            <a:spAutoFit/>
          </a:bodyPr>
          <a:lstStyle/>
          <a:p>
            <a:r>
              <a:rPr lang="en-US" sz="850" b="1">
                <a:solidFill>
                  <a:srgbClr val="D8A84E"/>
                </a:solidFill>
                <a:latin typeface="Aptos" panose="020B0004020202020204" pitchFamily="34" charset="0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44016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</Words>
  <Application>Microsoft Office PowerPoint</Application>
  <PresentationFormat>Custom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Georgia</vt:lpstr>
      <vt:lpstr>Office Theme</vt:lpstr>
      <vt:lpstr>Amanah Governance Platform (AGP)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kamal latif</dc:creator>
  <cp:lastModifiedBy>kamal latif</cp:lastModifiedBy>
  <cp:revision>1</cp:revision>
  <dcterms:created xsi:type="dcterms:W3CDTF">2026-07-09T14:11:37Z</dcterms:created>
  <dcterms:modified xsi:type="dcterms:W3CDTF">2026-07-09T14:11:37Z</dcterms:modified>
</cp:coreProperties>
</file>