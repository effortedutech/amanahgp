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AGP Dark 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GP Master Dark Background">
            <a:extLst>
              <a:ext uri="{FF2B5EF4-FFF2-40B4-BE49-F238E27FC236}">
                <a16:creationId xmlns:a16="http://schemas.microsoft.com/office/drawing/2014/main" id="{9FAE3C37-DE43-7927-90AD-C7BDC7582D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FB5806-EBD2-8A39-97D9-94C945221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F68B0F-02C4-88D8-A87A-14A71E5E9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4D1BB-D410-EE9D-C306-1F395C18F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617015-FEC5-DAC0-281C-26B5CCDB2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GP Master Gold Top Rule">
            <a:extLst>
              <a:ext uri="{FF2B5EF4-FFF2-40B4-BE49-F238E27FC236}">
                <a16:creationId xmlns:a16="http://schemas.microsoft.com/office/drawing/2014/main" id="{94CED173-BF1E-ACE7-EDF4-CAE692BAA1E4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17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GP Dar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C42A942F-722C-56F2-E97C-FD54F0333DC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EF694F-C87F-B1F9-44A4-BF4D5E6291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F11E5-CF78-9E47-9D2D-E4D82238F3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4BEE8-AC1E-A167-4670-228399A1B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63036-30FB-5369-5902-0CF8F7EFB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73AD7-73EF-F7E4-38CA-4782DEB68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1AD48115-C5F5-CD88-1823-8F09A0DC3D81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214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AGP Dar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83530F3A-D0E7-4CF4-5D90-CA33DDAE0F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C7C06E-5830-A293-D501-89E96B2D4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F6E5A-9A5F-E66F-DBB7-9ABC35169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2919C-070F-FD69-AB14-B0394D983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D9C99-7A66-7FA8-1A24-F46BB41C4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D05CE-80F6-69F7-7326-99AB82E5A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C6E69C04-A5F3-0C2B-FBA4-47068E1042DD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936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AGP Dar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0946C99D-A816-F4CB-0172-670B470762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CCC909-8B27-BDE1-A367-72DC131DE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544EF-F10D-FCCA-1069-3D2ACFCDF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415F7-15DB-261C-4EEE-157B54A95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CCF59-ECF9-5B4C-58F8-5B0B26D4B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DE7B7-3859-5242-BC92-54B7F546C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C70097EB-C6DA-8A9D-35F4-43EAB6B67800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50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AGP Dar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GP Master Dark Background">
            <a:extLst>
              <a:ext uri="{FF2B5EF4-FFF2-40B4-BE49-F238E27FC236}">
                <a16:creationId xmlns:a16="http://schemas.microsoft.com/office/drawing/2014/main" id="{3F624E0F-F4AE-1BB0-AFF9-FB4319961D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CBD195-89F0-DCEF-2B0D-8E443A8EC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93719-0E56-2E7B-1D02-275F2BF21F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951CFB-BF21-D870-2545-0D97C00517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C272D-D897-B34D-00F0-5C35FD85C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94112-912E-31B7-7A8D-2759C49D8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0F34E-F60E-4427-1EB1-817E5D951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AGP Master Gold Top Rule">
            <a:extLst>
              <a:ext uri="{FF2B5EF4-FFF2-40B4-BE49-F238E27FC236}">
                <a16:creationId xmlns:a16="http://schemas.microsoft.com/office/drawing/2014/main" id="{332D1180-7FBA-4CAE-8B61-85BDE2EE03F7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541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_AGP Dar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GP Master Dark Background">
            <a:extLst>
              <a:ext uri="{FF2B5EF4-FFF2-40B4-BE49-F238E27FC236}">
                <a16:creationId xmlns:a16="http://schemas.microsoft.com/office/drawing/2014/main" id="{7D685E55-41D6-2AE0-46D8-09EA67DCAF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06CFD2-D6E6-71D1-3246-9AE9D6B6D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BD50B-21F6-8529-2C54-2E13B3B80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CDD447-9C94-28A8-9A35-D0362EF83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F4A685-4EFC-571A-FB96-EFD3664F53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5B3CEF-1087-2ADB-CF14-34E8EE530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92FD4E-F777-3BEE-D3F9-B68930F53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336E0C-6115-0734-0295-094E8BC6F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A9426E-8D0F-A799-24E6-556E1A975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AGP Master Gold Top Rule">
            <a:extLst>
              <a:ext uri="{FF2B5EF4-FFF2-40B4-BE49-F238E27FC236}">
                <a16:creationId xmlns:a16="http://schemas.microsoft.com/office/drawing/2014/main" id="{E7E54BC1-91AE-8C7D-BBD3-CCF039039EC1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853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5_AGP Dar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GP Master Dark Background">
            <a:extLst>
              <a:ext uri="{FF2B5EF4-FFF2-40B4-BE49-F238E27FC236}">
                <a16:creationId xmlns:a16="http://schemas.microsoft.com/office/drawing/2014/main" id="{92C28A8A-5166-9376-AAF0-7408C8C4FDA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49D262-3D6E-E0C9-CD9D-9F55748C0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770776-EDB4-0FA1-50AC-6A81727E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AFE03B-8296-50BC-EC19-95A39518A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6E47E7-E2E8-5A19-BC5C-E3012CA10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GP Master Gold Top Rule">
            <a:extLst>
              <a:ext uri="{FF2B5EF4-FFF2-40B4-BE49-F238E27FC236}">
                <a16:creationId xmlns:a16="http://schemas.microsoft.com/office/drawing/2014/main" id="{FB4AEFFB-9BD2-4B75-AC18-7D5AED4F2709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665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AGP Dar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GP Master Dark Background">
            <a:extLst>
              <a:ext uri="{FF2B5EF4-FFF2-40B4-BE49-F238E27FC236}">
                <a16:creationId xmlns:a16="http://schemas.microsoft.com/office/drawing/2014/main" id="{4A9BE607-27C0-952F-4CA7-7EA7933509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F0470A-DBCC-2AEE-A887-BBA0A9C2D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A30012-689C-5089-D625-34A3F2DBA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CEB4A-0BAB-3B67-1725-07E136F9F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AGP Master Gold Top Rule">
            <a:extLst>
              <a:ext uri="{FF2B5EF4-FFF2-40B4-BE49-F238E27FC236}">
                <a16:creationId xmlns:a16="http://schemas.microsoft.com/office/drawing/2014/main" id="{977AE9D1-FF49-4D64-69F0-50AF994165A0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559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7_AGP Dar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GP Master Dark Background">
            <a:extLst>
              <a:ext uri="{FF2B5EF4-FFF2-40B4-BE49-F238E27FC236}">
                <a16:creationId xmlns:a16="http://schemas.microsoft.com/office/drawing/2014/main" id="{C5AEEFDE-42C9-CBAA-A0F0-F58C57FED0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1A445-4DC6-8595-61F1-A413484EB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C39BD-9175-D8AA-2980-48C7F53E3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FF218D-99DF-09D8-1873-1741D0F81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DB5C2C-E6D7-910C-B428-6B0AB070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3012D6-59BF-0C96-08E9-F2FF8C8BF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FD7F06-8511-D378-379F-1D35926D3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AGP Master Gold Top Rule">
            <a:extLst>
              <a:ext uri="{FF2B5EF4-FFF2-40B4-BE49-F238E27FC236}">
                <a16:creationId xmlns:a16="http://schemas.microsoft.com/office/drawing/2014/main" id="{9A8DC583-3C57-4C07-15A3-296894D4FDDE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93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8_AGP Dar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GP Master Dark Background">
            <a:extLst>
              <a:ext uri="{FF2B5EF4-FFF2-40B4-BE49-F238E27FC236}">
                <a16:creationId xmlns:a16="http://schemas.microsoft.com/office/drawing/2014/main" id="{F046E69C-62EE-242E-A6E2-C1ECC1D910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37CB9D-CE8D-5636-E3FD-02A026C6A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367D06-DC30-5148-8ABE-3281519BB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910D9-2B22-5432-F928-BE3087E26D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4B03B-74DF-2648-16DF-B2F8AB9E7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E77925-76C5-FF2C-39A0-9884A725C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9E60AD-AADC-FC91-8D75-8372F0A7A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AGP Master Gold Top Rule">
            <a:extLst>
              <a:ext uri="{FF2B5EF4-FFF2-40B4-BE49-F238E27FC236}">
                <a16:creationId xmlns:a16="http://schemas.microsoft.com/office/drawing/2014/main" id="{89AA2986-1609-115C-C4EC-764F84D08F05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425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9_AGP Dar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F0C7E9A8-6D7D-AA68-77B5-1BFDC06085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F44D9D-F82C-96D4-A788-99694B39E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6E6591-5DF2-13F8-C15C-9E97C8B7B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FC685-581E-EAF9-5392-868C6A896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E5848-765A-1E2D-3701-9E9B9D92A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12790-EB95-631E-74C2-10A2DB1E2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356AE85C-008F-EFC7-E297-28C24B0BDC16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486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0_AGP Dar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45F1A695-999A-0FE8-6D22-11F09F3A72B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9D2465-FA5B-75D0-88A1-CE57DE9ABF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E36F2D-6293-EDDA-B659-458EEF69E7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AA65D-56CE-46A5-57D8-79F8E90C6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F3F50-2882-6EEC-CD60-D296E0407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05A17-6163-9D13-E803-0D911C370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5D404365-AA5B-13AF-0747-2D1CFE53FC9F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415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8805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2C155669-CC31-D71E-C8FA-7814CF78D70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6332EB-D0AA-DC02-9208-E692B9285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CB0DB-B7D4-4267-8193-9EE29CA7B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03371-6961-01A5-7E95-52B4365F56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CA5F8-B116-C903-12F2-5354BBDD43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00200-A6F9-7167-C1C4-8ED003826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61209344-E031-6F67-99A6-063ADF1C115F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659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343DA91-C1C0-4EDB-8E73-A6B60F51E911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035956-2F84-4D5D-A6CA-1BF0E1300647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STAKEHOLDER BRIEFING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188F36-5E20-482D-A9A2-095A7F5BC260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7048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AGP turns governance into visible trust infrastructure.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8902EE-903A-4880-AA49-8D671A841561}"/>
              </a:ext>
            </a:extLst>
          </p:cNvPr>
          <p:cNvSpPr>
            <a:spLocks noGrp="1"/>
          </p:cNvSpPr>
          <p:nvPr/>
        </p:nvSpPr>
        <p:spPr>
          <a:xfrm>
            <a:off x="628650" y="3143250"/>
            <a:ext cx="7524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 Governance Platform helps charities improve governance, gives donors clearer confidence signals, and gives oversight stakeholders a shared evidence layer.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590B52-A7CC-4ECD-8661-31883E6CCD4D}"/>
              </a:ext>
            </a:extLst>
          </p:cNvPr>
          <p:cNvSpPr>
            <a:spLocks noGrp="1"/>
          </p:cNvSpPr>
          <p:nvPr/>
        </p:nvSpPr>
        <p:spPr>
          <a:xfrm>
            <a:off x="8420100" y="1695450"/>
            <a:ext cx="2571750" cy="7239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7C21AD-BF71-4D40-AAF3-76E01BD66F7F}"/>
              </a:ext>
            </a:extLst>
          </p:cNvPr>
          <p:cNvSpPr>
            <a:spLocks noGrp="1"/>
          </p:cNvSpPr>
          <p:nvPr/>
        </p:nvSpPr>
        <p:spPr>
          <a:xfrm>
            <a:off x="8667750" y="186690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290689-4FF4-43D5-9632-D64F94EDAC08}"/>
              </a:ext>
            </a:extLst>
          </p:cNvPr>
          <p:cNvSpPr>
            <a:spLocks noGrp="1"/>
          </p:cNvSpPr>
          <p:nvPr/>
        </p:nvSpPr>
        <p:spPr>
          <a:xfrm>
            <a:off x="8667750" y="21145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evidence captured at source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27735F-F91E-4E97-91DA-46496D50201F}"/>
              </a:ext>
            </a:extLst>
          </p:cNvPr>
          <p:cNvSpPr>
            <a:spLocks noGrp="1"/>
          </p:cNvSpPr>
          <p:nvPr/>
        </p:nvSpPr>
        <p:spPr>
          <a:xfrm>
            <a:off x="8420100" y="2762250"/>
            <a:ext cx="2571750" cy="7239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CD2E0D-E455-42BD-8400-CD4714F2057A}"/>
              </a:ext>
            </a:extLst>
          </p:cNvPr>
          <p:cNvSpPr>
            <a:spLocks noGrp="1"/>
          </p:cNvSpPr>
          <p:nvPr/>
        </p:nvSpPr>
        <p:spPr>
          <a:xfrm>
            <a:off x="8667750" y="293370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760B2F-82AD-4126-A5C6-DA71B68289FA}"/>
              </a:ext>
            </a:extLst>
          </p:cNvPr>
          <p:cNvSpPr>
            <a:spLocks noGrp="1"/>
          </p:cNvSpPr>
          <p:nvPr/>
        </p:nvSpPr>
        <p:spPr>
          <a:xfrm>
            <a:off x="8667750" y="31813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signals scored and reviewed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421BBC-21F7-491B-B8E5-4D7480DDE59C}"/>
              </a:ext>
            </a:extLst>
          </p:cNvPr>
          <p:cNvSpPr>
            <a:spLocks noGrp="1"/>
          </p:cNvSpPr>
          <p:nvPr/>
        </p:nvSpPr>
        <p:spPr>
          <a:xfrm>
            <a:off x="8420100" y="3829050"/>
            <a:ext cx="2571750" cy="7239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31CB25-23A2-4D76-85D9-B284ACDD6101}"/>
              </a:ext>
            </a:extLst>
          </p:cNvPr>
          <p:cNvSpPr>
            <a:spLocks noGrp="1"/>
          </p:cNvSpPr>
          <p:nvPr/>
        </p:nvSpPr>
        <p:spPr>
          <a:xfrm>
            <a:off x="8667750" y="400050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Giving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1EDC2E-932F-4EF4-A733-E19BED7D73A9}"/>
              </a:ext>
            </a:extLst>
          </p:cNvPr>
          <p:cNvSpPr>
            <a:spLocks noGrp="1"/>
          </p:cNvSpPr>
          <p:nvPr/>
        </p:nvSpPr>
        <p:spPr>
          <a:xfrm>
            <a:off x="8667750" y="42481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donors decide with confidence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1A8AD8-A4C4-4B72-800D-54DE33FE6A2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For discussion with zakat authorities, charities, funders, reviewers, and partners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E8F0FE-6FC6-4274-8FB1-72A4932BC4A2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B285381D-E3B6-2969-514F-ACE35B9CB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494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0C1B05-E29B-4696-86BA-241236E4604B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2A8248-2DE9-4DD8-9E57-5B2171E6320F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WHY NOW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59DCD1-ACF3-4E6F-B1BB-50E45DF0F2FE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Donation rails improved; governance visibility did not keep pace.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CBFF3F-2D63-4C94-9334-D77A201C2CC4}"/>
              </a:ext>
            </a:extLst>
          </p:cNvPr>
          <p:cNvSpPr>
            <a:spLocks noGrp="1"/>
          </p:cNvSpPr>
          <p:nvPr/>
        </p:nvSpPr>
        <p:spPr>
          <a:xfrm>
            <a:off x="628650" y="2552700"/>
            <a:ext cx="7524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The sector is not short of generosity. It needs shared, affordable infrastructure that turns governance work into evidence donors and oversight bodies can trust.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6C7002-9901-41CD-855D-79881CCD80A3}"/>
              </a:ext>
            </a:extLst>
          </p:cNvPr>
          <p:cNvSpPr>
            <a:spLocks noGrp="1"/>
          </p:cNvSpPr>
          <p:nvPr/>
        </p:nvSpPr>
        <p:spPr>
          <a:xfrm>
            <a:off x="742950" y="34480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637254-A542-4A03-8575-4A8E11C8430F}"/>
              </a:ext>
            </a:extLst>
          </p:cNvPr>
          <p:cNvSpPr>
            <a:spLocks noGrp="1"/>
          </p:cNvSpPr>
          <p:nvPr/>
        </p:nvSpPr>
        <p:spPr>
          <a:xfrm>
            <a:off x="742950" y="3448050"/>
            <a:ext cx="95250" cy="4191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4F720F-4144-43D5-9BD2-53B919E4DC39}"/>
              </a:ext>
            </a:extLst>
          </p:cNvPr>
          <p:cNvSpPr>
            <a:spLocks noGrp="1"/>
          </p:cNvSpPr>
          <p:nvPr/>
        </p:nvSpPr>
        <p:spPr>
          <a:xfrm>
            <a:off x="971550" y="35623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Digital fundraising expanded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085372-8C32-4B9F-A9DC-9CBD645085D0}"/>
              </a:ext>
            </a:extLst>
          </p:cNvPr>
          <p:cNvSpPr>
            <a:spLocks noGrp="1"/>
          </p:cNvSpPr>
          <p:nvPr/>
        </p:nvSpPr>
        <p:spPr>
          <a:xfrm>
            <a:off x="3200400" y="35242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More channels, faster campaigns, higher donor expectations.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571DBF-C454-4880-9FA3-B49F96C304D2}"/>
              </a:ext>
            </a:extLst>
          </p:cNvPr>
          <p:cNvSpPr>
            <a:spLocks noGrp="1"/>
          </p:cNvSpPr>
          <p:nvPr/>
        </p:nvSpPr>
        <p:spPr>
          <a:xfrm>
            <a:off x="742950" y="40576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895939-191E-46C9-8A6E-57D7F7A15518}"/>
              </a:ext>
            </a:extLst>
          </p:cNvPr>
          <p:cNvSpPr>
            <a:spLocks noGrp="1"/>
          </p:cNvSpPr>
          <p:nvPr/>
        </p:nvSpPr>
        <p:spPr>
          <a:xfrm>
            <a:off x="742950" y="4057650"/>
            <a:ext cx="95250" cy="4191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C3C39F-F46F-41BC-B0FC-01986A1BE5B1}"/>
              </a:ext>
            </a:extLst>
          </p:cNvPr>
          <p:cNvSpPr>
            <a:spLocks noGrp="1"/>
          </p:cNvSpPr>
          <p:nvPr/>
        </p:nvSpPr>
        <p:spPr>
          <a:xfrm>
            <a:off x="971550" y="41719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Governance remains fragmented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524A56-9449-4B14-872C-31A87BA7A58C}"/>
              </a:ext>
            </a:extLst>
          </p:cNvPr>
          <p:cNvSpPr>
            <a:spLocks noGrp="1"/>
          </p:cNvSpPr>
          <p:nvPr/>
        </p:nvSpPr>
        <p:spPr>
          <a:xfrm>
            <a:off x="3200400" y="41338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Documents, approvals, reports, and evidence live separately.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6BB213-967B-4C48-B8B1-4A1190C52E5F}"/>
              </a:ext>
            </a:extLst>
          </p:cNvPr>
          <p:cNvSpPr>
            <a:spLocks noGrp="1"/>
          </p:cNvSpPr>
          <p:nvPr/>
        </p:nvSpPr>
        <p:spPr>
          <a:xfrm>
            <a:off x="742950" y="46672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EC062B-E032-4022-AB4A-0B78590A446E}"/>
              </a:ext>
            </a:extLst>
          </p:cNvPr>
          <p:cNvSpPr>
            <a:spLocks noGrp="1"/>
          </p:cNvSpPr>
          <p:nvPr/>
        </p:nvSpPr>
        <p:spPr>
          <a:xfrm>
            <a:off x="742950" y="4667250"/>
            <a:ext cx="95250" cy="4191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94474B-B690-4F5A-8272-92CA11CEDA77}"/>
              </a:ext>
            </a:extLst>
          </p:cNvPr>
          <p:cNvSpPr>
            <a:spLocks noGrp="1"/>
          </p:cNvSpPr>
          <p:nvPr/>
        </p:nvSpPr>
        <p:spPr>
          <a:xfrm>
            <a:off x="971550" y="47815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Oversight workload rises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4D3D98-2D8B-4889-BD51-DD61B24698D6}"/>
              </a:ext>
            </a:extLst>
          </p:cNvPr>
          <p:cNvSpPr>
            <a:spLocks noGrp="1"/>
          </p:cNvSpPr>
          <p:nvPr/>
        </p:nvSpPr>
        <p:spPr>
          <a:xfrm>
            <a:off x="3200400" y="47434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Reviewers need structured signals, not more unstructured PDFs.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968E4E-B0B1-4E52-B59C-682258222B19}"/>
              </a:ext>
            </a:extLst>
          </p:cNvPr>
          <p:cNvSpPr>
            <a:spLocks noGrp="1"/>
          </p:cNvSpPr>
          <p:nvPr/>
        </p:nvSpPr>
        <p:spPr>
          <a:xfrm>
            <a:off x="742950" y="52768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6B65A9-B517-42CF-9612-6550B3F1EA00}"/>
              </a:ext>
            </a:extLst>
          </p:cNvPr>
          <p:cNvSpPr>
            <a:spLocks noGrp="1"/>
          </p:cNvSpPr>
          <p:nvPr/>
        </p:nvSpPr>
        <p:spPr>
          <a:xfrm>
            <a:off x="742950" y="5276850"/>
            <a:ext cx="95250" cy="4191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EBD4EA-37ED-4305-867E-46A9C3435509}"/>
              </a:ext>
            </a:extLst>
          </p:cNvPr>
          <p:cNvSpPr>
            <a:spLocks noGrp="1"/>
          </p:cNvSpPr>
          <p:nvPr/>
        </p:nvSpPr>
        <p:spPr>
          <a:xfrm>
            <a:off x="971550" y="53911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Donors need confidence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E04935-2925-4EF6-86E4-92240F89EC49}"/>
              </a:ext>
            </a:extLst>
          </p:cNvPr>
          <p:cNvSpPr>
            <a:spLocks noGrp="1"/>
          </p:cNvSpPr>
          <p:nvPr/>
        </p:nvSpPr>
        <p:spPr>
          <a:xfrm>
            <a:off x="3200400" y="53530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Giving depends on trust that is visible and current.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8DA5CD-6AD9-4F10-BCAA-A53DD3F83BD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AGP pitch notes and architecture docs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2990225-C908-448D-B50B-7D8942BF0533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9F1DE433-B23E-D3D5-DA22-5AE395C3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038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74D3C1F-878D-4D59-900E-67D636C0A5FC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C621B3-ED94-402A-A162-48D7E6E232E4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PLATFORM THESIS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E6E65E-9311-45A9-9248-6AB418500375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AGP creates a closed loop between better governance and better giving.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2FFC9D-3A3B-4F06-8598-A585CF5BA9CF}"/>
              </a:ext>
            </a:extLst>
          </p:cNvPr>
          <p:cNvSpPr>
            <a:spLocks noGrp="1"/>
          </p:cNvSpPr>
          <p:nvPr/>
        </p:nvSpPr>
        <p:spPr>
          <a:xfrm>
            <a:off x="628650" y="3333750"/>
            <a:ext cx="1466850" cy="7429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328DA1-6777-4E98-8CF2-BF3AD9452B22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 improves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FD821E-3EA6-4D22-94F7-76EF7E017253}"/>
              </a:ext>
            </a:extLst>
          </p:cNvPr>
          <p:cNvSpPr>
            <a:spLocks noGrp="1"/>
          </p:cNvSpPr>
          <p:nvPr/>
        </p:nvSpPr>
        <p:spPr>
          <a:xfrm>
            <a:off x="7810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policies, reports, evidence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3F421B-7D18-40E5-B512-FB952290C1BA}"/>
              </a:ext>
            </a:extLst>
          </p:cNvPr>
          <p:cNvSpPr>
            <a:spLocks noGrp="1"/>
          </p:cNvSpPr>
          <p:nvPr/>
        </p:nvSpPr>
        <p:spPr>
          <a:xfrm>
            <a:off x="22098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C91DE4-6AC0-4C65-918D-D83B2F72CAA8}"/>
              </a:ext>
            </a:extLst>
          </p:cNvPr>
          <p:cNvSpPr>
            <a:spLocks noGrp="1"/>
          </p:cNvSpPr>
          <p:nvPr/>
        </p:nvSpPr>
        <p:spPr>
          <a:xfrm>
            <a:off x="2838450" y="3333750"/>
            <a:ext cx="1466850" cy="7429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6B4ED2-B89D-4291-9D07-6C5B919211D1}"/>
              </a:ext>
            </a:extLst>
          </p:cNvPr>
          <p:cNvSpPr>
            <a:spLocks noGrp="1"/>
          </p:cNvSpPr>
          <p:nvPr/>
        </p:nvSpPr>
        <p:spPr>
          <a:xfrm>
            <a:off x="29908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Evidence captured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A523B5-AD55-497B-9B84-8232FB7B4CD8}"/>
              </a:ext>
            </a:extLst>
          </p:cNvPr>
          <p:cNvSpPr>
            <a:spLocks noGrp="1"/>
          </p:cNvSpPr>
          <p:nvPr/>
        </p:nvSpPr>
        <p:spPr>
          <a:xfrm>
            <a:off x="29908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events, documents, reviews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46110C-4E12-41E1-B159-E9A141BB1235}"/>
              </a:ext>
            </a:extLst>
          </p:cNvPr>
          <p:cNvSpPr>
            <a:spLocks noGrp="1"/>
          </p:cNvSpPr>
          <p:nvPr/>
        </p:nvSpPr>
        <p:spPr>
          <a:xfrm>
            <a:off x="44196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72D204-7A58-42F2-9981-7E7DEC1896E5}"/>
              </a:ext>
            </a:extLst>
          </p:cNvPr>
          <p:cNvSpPr>
            <a:spLocks noGrp="1"/>
          </p:cNvSpPr>
          <p:nvPr/>
        </p:nvSpPr>
        <p:spPr>
          <a:xfrm>
            <a:off x="5048250" y="3333750"/>
            <a:ext cx="1466850" cy="7429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0864E8-914A-42C4-94BF-9A977EEC3695}"/>
              </a:ext>
            </a:extLst>
          </p:cNvPr>
          <p:cNvSpPr>
            <a:spLocks noGrp="1"/>
          </p:cNvSpPr>
          <p:nvPr/>
        </p:nvSpPr>
        <p:spPr>
          <a:xfrm>
            <a:off x="52006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Amanah Index visible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321AE7-70CA-49A2-9F0C-8DC0D3FBF780}"/>
              </a:ext>
            </a:extLst>
          </p:cNvPr>
          <p:cNvSpPr>
            <a:spLocks noGrp="1"/>
          </p:cNvSpPr>
          <p:nvPr/>
        </p:nvSpPr>
        <p:spPr>
          <a:xfrm>
            <a:off x="52006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score and trust signals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ECB124-E243-4221-BDAC-D5EDD4CC2CEE}"/>
              </a:ext>
            </a:extLst>
          </p:cNvPr>
          <p:cNvSpPr>
            <a:spLocks noGrp="1"/>
          </p:cNvSpPr>
          <p:nvPr/>
        </p:nvSpPr>
        <p:spPr>
          <a:xfrm>
            <a:off x="66294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92A7B3-14E5-43B5-A2EE-58882BF0BD5B}"/>
              </a:ext>
            </a:extLst>
          </p:cNvPr>
          <p:cNvSpPr>
            <a:spLocks noGrp="1"/>
          </p:cNvSpPr>
          <p:nvPr/>
        </p:nvSpPr>
        <p:spPr>
          <a:xfrm>
            <a:off x="7258050" y="3333750"/>
            <a:ext cx="1466850" cy="7429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B1B0A9-1D4B-4C53-8ADB-1362EFA7B63B}"/>
              </a:ext>
            </a:extLst>
          </p:cNvPr>
          <p:cNvSpPr>
            <a:spLocks noGrp="1"/>
          </p:cNvSpPr>
          <p:nvPr/>
        </p:nvSpPr>
        <p:spPr>
          <a:xfrm>
            <a:off x="74104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Donors act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3951D5-3DCA-417F-A924-3DB2CD516559}"/>
              </a:ext>
            </a:extLst>
          </p:cNvPr>
          <p:cNvSpPr>
            <a:spLocks noGrp="1"/>
          </p:cNvSpPr>
          <p:nvPr/>
        </p:nvSpPr>
        <p:spPr>
          <a:xfrm>
            <a:off x="74104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profiles, badges, receipts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143201-F280-4B5C-A382-E7FB2B5C10EF}"/>
              </a:ext>
            </a:extLst>
          </p:cNvPr>
          <p:cNvSpPr>
            <a:spLocks noGrp="1"/>
          </p:cNvSpPr>
          <p:nvPr/>
        </p:nvSpPr>
        <p:spPr>
          <a:xfrm>
            <a:off x="88392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1C3014-3478-495C-A001-1FCC7A32DE0F}"/>
              </a:ext>
            </a:extLst>
          </p:cNvPr>
          <p:cNvSpPr>
            <a:spLocks noGrp="1"/>
          </p:cNvSpPr>
          <p:nvPr/>
        </p:nvSpPr>
        <p:spPr>
          <a:xfrm>
            <a:off x="9467850" y="3333750"/>
            <a:ext cx="1466850" cy="74295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14FEA1-0D38-42C0-A77F-5EC083749C1C}"/>
              </a:ext>
            </a:extLst>
          </p:cNvPr>
          <p:cNvSpPr>
            <a:spLocks noGrp="1"/>
          </p:cNvSpPr>
          <p:nvPr/>
        </p:nvSpPr>
        <p:spPr>
          <a:xfrm>
            <a:off x="96202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Trust compounds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9C2A281-69A4-4655-B659-09DE8D186480}"/>
              </a:ext>
            </a:extLst>
          </p:cNvPr>
          <p:cNvSpPr>
            <a:spLocks noGrp="1"/>
          </p:cNvSpPr>
          <p:nvPr/>
        </p:nvSpPr>
        <p:spPr>
          <a:xfrm>
            <a:off x="96202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better giving behaviour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0954A0-AC9A-4075-A071-1292FD36BA4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pitch notes, Amanah Index upgrade notes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490ECD-AA4C-4BD9-A486-54B0A2071199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D665FE9D-95CB-DBF7-8DCD-63D7A97F0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209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196195D-80D8-436A-974A-C97B91EAF45D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9EF8C2-ACC4-44ED-9E28-B66A202F4464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STAKEHOLDER MAP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64F44A-B03F-4483-AEA3-3E27B038F901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Different stakeholders need different views of the same trust record.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935BFF-6447-4C7C-98C2-A19BAA46E764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392E69-41A1-48F4-9802-0C968FED100E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95250" cy="4191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107E61-3C9E-44DC-A4AE-8765E2113A49}"/>
              </a:ext>
            </a:extLst>
          </p:cNvPr>
          <p:cNvSpPr>
            <a:spLocks noGrp="1"/>
          </p:cNvSpPr>
          <p:nvPr/>
        </p:nvSpPr>
        <p:spPr>
          <a:xfrm>
            <a:off x="971550" y="23812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Charities / mosques / NGOs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5011E3-66D4-4B9C-9032-C8A7B1843D40}"/>
              </a:ext>
            </a:extLst>
          </p:cNvPr>
          <p:cNvSpPr>
            <a:spLocks noGrp="1"/>
          </p:cNvSpPr>
          <p:nvPr/>
        </p:nvSpPr>
        <p:spPr>
          <a:xfrm>
            <a:off x="3200400" y="23431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Affordable governance tools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8199A0-1BD3-4BF2-9751-30BC516DDBE2}"/>
              </a:ext>
            </a:extLst>
          </p:cNvPr>
          <p:cNvSpPr>
            <a:spLocks noGrp="1"/>
          </p:cNvSpPr>
          <p:nvPr/>
        </p:nvSpPr>
        <p:spPr>
          <a:xfrm>
            <a:off x="7029450" y="2305050"/>
            <a:ext cx="2343150" cy="3429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7EA0FB-51C8-4A00-917C-CC8162D7F1D9}"/>
              </a:ext>
            </a:extLst>
          </p:cNvPr>
          <p:cNvSpPr>
            <a:spLocks noGrp="1"/>
          </p:cNvSpPr>
          <p:nvPr/>
        </p:nvSpPr>
        <p:spPr>
          <a:xfrm>
            <a:off x="7239000" y="23907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B716DE-A548-414E-8EBB-4BCA7CC00601}"/>
              </a:ext>
            </a:extLst>
          </p:cNvPr>
          <p:cNvSpPr>
            <a:spLocks noGrp="1"/>
          </p:cNvSpPr>
          <p:nvPr/>
        </p:nvSpPr>
        <p:spPr>
          <a:xfrm>
            <a:off x="742950" y="28765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FBDA59-FE95-4F2B-8CDD-D7CB60EF7409}"/>
              </a:ext>
            </a:extLst>
          </p:cNvPr>
          <p:cNvSpPr>
            <a:spLocks noGrp="1"/>
          </p:cNvSpPr>
          <p:nvPr/>
        </p:nvSpPr>
        <p:spPr>
          <a:xfrm>
            <a:off x="742950" y="2876550"/>
            <a:ext cx="95250" cy="4191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41A4D9-E905-417C-83ED-8340DBF07823}"/>
              </a:ext>
            </a:extLst>
          </p:cNvPr>
          <p:cNvSpPr>
            <a:spLocks noGrp="1"/>
          </p:cNvSpPr>
          <p:nvPr/>
        </p:nvSpPr>
        <p:spPr>
          <a:xfrm>
            <a:off x="971550" y="29908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Donors / corporate CSR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C28FD6-F829-4C59-9E2F-45332F8ECBC8}"/>
              </a:ext>
            </a:extLst>
          </p:cNvPr>
          <p:cNvSpPr>
            <a:spLocks noGrp="1"/>
          </p:cNvSpPr>
          <p:nvPr/>
        </p:nvSpPr>
        <p:spPr>
          <a:xfrm>
            <a:off x="3200400" y="29527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Clear signals before giving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A3F125-E1DB-4388-896C-9F770D47014B}"/>
              </a:ext>
            </a:extLst>
          </p:cNvPr>
          <p:cNvSpPr>
            <a:spLocks noGrp="1"/>
          </p:cNvSpPr>
          <p:nvPr/>
        </p:nvSpPr>
        <p:spPr>
          <a:xfrm>
            <a:off x="7029450" y="2914650"/>
            <a:ext cx="2343150" cy="3429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5F9717-082A-4FBA-AEA4-32F709DE510E}"/>
              </a:ext>
            </a:extLst>
          </p:cNvPr>
          <p:cNvSpPr>
            <a:spLocks noGrp="1"/>
          </p:cNvSpPr>
          <p:nvPr/>
        </p:nvSpPr>
        <p:spPr>
          <a:xfrm>
            <a:off x="7239000" y="30003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59891C-A1A5-40CD-8AF1-707F63690EB8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01962E-D666-4976-8D48-F13AF6BC3DC6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95250" cy="4191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17CF65-FB4C-4EDD-9237-C46A9B644C03}"/>
              </a:ext>
            </a:extLst>
          </p:cNvPr>
          <p:cNvSpPr>
            <a:spLocks noGrp="1"/>
          </p:cNvSpPr>
          <p:nvPr/>
        </p:nvSpPr>
        <p:spPr>
          <a:xfrm>
            <a:off x="971550" y="36004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Zakat / waqf / councils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7B6604-8B97-4496-8EED-130A379D9A6B}"/>
              </a:ext>
            </a:extLst>
          </p:cNvPr>
          <p:cNvSpPr>
            <a:spLocks noGrp="1"/>
          </p:cNvSpPr>
          <p:nvPr/>
        </p:nvSpPr>
        <p:spPr>
          <a:xfrm>
            <a:off x="3200400" y="35623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Monitoring without manual chaos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22A4B0C-45AA-482C-AC6E-61243315E992}"/>
              </a:ext>
            </a:extLst>
          </p:cNvPr>
          <p:cNvSpPr>
            <a:spLocks noGrp="1"/>
          </p:cNvSpPr>
          <p:nvPr/>
        </p:nvSpPr>
        <p:spPr>
          <a:xfrm>
            <a:off x="7029450" y="3524250"/>
            <a:ext cx="2343150" cy="3429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53684F-7B05-41EE-A9A2-31C32EC55DE2}"/>
              </a:ext>
            </a:extLst>
          </p:cNvPr>
          <p:cNvSpPr>
            <a:spLocks noGrp="1"/>
          </p:cNvSpPr>
          <p:nvPr/>
        </p:nvSpPr>
        <p:spPr>
          <a:xfrm>
            <a:off x="7239000" y="36099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DF99C0-20ED-4A62-91E1-0CB4EDA2806C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ADEAA5-2674-4B2E-BABE-21ADB0436646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95250" cy="4191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74D94AE-F13D-43FE-A300-0B89AF3CE369}"/>
              </a:ext>
            </a:extLst>
          </p:cNvPr>
          <p:cNvSpPr>
            <a:spLocks noGrp="1"/>
          </p:cNvSpPr>
          <p:nvPr/>
        </p:nvSpPr>
        <p:spPr>
          <a:xfrm>
            <a:off x="971550" y="42100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Reviewers / scholars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CA2285-001F-4760-977A-C38B18140AD6}"/>
              </a:ext>
            </a:extLst>
          </p:cNvPr>
          <p:cNvSpPr>
            <a:spLocks noGrp="1"/>
          </p:cNvSpPr>
          <p:nvPr/>
        </p:nvSpPr>
        <p:spPr>
          <a:xfrm>
            <a:off x="3200400" y="41719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Structured evidence and audit trail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0AAD78D-5D45-45C5-9B85-5D99645CBE2D}"/>
              </a:ext>
            </a:extLst>
          </p:cNvPr>
          <p:cNvSpPr>
            <a:spLocks noGrp="1"/>
          </p:cNvSpPr>
          <p:nvPr/>
        </p:nvSpPr>
        <p:spPr>
          <a:xfrm>
            <a:off x="7029450" y="4133850"/>
            <a:ext cx="2343150" cy="3429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ACF2C03-F756-4240-BBA7-5CE4EB50C503}"/>
              </a:ext>
            </a:extLst>
          </p:cNvPr>
          <p:cNvSpPr>
            <a:spLocks noGrp="1"/>
          </p:cNvSpPr>
          <p:nvPr/>
        </p:nvSpPr>
        <p:spPr>
          <a:xfrm>
            <a:off x="7239000" y="42195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1B97C1-F19A-4EE0-9BF8-F77E843076D8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56BEDDC-8374-47FA-9AF6-CCB30804E7AF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95250" cy="4191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A1676E8-F918-4D10-8CFB-2656BE93B5B1}"/>
              </a:ext>
            </a:extLst>
          </p:cNvPr>
          <p:cNvSpPr>
            <a:spLocks noGrp="1"/>
          </p:cNvSpPr>
          <p:nvPr/>
        </p:nvSpPr>
        <p:spPr>
          <a:xfrm>
            <a:off x="971550" y="48196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Grantmakers / partners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BE467E-E3CA-4DAC-94D7-B4778637B79A}"/>
              </a:ext>
            </a:extLst>
          </p:cNvPr>
          <p:cNvSpPr>
            <a:spLocks noGrp="1"/>
          </p:cNvSpPr>
          <p:nvPr/>
        </p:nvSpPr>
        <p:spPr>
          <a:xfrm>
            <a:off x="3200400" y="47815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Pilot outcomes and adoption proof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581AAD6-3463-4965-96A1-DB3B5F277B19}"/>
              </a:ext>
            </a:extLst>
          </p:cNvPr>
          <p:cNvSpPr>
            <a:spLocks noGrp="1"/>
          </p:cNvSpPr>
          <p:nvPr/>
        </p:nvSpPr>
        <p:spPr>
          <a:xfrm>
            <a:off x="7029450" y="4743450"/>
            <a:ext cx="2343150" cy="3429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90CB525-9166-4F7F-961B-4196EDC29E94}"/>
              </a:ext>
            </a:extLst>
          </p:cNvPr>
          <p:cNvSpPr>
            <a:spLocks noGrp="1"/>
          </p:cNvSpPr>
          <p:nvPr/>
        </p:nvSpPr>
        <p:spPr>
          <a:xfrm>
            <a:off x="7239000" y="48291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Reports + profiles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C3A82CF-471C-4539-A9ED-7ADBA015FDFA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architecture map and pitch notes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0099E3B-E84C-4A52-9076-E1D1B09411DB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9" name="Title 38">
            <a:extLst>
              <a:ext uri="{FF2B5EF4-FFF2-40B4-BE49-F238E27FC236}">
                <a16:creationId xmlns:a16="http://schemas.microsoft.com/office/drawing/2014/main" id="{C91B71C6-7142-6ECF-03C3-706BCA4F9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591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B2C5036-0A94-48A1-A07A-8978DB287E6B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C80C03-6736-4612-85BB-15FFB3548B19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PRODUCT SYSTEM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86149F-E0B9-4C7D-AD5F-B75FED1AF481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Three products surround one scoring and evidence core.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A156AF-3796-45C4-B456-E21AFD6BC443}"/>
              </a:ext>
            </a:extLst>
          </p:cNvPr>
          <p:cNvSpPr>
            <a:spLocks noGrp="1"/>
          </p:cNvSpPr>
          <p:nvPr/>
        </p:nvSpPr>
        <p:spPr>
          <a:xfrm>
            <a:off x="857250" y="2400300"/>
            <a:ext cx="3105150" cy="16192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CE8D20-1353-4DDD-BAE7-F0261687B2D9}"/>
              </a:ext>
            </a:extLst>
          </p:cNvPr>
          <p:cNvSpPr>
            <a:spLocks noGrp="1"/>
          </p:cNvSpPr>
          <p:nvPr/>
        </p:nvSpPr>
        <p:spPr>
          <a:xfrm>
            <a:off x="1066800" y="2628900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BF3EFB-BF3D-4C8B-899F-C3FEDB1E50E6}"/>
              </a:ext>
            </a:extLst>
          </p:cNvPr>
          <p:cNvSpPr>
            <a:spLocks noGrp="1"/>
          </p:cNvSpPr>
          <p:nvPr/>
        </p:nvSpPr>
        <p:spPr>
          <a:xfrm>
            <a:off x="1066800" y="2952750"/>
            <a:ext cx="25908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public donor app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08897B-FAD4-43BF-90BA-717FB7B03641}"/>
              </a:ext>
            </a:extLst>
          </p:cNvPr>
          <p:cNvSpPr>
            <a:spLocks noGrp="1"/>
          </p:cNvSpPr>
          <p:nvPr/>
        </p:nvSpPr>
        <p:spPr>
          <a:xfrm>
            <a:off x="4191000" y="2400300"/>
            <a:ext cx="3105150" cy="16192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479F15-0916-4CEF-AC88-4E3E3B10899E}"/>
              </a:ext>
            </a:extLst>
          </p:cNvPr>
          <p:cNvSpPr>
            <a:spLocks noGrp="1"/>
          </p:cNvSpPr>
          <p:nvPr/>
        </p:nvSpPr>
        <p:spPr>
          <a:xfrm>
            <a:off x="4400550" y="2628900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662E65-43A2-4AEB-ABAA-3321A3D994F1}"/>
              </a:ext>
            </a:extLst>
          </p:cNvPr>
          <p:cNvSpPr>
            <a:spLocks noGrp="1"/>
          </p:cNvSpPr>
          <p:nvPr/>
        </p:nvSpPr>
        <p:spPr>
          <a:xfrm>
            <a:off x="4400550" y="2952750"/>
            <a:ext cx="25908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org governance workspace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C0C344-4D6D-4E4C-AEF2-28594BC4C0D2}"/>
              </a:ext>
            </a:extLst>
          </p:cNvPr>
          <p:cNvSpPr>
            <a:spLocks noGrp="1"/>
          </p:cNvSpPr>
          <p:nvPr/>
        </p:nvSpPr>
        <p:spPr>
          <a:xfrm>
            <a:off x="7524750" y="2400300"/>
            <a:ext cx="3105150" cy="16192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2A2B52-2D84-4B31-906F-B7A6B26EB75C}"/>
              </a:ext>
            </a:extLst>
          </p:cNvPr>
          <p:cNvSpPr>
            <a:spLocks noGrp="1"/>
          </p:cNvSpPr>
          <p:nvPr/>
        </p:nvSpPr>
        <p:spPr>
          <a:xfrm>
            <a:off x="7734300" y="2628900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42D603-3704-4D57-B5F2-B1DBE2680C69}"/>
              </a:ext>
            </a:extLst>
          </p:cNvPr>
          <p:cNvSpPr>
            <a:spLocks noGrp="1"/>
          </p:cNvSpPr>
          <p:nvPr/>
        </p:nvSpPr>
        <p:spPr>
          <a:xfrm>
            <a:off x="7734300" y="2952750"/>
            <a:ext cx="25908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reviewer/admin authority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2DA3D9-6746-4B5C-A6B2-902364F7168F}"/>
              </a:ext>
            </a:extLst>
          </p:cNvPr>
          <p:cNvSpPr>
            <a:spLocks noGrp="1"/>
          </p:cNvSpPr>
          <p:nvPr/>
        </p:nvSpPr>
        <p:spPr>
          <a:xfrm>
            <a:off x="1390650" y="4267200"/>
            <a:ext cx="9410700" cy="6096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9E5F67-E090-4A97-8A00-E93A99FF9478}"/>
              </a:ext>
            </a:extLst>
          </p:cNvPr>
          <p:cNvSpPr>
            <a:spLocks noGrp="1"/>
          </p:cNvSpPr>
          <p:nvPr/>
        </p:nvSpPr>
        <p:spPr>
          <a:xfrm>
            <a:off x="1676400" y="4457700"/>
            <a:ext cx="3524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@agp/scoring + Supabase evidence layer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53F4A0-F670-423E-A5A5-561A9627FB23}"/>
              </a:ext>
            </a:extLst>
          </p:cNvPr>
          <p:cNvSpPr>
            <a:spLocks noGrp="1"/>
          </p:cNvSpPr>
          <p:nvPr/>
        </p:nvSpPr>
        <p:spPr>
          <a:xfrm>
            <a:off x="1676400" y="4686300"/>
            <a:ext cx="7429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 / CTCF scoring, RLS-protected Postgres, private storage, append-only trust events, audit logs, payment webhook events, and index history.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BBAA40-4EAA-47EE-B2BD-BBFA4DB39DD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docs/ARCHITECTURE_MAP.md, ADR-001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EC4661-6B9B-4842-A82E-AAB96D29C76C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D29F7A3B-8D69-ECC6-3BB7-4041A3A48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762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4815BBB-0900-49D6-A285-2FF0A20C3D17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7A7C1E-3B8E-4C52-BA75-D80EEF25DB1E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TRUST ENGINE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6AFE82-C1DA-457C-94C4-C6BED5420613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Trust is earned through events, not asserted once a year.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2DC217-76F6-4617-BD68-1F4459060C5A}"/>
              </a:ext>
            </a:extLst>
          </p:cNvPr>
          <p:cNvSpPr>
            <a:spLocks noGrp="1"/>
          </p:cNvSpPr>
          <p:nvPr/>
        </p:nvSpPr>
        <p:spPr>
          <a:xfrm>
            <a:off x="628650" y="3333750"/>
            <a:ext cx="1466850" cy="7429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3F9C1D-D889-49F8-91AC-9E880EDFBEFE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E4807E-3093-42DD-9B42-F9C06943A1C2}"/>
              </a:ext>
            </a:extLst>
          </p:cNvPr>
          <p:cNvSpPr>
            <a:spLocks noGrp="1"/>
          </p:cNvSpPr>
          <p:nvPr/>
        </p:nvSpPr>
        <p:spPr>
          <a:xfrm>
            <a:off x="7810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report, policy, payment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71F7FB-416F-46DE-BC4E-A2BD0EE1C149}"/>
              </a:ext>
            </a:extLst>
          </p:cNvPr>
          <p:cNvSpPr>
            <a:spLocks noGrp="1"/>
          </p:cNvSpPr>
          <p:nvPr/>
        </p:nvSpPr>
        <p:spPr>
          <a:xfrm>
            <a:off x="22098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3CAF1E-6398-47BC-9449-82EE553EAC64}"/>
              </a:ext>
            </a:extLst>
          </p:cNvPr>
          <p:cNvSpPr>
            <a:spLocks noGrp="1"/>
          </p:cNvSpPr>
          <p:nvPr/>
        </p:nvSpPr>
        <p:spPr>
          <a:xfrm>
            <a:off x="2838450" y="3333750"/>
            <a:ext cx="1466850" cy="7429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709E55-512A-4822-B15A-4E6912C159A7}"/>
              </a:ext>
            </a:extLst>
          </p:cNvPr>
          <p:cNvSpPr>
            <a:spLocks noGrp="1"/>
          </p:cNvSpPr>
          <p:nvPr/>
        </p:nvSpPr>
        <p:spPr>
          <a:xfrm>
            <a:off x="29908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315FDD-4E35-4E8D-8BBF-DBDEB63266D0}"/>
              </a:ext>
            </a:extLst>
          </p:cNvPr>
          <p:cNvSpPr>
            <a:spLocks noGrp="1"/>
          </p:cNvSpPr>
          <p:nvPr/>
        </p:nvSpPr>
        <p:spPr>
          <a:xfrm>
            <a:off x="29908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file, transaction, approval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615F4B-3CCB-49F4-8959-DFF6BED72129}"/>
              </a:ext>
            </a:extLst>
          </p:cNvPr>
          <p:cNvSpPr>
            <a:spLocks noGrp="1"/>
          </p:cNvSpPr>
          <p:nvPr/>
        </p:nvSpPr>
        <p:spPr>
          <a:xfrm>
            <a:off x="44196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C25D52-FF80-43E8-8A1F-4BEEA8634CD0}"/>
              </a:ext>
            </a:extLst>
          </p:cNvPr>
          <p:cNvSpPr>
            <a:spLocks noGrp="1"/>
          </p:cNvSpPr>
          <p:nvPr/>
        </p:nvSpPr>
        <p:spPr>
          <a:xfrm>
            <a:off x="5048250" y="3333750"/>
            <a:ext cx="1466850" cy="7429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EA598B-7D85-4593-8330-54167FB7694D}"/>
              </a:ext>
            </a:extLst>
          </p:cNvPr>
          <p:cNvSpPr>
            <a:spLocks noGrp="1"/>
          </p:cNvSpPr>
          <p:nvPr/>
        </p:nvSpPr>
        <p:spPr>
          <a:xfrm>
            <a:off x="52006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Trust event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2620C4-F7D5-40F0-816D-E2B6CD99EE7B}"/>
              </a:ext>
            </a:extLst>
          </p:cNvPr>
          <p:cNvSpPr>
            <a:spLocks noGrp="1"/>
          </p:cNvSpPr>
          <p:nvPr/>
        </p:nvSpPr>
        <p:spPr>
          <a:xfrm>
            <a:off x="52006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append-only signal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85DD75-1E9B-4AAA-9FE5-4AB3DE7C8C9E}"/>
              </a:ext>
            </a:extLst>
          </p:cNvPr>
          <p:cNvSpPr>
            <a:spLocks noGrp="1"/>
          </p:cNvSpPr>
          <p:nvPr/>
        </p:nvSpPr>
        <p:spPr>
          <a:xfrm>
            <a:off x="66294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D6A4E4-C3F8-43D5-82C1-935F332BED76}"/>
              </a:ext>
            </a:extLst>
          </p:cNvPr>
          <p:cNvSpPr>
            <a:spLocks noGrp="1"/>
          </p:cNvSpPr>
          <p:nvPr/>
        </p:nvSpPr>
        <p:spPr>
          <a:xfrm>
            <a:off x="7258050" y="3333750"/>
            <a:ext cx="1466850" cy="7429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73864A-344A-4761-9B17-6EF197041EC1}"/>
              </a:ext>
            </a:extLst>
          </p:cNvPr>
          <p:cNvSpPr>
            <a:spLocks noGrp="1"/>
          </p:cNvSpPr>
          <p:nvPr/>
        </p:nvSpPr>
        <p:spPr>
          <a:xfrm>
            <a:off x="74104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330290-09EA-4CEB-B358-4F7E894CADB4}"/>
              </a:ext>
            </a:extLst>
          </p:cNvPr>
          <p:cNvSpPr>
            <a:spLocks noGrp="1"/>
          </p:cNvSpPr>
          <p:nvPr/>
        </p:nvSpPr>
        <p:spPr>
          <a:xfrm>
            <a:off x="74104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 / CTCF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1DC19D7-8707-4A05-91C7-98FAA7AB5435}"/>
              </a:ext>
            </a:extLst>
          </p:cNvPr>
          <p:cNvSpPr>
            <a:spLocks noGrp="1"/>
          </p:cNvSpPr>
          <p:nvPr/>
        </p:nvSpPr>
        <p:spPr>
          <a:xfrm>
            <a:off x="88392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A2A0BE-4E04-418A-A23D-0A30717ED6F8}"/>
              </a:ext>
            </a:extLst>
          </p:cNvPr>
          <p:cNvSpPr>
            <a:spLocks noGrp="1"/>
          </p:cNvSpPr>
          <p:nvPr/>
        </p:nvSpPr>
        <p:spPr>
          <a:xfrm>
            <a:off x="9467850" y="3333750"/>
            <a:ext cx="1466850" cy="74295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B1E883-C728-4759-804B-35C11307C365}"/>
              </a:ext>
            </a:extLst>
          </p:cNvPr>
          <p:cNvSpPr>
            <a:spLocks noGrp="1"/>
          </p:cNvSpPr>
          <p:nvPr/>
        </p:nvSpPr>
        <p:spPr>
          <a:xfrm>
            <a:off x="96202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Public signal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FA7B05A-EDBA-44D1-837C-0A5E1ED83704}"/>
              </a:ext>
            </a:extLst>
          </p:cNvPr>
          <p:cNvSpPr>
            <a:spLocks noGrp="1"/>
          </p:cNvSpPr>
          <p:nvPr/>
        </p:nvSpPr>
        <p:spPr>
          <a:xfrm>
            <a:off x="96202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badge, timeline, profile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01F117-6D9A-4463-8A2D-517C68398D5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Amanah Index V2.1 sprint plan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94EFEC2-E521-485C-95B6-880797E00E86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13F61E78-B398-FE74-80E4-2FD696285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250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AD64ED4-1491-4192-A99D-C1EA6130C738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3997CA-37FD-4629-A5CC-5AE0D0CCFA48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SECURITY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BF83DE-DBD4-4BA0-B759-D61E778F1E33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The architecture is intentionally small, secure, and pilot-ready.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B8823-5C18-4FC8-BD1A-A3C746828B8F}"/>
              </a:ext>
            </a:extLst>
          </p:cNvPr>
          <p:cNvSpPr>
            <a:spLocks noGrp="1"/>
          </p:cNvSpPr>
          <p:nvPr/>
        </p:nvSpPr>
        <p:spPr>
          <a:xfrm>
            <a:off x="857250" y="3067050"/>
            <a:ext cx="3105150" cy="16192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36052-F720-4EC3-9987-C5010D162E50}"/>
              </a:ext>
            </a:extLst>
          </p:cNvPr>
          <p:cNvSpPr>
            <a:spLocks noGrp="1"/>
          </p:cNvSpPr>
          <p:nvPr/>
        </p:nvSpPr>
        <p:spPr>
          <a:xfrm>
            <a:off x="1066800" y="3295650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Next.js app surfaces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A19AF1-4D10-443C-8570-003F15DF6A10}"/>
              </a:ext>
            </a:extLst>
          </p:cNvPr>
          <p:cNvSpPr>
            <a:spLocks noGrp="1"/>
          </p:cNvSpPr>
          <p:nvPr/>
        </p:nvSpPr>
        <p:spPr>
          <a:xfrm>
            <a:off x="1066800" y="3619500"/>
            <a:ext cx="25908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AmanahHub, amanahOS and AGP Console keep app logic close to UX.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E399D2-AB38-4981-ABB3-3DE597DD986B}"/>
              </a:ext>
            </a:extLst>
          </p:cNvPr>
          <p:cNvSpPr>
            <a:spLocks noGrp="1"/>
          </p:cNvSpPr>
          <p:nvPr/>
        </p:nvSpPr>
        <p:spPr>
          <a:xfrm>
            <a:off x="4191000" y="3067050"/>
            <a:ext cx="3105150" cy="16192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EE99F1-D358-4054-ABA4-6B1125491650}"/>
              </a:ext>
            </a:extLst>
          </p:cNvPr>
          <p:cNvSpPr>
            <a:spLocks noGrp="1"/>
          </p:cNvSpPr>
          <p:nvPr/>
        </p:nvSpPr>
        <p:spPr>
          <a:xfrm>
            <a:off x="4400550" y="3295650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Supabase boundary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912F1B-597D-44A7-8FD9-19B1DFF3F664}"/>
              </a:ext>
            </a:extLst>
          </p:cNvPr>
          <p:cNvSpPr>
            <a:spLocks noGrp="1"/>
          </p:cNvSpPr>
          <p:nvPr/>
        </p:nvSpPr>
        <p:spPr>
          <a:xfrm>
            <a:off x="4400550" y="3619500"/>
            <a:ext cx="25908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Auth, Postgres + RLS, and signed URLs keep organization_id as tenant boundary.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C4F4F2-D5FE-42A7-813B-208F4E586D8E}"/>
              </a:ext>
            </a:extLst>
          </p:cNvPr>
          <p:cNvSpPr>
            <a:spLocks noGrp="1"/>
          </p:cNvSpPr>
          <p:nvPr/>
        </p:nvSpPr>
        <p:spPr>
          <a:xfrm>
            <a:off x="7524750" y="3067050"/>
            <a:ext cx="3105150" cy="16192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E0F945-1018-43AB-ABAB-121ED289508E}"/>
              </a:ext>
            </a:extLst>
          </p:cNvPr>
          <p:cNvSpPr>
            <a:spLocks noGrp="1"/>
          </p:cNvSpPr>
          <p:nvPr/>
        </p:nvSpPr>
        <p:spPr>
          <a:xfrm>
            <a:off x="7734300" y="3295650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Privileged tasks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81904B-FFEF-4F12-9C3E-891944631E76}"/>
              </a:ext>
            </a:extLst>
          </p:cNvPr>
          <p:cNvSpPr>
            <a:spLocks noGrp="1"/>
          </p:cNvSpPr>
          <p:nvPr/>
        </p:nvSpPr>
        <p:spPr>
          <a:xfrm>
            <a:off x="7734300" y="3619500"/>
            <a:ext cx="25908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Webhooks, score recalculation and invites stay server-side.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F3FC76-FA9B-4EAF-B630-CFA0F983097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ADR-001, architecture constraints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DB0B75-5D64-44C6-840F-2B4D01A34695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070BB6A9-4FEB-19B4-7CAC-0860E8B99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851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6BD2DD-403E-43A6-BFAC-521D8E8FFEDF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5C0A09-3AC2-44C6-BE70-0EAF6C9CD8DD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PILOT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57E79F-3893-40D4-8232-E31FA4C7211E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Pilot success should prove governance adoption, not vanity usage.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C2B1E5-EA6A-49DC-9AFE-66E554830DF4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2381250" cy="1352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CABD00-D021-4686-B9C6-84D7E278B60B}"/>
              </a:ext>
            </a:extLst>
          </p:cNvPr>
          <p:cNvSpPr>
            <a:spLocks noGrp="1"/>
          </p:cNvSpPr>
          <p:nvPr/>
        </p:nvSpPr>
        <p:spPr>
          <a:xfrm>
            <a:off x="95250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Onboarded organizations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A3049D-B81C-40BF-9F4C-147515AF5447}"/>
              </a:ext>
            </a:extLst>
          </p:cNvPr>
          <p:cNvSpPr>
            <a:spLocks noGrp="1"/>
          </p:cNvSpPr>
          <p:nvPr/>
        </p:nvSpPr>
        <p:spPr>
          <a:xfrm>
            <a:off x="95250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selected mosques, NGOs, waqf or charity pilots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4E712B-D987-4B45-A548-C87D3A3B2829}"/>
              </a:ext>
            </a:extLst>
          </p:cNvPr>
          <p:cNvSpPr>
            <a:spLocks noGrp="1"/>
          </p:cNvSpPr>
          <p:nvPr/>
        </p:nvSpPr>
        <p:spPr>
          <a:xfrm>
            <a:off x="3352800" y="3067050"/>
            <a:ext cx="2381250" cy="13525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C0B760-7688-4C6D-9E68-B736C57C02C1}"/>
              </a:ext>
            </a:extLst>
          </p:cNvPr>
          <p:cNvSpPr>
            <a:spLocks noGrp="1"/>
          </p:cNvSpPr>
          <p:nvPr/>
        </p:nvSpPr>
        <p:spPr>
          <a:xfrm>
            <a:off x="356235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 activity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FD467E-EA7A-45F3-8119-5AC908EECA99}"/>
              </a:ext>
            </a:extLst>
          </p:cNvPr>
          <p:cNvSpPr>
            <a:spLocks noGrp="1"/>
          </p:cNvSpPr>
          <p:nvPr/>
        </p:nvSpPr>
        <p:spPr>
          <a:xfrm>
            <a:off x="356235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reports, policies, evidence uploads, approvals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FCA095-00F5-424B-B0EC-1EE1B093A522}"/>
              </a:ext>
            </a:extLst>
          </p:cNvPr>
          <p:cNvSpPr>
            <a:spLocks noGrp="1"/>
          </p:cNvSpPr>
          <p:nvPr/>
        </p:nvSpPr>
        <p:spPr>
          <a:xfrm>
            <a:off x="5962650" y="3067050"/>
            <a:ext cx="2381250" cy="13525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50CD39-6C64-41F3-9752-F54269F041FF}"/>
              </a:ext>
            </a:extLst>
          </p:cNvPr>
          <p:cNvSpPr>
            <a:spLocks noGrp="1"/>
          </p:cNvSpPr>
          <p:nvPr/>
        </p:nvSpPr>
        <p:spPr>
          <a:xfrm>
            <a:off x="617220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Trust signal quality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5EC782-5576-455A-9111-62627ACE41CA}"/>
              </a:ext>
            </a:extLst>
          </p:cNvPr>
          <p:cNvSpPr>
            <a:spLocks noGrp="1"/>
          </p:cNvSpPr>
          <p:nvPr/>
        </p:nvSpPr>
        <p:spPr>
          <a:xfrm>
            <a:off x="617220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reviewable events, public profiles, score history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E4F7A4-37DB-4A77-B82A-8327BF707CA6}"/>
              </a:ext>
            </a:extLst>
          </p:cNvPr>
          <p:cNvSpPr>
            <a:spLocks noGrp="1"/>
          </p:cNvSpPr>
          <p:nvPr/>
        </p:nvSpPr>
        <p:spPr>
          <a:xfrm>
            <a:off x="8572500" y="3067050"/>
            <a:ext cx="2381250" cy="13525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57E249-9559-4801-B270-1329967444F1}"/>
              </a:ext>
            </a:extLst>
          </p:cNvPr>
          <p:cNvSpPr>
            <a:spLocks noGrp="1"/>
          </p:cNvSpPr>
          <p:nvPr/>
        </p:nvSpPr>
        <p:spPr>
          <a:xfrm>
            <a:off x="878205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Stakeholder confidence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D0C177-4C14-42AB-840F-A7F78FB90088}"/>
              </a:ext>
            </a:extLst>
          </p:cNvPr>
          <p:cNvSpPr>
            <a:spLocks noGrp="1"/>
          </p:cNvSpPr>
          <p:nvPr/>
        </p:nvSpPr>
        <p:spPr>
          <a:xfrm>
            <a:off x="878205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donor readability and reviewer efficiency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050F52-FC53-40FA-B740-5717C21F2AD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pitch notes and Phase 2 architecture map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FC75D0-2E33-4EB7-9BE5-FA45252EB77E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792AE819-C579-FC7E-11C0-7835A25E8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522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F112D6A-4756-4B65-AA3A-D5DA3A8DA30E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E3F07E-5CA5-43BB-994B-86CD7F0F219A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SUSTAINABILITY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50677E-ECE6-48F7-B7E4-B58D1F0A10A4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Public-good outcomes can connect to a sustainable operating model.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38166A-1244-4278-9741-D62F905C5DD9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2853AA-98EC-4A63-BAD0-7A0EBF2002AF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95250" cy="4191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C495B3-FE93-4C95-BA96-154CCDA4021A}"/>
              </a:ext>
            </a:extLst>
          </p:cNvPr>
          <p:cNvSpPr>
            <a:spLocks noGrp="1"/>
          </p:cNvSpPr>
          <p:nvPr/>
        </p:nvSpPr>
        <p:spPr>
          <a:xfrm>
            <a:off x="971550" y="23812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Governance tools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9C5F63-F1FC-4C4A-B5E0-DDD12CB0A9F5}"/>
              </a:ext>
            </a:extLst>
          </p:cNvPr>
          <p:cNvSpPr>
            <a:spLocks noGrp="1"/>
          </p:cNvSpPr>
          <p:nvPr/>
        </p:nvSpPr>
        <p:spPr>
          <a:xfrm>
            <a:off x="3200400" y="23431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org subscription / sponsored access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240D8E-CA96-4D88-B73B-B48C271E0029}"/>
              </a:ext>
            </a:extLst>
          </p:cNvPr>
          <p:cNvSpPr>
            <a:spLocks noGrp="1"/>
          </p:cNvSpPr>
          <p:nvPr/>
        </p:nvSpPr>
        <p:spPr>
          <a:xfrm>
            <a:off x="742950" y="28765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F52362-D819-4B78-807A-E92E6B21D387}"/>
              </a:ext>
            </a:extLst>
          </p:cNvPr>
          <p:cNvSpPr>
            <a:spLocks noGrp="1"/>
          </p:cNvSpPr>
          <p:nvPr/>
        </p:nvSpPr>
        <p:spPr>
          <a:xfrm>
            <a:off x="742950" y="2876550"/>
            <a:ext cx="95250" cy="4191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1E04A6-DAF0-443C-A1BA-B51F92D55375}"/>
              </a:ext>
            </a:extLst>
          </p:cNvPr>
          <p:cNvSpPr>
            <a:spLocks noGrp="1"/>
          </p:cNvSpPr>
          <p:nvPr/>
        </p:nvSpPr>
        <p:spPr>
          <a:xfrm>
            <a:off x="971550" y="29908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Trust verification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E276CE-9971-4CE0-B024-6733AB13A67E}"/>
              </a:ext>
            </a:extLst>
          </p:cNvPr>
          <p:cNvSpPr>
            <a:spLocks noGrp="1"/>
          </p:cNvSpPr>
          <p:nvPr/>
        </p:nvSpPr>
        <p:spPr>
          <a:xfrm>
            <a:off x="3200400" y="29527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reviewer and certification workflows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12A4E5-F5DD-4A18-9133-12A5C2C1C4EF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7CB80D-2598-414F-9866-5C7089FEF881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95250" cy="4191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5332C1-277E-4C52-8E07-EDFEE0EBB520}"/>
              </a:ext>
            </a:extLst>
          </p:cNvPr>
          <p:cNvSpPr>
            <a:spLocks noGrp="1"/>
          </p:cNvSpPr>
          <p:nvPr/>
        </p:nvSpPr>
        <p:spPr>
          <a:xfrm>
            <a:off x="971550" y="36004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Compliance reporting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9C7B63-EC2E-4FB7-9BC2-38926F4E2B0D}"/>
              </a:ext>
            </a:extLst>
          </p:cNvPr>
          <p:cNvSpPr>
            <a:spLocks noGrp="1"/>
          </p:cNvSpPr>
          <p:nvPr/>
        </p:nvSpPr>
        <p:spPr>
          <a:xfrm>
            <a:off x="3200400" y="35623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export packs for funders and regulators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9E2C8E-BCD0-48A7-AF8C-C75CEE4A687C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691F2C-1410-41BF-B68A-2E86EE93F360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95250" cy="4191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2EF1F8-C0B5-486E-9174-BD79076FE390}"/>
              </a:ext>
            </a:extLst>
          </p:cNvPr>
          <p:cNvSpPr>
            <a:spLocks noGrp="1"/>
          </p:cNvSpPr>
          <p:nvPr/>
        </p:nvSpPr>
        <p:spPr>
          <a:xfrm>
            <a:off x="971550" y="42100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Public trust profiles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F1EFEC-89AC-4790-9DCE-D515F68C3B34}"/>
              </a:ext>
            </a:extLst>
          </p:cNvPr>
          <p:cNvSpPr>
            <a:spLocks noGrp="1"/>
          </p:cNvSpPr>
          <p:nvPr/>
        </p:nvSpPr>
        <p:spPr>
          <a:xfrm>
            <a:off x="3200400" y="41719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donor confidence and fundraising lift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F802C1-A183-4BF7-B5E5-2AD359FFD80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pitch sustainability notes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8C6A0E1-15A6-45A1-852D-B890BC5FDD3E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F8D9A4A9-D769-DC5C-6342-E55BE2430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180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690BE11-004A-4F5C-90B3-6AC8DFF1E093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80EBFD-FDC3-4535-A221-A937A8475055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AAFEE4-5EB2-48D8-81B9-3B3A3F8C6CBF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The roadmap should earn trust before scaling trust.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69EE9D-9A25-4FC7-A61A-BBAB462FF149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2381250" cy="1352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0C771D-8F47-437A-A567-D1EE1C8F311D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6B0FEB-197C-411E-A42F-FA570D798668}"/>
              </a:ext>
            </a:extLst>
          </p:cNvPr>
          <p:cNvSpPr>
            <a:spLocks noGrp="1"/>
          </p:cNvSpPr>
          <p:nvPr/>
        </p:nvSpPr>
        <p:spPr>
          <a:xfrm>
            <a:off x="952500" y="35623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Foundation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7DEE95-07E4-4906-BF5C-44AD178F573A}"/>
              </a:ext>
            </a:extLst>
          </p:cNvPr>
          <p:cNvSpPr>
            <a:spLocks noGrp="1"/>
          </p:cNvSpPr>
          <p:nvPr/>
        </p:nvSpPr>
        <p:spPr>
          <a:xfrm>
            <a:off x="952500" y="38290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AmanahHub, Console, CTCF, Amanah Index, payments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593055-421D-464F-BFA0-27949FF305A1}"/>
              </a:ext>
            </a:extLst>
          </p:cNvPr>
          <p:cNvSpPr>
            <a:spLocks noGrp="1"/>
          </p:cNvSpPr>
          <p:nvPr/>
        </p:nvSpPr>
        <p:spPr>
          <a:xfrm>
            <a:off x="3352800" y="3067050"/>
            <a:ext cx="2381250" cy="13525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EC983D-4247-4A9D-BB9C-4F53C9E7B001}"/>
              </a:ext>
            </a:extLst>
          </p:cNvPr>
          <p:cNvSpPr>
            <a:spLocks noGrp="1"/>
          </p:cNvSpPr>
          <p:nvPr/>
        </p:nvSpPr>
        <p:spPr>
          <a:xfrm>
            <a:off x="356235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2F4778-9AE2-49CA-9D8E-C46492ACC672}"/>
              </a:ext>
            </a:extLst>
          </p:cNvPr>
          <p:cNvSpPr>
            <a:spLocks noGrp="1"/>
          </p:cNvSpPr>
          <p:nvPr/>
        </p:nvSpPr>
        <p:spPr>
          <a:xfrm>
            <a:off x="3562350" y="35623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Org workspace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C7970-A64B-4FE1-819D-C3365E02EB4E}"/>
              </a:ext>
            </a:extLst>
          </p:cNvPr>
          <p:cNvSpPr>
            <a:spLocks noGrp="1"/>
          </p:cNvSpPr>
          <p:nvPr/>
        </p:nvSpPr>
        <p:spPr>
          <a:xfrm>
            <a:off x="3562350" y="38290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amanahOS, accounting, policy kit, evidence workflows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9DF133-4E09-4962-8DBE-D6A48C27AB04}"/>
              </a:ext>
            </a:extLst>
          </p:cNvPr>
          <p:cNvSpPr>
            <a:spLocks noGrp="1"/>
          </p:cNvSpPr>
          <p:nvPr/>
        </p:nvSpPr>
        <p:spPr>
          <a:xfrm>
            <a:off x="5962650" y="3067050"/>
            <a:ext cx="2381250" cy="13525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27E572-EEC1-4C53-A059-DDC2F4BA7E14}"/>
              </a:ext>
            </a:extLst>
          </p:cNvPr>
          <p:cNvSpPr>
            <a:spLocks noGrp="1"/>
          </p:cNvSpPr>
          <p:nvPr/>
        </p:nvSpPr>
        <p:spPr>
          <a:xfrm>
            <a:off x="617220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6EB2AD-9018-4607-A0AB-ACC2170727D8}"/>
              </a:ext>
            </a:extLst>
          </p:cNvPr>
          <p:cNvSpPr>
            <a:spLocks noGrp="1"/>
          </p:cNvSpPr>
          <p:nvPr/>
        </p:nvSpPr>
        <p:spPr>
          <a:xfrm>
            <a:off x="6172200" y="35623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Trust intelligence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D2AB27-9A18-4622-868C-FE112CAACC84}"/>
              </a:ext>
            </a:extLst>
          </p:cNvPr>
          <p:cNvSpPr>
            <a:spLocks noGrp="1"/>
          </p:cNvSpPr>
          <p:nvPr/>
        </p:nvSpPr>
        <p:spPr>
          <a:xfrm>
            <a:off x="6172200" y="38290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current trust health, event registry, public timeline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25222E-8D93-4DEE-88EB-9D3A0C42DCCF}"/>
              </a:ext>
            </a:extLst>
          </p:cNvPr>
          <p:cNvSpPr>
            <a:spLocks noGrp="1"/>
          </p:cNvSpPr>
          <p:nvPr/>
        </p:nvSpPr>
        <p:spPr>
          <a:xfrm>
            <a:off x="8572500" y="3067050"/>
            <a:ext cx="2381250" cy="13525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67409A-23F0-4BE8-B1D6-BAECF40B661B}"/>
              </a:ext>
            </a:extLst>
          </p:cNvPr>
          <p:cNvSpPr>
            <a:spLocks noGrp="1"/>
          </p:cNvSpPr>
          <p:nvPr/>
        </p:nvSpPr>
        <p:spPr>
          <a:xfrm>
            <a:off x="878205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05691D-EA03-40DD-BFEE-07491523F852}"/>
              </a:ext>
            </a:extLst>
          </p:cNvPr>
          <p:cNvSpPr>
            <a:spLocks noGrp="1"/>
          </p:cNvSpPr>
          <p:nvPr/>
        </p:nvSpPr>
        <p:spPr>
          <a:xfrm>
            <a:off x="8782050" y="35623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Ecosystem scale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71F81B-855E-434F-A1F2-42F2D6058C1E}"/>
              </a:ext>
            </a:extLst>
          </p:cNvPr>
          <p:cNvSpPr>
            <a:spLocks noGrp="1"/>
          </p:cNvSpPr>
          <p:nvPr/>
        </p:nvSpPr>
        <p:spPr>
          <a:xfrm>
            <a:off x="8782050" y="38290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multi-stakeholder pilots, reporting packs, partner model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2014DA-3582-4D24-982E-9B795D34410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docs/ARCHITECTURE_MAP.md Phase 2 build order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601B355-7C5B-4BD5-8705-5C6D9F2741FD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3FA541B1-534E-50DF-7C5A-5B5C3E9AC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114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12B657A-D163-4B4B-B4D6-99A1B82F1BED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54ED73-6E7F-4559-AF41-0558D3F3BF4A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STAKEHOLDER COMMITMENTS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4D5826-1507-4F02-A125-812D4D4F14C2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The next step is ecosystem alignment, not just software approval.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5C8901-FD6E-47E8-A920-0BAE8009536B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2381250" cy="1352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C7CED8-899A-4961-AA61-B4F429E9A9BC}"/>
              </a:ext>
            </a:extLst>
          </p:cNvPr>
          <p:cNvSpPr>
            <a:spLocks noGrp="1"/>
          </p:cNvSpPr>
          <p:nvPr/>
        </p:nvSpPr>
        <p:spPr>
          <a:xfrm>
            <a:off x="95250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Authorities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04946-6FFC-4309-A2BF-3D063201316A}"/>
              </a:ext>
            </a:extLst>
          </p:cNvPr>
          <p:cNvSpPr>
            <a:spLocks noGrp="1"/>
          </p:cNvSpPr>
          <p:nvPr/>
        </p:nvSpPr>
        <p:spPr>
          <a:xfrm>
            <a:off x="95250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define pilot guardrails and review expectations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6B4746-71F3-4FCC-AACF-FB45CFF4E717}"/>
              </a:ext>
            </a:extLst>
          </p:cNvPr>
          <p:cNvSpPr>
            <a:spLocks noGrp="1"/>
          </p:cNvSpPr>
          <p:nvPr/>
        </p:nvSpPr>
        <p:spPr>
          <a:xfrm>
            <a:off x="3352800" y="3067050"/>
            <a:ext cx="2381250" cy="13525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945FC8-0B4F-4D07-8383-7D3C32F67F13}"/>
              </a:ext>
            </a:extLst>
          </p:cNvPr>
          <p:cNvSpPr>
            <a:spLocks noGrp="1"/>
          </p:cNvSpPr>
          <p:nvPr/>
        </p:nvSpPr>
        <p:spPr>
          <a:xfrm>
            <a:off x="356235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Pilot organizations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70695C-DDCB-4344-9C53-430DA4289039}"/>
              </a:ext>
            </a:extLst>
          </p:cNvPr>
          <p:cNvSpPr>
            <a:spLocks noGrp="1"/>
          </p:cNvSpPr>
          <p:nvPr/>
        </p:nvSpPr>
        <p:spPr>
          <a:xfrm>
            <a:off x="356235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use amanahOS for real governance workflows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9F2A63-ACAF-44D3-9CE8-2245F0C71A1D}"/>
              </a:ext>
            </a:extLst>
          </p:cNvPr>
          <p:cNvSpPr>
            <a:spLocks noGrp="1"/>
          </p:cNvSpPr>
          <p:nvPr/>
        </p:nvSpPr>
        <p:spPr>
          <a:xfrm>
            <a:off x="5962650" y="3067050"/>
            <a:ext cx="2381250" cy="13525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94C314-F070-41E6-B50D-694ABC5DA7EF}"/>
              </a:ext>
            </a:extLst>
          </p:cNvPr>
          <p:cNvSpPr>
            <a:spLocks noGrp="1"/>
          </p:cNvSpPr>
          <p:nvPr/>
        </p:nvSpPr>
        <p:spPr>
          <a:xfrm>
            <a:off x="617220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Reviewers / scholars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2041EF-DA1B-4BE1-A4D8-E388F9F580DA}"/>
              </a:ext>
            </a:extLst>
          </p:cNvPr>
          <p:cNvSpPr>
            <a:spLocks noGrp="1"/>
          </p:cNvSpPr>
          <p:nvPr/>
        </p:nvSpPr>
        <p:spPr>
          <a:xfrm>
            <a:off x="617220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validate scoring, evidence, and public-readiness logic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E61238-4959-41A7-956A-2793C7CA3935}"/>
              </a:ext>
            </a:extLst>
          </p:cNvPr>
          <p:cNvSpPr>
            <a:spLocks noGrp="1"/>
          </p:cNvSpPr>
          <p:nvPr/>
        </p:nvSpPr>
        <p:spPr>
          <a:xfrm>
            <a:off x="8572500" y="3067050"/>
            <a:ext cx="2381250" cy="13525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4BC44B-0676-48EC-BED1-B8FF560004B0}"/>
              </a:ext>
            </a:extLst>
          </p:cNvPr>
          <p:cNvSpPr>
            <a:spLocks noGrp="1"/>
          </p:cNvSpPr>
          <p:nvPr/>
        </p:nvSpPr>
        <p:spPr>
          <a:xfrm>
            <a:off x="878205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Funders / partners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D5F6C7-5BAF-4B85-99D1-DD56F99D2A7C}"/>
              </a:ext>
            </a:extLst>
          </p:cNvPr>
          <p:cNvSpPr>
            <a:spLocks noGrp="1"/>
          </p:cNvSpPr>
          <p:nvPr/>
        </p:nvSpPr>
        <p:spPr>
          <a:xfrm>
            <a:off x="878205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support build, onboarding, evaluation, and training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9019AB-0539-442E-AF1E-B429554E4D7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stakeholder framing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20FD7A-F434-4064-A989-B87D777805C8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85DC7050-87C1-586D-65C9-2ABB77DA0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240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6536959-A2FF-4ABD-A162-D66D8C90FD9D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23FA85-A29D-46D4-BC1C-0813F962B735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DECISION ASK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6FD106-F3BE-4A40-AADB-06512F7229B7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Sponsor the pilot, validate the trust model, and help AGP become shared infrastructure.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98D28A-24D9-41D5-BBF4-39E6D95553C0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2381250" cy="1352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ED6217-7E00-4E00-B975-A793710C63A7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352A48-BF9E-4632-8A7C-14F136A45D84}"/>
              </a:ext>
            </a:extLst>
          </p:cNvPr>
          <p:cNvSpPr>
            <a:spLocks noGrp="1"/>
          </p:cNvSpPr>
          <p:nvPr/>
        </p:nvSpPr>
        <p:spPr>
          <a:xfrm>
            <a:off x="952500" y="35623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Pilot cohort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FDBF5F-53D8-4E50-BAFE-D69EAD60C4C6}"/>
              </a:ext>
            </a:extLst>
          </p:cNvPr>
          <p:cNvSpPr>
            <a:spLocks noGrp="1"/>
          </p:cNvSpPr>
          <p:nvPr/>
        </p:nvSpPr>
        <p:spPr>
          <a:xfrm>
            <a:off x="952500" y="38290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representative charities, mosques, NGOs, waqf bodies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521F30-7FE7-4623-9944-4E97341A1F3B}"/>
              </a:ext>
            </a:extLst>
          </p:cNvPr>
          <p:cNvSpPr>
            <a:spLocks noGrp="1"/>
          </p:cNvSpPr>
          <p:nvPr/>
        </p:nvSpPr>
        <p:spPr>
          <a:xfrm>
            <a:off x="3352800" y="3067050"/>
            <a:ext cx="2381250" cy="13525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38BE2E-D6AB-475F-B390-6C6F184505E0}"/>
              </a:ext>
            </a:extLst>
          </p:cNvPr>
          <p:cNvSpPr>
            <a:spLocks noGrp="1"/>
          </p:cNvSpPr>
          <p:nvPr/>
        </p:nvSpPr>
        <p:spPr>
          <a:xfrm>
            <a:off x="356235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06E50F-D96C-40C6-9439-C3D3F7D07434}"/>
              </a:ext>
            </a:extLst>
          </p:cNvPr>
          <p:cNvSpPr>
            <a:spLocks noGrp="1"/>
          </p:cNvSpPr>
          <p:nvPr/>
        </p:nvSpPr>
        <p:spPr>
          <a:xfrm>
            <a:off x="3562350" y="35623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 council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7236C0-56F9-4F81-AF63-062A207FAAD4}"/>
              </a:ext>
            </a:extLst>
          </p:cNvPr>
          <p:cNvSpPr>
            <a:spLocks noGrp="1"/>
          </p:cNvSpPr>
          <p:nvPr/>
        </p:nvSpPr>
        <p:spPr>
          <a:xfrm>
            <a:off x="3562350" y="38290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reviewers, scholars, policy owners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B89080-E920-4199-BB9E-D2A05813FFA2}"/>
              </a:ext>
            </a:extLst>
          </p:cNvPr>
          <p:cNvSpPr>
            <a:spLocks noGrp="1"/>
          </p:cNvSpPr>
          <p:nvPr/>
        </p:nvSpPr>
        <p:spPr>
          <a:xfrm>
            <a:off x="5962650" y="3067050"/>
            <a:ext cx="2381250" cy="13525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AF66BE-38E0-4E19-80B4-59CCF79CCA98}"/>
              </a:ext>
            </a:extLst>
          </p:cNvPr>
          <p:cNvSpPr>
            <a:spLocks noGrp="1"/>
          </p:cNvSpPr>
          <p:nvPr/>
        </p:nvSpPr>
        <p:spPr>
          <a:xfrm>
            <a:off x="617220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A40941-B02C-489B-8E06-F32ECB0EE17E}"/>
              </a:ext>
            </a:extLst>
          </p:cNvPr>
          <p:cNvSpPr>
            <a:spLocks noGrp="1"/>
          </p:cNvSpPr>
          <p:nvPr/>
        </p:nvSpPr>
        <p:spPr>
          <a:xfrm>
            <a:off x="6172200" y="35623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Implementation support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8C000F-1E44-4E30-AFE2-47E0E8ED60E4}"/>
              </a:ext>
            </a:extLst>
          </p:cNvPr>
          <p:cNvSpPr>
            <a:spLocks noGrp="1"/>
          </p:cNvSpPr>
          <p:nvPr/>
        </p:nvSpPr>
        <p:spPr>
          <a:xfrm>
            <a:off x="6172200" y="38290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onboarding, training, evaluation, hardening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806396-DC0F-4845-BBE2-7E3244FA546D}"/>
              </a:ext>
            </a:extLst>
          </p:cNvPr>
          <p:cNvSpPr>
            <a:spLocks noGrp="1"/>
          </p:cNvSpPr>
          <p:nvPr/>
        </p:nvSpPr>
        <p:spPr>
          <a:xfrm>
            <a:off x="8572500" y="3067050"/>
            <a:ext cx="2381250" cy="13525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2B6AC4-C9EE-4774-9311-19B8E9371405}"/>
              </a:ext>
            </a:extLst>
          </p:cNvPr>
          <p:cNvSpPr>
            <a:spLocks noGrp="1"/>
          </p:cNvSpPr>
          <p:nvPr/>
        </p:nvSpPr>
        <p:spPr>
          <a:xfrm>
            <a:off x="878205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63FCB6-E5A1-44BF-8A5A-6CC0D0F1C4DC}"/>
              </a:ext>
            </a:extLst>
          </p:cNvPr>
          <p:cNvSpPr>
            <a:spLocks noGrp="1"/>
          </p:cNvSpPr>
          <p:nvPr/>
        </p:nvSpPr>
        <p:spPr>
          <a:xfrm>
            <a:off x="8782050" y="35623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Public trust standard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ADAAC24-EF3A-433A-B765-3566927C371B}"/>
              </a:ext>
            </a:extLst>
          </p:cNvPr>
          <p:cNvSpPr>
            <a:spLocks noGrp="1"/>
          </p:cNvSpPr>
          <p:nvPr/>
        </p:nvSpPr>
        <p:spPr>
          <a:xfrm>
            <a:off x="8782050" y="38290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evidence, scoring, publication governance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5702FD-1944-4A87-9003-F07909A48E1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Prepared from AGP repository docs and pitch notes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0ED63E-3FA9-48F5-B416-1146424F9834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DA691777-A6E2-D3D4-9F04-1DC8A801B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22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5551131-743E-4939-928F-83E58CCD76DA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635296-CA57-4C02-9590-9B1FD9E1CE0F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AMANAHHUB / ABOUT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84B02B-0FE4-4776-ADAF-1F19E5383727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AmanahHub exists because trust is the foundation of giving.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E9389F-A669-48E8-B382-CE6B541050A4}"/>
              </a:ext>
            </a:extLst>
          </p:cNvPr>
          <p:cNvSpPr>
            <a:spLocks noGrp="1"/>
          </p:cNvSpPr>
          <p:nvPr/>
        </p:nvSpPr>
        <p:spPr>
          <a:xfrm>
            <a:off x="628650" y="2552700"/>
            <a:ext cx="7524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When donors cannot see where their Sadaqah goes, or whether governance is sound, they give less - and those who need help receive less.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6E813B-7444-4034-807C-1A0B05CCF903}"/>
              </a:ext>
            </a:extLst>
          </p:cNvPr>
          <p:cNvSpPr>
            <a:spLocks noGrp="1"/>
          </p:cNvSpPr>
          <p:nvPr/>
        </p:nvSpPr>
        <p:spPr>
          <a:xfrm>
            <a:off x="742950" y="34480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A8EB6F-5AE9-419D-8FBA-367FACA25F3D}"/>
              </a:ext>
            </a:extLst>
          </p:cNvPr>
          <p:cNvSpPr>
            <a:spLocks noGrp="1"/>
          </p:cNvSpPr>
          <p:nvPr/>
        </p:nvSpPr>
        <p:spPr>
          <a:xfrm>
            <a:off x="742950" y="3448050"/>
            <a:ext cx="95250" cy="4191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F697AE-58AC-40BC-9AB9-098C81F67495}"/>
              </a:ext>
            </a:extLst>
          </p:cNvPr>
          <p:cNvSpPr>
            <a:spLocks noGrp="1"/>
          </p:cNvSpPr>
          <p:nvPr/>
        </p:nvSpPr>
        <p:spPr>
          <a:xfrm>
            <a:off x="971550" y="35623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Malaysia-first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36BB92-EEE4-4B0D-A86E-49D6C40FACBD}"/>
              </a:ext>
            </a:extLst>
          </p:cNvPr>
          <p:cNvSpPr>
            <a:spLocks noGrp="1"/>
          </p:cNvSpPr>
          <p:nvPr/>
        </p:nvSpPr>
        <p:spPr>
          <a:xfrm>
            <a:off x="3200400" y="35242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Built for ROS, JAKIM, SIRC, and state-level regulatory contexts.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2AA835-5496-463B-954F-EF4FDA814BDF}"/>
              </a:ext>
            </a:extLst>
          </p:cNvPr>
          <p:cNvSpPr>
            <a:spLocks noGrp="1"/>
          </p:cNvSpPr>
          <p:nvPr/>
        </p:nvSpPr>
        <p:spPr>
          <a:xfrm>
            <a:off x="742950" y="40576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F24CDF-74C3-459B-9976-6EDE48D852FC}"/>
              </a:ext>
            </a:extLst>
          </p:cNvPr>
          <p:cNvSpPr>
            <a:spLocks noGrp="1"/>
          </p:cNvSpPr>
          <p:nvPr/>
        </p:nvSpPr>
        <p:spPr>
          <a:xfrm>
            <a:off x="742950" y="4057650"/>
            <a:ext cx="95250" cy="4191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3139C9-DCB8-4C8F-9DE2-F990C2B11A7E}"/>
              </a:ext>
            </a:extLst>
          </p:cNvPr>
          <p:cNvSpPr>
            <a:spLocks noGrp="1"/>
          </p:cNvSpPr>
          <p:nvPr/>
        </p:nvSpPr>
        <p:spPr>
          <a:xfrm>
            <a:off x="971550" y="41719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Non-custodial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60B157-B891-41DA-94B8-EC28D6AD36B6}"/>
              </a:ext>
            </a:extLst>
          </p:cNvPr>
          <p:cNvSpPr>
            <a:spLocks noGrp="1"/>
          </p:cNvSpPr>
          <p:nvPr/>
        </p:nvSpPr>
        <p:spPr>
          <a:xfrm>
            <a:off x="3200400" y="41338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Donations flow directly from donor to charity.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B4C2F7-E64D-44BC-B416-D9D5CEFADE2C}"/>
              </a:ext>
            </a:extLst>
          </p:cNvPr>
          <p:cNvSpPr>
            <a:spLocks noGrp="1"/>
          </p:cNvSpPr>
          <p:nvPr/>
        </p:nvSpPr>
        <p:spPr>
          <a:xfrm>
            <a:off x="742950" y="46672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AF8F45-95C5-4AA2-8865-100BB06BD383}"/>
              </a:ext>
            </a:extLst>
          </p:cNvPr>
          <p:cNvSpPr>
            <a:spLocks noGrp="1"/>
          </p:cNvSpPr>
          <p:nvPr/>
        </p:nvSpPr>
        <p:spPr>
          <a:xfrm>
            <a:off x="742950" y="4667250"/>
            <a:ext cx="95250" cy="4191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466E4F-302D-4B97-99D6-64041F978A85}"/>
              </a:ext>
            </a:extLst>
          </p:cNvPr>
          <p:cNvSpPr>
            <a:spLocks noGrp="1"/>
          </p:cNvSpPr>
          <p:nvPr/>
        </p:nvSpPr>
        <p:spPr>
          <a:xfrm>
            <a:off x="971550" y="47815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Evidence-based scoring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8EB06B-33CD-470F-B85D-936FA14FF4DD}"/>
              </a:ext>
            </a:extLst>
          </p:cNvPr>
          <p:cNvSpPr>
            <a:spLocks noGrp="1"/>
          </p:cNvSpPr>
          <p:nvPr/>
        </p:nvSpPr>
        <p:spPr>
          <a:xfrm>
            <a:off x="3200400" y="47434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Computed from verified documents, records and field evidence.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47AF15-58A3-4CF4-95B4-C20DA823EC0B}"/>
              </a:ext>
            </a:extLst>
          </p:cNvPr>
          <p:cNvSpPr>
            <a:spLocks noGrp="1"/>
          </p:cNvSpPr>
          <p:nvPr/>
        </p:nvSpPr>
        <p:spPr>
          <a:xfrm>
            <a:off x="742950" y="52768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9AB13A-48C6-4966-8DD4-7A413C8B7E0B}"/>
              </a:ext>
            </a:extLst>
          </p:cNvPr>
          <p:cNvSpPr>
            <a:spLocks noGrp="1"/>
          </p:cNvSpPr>
          <p:nvPr/>
        </p:nvSpPr>
        <p:spPr>
          <a:xfrm>
            <a:off x="742950" y="5276850"/>
            <a:ext cx="95250" cy="4191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ABD093-AC3F-4BF4-9770-4CE8C184FF90}"/>
              </a:ext>
            </a:extLst>
          </p:cNvPr>
          <p:cNvSpPr>
            <a:spLocks noGrp="1"/>
          </p:cNvSpPr>
          <p:nvPr/>
        </p:nvSpPr>
        <p:spPr>
          <a:xfrm>
            <a:off x="971550" y="53911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Open to all org types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65EF38-9E03-43EE-9EEE-542D5C177DAF}"/>
              </a:ext>
            </a:extLst>
          </p:cNvPr>
          <p:cNvSpPr>
            <a:spLocks noGrp="1"/>
          </p:cNvSpPr>
          <p:nvPr/>
        </p:nvSpPr>
        <p:spPr>
          <a:xfrm>
            <a:off x="3200400" y="53530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NGOs, mosques, waqf institutions, and foundations.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9015FC-9E3F-4EB2-BC8C-C770FF6088BA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apps/user/app/about/page.tsx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0E4677-E0CD-446F-AFD9-9AF65659BF3D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8087E50C-58B2-65E3-87C6-6F523D34C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420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98F32FC-679F-49BB-B243-55FA00A27661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537642-BB37-4247-8491-4938866E241F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OUR PRINCIPLES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8934CE-4CD9-4845-BE1A-13F9C1733232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Three pillars of Amanah turn values into platform architecture.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B9726C-D1C2-43A0-901A-AB2006EB9813}"/>
              </a:ext>
            </a:extLst>
          </p:cNvPr>
          <p:cNvSpPr>
            <a:spLocks noGrp="1"/>
          </p:cNvSpPr>
          <p:nvPr/>
        </p:nvSpPr>
        <p:spPr>
          <a:xfrm>
            <a:off x="819150" y="2647950"/>
            <a:ext cx="2990850" cy="23431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666903-F40D-4918-B94A-280A1CA0FE3D}"/>
              </a:ext>
            </a:extLst>
          </p:cNvPr>
          <p:cNvSpPr>
            <a:spLocks noGrp="1"/>
          </p:cNvSpPr>
          <p:nvPr/>
        </p:nvSpPr>
        <p:spPr>
          <a:xfrm>
            <a:off x="1066800" y="2914650"/>
            <a:ext cx="2343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24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أمانة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DDAF8A-41B6-4957-A9DE-E6E3089DC028}"/>
              </a:ext>
            </a:extLst>
          </p:cNvPr>
          <p:cNvSpPr>
            <a:spLocks noGrp="1"/>
          </p:cNvSpPr>
          <p:nvPr/>
        </p:nvSpPr>
        <p:spPr>
          <a:xfrm>
            <a:off x="1066800" y="3581400"/>
            <a:ext cx="2305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 - Trust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A49202-D45F-41DD-80BE-19FDACCC1777}"/>
              </a:ext>
            </a:extLst>
          </p:cNvPr>
          <p:cNvSpPr>
            <a:spLocks noGrp="1"/>
          </p:cNvSpPr>
          <p:nvPr/>
        </p:nvSpPr>
        <p:spPr>
          <a:xfrm>
            <a:off x="1066800" y="3962400"/>
            <a:ext cx="23050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Trusteeship of donor funds is made visible and verifiable.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A8A15D-CD92-47AF-814F-95A25616CF46}"/>
              </a:ext>
            </a:extLst>
          </p:cNvPr>
          <p:cNvSpPr>
            <a:spLocks noGrp="1"/>
          </p:cNvSpPr>
          <p:nvPr/>
        </p:nvSpPr>
        <p:spPr>
          <a:xfrm>
            <a:off x="4419600" y="2647950"/>
            <a:ext cx="2990850" cy="23431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00E813-23F2-472D-93FF-D87A1432762A}"/>
              </a:ext>
            </a:extLst>
          </p:cNvPr>
          <p:cNvSpPr>
            <a:spLocks noGrp="1"/>
          </p:cNvSpPr>
          <p:nvPr/>
        </p:nvSpPr>
        <p:spPr>
          <a:xfrm>
            <a:off x="4667250" y="2914650"/>
            <a:ext cx="2343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24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شفافية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C0CD7F-BC18-49B9-ABD9-1014A0116975}"/>
              </a:ext>
            </a:extLst>
          </p:cNvPr>
          <p:cNvSpPr>
            <a:spLocks noGrp="1"/>
          </p:cNvSpPr>
          <p:nvPr/>
        </p:nvSpPr>
        <p:spPr>
          <a:xfrm>
            <a:off x="4667250" y="3581400"/>
            <a:ext cx="2305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Shafafiyyah - Transparency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894BD0-D6AD-4972-9D76-43CBAB8AB0BB}"/>
              </a:ext>
            </a:extLst>
          </p:cNvPr>
          <p:cNvSpPr>
            <a:spLocks noGrp="1"/>
          </p:cNvSpPr>
          <p:nvPr/>
        </p:nvSpPr>
        <p:spPr>
          <a:xfrm>
            <a:off x="4667250" y="3962400"/>
            <a:ext cx="23050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Beyond basic financials: Shariah compliance and AAOIFI-aligned evidence.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79927D-7D86-4EC8-961C-04C647602AFF}"/>
              </a:ext>
            </a:extLst>
          </p:cNvPr>
          <p:cNvSpPr>
            <a:spLocks noGrp="1"/>
          </p:cNvSpPr>
          <p:nvPr/>
        </p:nvSpPr>
        <p:spPr>
          <a:xfrm>
            <a:off x="8020050" y="2647950"/>
            <a:ext cx="2990850" cy="23431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036DAD-1EDC-4988-AC8C-2EBC5EB1D3CD}"/>
              </a:ext>
            </a:extLst>
          </p:cNvPr>
          <p:cNvSpPr>
            <a:spLocks noGrp="1"/>
          </p:cNvSpPr>
          <p:nvPr/>
        </p:nvSpPr>
        <p:spPr>
          <a:xfrm>
            <a:off x="8267700" y="2914650"/>
            <a:ext cx="2343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24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مساءلة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8FF41B-7835-490E-8B11-0E07967ECD45}"/>
              </a:ext>
            </a:extLst>
          </p:cNvPr>
          <p:cNvSpPr>
            <a:spLocks noGrp="1"/>
          </p:cNvSpPr>
          <p:nvPr/>
        </p:nvSpPr>
        <p:spPr>
          <a:xfrm>
            <a:off x="8267700" y="3581400"/>
            <a:ext cx="2305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Mas'uliyyah - Accountability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4B5823-3A79-4B5F-934A-7A678EFE76A0}"/>
              </a:ext>
            </a:extLst>
          </p:cNvPr>
          <p:cNvSpPr>
            <a:spLocks noGrp="1"/>
          </p:cNvSpPr>
          <p:nvPr/>
        </p:nvSpPr>
        <p:spPr>
          <a:xfrm>
            <a:off x="8267700" y="3962400"/>
            <a:ext cx="23050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Actions are logged, timestamped, preserved, and history-tracked.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B0371E-265B-428E-9A87-0F717E47E69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/about - Our principles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9DA5B0-C796-4CF5-BDA7-5D48B1BB9955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03542B22-7E1A-97CE-8E51-9E17622A0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646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ACFE6C6-901B-46B1-A0E4-B0D88B0F0D5C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FB7BEB-6697-4722-A072-24B0F164F749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THEOLOGICAL FOUNDATION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BD849A-59EB-457D-A1FC-A5AC9BB9704A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AmanahHub is a response to managing charity with integrity and accountability.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E0722B-7EED-4772-B2C4-754D25CB89F7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5C706E-E7ED-4073-90CA-DB56B9ABCDD8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95250" cy="4191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6AE05A-6CB4-453C-900A-6012A4109E2B}"/>
              </a:ext>
            </a:extLst>
          </p:cNvPr>
          <p:cNvSpPr>
            <a:spLocks noGrp="1"/>
          </p:cNvSpPr>
          <p:nvPr/>
        </p:nvSpPr>
        <p:spPr>
          <a:xfrm>
            <a:off x="971550" y="23812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At-Tawbah 9:60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F40047-7B5E-4DA6-96E9-9ED8F8C26280}"/>
              </a:ext>
            </a:extLst>
          </p:cNvPr>
          <p:cNvSpPr>
            <a:spLocks noGrp="1"/>
          </p:cNvSpPr>
          <p:nvPr/>
        </p:nvSpPr>
        <p:spPr>
          <a:xfrm>
            <a:off x="3200400" y="23431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Proper governance structures before certification.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3F70D5-D5D7-45B2-A72B-F2BCD0030C4D}"/>
              </a:ext>
            </a:extLst>
          </p:cNvPr>
          <p:cNvSpPr>
            <a:spLocks noGrp="1"/>
          </p:cNvSpPr>
          <p:nvPr/>
        </p:nvSpPr>
        <p:spPr>
          <a:xfrm>
            <a:off x="7029450" y="2305050"/>
            <a:ext cx="2343150" cy="3429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3273F8-8CF1-4128-B8D2-7D685E599FC9}"/>
              </a:ext>
            </a:extLst>
          </p:cNvPr>
          <p:cNvSpPr>
            <a:spLocks noGrp="1"/>
          </p:cNvSpPr>
          <p:nvPr/>
        </p:nvSpPr>
        <p:spPr>
          <a:xfrm>
            <a:off x="7239000" y="23907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CTCF Layer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8DB571-FC02-48AE-871F-EC95739BD69C}"/>
              </a:ext>
            </a:extLst>
          </p:cNvPr>
          <p:cNvSpPr>
            <a:spLocks noGrp="1"/>
          </p:cNvSpPr>
          <p:nvPr/>
        </p:nvSpPr>
        <p:spPr>
          <a:xfrm>
            <a:off x="742950" y="28765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0F6600-E6A6-4CF6-9B78-D554E7D9836A}"/>
              </a:ext>
            </a:extLst>
          </p:cNvPr>
          <p:cNvSpPr>
            <a:spLocks noGrp="1"/>
          </p:cNvSpPr>
          <p:nvPr/>
        </p:nvSpPr>
        <p:spPr>
          <a:xfrm>
            <a:off x="742950" y="2876550"/>
            <a:ext cx="95250" cy="4191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40FBB3-34E3-4C93-92E1-9CD9F513A5CA}"/>
              </a:ext>
            </a:extLst>
          </p:cNvPr>
          <p:cNvSpPr>
            <a:spLocks noGrp="1"/>
          </p:cNvSpPr>
          <p:nvPr/>
        </p:nvSpPr>
        <p:spPr>
          <a:xfrm>
            <a:off x="971550" y="29908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Al-Baqarah 2:188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769030-C3C1-4A1F-AD2E-0FB21277726A}"/>
              </a:ext>
            </a:extLst>
          </p:cNvPr>
          <p:cNvSpPr>
            <a:spLocks noGrp="1"/>
          </p:cNvSpPr>
          <p:nvPr/>
        </p:nvSpPr>
        <p:spPr>
          <a:xfrm>
            <a:off x="3200400" y="29527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Trusteeship of charitable funds and protection from misuse.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B6763B-BA88-4A06-AC1E-564376C0BBD2}"/>
              </a:ext>
            </a:extLst>
          </p:cNvPr>
          <p:cNvSpPr>
            <a:spLocks noGrp="1"/>
          </p:cNvSpPr>
          <p:nvPr/>
        </p:nvSpPr>
        <p:spPr>
          <a:xfrm>
            <a:off x="7029450" y="2914650"/>
            <a:ext cx="2343150" cy="3429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0F2B9D-60A0-406C-8E55-3C4EC05F5E17}"/>
              </a:ext>
            </a:extLst>
          </p:cNvPr>
          <p:cNvSpPr>
            <a:spLocks noGrp="1"/>
          </p:cNvSpPr>
          <p:nvPr/>
        </p:nvSpPr>
        <p:spPr>
          <a:xfrm>
            <a:off x="7239000" y="30003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CTCF Layer 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60BB94-5CF3-4CBF-A714-FBF3DC82BC6D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9B4E95-9A27-461D-99D4-37453AFA7696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95250" cy="4191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F1E6F7-3CA9-4546-BF68-A1255EDE7FEC}"/>
              </a:ext>
            </a:extLst>
          </p:cNvPr>
          <p:cNvSpPr>
            <a:spLocks noGrp="1"/>
          </p:cNvSpPr>
          <p:nvPr/>
        </p:nvSpPr>
        <p:spPr>
          <a:xfrm>
            <a:off x="971550" y="36004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Al-Baqarah 2:263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8610270-BB65-4FDF-AA67-41FD96F0485F}"/>
              </a:ext>
            </a:extLst>
          </p:cNvPr>
          <p:cNvSpPr>
            <a:spLocks noGrp="1"/>
          </p:cNvSpPr>
          <p:nvPr/>
        </p:nvSpPr>
        <p:spPr>
          <a:xfrm>
            <a:off x="3200400" y="35623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Evidence of how beneficiaries were reached and treated.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511BB4-B3BA-42B2-8678-3EB08A015AD9}"/>
              </a:ext>
            </a:extLst>
          </p:cNvPr>
          <p:cNvSpPr>
            <a:spLocks noGrp="1"/>
          </p:cNvSpPr>
          <p:nvPr/>
        </p:nvSpPr>
        <p:spPr>
          <a:xfrm>
            <a:off x="7029450" y="3524250"/>
            <a:ext cx="2343150" cy="3429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DC7A56-ABBD-4D86-A90A-CE7C8893DE93}"/>
              </a:ext>
            </a:extLst>
          </p:cNvPr>
          <p:cNvSpPr>
            <a:spLocks noGrp="1"/>
          </p:cNvSpPr>
          <p:nvPr/>
        </p:nvSpPr>
        <p:spPr>
          <a:xfrm>
            <a:off x="7239000" y="36099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CTCF Layer 3 &amp; 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40E9829-E066-473B-807D-9D46B55D49AF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330951-D6AC-42F4-ACAA-82A920B17A42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95250" cy="4191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C447D8-8ADE-4D3B-90CE-88A6F33D8499}"/>
              </a:ext>
            </a:extLst>
          </p:cNvPr>
          <p:cNvSpPr>
            <a:spLocks noGrp="1"/>
          </p:cNvSpPr>
          <p:nvPr/>
        </p:nvSpPr>
        <p:spPr>
          <a:xfrm>
            <a:off x="971550" y="42100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Hadith accountability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5AFB4C-A462-4902-8852-76B6CDAB02D7}"/>
              </a:ext>
            </a:extLst>
          </p:cNvPr>
          <p:cNvSpPr>
            <a:spLocks noGrp="1"/>
          </p:cNvSpPr>
          <p:nvPr/>
        </p:nvSpPr>
        <p:spPr>
          <a:xfrm>
            <a:off x="3200400" y="41719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Every platform role creates a verifiable trail.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AEF669-747B-4BDD-BC42-BDC1B4648F7F}"/>
              </a:ext>
            </a:extLst>
          </p:cNvPr>
          <p:cNvSpPr>
            <a:spLocks noGrp="1"/>
          </p:cNvSpPr>
          <p:nvPr/>
        </p:nvSpPr>
        <p:spPr>
          <a:xfrm>
            <a:off x="7029450" y="4133850"/>
            <a:ext cx="2343150" cy="3429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F685CE-31F4-4664-B526-8E14150AA71E}"/>
              </a:ext>
            </a:extLst>
          </p:cNvPr>
          <p:cNvSpPr>
            <a:spLocks noGrp="1"/>
          </p:cNvSpPr>
          <p:nvPr/>
        </p:nvSpPr>
        <p:spPr>
          <a:xfrm>
            <a:off x="7239000" y="42195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Audit logs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14C45D6-0DF0-438E-ADBA-E4C7D8CCD950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A0781CE-01AB-4F17-B154-BED6F9445726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95250" cy="4191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C6F639C-15FA-4E6F-9E33-B32047B64D04}"/>
              </a:ext>
            </a:extLst>
          </p:cNvPr>
          <p:cNvSpPr>
            <a:spLocks noGrp="1"/>
          </p:cNvSpPr>
          <p:nvPr/>
        </p:nvSpPr>
        <p:spPr>
          <a:xfrm>
            <a:off x="971550" y="48196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AAOIFI Standard No. 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0E99FEA-FCB3-429D-B56A-CE3E329FF268}"/>
              </a:ext>
            </a:extLst>
          </p:cNvPr>
          <p:cNvSpPr>
            <a:spLocks noGrp="1"/>
          </p:cNvSpPr>
          <p:nvPr/>
        </p:nvSpPr>
        <p:spPr>
          <a:xfrm>
            <a:off x="3200400" y="47815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Shariah supervision, FAS 9 Zakat and oversight.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9B685DB-1FFA-4ED5-812E-9B4E974B272C}"/>
              </a:ext>
            </a:extLst>
          </p:cNvPr>
          <p:cNvSpPr>
            <a:spLocks noGrp="1"/>
          </p:cNvSpPr>
          <p:nvPr/>
        </p:nvSpPr>
        <p:spPr>
          <a:xfrm>
            <a:off x="7029450" y="4743450"/>
            <a:ext cx="2343150" cy="3429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71455A6-5B7D-4AED-91B4-3834665C6E6B}"/>
              </a:ext>
            </a:extLst>
          </p:cNvPr>
          <p:cNvSpPr>
            <a:spLocks noGrp="1"/>
          </p:cNvSpPr>
          <p:nvPr/>
        </p:nvSpPr>
        <p:spPr>
          <a:xfrm>
            <a:off x="7239000" y="48291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CTCF Layer 5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C9AFCDE-BB49-4869-A57E-192C76BAD16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/about - Built on Quran and Sunnah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DD696C6-6A48-46A4-B641-E23D37B55429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9" name="Title 38">
            <a:extLst>
              <a:ext uri="{FF2B5EF4-FFF2-40B4-BE49-F238E27FC236}">
                <a16:creationId xmlns:a16="http://schemas.microsoft.com/office/drawing/2014/main" id="{13014714-18D7-6E4A-3E57-1DE41C9D6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5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6FCE5FE-82EF-4EE2-9551-176B05859187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8EF1F2-C703-4F85-B2A3-98FFE1237B03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HOW IT WORKS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44FA65-DA02-4927-9445-C11254D7B754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The donor journey is simple; the verification layer remains rigorous.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727927-0CA2-4E1D-9A6A-54B4730886DF}"/>
              </a:ext>
            </a:extLst>
          </p:cNvPr>
          <p:cNvSpPr>
            <a:spLocks noGrp="1"/>
          </p:cNvSpPr>
          <p:nvPr/>
        </p:nvSpPr>
        <p:spPr>
          <a:xfrm>
            <a:off x="628650" y="3333750"/>
            <a:ext cx="1466850" cy="7429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C8413F-CEE5-4287-845D-C33319461415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B0AF49-9FC3-4A37-81DF-A33D8A19561C}"/>
              </a:ext>
            </a:extLst>
          </p:cNvPr>
          <p:cNvSpPr>
            <a:spLocks noGrp="1"/>
          </p:cNvSpPr>
          <p:nvPr/>
        </p:nvSpPr>
        <p:spPr>
          <a:xfrm>
            <a:off x="7810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directory filters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2D962B-080C-414E-AB57-261896361FF1}"/>
              </a:ext>
            </a:extLst>
          </p:cNvPr>
          <p:cNvSpPr>
            <a:spLocks noGrp="1"/>
          </p:cNvSpPr>
          <p:nvPr/>
        </p:nvSpPr>
        <p:spPr>
          <a:xfrm>
            <a:off x="22098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7F0765-46F4-4EE5-B7CE-2E38BB8FAAC6}"/>
              </a:ext>
            </a:extLst>
          </p:cNvPr>
          <p:cNvSpPr>
            <a:spLocks noGrp="1"/>
          </p:cNvSpPr>
          <p:nvPr/>
        </p:nvSpPr>
        <p:spPr>
          <a:xfrm>
            <a:off x="2838450" y="3333750"/>
            <a:ext cx="1466850" cy="7429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F06332-8C3A-4AEF-908C-73A7FB30960A}"/>
              </a:ext>
            </a:extLst>
          </p:cNvPr>
          <p:cNvSpPr>
            <a:spLocks noGrp="1"/>
          </p:cNvSpPr>
          <p:nvPr/>
        </p:nvSpPr>
        <p:spPr>
          <a:xfrm>
            <a:off x="29908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38ADC5-4DD5-4338-93D9-165BEE14D7E6}"/>
              </a:ext>
            </a:extLst>
          </p:cNvPr>
          <p:cNvSpPr>
            <a:spLocks noGrp="1"/>
          </p:cNvSpPr>
          <p:nvPr/>
        </p:nvSpPr>
        <p:spPr>
          <a:xfrm>
            <a:off x="29908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reports and scores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C291ED-381B-4009-8914-2D2F53AAF7A8}"/>
              </a:ext>
            </a:extLst>
          </p:cNvPr>
          <p:cNvSpPr>
            <a:spLocks noGrp="1"/>
          </p:cNvSpPr>
          <p:nvPr/>
        </p:nvSpPr>
        <p:spPr>
          <a:xfrm>
            <a:off x="44196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407DDE-ED4E-4ECD-947E-0ADE42068127}"/>
              </a:ext>
            </a:extLst>
          </p:cNvPr>
          <p:cNvSpPr>
            <a:spLocks noGrp="1"/>
          </p:cNvSpPr>
          <p:nvPr/>
        </p:nvSpPr>
        <p:spPr>
          <a:xfrm>
            <a:off x="5048250" y="3333750"/>
            <a:ext cx="1466850" cy="7429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754040-B98C-435C-89D0-48A75F241048}"/>
              </a:ext>
            </a:extLst>
          </p:cNvPr>
          <p:cNvSpPr>
            <a:spLocks noGrp="1"/>
          </p:cNvSpPr>
          <p:nvPr/>
        </p:nvSpPr>
        <p:spPr>
          <a:xfrm>
            <a:off x="52006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Donate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681FB9-84AC-4379-8126-A11167675D1F}"/>
              </a:ext>
            </a:extLst>
          </p:cNvPr>
          <p:cNvSpPr>
            <a:spLocks noGrp="1"/>
          </p:cNvSpPr>
          <p:nvPr/>
        </p:nvSpPr>
        <p:spPr>
          <a:xfrm>
            <a:off x="52006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ToyyibPay direct flow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68F13E-BF9F-4D62-A0F1-FE0EC4454142}"/>
              </a:ext>
            </a:extLst>
          </p:cNvPr>
          <p:cNvSpPr>
            <a:spLocks noGrp="1"/>
          </p:cNvSpPr>
          <p:nvPr/>
        </p:nvSpPr>
        <p:spPr>
          <a:xfrm>
            <a:off x="66294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044689-D7FC-4E6F-BE19-419D2F198D5D}"/>
              </a:ext>
            </a:extLst>
          </p:cNvPr>
          <p:cNvSpPr>
            <a:spLocks noGrp="1"/>
          </p:cNvSpPr>
          <p:nvPr/>
        </p:nvSpPr>
        <p:spPr>
          <a:xfrm>
            <a:off x="7258050" y="3333750"/>
            <a:ext cx="1466850" cy="7429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838F6E-296C-4B28-9514-41DE1113FF31}"/>
              </a:ext>
            </a:extLst>
          </p:cNvPr>
          <p:cNvSpPr>
            <a:spLocks noGrp="1"/>
          </p:cNvSpPr>
          <p:nvPr/>
        </p:nvSpPr>
        <p:spPr>
          <a:xfrm>
            <a:off x="74104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Track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333B28-E877-480E-9C04-D7B770C85E0D}"/>
              </a:ext>
            </a:extLst>
          </p:cNvPr>
          <p:cNvSpPr>
            <a:spLocks noGrp="1"/>
          </p:cNvSpPr>
          <p:nvPr/>
        </p:nvSpPr>
        <p:spPr>
          <a:xfrm>
            <a:off x="74104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receipts and impact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D5367-83CF-4BA1-895B-159A82C91C9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/how-it-works - Your giving journey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3237AB-C70A-4C8C-A29C-65293660CC41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70603816-E497-89DE-C8DB-F04967EE8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02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08A205F-E723-49FD-976C-F6FD2657D7CB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6BF9AE-840E-4AE2-851D-0A45948F5829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CERTIFICATION FRAMEWORK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C96FC8-1BC1-4229-8F8F-67143B5E6B70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CTCF is a five-layer evaluation framework; Layer 1 is a disqualifying gate.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44642-398A-4E9A-9C3E-7FC01F9D6893}"/>
              </a:ext>
            </a:extLst>
          </p:cNvPr>
          <p:cNvSpPr>
            <a:spLocks noGrp="1"/>
          </p:cNvSpPr>
          <p:nvPr/>
        </p:nvSpPr>
        <p:spPr>
          <a:xfrm>
            <a:off x="1181100" y="2343150"/>
            <a:ext cx="514350" cy="3429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56A6B7-1B4A-4202-9999-1E37F99475E5}"/>
              </a:ext>
            </a:extLst>
          </p:cNvPr>
          <p:cNvSpPr>
            <a:spLocks noGrp="1"/>
          </p:cNvSpPr>
          <p:nvPr/>
        </p:nvSpPr>
        <p:spPr>
          <a:xfrm>
            <a:off x="1352550" y="242887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31A62E-AECB-48C5-8272-DE29B4216E96}"/>
              </a:ext>
            </a:extLst>
          </p:cNvPr>
          <p:cNvSpPr>
            <a:spLocks noGrp="1"/>
          </p:cNvSpPr>
          <p:nvPr/>
        </p:nvSpPr>
        <p:spPr>
          <a:xfrm>
            <a:off x="2038350" y="2428875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Governance Gate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7B1793-5A0B-4696-A0E1-7A7C60789793}"/>
              </a:ext>
            </a:extLst>
          </p:cNvPr>
          <p:cNvSpPr>
            <a:spLocks noGrp="1"/>
          </p:cNvSpPr>
          <p:nvPr/>
        </p:nvSpPr>
        <p:spPr>
          <a:xfrm>
            <a:off x="4991100" y="2428875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36D0D1-16FA-4D6E-BCDC-EC35702E870B}"/>
              </a:ext>
            </a:extLst>
          </p:cNvPr>
          <p:cNvSpPr>
            <a:spLocks noGrp="1"/>
          </p:cNvSpPr>
          <p:nvPr/>
        </p:nvSpPr>
        <p:spPr>
          <a:xfrm>
            <a:off x="6057900" y="2495550"/>
            <a:ext cx="2381250" cy="381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4CC9E1-DB1D-43ED-9925-C0973BC98390}"/>
              </a:ext>
            </a:extLst>
          </p:cNvPr>
          <p:cNvSpPr>
            <a:spLocks noGrp="1"/>
          </p:cNvSpPr>
          <p:nvPr/>
        </p:nvSpPr>
        <p:spPr>
          <a:xfrm>
            <a:off x="1181100" y="2876550"/>
            <a:ext cx="514350" cy="3429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DAC9BB-3214-43EE-8F9F-864BBE418C30}"/>
              </a:ext>
            </a:extLst>
          </p:cNvPr>
          <p:cNvSpPr>
            <a:spLocks noGrp="1"/>
          </p:cNvSpPr>
          <p:nvPr/>
        </p:nvSpPr>
        <p:spPr>
          <a:xfrm>
            <a:off x="1352550" y="296227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32CDA4-8A8A-447A-A122-107ADEBDE457}"/>
              </a:ext>
            </a:extLst>
          </p:cNvPr>
          <p:cNvSpPr>
            <a:spLocks noGrp="1"/>
          </p:cNvSpPr>
          <p:nvPr/>
        </p:nvSpPr>
        <p:spPr>
          <a:xfrm>
            <a:off x="2038350" y="2962275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Financial Transparency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CD0878-5903-40F5-B7E9-7F4FD7C0223B}"/>
              </a:ext>
            </a:extLst>
          </p:cNvPr>
          <p:cNvSpPr>
            <a:spLocks noGrp="1"/>
          </p:cNvSpPr>
          <p:nvPr/>
        </p:nvSpPr>
        <p:spPr>
          <a:xfrm>
            <a:off x="4991100" y="2962275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2D1E8C-7F3A-4D84-A54C-13B9C2F47E1E}"/>
              </a:ext>
            </a:extLst>
          </p:cNvPr>
          <p:cNvSpPr>
            <a:spLocks noGrp="1"/>
          </p:cNvSpPr>
          <p:nvPr/>
        </p:nvSpPr>
        <p:spPr>
          <a:xfrm>
            <a:off x="6057900" y="3028950"/>
            <a:ext cx="2152650" cy="381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612FB1-3429-47D8-8A4F-004A995B5BEB}"/>
              </a:ext>
            </a:extLst>
          </p:cNvPr>
          <p:cNvSpPr>
            <a:spLocks noGrp="1"/>
          </p:cNvSpPr>
          <p:nvPr/>
        </p:nvSpPr>
        <p:spPr>
          <a:xfrm>
            <a:off x="1181100" y="3409950"/>
            <a:ext cx="514350" cy="3429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A0A366-20D3-441F-9571-264A24E50D54}"/>
              </a:ext>
            </a:extLst>
          </p:cNvPr>
          <p:cNvSpPr>
            <a:spLocks noGrp="1"/>
          </p:cNvSpPr>
          <p:nvPr/>
        </p:nvSpPr>
        <p:spPr>
          <a:xfrm>
            <a:off x="1352550" y="349567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09AD34-D131-408D-A0A1-F92E077572F0}"/>
              </a:ext>
            </a:extLst>
          </p:cNvPr>
          <p:cNvSpPr>
            <a:spLocks noGrp="1"/>
          </p:cNvSpPr>
          <p:nvPr/>
        </p:nvSpPr>
        <p:spPr>
          <a:xfrm>
            <a:off x="2038350" y="3495675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Project Transparency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7640D1-D7BD-440D-9F42-813BB2A9CC41}"/>
              </a:ext>
            </a:extLst>
          </p:cNvPr>
          <p:cNvSpPr>
            <a:spLocks noGrp="1"/>
          </p:cNvSpPr>
          <p:nvPr/>
        </p:nvSpPr>
        <p:spPr>
          <a:xfrm>
            <a:off x="4991100" y="3495675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92D314-8291-4C1B-B8B0-75DFE1795995}"/>
              </a:ext>
            </a:extLst>
          </p:cNvPr>
          <p:cNvSpPr>
            <a:spLocks noGrp="1"/>
          </p:cNvSpPr>
          <p:nvPr/>
        </p:nvSpPr>
        <p:spPr>
          <a:xfrm>
            <a:off x="6057900" y="3562350"/>
            <a:ext cx="1924050" cy="381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E7CC2A-9D38-46D2-BA56-A22667CF6C2A}"/>
              </a:ext>
            </a:extLst>
          </p:cNvPr>
          <p:cNvSpPr>
            <a:spLocks noGrp="1"/>
          </p:cNvSpPr>
          <p:nvPr/>
        </p:nvSpPr>
        <p:spPr>
          <a:xfrm>
            <a:off x="1181100" y="3943350"/>
            <a:ext cx="514350" cy="3429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4F5AFF1-734E-4896-AB03-0811A81EB090}"/>
              </a:ext>
            </a:extLst>
          </p:cNvPr>
          <p:cNvSpPr>
            <a:spLocks noGrp="1"/>
          </p:cNvSpPr>
          <p:nvPr/>
        </p:nvSpPr>
        <p:spPr>
          <a:xfrm>
            <a:off x="1352550" y="402907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7DB663-8C4C-44BE-970E-D76745FC57AC}"/>
              </a:ext>
            </a:extLst>
          </p:cNvPr>
          <p:cNvSpPr>
            <a:spLocks noGrp="1"/>
          </p:cNvSpPr>
          <p:nvPr/>
        </p:nvSpPr>
        <p:spPr>
          <a:xfrm>
            <a:off x="2038350" y="4029075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A5265B7-79CB-4721-BD85-4807F656B25C}"/>
              </a:ext>
            </a:extLst>
          </p:cNvPr>
          <p:cNvSpPr>
            <a:spLocks noGrp="1"/>
          </p:cNvSpPr>
          <p:nvPr/>
        </p:nvSpPr>
        <p:spPr>
          <a:xfrm>
            <a:off x="4991100" y="4029075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0B9BC2-B586-4FDF-BBD8-B44A559D9EB2}"/>
              </a:ext>
            </a:extLst>
          </p:cNvPr>
          <p:cNvSpPr>
            <a:spLocks noGrp="1"/>
          </p:cNvSpPr>
          <p:nvPr/>
        </p:nvSpPr>
        <p:spPr>
          <a:xfrm>
            <a:off x="6057900" y="4095750"/>
            <a:ext cx="1695450" cy="381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8BB8FAE-5720-4913-8D3A-2CF1CBF395E8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514350" cy="3429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645335-9132-4BE0-97CB-2CD7516425E7}"/>
              </a:ext>
            </a:extLst>
          </p:cNvPr>
          <p:cNvSpPr>
            <a:spLocks noGrp="1"/>
          </p:cNvSpPr>
          <p:nvPr/>
        </p:nvSpPr>
        <p:spPr>
          <a:xfrm>
            <a:off x="1352550" y="456247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255E4D-3A40-4348-8587-7758AD45B59C}"/>
              </a:ext>
            </a:extLst>
          </p:cNvPr>
          <p:cNvSpPr>
            <a:spLocks noGrp="1"/>
          </p:cNvSpPr>
          <p:nvPr/>
        </p:nvSpPr>
        <p:spPr>
          <a:xfrm>
            <a:off x="2038350" y="4562475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Shariah Governance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F35973B-E7F5-41CB-8542-9670BB858A63}"/>
              </a:ext>
            </a:extLst>
          </p:cNvPr>
          <p:cNvSpPr>
            <a:spLocks noGrp="1"/>
          </p:cNvSpPr>
          <p:nvPr/>
        </p:nvSpPr>
        <p:spPr>
          <a:xfrm>
            <a:off x="4991100" y="4562475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26083EE-7003-4386-B432-ABF96D280CB0}"/>
              </a:ext>
            </a:extLst>
          </p:cNvPr>
          <p:cNvSpPr>
            <a:spLocks noGrp="1"/>
          </p:cNvSpPr>
          <p:nvPr/>
        </p:nvSpPr>
        <p:spPr>
          <a:xfrm>
            <a:off x="6057900" y="4629150"/>
            <a:ext cx="1466850" cy="381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C14583F-1BD2-4A0B-B481-9F569711DF43}"/>
              </a:ext>
            </a:extLst>
          </p:cNvPr>
          <p:cNvSpPr>
            <a:spLocks noGrp="1"/>
          </p:cNvSpPr>
          <p:nvPr/>
        </p:nvSpPr>
        <p:spPr>
          <a:xfrm>
            <a:off x="8001000" y="2381250"/>
            <a:ext cx="2476500" cy="12192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CE6983C-FFAA-46D1-A01D-791AC332B323}"/>
              </a:ext>
            </a:extLst>
          </p:cNvPr>
          <p:cNvSpPr>
            <a:spLocks noGrp="1"/>
          </p:cNvSpPr>
          <p:nvPr/>
        </p:nvSpPr>
        <p:spPr>
          <a:xfrm>
            <a:off x="8286750" y="26289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Certification tiers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6B2853A-374B-481A-86BF-CE88764094D9}"/>
              </a:ext>
            </a:extLst>
          </p:cNvPr>
          <p:cNvSpPr>
            <a:spLocks noGrp="1"/>
          </p:cNvSpPr>
          <p:nvPr/>
        </p:nvSpPr>
        <p:spPr>
          <a:xfrm>
            <a:off x="8286750" y="2933700"/>
            <a:ext cx="1714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Platinum Amanah (85+)</a:t>
            </a:r>
          </a:p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Gold Amanah (70-84)</a:t>
            </a:r>
          </a:p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Silver Amanah (55-69)</a:t>
            </a:r>
          </a:p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Basic (below 55)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D22D714-6EB7-46DC-8078-9C244A00B9BF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/how-it-works - CTCF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FF74D93-7E6C-4E5A-B45D-CD4296E71273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7" name="Title 36">
            <a:extLst>
              <a:ext uri="{FF2B5EF4-FFF2-40B4-BE49-F238E27FC236}">
                <a16:creationId xmlns:a16="http://schemas.microsoft.com/office/drawing/2014/main" id="{FE32E96D-5554-97E0-FCF6-C0C7DB053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799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0AEBF81-2DA3-44B2-8831-DEFE6A91C654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80F366-4C78-49FF-90D5-586349AE24CC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AMANAH INDEX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9A470A-F10B-4B0A-A32C-217C40AD2D4E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The Amanah Index is a living score, not a self-reported claim.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FEB93C-4753-4DD9-ABD4-C4530DA8C4B4}"/>
              </a:ext>
            </a:extLst>
          </p:cNvPr>
          <p:cNvSpPr>
            <a:spLocks noGrp="1"/>
          </p:cNvSpPr>
          <p:nvPr/>
        </p:nvSpPr>
        <p:spPr>
          <a:xfrm>
            <a:off x="1257300" y="2657475"/>
            <a:ext cx="1257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888D7C-696C-4716-B144-3A6116162040}"/>
              </a:ext>
            </a:extLst>
          </p:cNvPr>
          <p:cNvSpPr>
            <a:spLocks noGrp="1"/>
          </p:cNvSpPr>
          <p:nvPr/>
        </p:nvSpPr>
        <p:spPr>
          <a:xfrm>
            <a:off x="2876550" y="2724150"/>
            <a:ext cx="2952750" cy="85725"/>
          </a:xfrm>
          <a:prstGeom prst="rect">
            <a:avLst/>
          </a:prstGeom>
          <a:solidFill>
            <a:srgbClr val="20342F"/>
          </a:solidFill>
          <a:ln w="9525">
            <a:solidFill>
              <a:srgbClr val="33584F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5C408E-5FAF-48DB-9003-1FFD103EB101}"/>
              </a:ext>
            </a:extLst>
          </p:cNvPr>
          <p:cNvSpPr>
            <a:spLocks noGrp="1"/>
          </p:cNvSpPr>
          <p:nvPr/>
        </p:nvSpPr>
        <p:spPr>
          <a:xfrm>
            <a:off x="2876550" y="2724150"/>
            <a:ext cx="2286000" cy="85725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F1FD39-CC7E-4899-B71D-0F9921E88823}"/>
              </a:ext>
            </a:extLst>
          </p:cNvPr>
          <p:cNvSpPr>
            <a:spLocks noGrp="1"/>
          </p:cNvSpPr>
          <p:nvPr/>
        </p:nvSpPr>
        <p:spPr>
          <a:xfrm>
            <a:off x="6115050" y="26479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058A6C-244F-4064-A821-533C304BDDB2}"/>
              </a:ext>
            </a:extLst>
          </p:cNvPr>
          <p:cNvSpPr>
            <a:spLocks noGrp="1"/>
          </p:cNvSpPr>
          <p:nvPr/>
        </p:nvSpPr>
        <p:spPr>
          <a:xfrm>
            <a:off x="1257300" y="3133725"/>
            <a:ext cx="1257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Financial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E1142F-4E0C-4F56-8BE5-ADD2B2EA928A}"/>
              </a:ext>
            </a:extLst>
          </p:cNvPr>
          <p:cNvSpPr>
            <a:spLocks noGrp="1"/>
          </p:cNvSpPr>
          <p:nvPr/>
        </p:nvSpPr>
        <p:spPr>
          <a:xfrm>
            <a:off x="2876550" y="3200400"/>
            <a:ext cx="2952750" cy="85725"/>
          </a:xfrm>
          <a:prstGeom prst="rect">
            <a:avLst/>
          </a:prstGeom>
          <a:solidFill>
            <a:srgbClr val="20342F"/>
          </a:solidFill>
          <a:ln w="9525">
            <a:solidFill>
              <a:srgbClr val="33584F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49770C-ECDB-4803-8441-00CCDA35ACCB}"/>
              </a:ext>
            </a:extLst>
          </p:cNvPr>
          <p:cNvSpPr>
            <a:spLocks noGrp="1"/>
          </p:cNvSpPr>
          <p:nvPr/>
        </p:nvSpPr>
        <p:spPr>
          <a:xfrm>
            <a:off x="2876550" y="3200400"/>
            <a:ext cx="1905000" cy="85725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43DFCE-1DCB-44EA-8AC8-7366994DBF3F}"/>
              </a:ext>
            </a:extLst>
          </p:cNvPr>
          <p:cNvSpPr>
            <a:spLocks noGrp="1"/>
          </p:cNvSpPr>
          <p:nvPr/>
        </p:nvSpPr>
        <p:spPr>
          <a:xfrm>
            <a:off x="6115050" y="312420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BFE90B-4C0A-41B8-90C0-1B3BC4A873F0}"/>
              </a:ext>
            </a:extLst>
          </p:cNvPr>
          <p:cNvSpPr>
            <a:spLocks noGrp="1"/>
          </p:cNvSpPr>
          <p:nvPr/>
        </p:nvSpPr>
        <p:spPr>
          <a:xfrm>
            <a:off x="1257300" y="3609975"/>
            <a:ext cx="1257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Project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FEB292-A366-4E7A-9410-76968BEFE8BD}"/>
              </a:ext>
            </a:extLst>
          </p:cNvPr>
          <p:cNvSpPr>
            <a:spLocks noGrp="1"/>
          </p:cNvSpPr>
          <p:nvPr/>
        </p:nvSpPr>
        <p:spPr>
          <a:xfrm>
            <a:off x="2876550" y="3676650"/>
            <a:ext cx="2952750" cy="85725"/>
          </a:xfrm>
          <a:prstGeom prst="rect">
            <a:avLst/>
          </a:prstGeom>
          <a:solidFill>
            <a:srgbClr val="20342F"/>
          </a:solidFill>
          <a:ln w="9525">
            <a:solidFill>
              <a:srgbClr val="33584F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B8467B-FD45-4E91-B7F7-7DC3FA83D740}"/>
              </a:ext>
            </a:extLst>
          </p:cNvPr>
          <p:cNvSpPr>
            <a:spLocks noGrp="1"/>
          </p:cNvSpPr>
          <p:nvPr/>
        </p:nvSpPr>
        <p:spPr>
          <a:xfrm>
            <a:off x="2876550" y="3676650"/>
            <a:ext cx="1524000" cy="85725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E2E3BA-A5E2-4779-995C-321F1E1A6D51}"/>
              </a:ext>
            </a:extLst>
          </p:cNvPr>
          <p:cNvSpPr>
            <a:spLocks noGrp="1"/>
          </p:cNvSpPr>
          <p:nvPr/>
        </p:nvSpPr>
        <p:spPr>
          <a:xfrm>
            <a:off x="6115050" y="36004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0EC9E7-81C3-4DCB-884A-A9C94CB866ED}"/>
              </a:ext>
            </a:extLst>
          </p:cNvPr>
          <p:cNvSpPr>
            <a:spLocks noGrp="1"/>
          </p:cNvSpPr>
          <p:nvPr/>
        </p:nvSpPr>
        <p:spPr>
          <a:xfrm>
            <a:off x="1257300" y="4086225"/>
            <a:ext cx="1257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5BEC4D-36F1-4988-A359-30995737110C}"/>
              </a:ext>
            </a:extLst>
          </p:cNvPr>
          <p:cNvSpPr>
            <a:spLocks noGrp="1"/>
          </p:cNvSpPr>
          <p:nvPr/>
        </p:nvSpPr>
        <p:spPr>
          <a:xfrm>
            <a:off x="2876550" y="4152900"/>
            <a:ext cx="2952750" cy="85725"/>
          </a:xfrm>
          <a:prstGeom prst="rect">
            <a:avLst/>
          </a:prstGeom>
          <a:solidFill>
            <a:srgbClr val="20342F"/>
          </a:solidFill>
          <a:ln w="9525">
            <a:solidFill>
              <a:srgbClr val="33584F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130350-B141-4300-B6DD-D060320C5D19}"/>
              </a:ext>
            </a:extLst>
          </p:cNvPr>
          <p:cNvSpPr>
            <a:spLocks noGrp="1"/>
          </p:cNvSpPr>
          <p:nvPr/>
        </p:nvSpPr>
        <p:spPr>
          <a:xfrm>
            <a:off x="2876550" y="4152900"/>
            <a:ext cx="1143000" cy="8572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EE67FA-DA8A-4773-8AE1-B09292C89678}"/>
              </a:ext>
            </a:extLst>
          </p:cNvPr>
          <p:cNvSpPr>
            <a:spLocks noGrp="1"/>
          </p:cNvSpPr>
          <p:nvPr/>
        </p:nvSpPr>
        <p:spPr>
          <a:xfrm>
            <a:off x="6115050" y="407670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52ACC5-618E-450B-854E-234A6809F483}"/>
              </a:ext>
            </a:extLst>
          </p:cNvPr>
          <p:cNvSpPr>
            <a:spLocks noGrp="1"/>
          </p:cNvSpPr>
          <p:nvPr/>
        </p:nvSpPr>
        <p:spPr>
          <a:xfrm>
            <a:off x="1257300" y="4562475"/>
            <a:ext cx="1257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Shariah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A3485F-EC23-4095-ADF4-A91FF989AC6A}"/>
              </a:ext>
            </a:extLst>
          </p:cNvPr>
          <p:cNvSpPr>
            <a:spLocks noGrp="1"/>
          </p:cNvSpPr>
          <p:nvPr/>
        </p:nvSpPr>
        <p:spPr>
          <a:xfrm>
            <a:off x="2876550" y="4629150"/>
            <a:ext cx="2952750" cy="85725"/>
          </a:xfrm>
          <a:prstGeom prst="rect">
            <a:avLst/>
          </a:prstGeom>
          <a:solidFill>
            <a:srgbClr val="20342F"/>
          </a:solidFill>
          <a:ln w="9525">
            <a:solidFill>
              <a:srgbClr val="33584F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9A39E14-AAC2-4552-AFFA-EF247B1350E6}"/>
              </a:ext>
            </a:extLst>
          </p:cNvPr>
          <p:cNvSpPr>
            <a:spLocks noGrp="1"/>
          </p:cNvSpPr>
          <p:nvPr/>
        </p:nvSpPr>
        <p:spPr>
          <a:xfrm>
            <a:off x="2876550" y="4629150"/>
            <a:ext cx="1143000" cy="85725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2FCC8BE-2893-42D2-B543-CC2DC04C7CB3}"/>
              </a:ext>
            </a:extLst>
          </p:cNvPr>
          <p:cNvSpPr>
            <a:spLocks noGrp="1"/>
          </p:cNvSpPr>
          <p:nvPr/>
        </p:nvSpPr>
        <p:spPr>
          <a:xfrm>
            <a:off x="6115050" y="45529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D5ADE42-E3F1-4D14-B8C3-D193A83E1EEA}"/>
              </a:ext>
            </a:extLst>
          </p:cNvPr>
          <p:cNvSpPr>
            <a:spLocks noGrp="1"/>
          </p:cNvSpPr>
          <p:nvPr/>
        </p:nvSpPr>
        <p:spPr>
          <a:xfrm>
            <a:off x="7810500" y="2686050"/>
            <a:ext cx="2571750" cy="13716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52B867B-CCF9-4A9E-9441-E9BCD7C68609}"/>
              </a:ext>
            </a:extLst>
          </p:cNvPr>
          <p:cNvSpPr>
            <a:spLocks noGrp="1"/>
          </p:cNvSpPr>
          <p:nvPr/>
        </p:nvSpPr>
        <p:spPr>
          <a:xfrm>
            <a:off x="8096250" y="297180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Computed from verified data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50EA408-6150-41CB-96A6-6FA3DA0E934C}"/>
              </a:ext>
            </a:extLst>
          </p:cNvPr>
          <p:cNvSpPr>
            <a:spLocks noGrp="1"/>
          </p:cNvSpPr>
          <p:nvPr/>
        </p:nvSpPr>
        <p:spPr>
          <a:xfrm>
            <a:off x="8096250" y="3314700"/>
            <a:ext cx="171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Every score version keeps its timestamp, trigger event, and breakdown.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B6BAFBF-356D-4E88-83E6-47B3356A173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/how-it-works - Amanah Index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31EB2BD-BAE2-41B2-A382-5123550ABEDF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D7D8AAD0-43D6-3FC8-090A-5F83509C5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006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130549A-347F-410C-AA23-4739F0553C3B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A118DA-B133-4FB3-BADA-B49F3F58F22F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DONATION 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45B560-5AFE-46CE-9301-8E17455E4CCB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AmanahHub is a transparency layer, not a payment intermediary.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A27581-DD0E-4578-A017-0318FEFB38FA}"/>
              </a:ext>
            </a:extLst>
          </p:cNvPr>
          <p:cNvSpPr>
            <a:spLocks noGrp="1"/>
          </p:cNvSpPr>
          <p:nvPr/>
        </p:nvSpPr>
        <p:spPr>
          <a:xfrm>
            <a:off x="628650" y="3333750"/>
            <a:ext cx="1466850" cy="7429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78723A-44BC-4AA5-9BFA-218620CB0A45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Donor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74470D-2212-4343-9B74-FF6E1CB868D4}"/>
              </a:ext>
            </a:extLst>
          </p:cNvPr>
          <p:cNvSpPr>
            <a:spLocks noGrp="1"/>
          </p:cNvSpPr>
          <p:nvPr/>
        </p:nvSpPr>
        <p:spPr>
          <a:xfrm>
            <a:off x="7810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chooses charity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5B8EE2-BD39-4808-836F-9963E8E2BCE5}"/>
              </a:ext>
            </a:extLst>
          </p:cNvPr>
          <p:cNvSpPr>
            <a:spLocks noGrp="1"/>
          </p:cNvSpPr>
          <p:nvPr/>
        </p:nvSpPr>
        <p:spPr>
          <a:xfrm>
            <a:off x="22098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1E5D54-F164-439C-B09C-9D1D7A187590}"/>
              </a:ext>
            </a:extLst>
          </p:cNvPr>
          <p:cNvSpPr>
            <a:spLocks noGrp="1"/>
          </p:cNvSpPr>
          <p:nvPr/>
        </p:nvSpPr>
        <p:spPr>
          <a:xfrm>
            <a:off x="2838450" y="3333750"/>
            <a:ext cx="1466850" cy="7429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92EAE0-4470-4291-B04A-29494B7F67AF}"/>
              </a:ext>
            </a:extLst>
          </p:cNvPr>
          <p:cNvSpPr>
            <a:spLocks noGrp="1"/>
          </p:cNvSpPr>
          <p:nvPr/>
        </p:nvSpPr>
        <p:spPr>
          <a:xfrm>
            <a:off x="29908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ToyyibPay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F8230F-A67F-4C57-8908-B66E6D318056}"/>
              </a:ext>
            </a:extLst>
          </p:cNvPr>
          <p:cNvSpPr>
            <a:spLocks noGrp="1"/>
          </p:cNvSpPr>
          <p:nvPr/>
        </p:nvSpPr>
        <p:spPr>
          <a:xfrm>
            <a:off x="29908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processes payment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C05687-1933-4926-A11B-0C6FAE015F40}"/>
              </a:ext>
            </a:extLst>
          </p:cNvPr>
          <p:cNvSpPr>
            <a:spLocks noGrp="1"/>
          </p:cNvSpPr>
          <p:nvPr/>
        </p:nvSpPr>
        <p:spPr>
          <a:xfrm>
            <a:off x="44196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216FC5-F31E-459D-AA23-39F895E170A9}"/>
              </a:ext>
            </a:extLst>
          </p:cNvPr>
          <p:cNvSpPr>
            <a:spLocks noGrp="1"/>
          </p:cNvSpPr>
          <p:nvPr/>
        </p:nvSpPr>
        <p:spPr>
          <a:xfrm>
            <a:off x="5048250" y="3333750"/>
            <a:ext cx="1466850" cy="7429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34DCEA-35EE-49A1-9959-F22FAFA2BBE6}"/>
              </a:ext>
            </a:extLst>
          </p:cNvPr>
          <p:cNvSpPr>
            <a:spLocks noGrp="1"/>
          </p:cNvSpPr>
          <p:nvPr/>
        </p:nvSpPr>
        <p:spPr>
          <a:xfrm>
            <a:off x="52006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Charity account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181D5A-A82D-4848-A69A-EA057F228C30}"/>
              </a:ext>
            </a:extLst>
          </p:cNvPr>
          <p:cNvSpPr>
            <a:spLocks noGrp="1"/>
          </p:cNvSpPr>
          <p:nvPr/>
        </p:nvSpPr>
        <p:spPr>
          <a:xfrm>
            <a:off x="52006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receives funds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0B089B-CBC2-48D7-B1B6-F3389B232638}"/>
              </a:ext>
            </a:extLst>
          </p:cNvPr>
          <p:cNvSpPr>
            <a:spLocks noGrp="1"/>
          </p:cNvSpPr>
          <p:nvPr/>
        </p:nvSpPr>
        <p:spPr>
          <a:xfrm>
            <a:off x="66294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53D724-C20D-4174-82AC-A3076D40B381}"/>
              </a:ext>
            </a:extLst>
          </p:cNvPr>
          <p:cNvSpPr>
            <a:spLocks noGrp="1"/>
          </p:cNvSpPr>
          <p:nvPr/>
        </p:nvSpPr>
        <p:spPr>
          <a:xfrm>
            <a:off x="7258050" y="3333750"/>
            <a:ext cx="1466850" cy="7429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1997BF-708D-4828-B3FE-68C805FE26BA}"/>
              </a:ext>
            </a:extLst>
          </p:cNvPr>
          <p:cNvSpPr>
            <a:spLocks noGrp="1"/>
          </p:cNvSpPr>
          <p:nvPr/>
        </p:nvSpPr>
        <p:spPr>
          <a:xfrm>
            <a:off x="74104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record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B3D884-45FF-4ED2-92DD-7F60A4EE31F9}"/>
              </a:ext>
            </a:extLst>
          </p:cNvPr>
          <p:cNvSpPr>
            <a:spLocks noGrp="1"/>
          </p:cNvSpPr>
          <p:nvPr/>
        </p:nvSpPr>
        <p:spPr>
          <a:xfrm>
            <a:off x="74104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receipt generated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B03950-6B40-42C7-9B1E-8A9F433B36C2}"/>
              </a:ext>
            </a:extLst>
          </p:cNvPr>
          <p:cNvSpPr>
            <a:spLocks noGrp="1"/>
          </p:cNvSpPr>
          <p:nvPr/>
        </p:nvSpPr>
        <p:spPr>
          <a:xfrm>
            <a:off x="88392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04C74C-9514-4600-957F-A7B87FC7CA7E}"/>
              </a:ext>
            </a:extLst>
          </p:cNvPr>
          <p:cNvSpPr>
            <a:spLocks noGrp="1"/>
          </p:cNvSpPr>
          <p:nvPr/>
        </p:nvSpPr>
        <p:spPr>
          <a:xfrm>
            <a:off x="9467850" y="3333750"/>
            <a:ext cx="1466850" cy="74295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81FF11-3ED3-425C-B889-28C261E72C08}"/>
              </a:ext>
            </a:extLst>
          </p:cNvPr>
          <p:cNvSpPr>
            <a:spLocks noGrp="1"/>
          </p:cNvSpPr>
          <p:nvPr/>
        </p:nvSpPr>
        <p:spPr>
          <a:xfrm>
            <a:off x="96202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Public report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6907D3-1C95-4CD7-8D91-AD5A8EBF8F09}"/>
              </a:ext>
            </a:extLst>
          </p:cNvPr>
          <p:cNvSpPr>
            <a:spLocks noGrp="1"/>
          </p:cNvSpPr>
          <p:nvPr/>
        </p:nvSpPr>
        <p:spPr>
          <a:xfrm>
            <a:off x="96202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fund usage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FF15D1-B8FF-4673-B5B2-31569067FD0F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/how-it-works - How donations work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12799F-1AA3-4082-A4BB-9821C3A57FA7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74ADB00E-22CC-316C-D54A-E8910F8A7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217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57E0986F-FF07-4C6F-AE32-5C9308DEFD98}" vid="{F530D9DA-4D8D-460D-8421-4BCD21471768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AGP-Dark-Master-Template</Template>
  <TotalTime>0</TotalTime>
  <Words>1249</Words>
  <Application>Microsoft Office PowerPoint</Application>
  <DocSecurity>0</DocSecurity>
  <PresentationFormat>Custom</PresentationFormat>
  <Paragraphs>272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kamal latif</cp:lastModifiedBy>
  <cp:revision>1</cp:revision>
  <dcterms:created xsi:type="dcterms:W3CDTF">2026-07-08T03:24:25Z</dcterms:created>
  <dcterms:modified xsi:type="dcterms:W3CDTF">2026-07-08T10:40:28Z</dcterms:modified>
</cp:coreProperties>
</file>