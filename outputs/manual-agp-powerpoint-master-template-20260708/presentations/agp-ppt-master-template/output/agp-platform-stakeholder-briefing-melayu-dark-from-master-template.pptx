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AGP Dark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9FAE3C37-DE43-7927-90AD-C7BDC7582D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B5806-EBD2-8A39-97D9-94C94522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68B0F-02C4-88D8-A87A-14A71E5E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4D1BB-D410-EE9D-C306-1F395C18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17015-FEC5-DAC0-281C-26B5CCDB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94CED173-BF1E-ACE7-EDF4-CAE692BAA1E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9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C42A942F-722C-56F2-E97C-FD54F0333D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F694F-C87F-B1F9-44A4-BF4D5E629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F11E5-CF78-9E47-9D2D-E4D82238F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4BEE8-AC1E-A167-4670-228399A1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3036-30FB-5369-5902-0CF8F7EF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73AD7-73EF-F7E4-38CA-4782DEB6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1AD48115-C5F5-CD88-1823-8F09A0DC3D81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3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83530F3A-D0E7-4CF4-5D90-CA33DDAE0F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7C06E-5830-A293-D501-89E96B2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F6E5A-9A5F-E66F-DBB7-9ABC35169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2919C-070F-FD69-AB14-B0394D98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D9C99-7A66-7FA8-1A24-F46BB41C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D05CE-80F6-69F7-7326-99AB82E5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C6E69C04-A5F3-0C2B-FBA4-47068E1042DD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0946C99D-A816-F4CB-0172-670B470762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CC909-8B27-BDE1-A367-72DC131D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544EF-F10D-FCCA-1069-3D2ACFCDF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15F7-15DB-261C-4EEE-157B54A9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CCF59-ECF9-5B4C-58F8-5B0B26D4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E7B7-3859-5242-BC92-54B7F546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C70097EB-C6DA-8A9D-35F4-43EAB6B6780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8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3F624E0F-F4AE-1BB0-AFF9-FB4319961D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BD195-89F0-DCEF-2B0D-8E443A8E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3719-0E56-2E7B-1D02-275F2BF21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51CFB-BF21-D870-2545-0D97C0051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272D-D897-B34D-00F0-5C35FD85C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94112-912E-31B7-7A8D-2759C49D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0F34E-F60E-4427-1EB1-817E5D95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332D1180-7FBA-4CAE-8B61-85BDE2EE03F7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4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7D685E55-41D6-2AE0-46D8-09EA67DCAF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6CFD2-D6E6-71D1-3246-9AE9D6B6D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D50B-21F6-8529-2C54-2E13B3B8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DD447-9C94-28A8-9A35-D0362EF83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A685-4EFC-571A-FB96-EFD3664F5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3CEF-1087-2ADB-CF14-34E8EE530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2FD4E-F777-3BEE-D3F9-B68930F5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36E0C-6115-0734-0295-094E8BC6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9426E-8D0F-A799-24E6-556E1A97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E7E54BC1-91AE-8C7D-BBD3-CCF039039EC1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7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92C28A8A-5166-9376-AAF0-7408C8C4FD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9D262-3D6E-E0C9-CD9D-9F55748C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70776-EDB4-0FA1-50AC-6A81727E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FE03B-8296-50BC-EC19-95A39518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E47E7-E2E8-5A19-BC5C-E3012CA1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FB4AEFFB-9BD2-4B75-AC18-7D5AED4F2709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4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4A9BE607-27C0-952F-4CA7-7EA793350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F0470A-DBCC-2AEE-A887-BBA0A9C2D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A30012-689C-5089-D625-34A3F2DB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EB4A-0BAB-3B67-1725-07E136F9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977AE9D1-FF49-4D64-69F0-50AF994165A0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4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7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C5AEEFDE-42C9-CBAA-A0F0-F58C57FED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1A445-4DC6-8595-61F1-A413484E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39BD-9175-D8AA-2980-48C7F53E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F218D-99DF-09D8-1873-1741D0F81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B5C2C-E6D7-910C-B428-6B0AB070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012D6-59BF-0C96-08E9-F2FF8C8B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D7F06-8511-D378-379F-1D35926D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9A8DC583-3C57-4C07-15A3-296894D4FDDE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4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8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F046E69C-62EE-242E-A6E2-C1ECC1D910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7CB9D-CE8D-5636-E3FD-02A026C6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67D06-DC30-5148-8ABE-3281519BB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910D9-2B22-5432-F928-BE3087E26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4B03B-74DF-2648-16DF-B2F8AB9E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77925-76C5-FF2C-39A0-9884A725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E60AD-AADC-FC91-8D75-8372F0A7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89AA2986-1609-115C-C4EC-764F84D08F05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0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9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0C7E9A8-6D7D-AA68-77B5-1BFDC0608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44D9D-F82C-96D4-A788-99694B39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E6591-5DF2-13F8-C15C-9E97C8B7B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FC685-581E-EAF9-5392-868C6A89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5848-765A-1E2D-3701-9E9B9D92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12790-EB95-631E-74C2-10A2DB1E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356AE85C-008F-EFC7-E297-28C24B0BDC16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69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0_AGP Dar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45F1A695-999A-0FE8-6D22-11F09F3A72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D2465-FA5B-75D0-88A1-CE57DE9AB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36F2D-6293-EDDA-B659-458EEF69E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A65D-56CE-46A5-57D8-79F8E90C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F3F50-2882-6EEC-CD60-D296E040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05A17-6163-9D13-E803-0D911C37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D404365-AA5B-13AF-0747-2D1CFE53FC9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55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49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2C155669-CC31-D71E-C8FA-7814CF78D7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332EB-D0AA-DC02-9208-E692B928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CB0DB-B7D4-4267-8193-9EE29CA7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03371-6961-01A5-7E95-52B4365F5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8ACC-1364-43AC-B9DA-B7C0FAFE2A77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A5F8-B116-C903-12F2-5354BBDD4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00200-A6F9-7167-C1C4-8ED003826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4BEE9-CE13-4C80-9A73-8AE0125757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61209344-E031-6F67-99A6-063ADF1C115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34454A-F814-4EEE-ACC8-E59A8FD01B8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57CEF1-F7CF-46E9-A5E2-9F9E130A6D16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TAKLIMAT PIHAK BERKEPENTINGAN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4BF8F-E3B5-49D9-8955-1F4489B2465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7048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membina semula keyakinan penderma melalui tadbir urus yang boleh disemak.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C9A05-BE7B-4421-9BD7-46D118F626D6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752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membantu organisasi amal Islam membuktikan amanah, mengurus bukti tadbir urus, dan memberi isyarat keyakinan yang jelas.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3112ED-D564-4EBB-80DE-ED33A9138AFE}"/>
              </a:ext>
            </a:extLst>
          </p:cNvPr>
          <p:cNvSpPr>
            <a:spLocks noGrp="1"/>
          </p:cNvSpPr>
          <p:nvPr/>
        </p:nvSpPr>
        <p:spPr>
          <a:xfrm>
            <a:off x="8420100" y="1695450"/>
            <a:ext cx="25717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1CBF5B-FA58-4AAC-A76E-2E2BCB118F86}"/>
              </a:ext>
            </a:extLst>
          </p:cNvPr>
          <p:cNvSpPr>
            <a:spLocks noGrp="1"/>
          </p:cNvSpPr>
          <p:nvPr/>
        </p:nvSpPr>
        <p:spPr>
          <a:xfrm>
            <a:off x="866775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A0933C-462D-49AE-BD33-90E78E5C30C4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 untuk penderma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35D24-FADD-4788-82C8-88D1BC36924E}"/>
              </a:ext>
            </a:extLst>
          </p:cNvPr>
          <p:cNvSpPr>
            <a:spLocks noGrp="1"/>
          </p:cNvSpPr>
          <p:nvPr/>
        </p:nvSpPr>
        <p:spPr>
          <a:xfrm>
            <a:off x="8420100" y="2762250"/>
            <a:ext cx="25717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1C3AE8-3DC3-410B-828E-2382DDD98B51}"/>
              </a:ext>
            </a:extLst>
          </p:cNvPr>
          <p:cNvSpPr>
            <a:spLocks noGrp="1"/>
          </p:cNvSpPr>
          <p:nvPr/>
        </p:nvSpPr>
        <p:spPr>
          <a:xfrm>
            <a:off x="8667750" y="29337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FBECF6-A21B-43C8-8A52-6B332FC53398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tadbir urus organisasi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7BE272-8F65-48A1-9B59-2C809C9AECE3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5717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73C90-29D8-46B2-9F72-816942DA58D4}"/>
              </a:ext>
            </a:extLst>
          </p:cNvPr>
          <p:cNvSpPr>
            <a:spLocks noGrp="1"/>
          </p:cNvSpPr>
          <p:nvPr/>
        </p:nvSpPr>
        <p:spPr>
          <a:xfrm>
            <a:off x="8667750" y="40005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81B745-15A5-49EC-A54F-3694D81B9439}"/>
              </a:ext>
            </a:extLst>
          </p:cNvPr>
          <p:cNvSpPr>
            <a:spLocks noGrp="1"/>
          </p:cNvSpPr>
          <p:nvPr/>
        </p:nvSpPr>
        <p:spPr>
          <a:xfrm>
            <a:off x="8667750" y="4248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semakan, pensijilan dan penerbitan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34BDDB-857D-491F-AE80-D6BD941FCD9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Dek AGP untuk pihak berkepentingan - versi Bahasa Melayu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AF567A-B742-4219-83F5-3B6790736419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0A32941-7FF6-53D2-5055-D1A8C667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7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A08F93-FCB5-4021-8059-FC75066B99E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43C5DB-F1F5-4596-80D1-5C98DE7AD516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MISI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CBE7B-F596-4357-B897-A5631AFAA21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AmanahHub wujud kerana kepercayaan ialah asas kepada pemberian.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918B78-B65C-4D66-BFB3-1343549AD889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752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Apabila penderma tidak dapat melihat ke mana sumbangan disalurkan, keyakinan menurun. Akhirnya, golongan yang memerlukan turut menerima kesannya.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4CAE7C-2A3E-4791-8047-BA717746DD4D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229596-613E-4FD4-B99D-65A348315CDD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1CFC29-27C8-4C90-8207-574A996B40F2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Berpaksikan Malaysia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798F3B-22E4-4B7A-A888-D78D0F0F9EFA}"/>
              </a:ext>
            </a:extLst>
          </p:cNvPr>
          <p:cNvSpPr>
            <a:spLocks noGrp="1"/>
          </p:cNvSpPr>
          <p:nvPr/>
        </p:nvSpPr>
        <p:spPr>
          <a:xfrm>
            <a:off x="3200400" y="35242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Direka untuk konteks ROS, JAKIM, SIRC dan keperluan negeri.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B58FE-9E46-45C7-B50A-7D0925B144CA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3A0348-0A07-40B4-947F-573670E52A6A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B176F-5CF2-4B39-A079-EF61EC027AB4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703E51-DDE2-483F-967D-88A9ED3B749E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bergerak terus daripada penderma kepada akaun organisasi.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F4E448-4781-4AA8-B3CC-C73168F00C93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3578ED-7EB0-4873-A507-9A61BA35759A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A625AF-E0BB-48A8-A267-818E27E6D8DF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Skor berasaskan bukti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6D8C8B-0F80-4179-93F4-DF98990230AD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Index dikira daripada dokumen dan rekod yang disahkan.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9595EB-C8FE-45F1-915F-D0E84D08DB53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9D1F12-8F8D-40E0-8CE8-747FBD1AB861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E1373E-DFA1-4EBC-A69B-C57D801202F3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Terbuka untuk pelbagai organisasi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600595-FE5E-4B13-8A22-7A42A9743483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NGO, masjid, institusi waqf dan yayasan boleh dinilai setara.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7D3BF7-AAEF-4458-9288-8A405D0A1A0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apps/user/app/about/page.tsx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411F89-3573-4734-B053-919F31368FCB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F104019C-100F-9C28-6F9A-99EE307D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7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DA5162-FB31-4BC8-AF05-12AF30184EB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71DE5-15A9-4E1A-BC74-2D3788013FD0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PRINSIP TERAS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3CD9D-7235-48FD-886E-5A00972075C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tonggak Amanah menjadi asas reka bentuk platform.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FFC00-0DCF-4611-96E8-83F1EA864CBC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990850" cy="2343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031A50-E1EC-442B-BD50-181F165F0C50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41DF27-47BA-4AD4-B91B-75EC59C04E37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Kepercayaan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1C606-1BE2-4490-89B2-BC36BEAB51F6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 dana penderma dijadikan kelihatan, boleh disemak dan boleh dibuktikan.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A9C58C-A717-47D8-A1BC-949A174D0241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2990850" cy="2343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C8E349-0026-4956-939F-2A804B8796D4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E88845-46E8-4220-9E29-0FE4D5E57ABF}"/>
              </a:ext>
            </a:extLst>
          </p:cNvPr>
          <p:cNvSpPr>
            <a:spLocks noGrp="1"/>
          </p:cNvSpPr>
          <p:nvPr/>
        </p:nvSpPr>
        <p:spPr>
          <a:xfrm>
            <a:off x="466725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Ketelusan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A817AF-D7B8-4B3E-81EE-543B5865C923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pematuhan Syariah dan bukti sejajar AAOIFI mudah dicapai.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89FD0F-62FD-459E-AC22-5E339A71076C}"/>
              </a:ext>
            </a:extLst>
          </p:cNvPr>
          <p:cNvSpPr>
            <a:spLocks noGrp="1"/>
          </p:cNvSpPr>
          <p:nvPr/>
        </p:nvSpPr>
        <p:spPr>
          <a:xfrm>
            <a:off x="8020050" y="2647950"/>
            <a:ext cx="2990850" cy="2343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321602-70EE-4E41-9E40-24FDF90EFD88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4AC6FB-CBC8-4399-A2E4-F4165B20680C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Kebertanggungjawaban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DC671A-97BB-470A-B9F8-25E75E5D0CEF}"/>
              </a:ext>
            </a:extLst>
          </p:cNvPr>
          <p:cNvSpPr>
            <a:spLocks noGrp="1"/>
          </p:cNvSpPr>
          <p:nvPr/>
        </p:nvSpPr>
        <p:spPr>
          <a:xfrm>
            <a:off x="82677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Tindakan penting direkod, diberi timestamp dan dipelihara.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51151A-AC2B-4C30-8AF5-8A30DFFE884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- Our principles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0C6DF2-7C3A-4ABF-970D-55047238625C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4F601408-0D02-D4C3-6E19-2D9AF58F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1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203833-3EA9-44B9-9522-967716B6DE0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B2DB88-DEE3-4E0D-94C7-9CE5DBE13A44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ASAS SYARIAH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A65642-D5E5-4B9B-989A-83B5196792ED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Platform ini menterjemah tanggungjawab amanah kepada kawalan tadbir urus.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60F8F3-7F15-45D5-B93C-0DDEF1FC7879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F6C9C8-1226-46EE-ABA9-B0C41491CEA0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F786ED-7FF5-4128-82F7-7F7E2D645F59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69DB2-5E27-401B-BEC3-F3A3884C1989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Struktur tadbir urus perlu jelas sebelum pensijilan.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A22064-12B3-4C76-A3D8-04DF47B71AC1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ECD8A6-D9DB-440B-8E1B-C97ED8B43B06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1A459-E0C7-4F03-AEF7-C62AFAA0C6FD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EC74E3-CCC3-4FB7-857F-E8DED4BCFD2C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A4E78A-14AE-495D-9463-4088F2D99062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49BFB-FDB6-485D-A36A-1DB713B686F7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amal mesti dipisahkan, direkod dan dilindungi.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308516-A678-417E-A9E5-85B245B6E934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55475-D553-4150-BF77-462EC4D46D05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2798AA-92B9-461A-843D-A943921619CC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90C086-7D4B-4B56-B341-D359292E4B97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DF61A3-80F3-4EB3-899C-E2C5E46C868D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7C87E5-DD02-4CC0-BEAB-105E9AE1C2AF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Bantuan dilapor dengan menjaga maruah penerima.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DF6E67-573E-4BEC-AD6E-BDAD55DC5858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B276DE-8D21-40BB-B57F-AAD8EEAB6E60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3 &amp;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88A824-4758-45CC-99FE-0AFB5B66BC4A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D0B20D-75BA-4902-A3D4-A1BB6810F7EA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4E8298-38AD-49C3-A555-39042625CF93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amanah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4BCA2E-0F7E-463B-B167-27C3F321EF6A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peranan meninggalkan jejak tindakan.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A1846A-0863-4E1F-885E-AB8B860CA6DE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4B785F-923E-4D40-B5D6-6F3301D308B4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DB00ED-7582-4FF5-A49C-6E174557B3B0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CDB3F5-5BCD-4D60-B69C-F636BB1EBF1C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A4EF27-34FC-4651-91C9-38CB8B6A9368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BEB678-446C-410D-857C-E4907F81A274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Pemantauan Syariah menjadi sebahagian skor.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12F0D7-675F-428A-AD4F-D2BB51A42822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72F31F4-4CED-43E2-ABFD-F934F46C4AB8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FC4416-A88E-471E-AAB9-F35D9EE6759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- Built on Quran and Sunnah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1428B8-3059-4312-BABB-E8DB94A57482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405B867F-1930-32D2-9504-16AC1D73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3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9E9752-F2E6-46C6-A741-084198B6CCE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B795D7-2BD3-4020-A708-60AC6BCB2F93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PERJALANAN PENDERMA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E0C4AC-2794-47F9-A1E0-7CD9C7B13BD0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Pengalaman memberi dibuat ringkas; lapisan pengesahan kekal ketat.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6B2A26-4CC1-4A96-8979-E4530C0966E5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BFEB23-3007-4437-A5E0-3A62D952A01D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Teroka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E4266D-1BCF-4FC0-B4D0-A0B38D08F13B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negeri, jenis, dana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1CD5C0-6010-4BA3-9C3F-1B22967AE726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24C99-1326-43A1-A3EC-FEFB2D336326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2BBFC0-036D-4EF5-AD02-36EA98D459FA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Nilai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D9EC9-7025-4565-B3AB-9B2C9AED5DE8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dan skor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FC78F9-A858-417B-A4CC-693131CAEDD6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CB77C1-AF82-41D1-ACFD-A869A4AD446D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687D30-B660-40A8-B8A2-6F4934E1B233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Sumbang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96F83-85BF-41DF-BA48-5B8C12918C8E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terus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90A466-B295-4CAF-BD3C-452E6D64CD66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94F7B8-40CC-4314-B733-6A3AAFBD72D8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1AC8F1-9675-4090-AB5B-5FED23C7FA99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Ikuti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9496FC-016D-412F-91D7-E7F80A49C4C7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dan impak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E83592-54AA-4CB1-B490-350EB9B2B03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Your giving journey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2EB31B-DE01-44B9-820E-17A9BE552F68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D1975EA3-0C30-E520-81D1-A30659D8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01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8644AA-2B09-4DFF-AE33-AACEBEF3D5E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62F8A6-BF1C-4AE7-B474-3981A0921943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PENSIJILAN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CEC102-27E7-43C2-B6A7-FDF90A95D61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CTCF menilai organisasi melalui lima lapisan; Lapisan 1 ialah syarat kelayakan.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B8DF6-BBD8-4221-86C0-A2CADAAB853E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5143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297AB-8150-47F4-BD15-DCC81671E374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3D51DE-3552-478E-AFBC-463340BEFF8F}"/>
              </a:ext>
            </a:extLst>
          </p:cNvPr>
          <p:cNvSpPr>
            <a:spLocks noGrp="1"/>
          </p:cNvSpPr>
          <p:nvPr/>
        </p:nvSpPr>
        <p:spPr>
          <a:xfrm>
            <a:off x="2038350" y="24288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6A87BA-0C77-412D-BD25-545A9930721B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wajib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3657E-2888-4907-8CF5-64CA12C052D3}"/>
              </a:ext>
            </a:extLst>
          </p:cNvPr>
          <p:cNvSpPr>
            <a:spLocks noGrp="1"/>
          </p:cNvSpPr>
          <p:nvPr/>
        </p:nvSpPr>
        <p:spPr>
          <a:xfrm>
            <a:off x="6057900" y="2495550"/>
            <a:ext cx="2381250" cy="38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D5626-441E-44EA-8D87-559CB413399B}"/>
              </a:ext>
            </a:extLst>
          </p:cNvPr>
          <p:cNvSpPr>
            <a:spLocks noGrp="1"/>
          </p:cNvSpPr>
          <p:nvPr/>
        </p:nvSpPr>
        <p:spPr>
          <a:xfrm>
            <a:off x="1181100" y="2876550"/>
            <a:ext cx="5143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895A72-4FA7-4BB1-86D0-589152EACA4B}"/>
              </a:ext>
            </a:extLst>
          </p:cNvPr>
          <p:cNvSpPr>
            <a:spLocks noGrp="1"/>
          </p:cNvSpPr>
          <p:nvPr/>
        </p:nvSpPr>
        <p:spPr>
          <a:xfrm>
            <a:off x="1352550" y="29622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E0BD76-FD2A-47AA-BAB8-63EED74DD7CD}"/>
              </a:ext>
            </a:extLst>
          </p:cNvPr>
          <p:cNvSpPr>
            <a:spLocks noGrp="1"/>
          </p:cNvSpPr>
          <p:nvPr/>
        </p:nvSpPr>
        <p:spPr>
          <a:xfrm>
            <a:off x="2038350" y="29622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775885-4558-4F01-951F-5A2088F48511}"/>
              </a:ext>
            </a:extLst>
          </p:cNvPr>
          <p:cNvSpPr>
            <a:spLocks noGrp="1"/>
          </p:cNvSpPr>
          <p:nvPr/>
        </p:nvSpPr>
        <p:spPr>
          <a:xfrm>
            <a:off x="4991100" y="29622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4D444D-59E3-4787-8FFA-3281B666551C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152650" cy="38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47898E-3BB3-4FD2-9A93-9A9C66EA4978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5143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5F49E5-1CD9-4BA7-9AB0-304E5B717AB4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CC839F-35FC-4984-A12D-C3AD87606F7C}"/>
              </a:ext>
            </a:extLst>
          </p:cNvPr>
          <p:cNvSpPr>
            <a:spLocks noGrp="1"/>
          </p:cNvSpPr>
          <p:nvPr/>
        </p:nvSpPr>
        <p:spPr>
          <a:xfrm>
            <a:off x="2038350" y="34956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9A8990-24C6-4BEA-A4D5-237618BA5989}"/>
              </a:ext>
            </a:extLst>
          </p:cNvPr>
          <p:cNvSpPr>
            <a:spLocks noGrp="1"/>
          </p:cNvSpPr>
          <p:nvPr/>
        </p:nvSpPr>
        <p:spPr>
          <a:xfrm>
            <a:off x="4991100" y="34956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9E824F-0E60-47C0-8AF8-2009AE6322D4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1924050" cy="38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5810A4-3D1D-4725-9964-590BF9401685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5143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DFD3E6-B5B4-424D-9657-7AD8A2808C1C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408AF7-5CBC-4E31-918A-847A3C7D95C9}"/>
              </a:ext>
            </a:extLst>
          </p:cNvPr>
          <p:cNvSpPr>
            <a:spLocks noGrp="1"/>
          </p:cNvSpPr>
          <p:nvPr/>
        </p:nvSpPr>
        <p:spPr>
          <a:xfrm>
            <a:off x="2038350" y="40290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AEEA4A-D17D-46EA-A4FF-ADC43A96E107}"/>
              </a:ext>
            </a:extLst>
          </p:cNvPr>
          <p:cNvSpPr>
            <a:spLocks noGrp="1"/>
          </p:cNvSpPr>
          <p:nvPr/>
        </p:nvSpPr>
        <p:spPr>
          <a:xfrm>
            <a:off x="4991100" y="40290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BA5A41-82DA-41E5-B353-1A7D564271F5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695450" cy="38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C3FB81-2A46-4965-9C6B-D097C7388CC9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5143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C921A3-3E17-4027-9C46-0604A2658B55}"/>
              </a:ext>
            </a:extLst>
          </p:cNvPr>
          <p:cNvSpPr>
            <a:spLocks noGrp="1"/>
          </p:cNvSpPr>
          <p:nvPr/>
        </p:nvSpPr>
        <p:spPr>
          <a:xfrm>
            <a:off x="1352550" y="45624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FC57F9-9F82-44E6-A844-B41E625CB2F2}"/>
              </a:ext>
            </a:extLst>
          </p:cNvPr>
          <p:cNvSpPr>
            <a:spLocks noGrp="1"/>
          </p:cNvSpPr>
          <p:nvPr/>
        </p:nvSpPr>
        <p:spPr>
          <a:xfrm>
            <a:off x="2038350" y="45624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FD9E78-70F0-4AE4-B9B3-02851EC89A3A}"/>
              </a:ext>
            </a:extLst>
          </p:cNvPr>
          <p:cNvSpPr>
            <a:spLocks noGrp="1"/>
          </p:cNvSpPr>
          <p:nvPr/>
        </p:nvSpPr>
        <p:spPr>
          <a:xfrm>
            <a:off x="4991100" y="45624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BCF0EB-C811-4AF4-A710-5507813FF127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66850" cy="38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3AE312-BD27-4C3D-9152-E10990443CCE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2476500" cy="12192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B81503-0117-4E25-9097-A61B00221161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Tahap Amanah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FFA2DE-0129-4815-ACC4-4CCAC48B7A9D}"/>
              </a:ext>
            </a:extLst>
          </p:cNvPr>
          <p:cNvSpPr>
            <a:spLocks noGrp="1"/>
          </p:cNvSpPr>
          <p:nvPr/>
        </p:nvSpPr>
        <p:spPr>
          <a:xfrm>
            <a:off x="8286750" y="293370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F24F45-005C-4C8E-9937-55A31F7298B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CTCF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5995B75-31D8-4260-899F-718E565D478D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E3A8151B-E63E-57EF-3010-502D439F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6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92E2E7-CA2E-4C59-A28A-E39BB0B5EB1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73137-A2A7-45B6-9BEA-AB6A37320F0A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AMANAH 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632054-0B83-4BF2-9504-A5B40C1EEB4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Amanah Index ialah skor hidup yang dikira daripada bukti disahkan.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55DA4-8C0F-4993-8930-F0640A554557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C8FEC-1ED0-4815-AEFC-3603E785D086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72A3C5-14F3-486C-892B-1CFA4F97A349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286000" cy="8572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61ED8D-F4CD-4762-AB28-878911D2358E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2E7A95-FD59-457C-81B7-A81B2795557D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FEB15-FFC9-464A-85BE-52F7074AF2FC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EE0FE7-1E18-40DE-9599-9A0BA5069D09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1905000" cy="85725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16971-C90B-48CC-9670-FA962C06483C}"/>
              </a:ext>
            </a:extLst>
          </p:cNvPr>
          <p:cNvSpPr>
            <a:spLocks noGrp="1"/>
          </p:cNvSpPr>
          <p:nvPr/>
        </p:nvSpPr>
        <p:spPr>
          <a:xfrm>
            <a:off x="6115050" y="31242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96C6E-D2E5-4060-9823-907D8A6A71E4}"/>
              </a:ext>
            </a:extLst>
          </p:cNvPr>
          <p:cNvSpPr>
            <a:spLocks noGrp="1"/>
          </p:cNvSpPr>
          <p:nvPr/>
        </p:nvSpPr>
        <p:spPr>
          <a:xfrm>
            <a:off x="1257300" y="36099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2E78C-85D6-4483-A2BD-F5983D72DB9D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6E8B15-C7FA-43E2-8015-5E5DF206981F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1524000" cy="85725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66237B-D398-4DFB-9DC4-68AF7C11E4A0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534BA-7117-4D64-8B4E-33AF06667574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CA9FC8-8D80-45FC-88A9-7DF01AE9A8D9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997F9C-B19A-41C6-AA91-2F125157ED63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1143000" cy="8572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6A106D-CBC2-44A1-83AE-986098CF7C98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F4A11F-07CB-4383-9BD0-B7FCCC8AB708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8518D1-7A59-4FCD-9B41-53CCBA6EE55E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E7CB69-D4B8-4BDB-AAF4-7C9138C93E0D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1143000" cy="85725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AC7B8F-70C9-48DF-8BBD-D679FC4E691A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C7549F-6348-42F5-8425-BD12A287CE77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2571750" cy="1371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82CEBA-5CBB-413C-AB4B-2B096AEDEAB8}"/>
              </a:ext>
            </a:extLst>
          </p:cNvPr>
          <p:cNvSpPr>
            <a:spLocks noGrp="1"/>
          </p:cNvSpPr>
          <p:nvPr/>
        </p:nvSpPr>
        <p:spPr>
          <a:xfrm>
            <a:off x="8096250" y="2971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Dikira daripada rekod sah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47F464-122A-4B00-AA95-E0F1A5F124A9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171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versi menyimpan timestamp, sebab perubahan dan pecahan skor.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5F6A29-AC5D-4A0C-81A8-16D35FCAF92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Amanah Index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B8D60B-ACA7-435F-A9B2-B51B114A6554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9A28FCD0-DA66-F9D1-9532-C33BF089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20031F-10C8-4865-872D-1D12918F455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F22083-CCA9-4B27-BF22-448225176A3E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ALIRAN SUMBANGAN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4AB4A-FD97-4F0C-84A3-299C7B52CBE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ialah lapisan ketelusan, bukan perantara yang memegang dana.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D2112-104E-442E-8DEF-8B5287884633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FDAB0-A629-4B80-A84E-E4D7F0CDBF7B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A96547-215F-4D6D-9D5B-8030D13268B3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pilih organisasi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8D7223-7480-460C-AED3-A81E2DDDE8AC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DA6DC8-D2B4-4D5F-913E-37EDE76059E2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3729F1-A5BF-471E-9818-7AF7F073AAFC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56E43D-886E-401B-B500-13A01B5C8E16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proses bayaran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82B09A-D429-43A4-8E3C-706A74E8486C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55C951-2101-428A-8A37-323E269BFFD5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76770-DC33-4B13-BEDF-5DCBD65D0E23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Akaun organisasi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4A68EB-0994-4401-A421-8B15A8EAFBB7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terima dana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AF43E-9FDA-443B-910E-CD1B47FF7912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F1DDB5-3ED2-41A6-862A-EA0BFEF99B00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210EC8-5CED-4824-8709-9305E4F13B46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Rekod AGP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E71E09-4C2F-419F-9F44-78F71CEF0C11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dijana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825260-698B-4858-9385-C8AFD64259D4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E408D8-9654-425B-B9ED-DFFD389E41C6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E8BAD4-1981-477E-A9A0-197CF8DF8DD9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Laporan awam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F30CE3-7F29-498B-AD3E-6C189EEEEC30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guna dana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48931C-B22A-40A3-B2D5-16CE6C7A778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/how-it-works - How donations work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F79554-65B8-49FA-BBFD-7D2AC65EFBBB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8555A2F-773F-1790-755D-D082C8AC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9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8E0E1-FA1E-439A-9861-52A66D63ED5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48F84-A0B4-48AC-A734-DDCD10801F72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SISTEM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0D12A-90D8-42D3-A688-58B6AE11725D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Tiga permukaan produk berkongsi satu enjin bukti dan kepercayaan.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D4C15-D03B-448F-8C21-B06770C0320B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A1CD1-FB4F-4785-943C-DDC7315DB8B1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EB26B-7E81-487D-9783-67FB84F61DC2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05B35-C5E9-4AC7-B07A-14C266614FF3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6DDF6-C61F-406C-950D-172980CB6D64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2153C9-DCA0-4957-A07C-328484806CCA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organisasi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62F2B-22CD-4991-A0B1-1814083D84BA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0F0CB8-4D13-4E58-85C0-3725B470083E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46C25-2560-4B8B-BC8E-F706CC2E9302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pihak penyemak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C70785-9ADF-4DEB-8E3B-175909ECA342}"/>
              </a:ext>
            </a:extLst>
          </p:cNvPr>
          <p:cNvSpPr>
            <a:spLocks noGrp="1"/>
          </p:cNvSpPr>
          <p:nvPr/>
        </p:nvSpPr>
        <p:spPr>
          <a:xfrm>
            <a:off x="1390650" y="4267200"/>
            <a:ext cx="9410700" cy="609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10269F-356C-4597-964F-08DB495E72A5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3524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lapisan bukti Supabase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E87294-C941-462E-9DE4-FF9DBE6257BC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Amanah/CTCF scoring, Postgres dengan RLS, private storage, signed URLs, audit log append-only, trust event dan sejarah skor.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2FACBB-A9E3-408D-AD04-278DE6F2B8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docs/ARCHITECTURE_MAP.md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7034DC-4C74-43B3-B3C7-63ED00CC4E39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811D921F-DC54-C592-BD63-28EC3D2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05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BF6BDC-23E0-4BDC-BD14-430B386042C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488A2-B83C-440E-83A9-72535ABB1030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KEBERTANGGUNGJAWABAN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07829-9061-4BD7-AA10-8ED29EEEDBE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Mas'uliyyah dibina ke dalam seni bina, bukan diletakkan sebagai slogan.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3C0E8-5921-41AD-8B38-8BEE4020EF30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BC79DC-504F-4554-A778-0399938CE1CD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914F4E-B254-4D0B-B67E-5B99F8C9A949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tindakan penting direkod dan diberi timestamp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34BFDE-6B65-4506-B3EB-7B435550B7FA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528087-5CEF-45E5-B4F2-DD8AF5581587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Sejarah append-only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5CEE67-00AF-4CC0-A0DF-222027387495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keputusan dan snapshot skor tidak diubah senyap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3CEA0-4DC0-4E9E-8B03-0EDD4AA5438A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C9A6A7-986D-4235-8757-86B65CEC18F1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Sempadan RLS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F77E4A-5B93-474E-ABEC-6F157FD0C75D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menjadi batas keselamatan tenant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8AFD63-8828-48FE-8BAD-DF7F09E83FD9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A6B87C-171F-4AF1-9F0F-83E4693F314F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Disiplin service role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DA8AC9-4612-4118-BCA7-852C70E6EAE4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logik berkuasa tinggi berjalan server-side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EA300C-7460-4906-825A-528A419F6D8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/about principles, ADR-001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BA5F75-FBAC-4B26-AEEC-D5FD1EDBD3C6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F840F3D7-E5C6-C5A4-2817-106D1D9C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3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9E7293-AABF-46D4-A585-B1DA324E062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3E3B21-9067-4285-8D04-0050CB5A846A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NILAI UNTUK PIHAK BERKEPENTINGAN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20044-7EC8-44C3-B270-04FADC6D6470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Setiap pihak membaca rekod kepercayaan yang sama melalui paparan yang sesuai.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91691-E945-46E1-BB69-A258B4E86140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F17A3-6F06-4EF0-9E2A-82CCEE579B98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478B0A-85CF-4387-AD11-BE04A34469D4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80AE1F-FE50-4A95-97C1-69D59B976051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membuat sumbangan dengan lebih yakin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CFED3-EA53-425E-ABEA-6F2826BC4384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9AEC7-5F7E-4A29-BFCA-30A17D954756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DF1247-DB65-4158-82DD-88FF5151B44A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558BD2-E463-4BC1-8403-A662E688265B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2D844-A8B3-421B-992E-169FAED91467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Organisasi amal / masjid / NGO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6EA3DE-7676-40EA-93DB-11BBE5596060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memperbaiki disiplin tadbir urus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5332EC-2305-48D8-A0FE-63E2E7171DAC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8BD87D-6FB9-46F8-8361-6F0ED968A5EB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F54763-FE64-4616-B3A6-A60D82EAC107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47A0B2-EE47-4463-A05A-D684A69A9CDF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E24CFE-C255-4F30-99CD-2D519C7EFDFA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Majlis zakat / waqf / pihak berkuasa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EFBDF4-F8B1-4264-B6A2-A965A47D7BEB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memantau dan menyemak secara tersusun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2B000F-E186-4504-BEF5-CF266BB4F89A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A3FDB6-7B4C-4B0D-8619-6E5E72E16331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8461DA-9654-4FEA-AA1D-4590524F806C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818A78-B6E3-403C-AE4C-07B61BCC98A5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91C9DC-1C52-4745-83B4-460A2C749540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Penyemak / sarjana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21F62D-5B8A-4421-8194-30579DF332C2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melihat bukti dan jejak keputusan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DE83CA-25E5-45A4-AFA3-DA5483CCD0C8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AFFF8D-92C0-446E-959E-2651E23A971B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AD9855-9033-4905-8986-5BB16726055C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BE2809-71A7-43D8-BE53-14AAAF520751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AB3E0D-CF9E-4E00-A992-74CE3F75B96A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Penaja / CSR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1084BA-2ADD-4C19-8C41-27DAEEA4342F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menilai hasil rintis dan isyarat kepercayaan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D3F2B6-B8F8-46AD-9ECE-8E0BF044682F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26B376-CBC9-48A6-8F57-17538091C43F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Laporan + profil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3A291C-A310-465C-856A-CA6A4B2C273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architecture map dan pitch notes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40635E-99B2-412F-88FF-CA1C23B7A1E6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62AA5439-75B6-1B77-0F89-3E77B556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58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4BB712-8FA7-41FA-AF4C-4EE619E2FF4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C408A-A2D1-4493-90C8-7678AF2EE7A5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PROGRAM RINTIS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A84FDE-1643-4BF3-BD76-7BB31FAE70C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Program rintis perlu membuktikan amalan tadbir urus, bukan sekadar angka penggunaan.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1F5A1E-C36E-489A-9D65-32E2EE205878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7546A-FE38-44FD-9DDA-45A54A9F2397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EB6FB9-6A69-4FBA-842F-5A33A9078B4A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 amal, masjid, NGO atau badan waqf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65DDD-915F-418C-8945-2BA35F6BA43B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42A74-A6E3-4F2D-B4FC-C1D87F30A2D0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Aktiviti tadbir urus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8903AC-F03E-4350-9AF5-23A67C683521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polisi, bukti dimuat naik dan kelulusan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AAA98A-7528-4A88-B920-5980219B07AC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82B58-6E36-4AD9-83EF-AF63DC59C849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Kualiti isyarat kepercayaan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FD4DCC-053B-4788-B26C-4F04B15513DB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 event, profil awam dan sejarah skor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6EC086-702C-4EF3-8919-FFE359B72DCC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987B8-D377-4FD4-B533-3AB283F4701C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Keyakinan pihak berkepentingan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8FE402-0C9D-439F-AEA7-48451A5EC319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kebolehbacaan penderma dan kecekapan penyemak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8FB506-8E53-4E38-8ED0-0D47AB40A31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Sumber: pitch notes dan Phase 2 architecture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5C9E65-1F85-426C-AE39-EF2CB7997E5D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F7EC1D0-1790-B367-3D66-10A518B2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5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6D2A61-E3DD-4FAE-830D-D5075384F0D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035D1C-987E-46C8-A6F5-74DE46A04450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KEPUTUSAN DIPERLUKAN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693B1-6FE8-4F3E-9DF5-1A35ABF9524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Yang diperlukan sekarang: penaja, kohort rintis, majlis tadbir dan piawaian bukti.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5A6DD5-173C-4436-BF27-F5610729DDD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59E71-C5DE-4756-B518-4E94974BB5C4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10DBDD-8515-4BCF-8CF4-42F6C38A8B16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21B51A-1866-4A4C-9512-9005472699F5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 pasti organisasi wakil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020E6E-B7F5-4DC1-A5D7-108E6C2062F8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166B0B-7D01-40AC-95C4-99C99196EAC1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AE2A1-65D7-41F9-B53B-ACFBAEC6A883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tadbir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934EF2-B01C-4FD1-B000-EC1539F9B82C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penyemak, sarjana, pemilik polisi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CA4F85-D7C2-4ED4-A01B-37C9CA6E619A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626ED0-39B0-4968-BC89-5960A0207A98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FB2E7A-FC4E-4ABC-9CF9-463735C6318C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Sokongan pelaksanaan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22E957-2604-413B-91CC-5FB3D66B66C1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latihan, pengukuhan sistem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E14634-24B6-4443-ABC6-DAC1BD4E36F0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C1CFCA-0FFC-4827-B438-046298DB8555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89A8A3-B5DA-4E6C-B8AE-08C4A169BFD9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Piawaian kepercayaan awam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BA3F7B-F60B-43E1-863E-6505A58FCF5E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bukti, kaedah skor dan penerbitan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7A9F35-DAA1-4C1E-8FAF-727DA6C54AA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Disediakan untuk perbincangan pihak berkepentingan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A98E4-FE00-4779-B977-705B31C23FF8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27BBD2AD-D511-6045-1D5D-07997D04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05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6621FC-7488-475C-A6DB-DE0DF00D2F6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EF5B3B-D274-4E18-8136-AA88ADDEB79E}"/>
              </a:ext>
            </a:extLst>
          </p:cNvPr>
          <p:cNvSpPr>
            <a:spLocks noGrp="1"/>
          </p:cNvSpPr>
          <p:nvPr/>
        </p:nvSpPr>
        <p:spPr>
          <a:xfrm>
            <a:off x="800100" y="428625"/>
            <a:ext cx="476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PENUTUP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D356E-AA01-4545-B2CF-44D3F7E2696B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9535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30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boleh menjadi infrastruktur kepercayaan bersama untuk ekosistem pemberian Islam.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9882BE-CC91-49C1-950F-BE61E8CBE40F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7524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Matlamatnya mudah: membantu organisasi memperkukuh tadbir urus, membantu pihak penyemak menilai bukti secara tersusun, dan membantu penderma memberi dengan lebih yakin.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16C6-6561-4A52-A529-12CB72DB5BDF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2476500" cy="6096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EAB76A-DB8F-44ED-901C-DC27E6BE9FEC}"/>
              </a:ext>
            </a:extLst>
          </p:cNvPr>
          <p:cNvSpPr>
            <a:spLocks noGrp="1"/>
          </p:cNvSpPr>
          <p:nvPr/>
        </p:nvSpPr>
        <p:spPr>
          <a:xfrm>
            <a:off x="1009650" y="46482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805336-F3C3-4167-8FB5-A30F39C146F5}"/>
              </a:ext>
            </a:extLst>
          </p:cNvPr>
          <p:cNvSpPr>
            <a:spLocks noGrp="1"/>
          </p:cNvSpPr>
          <p:nvPr/>
        </p:nvSpPr>
        <p:spPr>
          <a:xfrm>
            <a:off x="1009650" y="48958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kelihatan, boleh disahkan, boleh dipertanggungjawabkan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6A07D-BBD4-4D45-B4D1-B75BD379BAE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3968F"/>
                </a:solidFill>
                <a:latin typeface="Aptos"/>
                <a:ea typeface="Aptos"/>
                <a:cs typeface="Aptos"/>
              </a:rPr>
              <a:t>AGP Melayu stakeholder deck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9062B-4990-4B83-9920-1E680BE3EFCC}"/>
              </a:ext>
            </a:extLst>
          </p:cNvPr>
          <p:cNvSpPr>
            <a:spLocks noGrp="1"/>
          </p:cNvSpPr>
          <p:nvPr/>
        </p:nvSpPr>
        <p:spPr>
          <a:xfrm>
            <a:off x="10782300" y="6381750"/>
            <a:ext cx="80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C17DA99-A060-6264-8580-1B174C13F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9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7E0986F-FF07-4C6F-AE32-5C9308DEFD98}" vid="{F530D9DA-4D8D-460D-8421-4BCD21471768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AGP-Dark-Master-Template</Template>
  <TotalTime>0</TotalTime>
  <Words>886</Words>
  <Application>Microsoft Office PowerPoint</Application>
  <DocSecurity>0</DocSecurity>
  <PresentationFormat>Custom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kamal latif</cp:lastModifiedBy>
  <cp:revision>1</cp:revision>
  <dcterms:created xsi:type="dcterms:W3CDTF">2026-07-08T03:24:30Z</dcterms:created>
  <dcterms:modified xsi:type="dcterms:W3CDTF">2026-07-08T10:40:33Z</dcterms:modified>
</cp:coreProperties>
</file>