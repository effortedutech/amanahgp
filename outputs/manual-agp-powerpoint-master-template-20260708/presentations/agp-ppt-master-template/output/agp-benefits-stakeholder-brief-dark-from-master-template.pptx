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0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AGP Dark 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GP Master Dark Background">
            <a:extLst>
              <a:ext uri="{FF2B5EF4-FFF2-40B4-BE49-F238E27FC236}">
                <a16:creationId xmlns:a16="http://schemas.microsoft.com/office/drawing/2014/main" id="{9FAE3C37-DE43-7927-90AD-C7BDC7582D7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FB5806-EBD2-8A39-97D9-94C945221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F68B0F-02C4-88D8-A87A-14A71E5E9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8ACC-1364-43AC-B9DA-B7C0FAFE2A77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B4D1BB-D410-EE9D-C306-1F395C18F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617015-FEC5-DAC0-281C-26B5CCDB2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4BEE9-CE13-4C80-9A73-8AE01257577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AGP Master Gold Top Rule">
            <a:extLst>
              <a:ext uri="{FF2B5EF4-FFF2-40B4-BE49-F238E27FC236}">
                <a16:creationId xmlns:a16="http://schemas.microsoft.com/office/drawing/2014/main" id="{94CED173-BF1E-ACE7-EDF4-CAE692BAA1E4}"/>
              </a:ext>
            </a:extLst>
          </p:cNvPr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563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AGP Dar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GP Master Dark Background">
            <a:extLst>
              <a:ext uri="{FF2B5EF4-FFF2-40B4-BE49-F238E27FC236}">
                <a16:creationId xmlns:a16="http://schemas.microsoft.com/office/drawing/2014/main" id="{C42A942F-722C-56F2-E97C-FD54F0333DC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EF694F-C87F-B1F9-44A4-BF4D5E6291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6F11E5-CF78-9E47-9D2D-E4D82238F3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4BEE8-AC1E-A167-4670-228399A1B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8ACC-1364-43AC-B9DA-B7C0FAFE2A77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A63036-30FB-5369-5902-0CF8F7EFB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973AD7-73EF-F7E4-38CA-4782DEB68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4BEE9-CE13-4C80-9A73-8AE01257577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AGP Master Gold Top Rule">
            <a:extLst>
              <a:ext uri="{FF2B5EF4-FFF2-40B4-BE49-F238E27FC236}">
                <a16:creationId xmlns:a16="http://schemas.microsoft.com/office/drawing/2014/main" id="{1AD48115-C5F5-CD88-1823-8F09A0DC3D81}"/>
              </a:ext>
            </a:extLst>
          </p:cNvPr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686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AGP Dar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GP Master Dark Background">
            <a:extLst>
              <a:ext uri="{FF2B5EF4-FFF2-40B4-BE49-F238E27FC236}">
                <a16:creationId xmlns:a16="http://schemas.microsoft.com/office/drawing/2014/main" id="{83530F3A-D0E7-4CF4-5D90-CA33DDAE0F4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C7C06E-5830-A293-D501-89E96B2D4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F6E5A-9A5F-E66F-DBB7-9ABC35169D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2919C-070F-FD69-AB14-B0394D983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8ACC-1364-43AC-B9DA-B7C0FAFE2A77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D9C99-7A66-7FA8-1A24-F46BB41C4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CD05CE-80F6-69F7-7326-99AB82E5A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4BEE9-CE13-4C80-9A73-8AE01257577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AGP Master Gold Top Rule">
            <a:extLst>
              <a:ext uri="{FF2B5EF4-FFF2-40B4-BE49-F238E27FC236}">
                <a16:creationId xmlns:a16="http://schemas.microsoft.com/office/drawing/2014/main" id="{C6E69C04-A5F3-0C2B-FBA4-47068E1042DD}"/>
              </a:ext>
            </a:extLst>
          </p:cNvPr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059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AGP Dar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GP Master Dark Background">
            <a:extLst>
              <a:ext uri="{FF2B5EF4-FFF2-40B4-BE49-F238E27FC236}">
                <a16:creationId xmlns:a16="http://schemas.microsoft.com/office/drawing/2014/main" id="{0946C99D-A816-F4CB-0172-670B470762F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CCC909-8B27-BDE1-A367-72DC131DE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D544EF-F10D-FCCA-1069-3D2ACFCDF9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415F7-15DB-261C-4EEE-157B54A95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8ACC-1364-43AC-B9DA-B7C0FAFE2A77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6CCF59-ECF9-5B4C-58F8-5B0B26D4B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7DE7B7-3859-5242-BC92-54B7F546C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4BEE9-CE13-4C80-9A73-8AE01257577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AGP Master Gold Top Rule">
            <a:extLst>
              <a:ext uri="{FF2B5EF4-FFF2-40B4-BE49-F238E27FC236}">
                <a16:creationId xmlns:a16="http://schemas.microsoft.com/office/drawing/2014/main" id="{C70097EB-C6DA-8A9D-35F4-43EAB6B67800}"/>
              </a:ext>
            </a:extLst>
          </p:cNvPr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051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3_AGP Dar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GP Master Dark Background">
            <a:extLst>
              <a:ext uri="{FF2B5EF4-FFF2-40B4-BE49-F238E27FC236}">
                <a16:creationId xmlns:a16="http://schemas.microsoft.com/office/drawing/2014/main" id="{3F624E0F-F4AE-1BB0-AFF9-FB4319961D6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CBD195-89F0-DCEF-2B0D-8E443A8EC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93719-0E56-2E7B-1D02-275F2BF21F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951CFB-BF21-D870-2545-0D97C00517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DC272D-D897-B34D-00F0-5C35FD85C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8ACC-1364-43AC-B9DA-B7C0FAFE2A77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994112-912E-31B7-7A8D-2759C49D8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0F34E-F60E-4427-1EB1-817E5D951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4BEE9-CE13-4C80-9A73-8AE01257577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AGP Master Gold Top Rule">
            <a:extLst>
              <a:ext uri="{FF2B5EF4-FFF2-40B4-BE49-F238E27FC236}">
                <a16:creationId xmlns:a16="http://schemas.microsoft.com/office/drawing/2014/main" id="{332D1180-7FBA-4CAE-8B61-85BDE2EE03F7}"/>
              </a:ext>
            </a:extLst>
          </p:cNvPr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605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_AGP Dar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GP Master Dark Background">
            <a:extLst>
              <a:ext uri="{FF2B5EF4-FFF2-40B4-BE49-F238E27FC236}">
                <a16:creationId xmlns:a16="http://schemas.microsoft.com/office/drawing/2014/main" id="{7D685E55-41D6-2AE0-46D8-09EA67DCAF0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06CFD2-D6E6-71D1-3246-9AE9D6B6D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9BD50B-21F6-8529-2C54-2E13B3B80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CDD447-9C94-28A8-9A35-D0362EF834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F4A685-4EFC-571A-FB96-EFD3664F53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5B3CEF-1087-2ADB-CF14-34E8EE5300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92FD4E-F777-3BEE-D3F9-B68930F53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8ACC-1364-43AC-B9DA-B7C0FAFE2A77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336E0C-6115-0734-0295-094E8BC6F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A9426E-8D0F-A799-24E6-556E1A975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4BEE9-CE13-4C80-9A73-8AE01257577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AGP Master Gold Top Rule">
            <a:extLst>
              <a:ext uri="{FF2B5EF4-FFF2-40B4-BE49-F238E27FC236}">
                <a16:creationId xmlns:a16="http://schemas.microsoft.com/office/drawing/2014/main" id="{E7E54BC1-91AE-8C7D-BBD3-CCF039039EC1}"/>
              </a:ext>
            </a:extLst>
          </p:cNvPr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702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5_AGP Dar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GP Master Dark Background">
            <a:extLst>
              <a:ext uri="{FF2B5EF4-FFF2-40B4-BE49-F238E27FC236}">
                <a16:creationId xmlns:a16="http://schemas.microsoft.com/office/drawing/2014/main" id="{92C28A8A-5166-9376-AAF0-7408C8C4FDA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49D262-3D6E-E0C9-CD9D-9F55748C0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770776-EDB4-0FA1-50AC-6A81727EE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8ACC-1364-43AC-B9DA-B7C0FAFE2A77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AFE03B-8296-50BC-EC19-95A39518A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6E47E7-E2E8-5A19-BC5C-E3012CA10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4BEE9-CE13-4C80-9A73-8AE01257577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AGP Master Gold Top Rule">
            <a:extLst>
              <a:ext uri="{FF2B5EF4-FFF2-40B4-BE49-F238E27FC236}">
                <a16:creationId xmlns:a16="http://schemas.microsoft.com/office/drawing/2014/main" id="{FB4AEFFB-9BD2-4B75-AC18-7D5AED4F2709}"/>
              </a:ext>
            </a:extLst>
          </p:cNvPr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461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AGP Dar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GP Master Dark Background">
            <a:extLst>
              <a:ext uri="{FF2B5EF4-FFF2-40B4-BE49-F238E27FC236}">
                <a16:creationId xmlns:a16="http://schemas.microsoft.com/office/drawing/2014/main" id="{4A9BE607-27C0-952F-4CA7-7EA79335092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F0470A-DBCC-2AEE-A887-BBA0A9C2D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8ACC-1364-43AC-B9DA-B7C0FAFE2A77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A30012-689C-5089-D625-34A3F2DBA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7CEB4A-0BAB-3B67-1725-07E136F9F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4BEE9-CE13-4C80-9A73-8AE01257577C}" type="slidenum">
              <a:rPr lang="en-US" smtClean="0"/>
              <a:t>‹#›</a:t>
            </a:fld>
            <a:endParaRPr lang="en-US"/>
          </a:p>
        </p:txBody>
      </p:sp>
      <p:sp>
        <p:nvSpPr>
          <p:cNvPr id="6" name="AGP Master Gold Top Rule">
            <a:extLst>
              <a:ext uri="{FF2B5EF4-FFF2-40B4-BE49-F238E27FC236}">
                <a16:creationId xmlns:a16="http://schemas.microsoft.com/office/drawing/2014/main" id="{977AE9D1-FF49-4D64-69F0-50AF994165A0}"/>
              </a:ext>
            </a:extLst>
          </p:cNvPr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430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7_AGP Dar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GP Master Dark Background">
            <a:extLst>
              <a:ext uri="{FF2B5EF4-FFF2-40B4-BE49-F238E27FC236}">
                <a16:creationId xmlns:a16="http://schemas.microsoft.com/office/drawing/2014/main" id="{C5AEEFDE-42C9-CBAA-A0F0-F58C57FED01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01A445-4DC6-8595-61F1-A413484EB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C39BD-9175-D8AA-2980-48C7F53E3F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FF218D-99DF-09D8-1873-1741D0F81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DB5C2C-E6D7-910C-B428-6B0AB070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8ACC-1364-43AC-B9DA-B7C0FAFE2A77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3012D6-59BF-0C96-08E9-F2FF8C8BF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FD7F06-8511-D378-379F-1D35926D3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4BEE9-CE13-4C80-9A73-8AE01257577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AGP Master Gold Top Rule">
            <a:extLst>
              <a:ext uri="{FF2B5EF4-FFF2-40B4-BE49-F238E27FC236}">
                <a16:creationId xmlns:a16="http://schemas.microsoft.com/office/drawing/2014/main" id="{9A8DC583-3C57-4C07-15A3-296894D4FDDE}"/>
              </a:ext>
            </a:extLst>
          </p:cNvPr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466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8_AGP Dar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GP Master Dark Background">
            <a:extLst>
              <a:ext uri="{FF2B5EF4-FFF2-40B4-BE49-F238E27FC236}">
                <a16:creationId xmlns:a16="http://schemas.microsoft.com/office/drawing/2014/main" id="{F046E69C-62EE-242E-A6E2-C1ECC1D910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37CB9D-CE8D-5636-E3FD-02A026C6A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367D06-DC30-5148-8ABE-3281519BBB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9910D9-2B22-5432-F928-BE3087E26D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34B03B-74DF-2648-16DF-B2F8AB9E7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8ACC-1364-43AC-B9DA-B7C0FAFE2A77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E77925-76C5-FF2C-39A0-9884A725C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9E60AD-AADC-FC91-8D75-8372F0A7A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4BEE9-CE13-4C80-9A73-8AE01257577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AGP Master Gold Top Rule">
            <a:extLst>
              <a:ext uri="{FF2B5EF4-FFF2-40B4-BE49-F238E27FC236}">
                <a16:creationId xmlns:a16="http://schemas.microsoft.com/office/drawing/2014/main" id="{89AA2986-1609-115C-C4EC-764F84D08F05}"/>
              </a:ext>
            </a:extLst>
          </p:cNvPr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130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9_AGP Dar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GP Master Dark Background">
            <a:extLst>
              <a:ext uri="{FF2B5EF4-FFF2-40B4-BE49-F238E27FC236}">
                <a16:creationId xmlns:a16="http://schemas.microsoft.com/office/drawing/2014/main" id="{F0C7E9A8-6D7D-AA68-77B5-1BFDC06085A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F44D9D-F82C-96D4-A788-99694B39E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6E6591-5DF2-13F8-C15C-9E97C8B7BD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FC685-581E-EAF9-5392-868C6A896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8ACC-1364-43AC-B9DA-B7C0FAFE2A77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E5848-765A-1E2D-3701-9E9B9D92A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812790-EB95-631E-74C2-10A2DB1E2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4BEE9-CE13-4C80-9A73-8AE01257577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AGP Master Gold Top Rule">
            <a:extLst>
              <a:ext uri="{FF2B5EF4-FFF2-40B4-BE49-F238E27FC236}">
                <a16:creationId xmlns:a16="http://schemas.microsoft.com/office/drawing/2014/main" id="{356AE85C-008F-EFC7-E297-28C24B0BDC16}"/>
              </a:ext>
            </a:extLst>
          </p:cNvPr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5294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0_AGP Dar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GP Master Dark Background">
            <a:extLst>
              <a:ext uri="{FF2B5EF4-FFF2-40B4-BE49-F238E27FC236}">
                <a16:creationId xmlns:a16="http://schemas.microsoft.com/office/drawing/2014/main" id="{45F1A695-999A-0FE8-6D22-11F09F3A72B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9D2465-FA5B-75D0-88A1-CE57DE9ABF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E36F2D-6293-EDDA-B659-458EEF69E7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0AA65D-56CE-46A5-57D8-79F8E90C6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8ACC-1364-43AC-B9DA-B7C0FAFE2A77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7F3F50-2882-6EEC-CD60-D296E0407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B05A17-6163-9D13-E803-0D911C370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4BEE9-CE13-4C80-9A73-8AE01257577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AGP Master Gold Top Rule">
            <a:extLst>
              <a:ext uri="{FF2B5EF4-FFF2-40B4-BE49-F238E27FC236}">
                <a16:creationId xmlns:a16="http://schemas.microsoft.com/office/drawing/2014/main" id="{5D404365-AA5B-13AF-0747-2D1CFE53FC9F}"/>
              </a:ext>
            </a:extLst>
          </p:cNvPr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8983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9145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GP Master Dark Background">
            <a:extLst>
              <a:ext uri="{FF2B5EF4-FFF2-40B4-BE49-F238E27FC236}">
                <a16:creationId xmlns:a16="http://schemas.microsoft.com/office/drawing/2014/main" id="{2C155669-CC31-D71E-C8FA-7814CF78D70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6332EB-D0AA-DC02-9208-E692B9285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9CB0DB-B7D4-4267-8193-9EE29CA7B4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03371-6961-01A5-7E95-52B4365F56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348ACC-1364-43AC-B9DA-B7C0FAFE2A77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CA5F8-B116-C903-12F2-5354BBDD43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200200-A6F9-7167-C1C4-8ED0038267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84BEE9-CE13-4C80-9A73-8AE01257577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AGP Master Gold Top Rule">
            <a:extLst>
              <a:ext uri="{FF2B5EF4-FFF2-40B4-BE49-F238E27FC236}">
                <a16:creationId xmlns:a16="http://schemas.microsoft.com/office/drawing/2014/main" id="{61209344-E031-6F67-99A6-063ADF1C115F}"/>
              </a:ext>
            </a:extLst>
          </p:cNvPr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313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A6B27D6-B052-4342-9FE1-398648FA76B7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749D55-220E-4E3E-AC46-AFE576DACB43}"/>
              </a:ext>
            </a:extLst>
          </p:cNvPr>
          <p:cNvSpPr>
            <a:spLocks noGrp="1"/>
          </p:cNvSpPr>
          <p:nvPr/>
        </p:nvSpPr>
        <p:spPr>
          <a:xfrm>
            <a:off x="800100" y="428625"/>
            <a:ext cx="533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AGP STAKEHOLDER BENEFITS BRIEF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71F584-32A9-44EF-8C81-CE3BE635E23E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7334250" cy="1524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3225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225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A shared governance platform that helps charities earn trust without carrying the technology cost.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708EE8-1E4D-4970-AEA7-18A6004F6AA5}"/>
              </a:ext>
            </a:extLst>
          </p:cNvPr>
          <p:cNvSpPr>
            <a:spLocks noGrp="1"/>
          </p:cNvSpPr>
          <p:nvPr/>
        </p:nvSpPr>
        <p:spPr>
          <a:xfrm>
            <a:off x="647700" y="3105150"/>
            <a:ext cx="6858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3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AGP gives charity organizations free sponsored access to governance tools, gives governing bodies structured oversight, and gives donors confidence that funds are handled with Amanah.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2FE21C-B8CD-4DF9-B77E-166AF6168AB8}"/>
              </a:ext>
            </a:extLst>
          </p:cNvPr>
          <p:cNvSpPr>
            <a:spLocks noGrp="1"/>
          </p:cNvSpPr>
          <p:nvPr/>
        </p:nvSpPr>
        <p:spPr>
          <a:xfrm>
            <a:off x="8420100" y="1714500"/>
            <a:ext cx="2571750" cy="7239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BE9906-1521-4CCC-AE1A-47854162E133}"/>
              </a:ext>
            </a:extLst>
          </p:cNvPr>
          <p:cNvSpPr>
            <a:spLocks noGrp="1"/>
          </p:cNvSpPr>
          <p:nvPr/>
        </p:nvSpPr>
        <p:spPr>
          <a:xfrm>
            <a:off x="8667750" y="188595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Charities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492631-FAE0-4F8E-9CBF-DE9C4C5B7E0B}"/>
              </a:ext>
            </a:extLst>
          </p:cNvPr>
          <p:cNvSpPr>
            <a:spLocks noGrp="1"/>
          </p:cNvSpPr>
          <p:nvPr/>
        </p:nvSpPr>
        <p:spPr>
          <a:xfrm>
            <a:off x="8667750" y="2133600"/>
            <a:ext cx="1752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free governance workspace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4A81F8-0934-49C7-BD15-DF058A5A3F6E}"/>
              </a:ext>
            </a:extLst>
          </p:cNvPr>
          <p:cNvSpPr>
            <a:spLocks noGrp="1"/>
          </p:cNvSpPr>
          <p:nvPr/>
        </p:nvSpPr>
        <p:spPr>
          <a:xfrm>
            <a:off x="8420100" y="2781300"/>
            <a:ext cx="2571750" cy="72390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43354E-DFE2-43ED-8A15-B1DB7E4F581D}"/>
              </a:ext>
            </a:extLst>
          </p:cNvPr>
          <p:cNvSpPr>
            <a:spLocks noGrp="1"/>
          </p:cNvSpPr>
          <p:nvPr/>
        </p:nvSpPr>
        <p:spPr>
          <a:xfrm>
            <a:off x="8667750" y="295275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Governing bodies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2AB4DA-1DF4-4839-9AFF-07C98A24A8E4}"/>
              </a:ext>
            </a:extLst>
          </p:cNvPr>
          <p:cNvSpPr>
            <a:spLocks noGrp="1"/>
          </p:cNvSpPr>
          <p:nvPr/>
        </p:nvSpPr>
        <p:spPr>
          <a:xfrm>
            <a:off x="8667750" y="3200400"/>
            <a:ext cx="1752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visibility without manual chaos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C6AD749-D8A1-42D6-84AC-B7C04DBEECA7}"/>
              </a:ext>
            </a:extLst>
          </p:cNvPr>
          <p:cNvSpPr>
            <a:spLocks noGrp="1"/>
          </p:cNvSpPr>
          <p:nvPr/>
        </p:nvSpPr>
        <p:spPr>
          <a:xfrm>
            <a:off x="8420100" y="3848100"/>
            <a:ext cx="2571750" cy="72390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AD9571-4895-4D54-9208-1D29A8F8B73C}"/>
              </a:ext>
            </a:extLst>
          </p:cNvPr>
          <p:cNvSpPr>
            <a:spLocks noGrp="1"/>
          </p:cNvSpPr>
          <p:nvPr/>
        </p:nvSpPr>
        <p:spPr>
          <a:xfrm>
            <a:off x="8667750" y="401955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Donors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1FE12AE-EF49-4238-B3B8-F2626C9DE8D1}"/>
              </a:ext>
            </a:extLst>
          </p:cNvPr>
          <p:cNvSpPr>
            <a:spLocks noGrp="1"/>
          </p:cNvSpPr>
          <p:nvPr/>
        </p:nvSpPr>
        <p:spPr>
          <a:xfrm>
            <a:off x="8667750" y="4267200"/>
            <a:ext cx="1752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confidence before giving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D68B16C-8892-4168-BDDD-89604752B8DA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Prepared for State Islamic Affairs, JAKIM, zakat bodies, charity leaders, donors and sponsors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446C805-9370-4D9F-8DA6-2FA9A38773F2}"/>
              </a:ext>
            </a:extLst>
          </p:cNvPr>
          <p:cNvSpPr>
            <a:spLocks noGrp="1"/>
          </p:cNvSpPr>
          <p:nvPr/>
        </p:nvSpPr>
        <p:spPr>
          <a:xfrm>
            <a:off x="10782300" y="6381750"/>
            <a:ext cx="800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1C784365-6D32-8A06-F6EA-C233A8CA3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046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421A4DD-7B24-4BE8-910E-22DD0C053020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749CF1-ECCA-4F9B-A9E6-0A06300F11BD}"/>
              </a:ext>
            </a:extLst>
          </p:cNvPr>
          <p:cNvSpPr>
            <a:spLocks noGrp="1"/>
          </p:cNvSpPr>
          <p:nvPr/>
        </p:nvSpPr>
        <p:spPr>
          <a:xfrm>
            <a:off x="800100" y="428625"/>
            <a:ext cx="533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WHY THIS MATTERS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B4D39A-E0C5-4CB9-B88A-14510E377DE5}"/>
              </a:ext>
            </a:extLst>
          </p:cNvPr>
          <p:cNvSpPr>
            <a:spLocks noGrp="1"/>
          </p:cNvSpPr>
          <p:nvPr/>
        </p:nvSpPr>
        <p:spPr>
          <a:xfrm>
            <a:off x="609600" y="914400"/>
            <a:ext cx="89535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2925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2925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The charity sector is generous, but governance capacity has not kept pace with donor expectations.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1371BC-D608-4DF0-B0C6-7A27399A2495}"/>
              </a:ext>
            </a:extLst>
          </p:cNvPr>
          <p:cNvSpPr>
            <a:spLocks noGrp="1"/>
          </p:cNvSpPr>
          <p:nvPr/>
        </p:nvSpPr>
        <p:spPr>
          <a:xfrm>
            <a:off x="647700" y="2381250"/>
            <a:ext cx="8191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Small and medium charities often depend on volunteers, scattered documents and inconsistent reporting. That does not mean they lack sincerity; it means they need affordable infrastructure.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84CB9-96B4-43CC-91FB-160A897F0413}"/>
              </a:ext>
            </a:extLst>
          </p:cNvPr>
          <p:cNvSpPr>
            <a:spLocks noGrp="1"/>
          </p:cNvSpPr>
          <p:nvPr/>
        </p:nvSpPr>
        <p:spPr>
          <a:xfrm>
            <a:off x="819150" y="3409950"/>
            <a:ext cx="1885950" cy="36195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4E01B1-EA8A-45AE-83A2-C4A8513B5E7F}"/>
              </a:ext>
            </a:extLst>
          </p:cNvPr>
          <p:cNvSpPr>
            <a:spLocks noGrp="1"/>
          </p:cNvSpPr>
          <p:nvPr/>
        </p:nvSpPr>
        <p:spPr>
          <a:xfrm>
            <a:off x="819150" y="3409950"/>
            <a:ext cx="95250" cy="3619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635366-91A4-4C9C-8FA8-57CD63A7176E}"/>
              </a:ext>
            </a:extLst>
          </p:cNvPr>
          <p:cNvSpPr>
            <a:spLocks noGrp="1"/>
          </p:cNvSpPr>
          <p:nvPr/>
        </p:nvSpPr>
        <p:spPr>
          <a:xfrm>
            <a:off x="1066800" y="3505200"/>
            <a:ext cx="1219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Charities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79FE72-74EA-4734-B8EA-C1709C098FA5}"/>
              </a:ext>
            </a:extLst>
          </p:cNvPr>
          <p:cNvSpPr>
            <a:spLocks noGrp="1"/>
          </p:cNvSpPr>
          <p:nvPr/>
        </p:nvSpPr>
        <p:spPr>
          <a:xfrm>
            <a:off x="3105150" y="3486150"/>
            <a:ext cx="590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limited admin staff, document burden, audit readiness pressure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08797F-8B25-4967-8DF1-F5AEA36778A0}"/>
              </a:ext>
            </a:extLst>
          </p:cNvPr>
          <p:cNvSpPr>
            <a:spLocks noGrp="1"/>
          </p:cNvSpPr>
          <p:nvPr/>
        </p:nvSpPr>
        <p:spPr>
          <a:xfrm>
            <a:off x="819150" y="3962400"/>
            <a:ext cx="1885950" cy="36195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BC7CE3-BAA1-4235-BDC0-6FC3B2E6B6C8}"/>
              </a:ext>
            </a:extLst>
          </p:cNvPr>
          <p:cNvSpPr>
            <a:spLocks noGrp="1"/>
          </p:cNvSpPr>
          <p:nvPr/>
        </p:nvSpPr>
        <p:spPr>
          <a:xfrm>
            <a:off x="819150" y="3962400"/>
            <a:ext cx="95250" cy="3619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D387A0-02F7-470E-803D-57479E23DD96}"/>
              </a:ext>
            </a:extLst>
          </p:cNvPr>
          <p:cNvSpPr>
            <a:spLocks noGrp="1"/>
          </p:cNvSpPr>
          <p:nvPr/>
        </p:nvSpPr>
        <p:spPr>
          <a:xfrm>
            <a:off x="1066800" y="4057650"/>
            <a:ext cx="1219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Authorities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69BCA7-F0A6-43C9-919E-8C7639AC8468}"/>
              </a:ext>
            </a:extLst>
          </p:cNvPr>
          <p:cNvSpPr>
            <a:spLocks noGrp="1"/>
          </p:cNvSpPr>
          <p:nvPr/>
        </p:nvSpPr>
        <p:spPr>
          <a:xfrm>
            <a:off x="3105150" y="4038600"/>
            <a:ext cx="590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growing number of organizations, heavy manual monitoring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D2B394A-19AC-423F-8009-458B992311EE}"/>
              </a:ext>
            </a:extLst>
          </p:cNvPr>
          <p:cNvSpPr>
            <a:spLocks noGrp="1"/>
          </p:cNvSpPr>
          <p:nvPr/>
        </p:nvSpPr>
        <p:spPr>
          <a:xfrm>
            <a:off x="819150" y="4514850"/>
            <a:ext cx="1885950" cy="36195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AD4846-281C-4B5B-9D7B-D98E40241417}"/>
              </a:ext>
            </a:extLst>
          </p:cNvPr>
          <p:cNvSpPr>
            <a:spLocks noGrp="1"/>
          </p:cNvSpPr>
          <p:nvPr/>
        </p:nvSpPr>
        <p:spPr>
          <a:xfrm>
            <a:off x="819150" y="4514850"/>
            <a:ext cx="95250" cy="36195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D28DE3-068D-4DD0-BD71-8FD7CA9D69E4}"/>
              </a:ext>
            </a:extLst>
          </p:cNvPr>
          <p:cNvSpPr>
            <a:spLocks noGrp="1"/>
          </p:cNvSpPr>
          <p:nvPr/>
        </p:nvSpPr>
        <p:spPr>
          <a:xfrm>
            <a:off x="1066800" y="4610100"/>
            <a:ext cx="1219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Donors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42A296B-00FE-458B-BE3B-5710329B0749}"/>
              </a:ext>
            </a:extLst>
          </p:cNvPr>
          <p:cNvSpPr>
            <a:spLocks noGrp="1"/>
          </p:cNvSpPr>
          <p:nvPr/>
        </p:nvSpPr>
        <p:spPr>
          <a:xfrm>
            <a:off x="3105150" y="4591050"/>
            <a:ext cx="590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need clear proof before giving, not only campaign claims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98012BB-4C53-47D7-9C16-AB68FA3E4A30}"/>
              </a:ext>
            </a:extLst>
          </p:cNvPr>
          <p:cNvSpPr>
            <a:spLocks noGrp="1"/>
          </p:cNvSpPr>
          <p:nvPr/>
        </p:nvSpPr>
        <p:spPr>
          <a:xfrm>
            <a:off x="819150" y="5067300"/>
            <a:ext cx="1885950" cy="36195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46F8F72-70CF-4B55-A90F-C63C80834261}"/>
              </a:ext>
            </a:extLst>
          </p:cNvPr>
          <p:cNvSpPr>
            <a:spLocks noGrp="1"/>
          </p:cNvSpPr>
          <p:nvPr/>
        </p:nvSpPr>
        <p:spPr>
          <a:xfrm>
            <a:off x="819150" y="5067300"/>
            <a:ext cx="95250" cy="36195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895951B-8D20-45D9-A4C3-AB3E0A2B2121}"/>
              </a:ext>
            </a:extLst>
          </p:cNvPr>
          <p:cNvSpPr>
            <a:spLocks noGrp="1"/>
          </p:cNvSpPr>
          <p:nvPr/>
        </p:nvSpPr>
        <p:spPr>
          <a:xfrm>
            <a:off x="1066800" y="5162550"/>
            <a:ext cx="1219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Beneficiaries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B334240-69A0-42E4-8F68-48F28EAA4C0C}"/>
              </a:ext>
            </a:extLst>
          </p:cNvPr>
          <p:cNvSpPr>
            <a:spLocks noGrp="1"/>
          </p:cNvSpPr>
          <p:nvPr/>
        </p:nvSpPr>
        <p:spPr>
          <a:xfrm>
            <a:off x="3105150" y="5143500"/>
            <a:ext cx="590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depend on organizations that can sustain good governance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F6D7C06-5184-42BC-AED9-631553EF869F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docs/pitch and AGP architecture map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66CA572-3A9F-47FE-90CE-285D5108554F}"/>
              </a:ext>
            </a:extLst>
          </p:cNvPr>
          <p:cNvSpPr>
            <a:spLocks noGrp="1"/>
          </p:cNvSpPr>
          <p:nvPr/>
        </p:nvSpPr>
        <p:spPr>
          <a:xfrm>
            <a:off x="10782300" y="6381750"/>
            <a:ext cx="800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6" name="Title 25">
            <a:extLst>
              <a:ext uri="{FF2B5EF4-FFF2-40B4-BE49-F238E27FC236}">
                <a16:creationId xmlns:a16="http://schemas.microsoft.com/office/drawing/2014/main" id="{75F7ECF2-03CD-670C-37E8-BA0C41015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422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5E3E993-8C12-4408-BB50-E4F8A904A272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339394-0DB6-40AC-B366-14975BA1E33B}"/>
              </a:ext>
            </a:extLst>
          </p:cNvPr>
          <p:cNvSpPr>
            <a:spLocks noGrp="1"/>
          </p:cNvSpPr>
          <p:nvPr/>
        </p:nvSpPr>
        <p:spPr>
          <a:xfrm>
            <a:off x="800100" y="428625"/>
            <a:ext cx="533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BENEFIT TO CHARITY ORGANIZATIONS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1E8E12-B72F-4D2C-BA44-A20AFAD0768C}"/>
              </a:ext>
            </a:extLst>
          </p:cNvPr>
          <p:cNvSpPr>
            <a:spLocks noGrp="1"/>
          </p:cNvSpPr>
          <p:nvPr/>
        </p:nvSpPr>
        <p:spPr>
          <a:xfrm>
            <a:off x="609600" y="914400"/>
            <a:ext cx="89535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2925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2925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AGP helps charities become more trusted without asking them to buy expensive governance software.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4D8D23-8D79-43DD-BE2F-29182E8310F0}"/>
              </a:ext>
            </a:extLst>
          </p:cNvPr>
          <p:cNvSpPr>
            <a:spLocks noGrp="1"/>
          </p:cNvSpPr>
          <p:nvPr/>
        </p:nvSpPr>
        <p:spPr>
          <a:xfrm>
            <a:off x="742950" y="2971800"/>
            <a:ext cx="2343150" cy="17907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D100AF-6F6F-4349-9DDD-70CC17EC0B4A}"/>
              </a:ext>
            </a:extLst>
          </p:cNvPr>
          <p:cNvSpPr>
            <a:spLocks noGrp="1"/>
          </p:cNvSpPr>
          <p:nvPr/>
        </p:nvSpPr>
        <p:spPr>
          <a:xfrm>
            <a:off x="952500" y="3219450"/>
            <a:ext cx="1714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Free sponsored access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E001B7-82B6-4608-9BFE-7D688C6B84A2}"/>
              </a:ext>
            </a:extLst>
          </p:cNvPr>
          <p:cNvSpPr>
            <a:spLocks noGrp="1"/>
          </p:cNvSpPr>
          <p:nvPr/>
        </p:nvSpPr>
        <p:spPr>
          <a:xfrm>
            <a:off x="952500" y="3638550"/>
            <a:ext cx="16954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Core platform access is funded through grants, infaq/sadaqah and sponsors, so smaller organizations can participate.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E2FDF7-1B63-4D67-8632-C23AA119C6F8}"/>
              </a:ext>
            </a:extLst>
          </p:cNvPr>
          <p:cNvSpPr>
            <a:spLocks noGrp="1"/>
          </p:cNvSpPr>
          <p:nvPr/>
        </p:nvSpPr>
        <p:spPr>
          <a:xfrm>
            <a:off x="3524250" y="2971800"/>
            <a:ext cx="2343150" cy="179070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618908-A4D6-4E18-89F0-D0EC50B6BED5}"/>
              </a:ext>
            </a:extLst>
          </p:cNvPr>
          <p:cNvSpPr>
            <a:spLocks noGrp="1"/>
          </p:cNvSpPr>
          <p:nvPr/>
        </p:nvSpPr>
        <p:spPr>
          <a:xfrm>
            <a:off x="3733800" y="3219450"/>
            <a:ext cx="1714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Governance workflow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DF4280-99E2-4C2C-8DC8-CF937DCBEBAA}"/>
              </a:ext>
            </a:extLst>
          </p:cNvPr>
          <p:cNvSpPr>
            <a:spLocks noGrp="1"/>
          </p:cNvSpPr>
          <p:nvPr/>
        </p:nvSpPr>
        <p:spPr>
          <a:xfrm>
            <a:off x="3733800" y="3638550"/>
            <a:ext cx="16954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amanahOS guides reports, policies, evidence uploads, members, projects and certification readiness.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6A243A-DF2B-43A7-837D-838B27E3E278}"/>
              </a:ext>
            </a:extLst>
          </p:cNvPr>
          <p:cNvSpPr>
            <a:spLocks noGrp="1"/>
          </p:cNvSpPr>
          <p:nvPr/>
        </p:nvSpPr>
        <p:spPr>
          <a:xfrm>
            <a:off x="6305550" y="2971800"/>
            <a:ext cx="2343150" cy="179070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EF12E5-ED3B-4BD2-8758-EC3CA49E2D41}"/>
              </a:ext>
            </a:extLst>
          </p:cNvPr>
          <p:cNvSpPr>
            <a:spLocks noGrp="1"/>
          </p:cNvSpPr>
          <p:nvPr/>
        </p:nvSpPr>
        <p:spPr>
          <a:xfrm>
            <a:off x="6515100" y="3219450"/>
            <a:ext cx="1714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Audit readiness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936C55-7E21-4493-9C97-DD20D4BA2B19}"/>
              </a:ext>
            </a:extLst>
          </p:cNvPr>
          <p:cNvSpPr>
            <a:spLocks noGrp="1"/>
          </p:cNvSpPr>
          <p:nvPr/>
        </p:nvSpPr>
        <p:spPr>
          <a:xfrm>
            <a:off x="6515100" y="3638550"/>
            <a:ext cx="16954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Documents and evidence are kept in one private-by-default workspace instead of scattered folders and chats.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BF68CB7-F1A0-4451-B88E-EE6E4CFBC775}"/>
              </a:ext>
            </a:extLst>
          </p:cNvPr>
          <p:cNvSpPr>
            <a:spLocks noGrp="1"/>
          </p:cNvSpPr>
          <p:nvPr/>
        </p:nvSpPr>
        <p:spPr>
          <a:xfrm>
            <a:off x="9086850" y="2971800"/>
            <a:ext cx="2343150" cy="179070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3C24489-DCDB-4896-B6B7-621F72BA396C}"/>
              </a:ext>
            </a:extLst>
          </p:cNvPr>
          <p:cNvSpPr>
            <a:spLocks noGrp="1"/>
          </p:cNvSpPr>
          <p:nvPr/>
        </p:nvSpPr>
        <p:spPr>
          <a:xfrm>
            <a:off x="9296400" y="3219450"/>
            <a:ext cx="1714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Trust profile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8C15F4E-977C-4655-B3DF-9C9D19C93593}"/>
              </a:ext>
            </a:extLst>
          </p:cNvPr>
          <p:cNvSpPr>
            <a:spLocks noGrp="1"/>
          </p:cNvSpPr>
          <p:nvPr/>
        </p:nvSpPr>
        <p:spPr>
          <a:xfrm>
            <a:off x="9296400" y="3638550"/>
            <a:ext cx="16954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Verified reports, Amanah Index and certification status become public confidence signals.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5E0DCF0-D3E9-476F-99E1-68F2455EC5E2}"/>
              </a:ext>
            </a:extLst>
          </p:cNvPr>
          <p:cNvSpPr>
            <a:spLocks noGrp="1"/>
          </p:cNvSpPr>
          <p:nvPr/>
        </p:nvSpPr>
        <p:spPr>
          <a:xfrm>
            <a:off x="742950" y="5410200"/>
            <a:ext cx="104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Core promise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2F9A1F-1D38-4417-B5BE-BB7BB9538B35}"/>
              </a:ext>
            </a:extLst>
          </p:cNvPr>
          <p:cNvSpPr>
            <a:spLocks noGrp="1"/>
          </p:cNvSpPr>
          <p:nvPr/>
        </p:nvSpPr>
        <p:spPr>
          <a:xfrm>
            <a:off x="1943100" y="5410200"/>
            <a:ext cx="723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Proper governance becomes easier to do, easier to evidence and easier to explain to donors.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8C4EAF2-14E6-4896-BC50-A77949C2D2A5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apps/org modules, docs/ARCHITECTURE_MAP.md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2CDAC67-2AFA-4F1B-9E9A-083532D53CE4}"/>
              </a:ext>
            </a:extLst>
          </p:cNvPr>
          <p:cNvSpPr>
            <a:spLocks noGrp="1"/>
          </p:cNvSpPr>
          <p:nvPr/>
        </p:nvSpPr>
        <p:spPr>
          <a:xfrm>
            <a:off x="10782300" y="6381750"/>
            <a:ext cx="800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0D56BA7D-52A3-F5BD-4594-DB72AB554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266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B19D93A-2573-415E-A4E0-B921A95F27F5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658CEA-0226-4A9B-A080-9CCAD91D21E8}"/>
              </a:ext>
            </a:extLst>
          </p:cNvPr>
          <p:cNvSpPr>
            <a:spLocks noGrp="1"/>
          </p:cNvSpPr>
          <p:nvPr/>
        </p:nvSpPr>
        <p:spPr>
          <a:xfrm>
            <a:off x="800100" y="428625"/>
            <a:ext cx="533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BENEFIT TO GOVERNING BODIES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69951D-4F2D-4DED-AC12-EA25E0C7E777}"/>
              </a:ext>
            </a:extLst>
          </p:cNvPr>
          <p:cNvSpPr>
            <a:spLocks noGrp="1"/>
          </p:cNvSpPr>
          <p:nvPr/>
        </p:nvSpPr>
        <p:spPr>
          <a:xfrm>
            <a:off x="609600" y="914400"/>
            <a:ext cx="93345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285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285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State Islamic Affairs, JAKIM and related bodies gain oversight capacity without building a new system from zero.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7CE26C-4BCD-4F80-A20B-75368BF06A15}"/>
              </a:ext>
            </a:extLst>
          </p:cNvPr>
          <p:cNvSpPr>
            <a:spLocks noGrp="1"/>
          </p:cNvSpPr>
          <p:nvPr/>
        </p:nvSpPr>
        <p:spPr>
          <a:xfrm>
            <a:off x="762000" y="2533650"/>
            <a:ext cx="2266950" cy="36195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9E78E8-9E5A-43AC-977F-86ACF4404F78}"/>
              </a:ext>
            </a:extLst>
          </p:cNvPr>
          <p:cNvSpPr>
            <a:spLocks noGrp="1"/>
          </p:cNvSpPr>
          <p:nvPr/>
        </p:nvSpPr>
        <p:spPr>
          <a:xfrm>
            <a:off x="762000" y="2533650"/>
            <a:ext cx="95250" cy="3619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B7DE9C-2E24-444B-B0C3-DEDE791828B3}"/>
              </a:ext>
            </a:extLst>
          </p:cNvPr>
          <p:cNvSpPr>
            <a:spLocks noGrp="1"/>
          </p:cNvSpPr>
          <p:nvPr/>
        </p:nvSpPr>
        <p:spPr>
          <a:xfrm>
            <a:off x="1009650" y="2628900"/>
            <a:ext cx="1619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Ecosystem visibility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20B3AD-65A1-455F-A662-91A192090B41}"/>
              </a:ext>
            </a:extLst>
          </p:cNvPr>
          <p:cNvSpPr>
            <a:spLocks noGrp="1"/>
          </p:cNvSpPr>
          <p:nvPr/>
        </p:nvSpPr>
        <p:spPr>
          <a:xfrm>
            <a:off x="3371850" y="2609850"/>
            <a:ext cx="6191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structured view of participating charities, governance maturity and trust status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F8CDD1-30B2-4E37-AA3D-85150FAF6824}"/>
              </a:ext>
            </a:extLst>
          </p:cNvPr>
          <p:cNvSpPr>
            <a:spLocks noGrp="1"/>
          </p:cNvSpPr>
          <p:nvPr/>
        </p:nvSpPr>
        <p:spPr>
          <a:xfrm>
            <a:off x="762000" y="3086100"/>
            <a:ext cx="2266950" cy="36195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96C1CA-CBD7-45DF-96A8-8B1FB81F45F7}"/>
              </a:ext>
            </a:extLst>
          </p:cNvPr>
          <p:cNvSpPr>
            <a:spLocks noGrp="1"/>
          </p:cNvSpPr>
          <p:nvPr/>
        </p:nvSpPr>
        <p:spPr>
          <a:xfrm>
            <a:off x="762000" y="3086100"/>
            <a:ext cx="95250" cy="3619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FC2D6A-FDED-45A5-A8E9-B8C73C19AB0D}"/>
              </a:ext>
            </a:extLst>
          </p:cNvPr>
          <p:cNvSpPr>
            <a:spLocks noGrp="1"/>
          </p:cNvSpPr>
          <p:nvPr/>
        </p:nvSpPr>
        <p:spPr>
          <a:xfrm>
            <a:off x="1009650" y="3181350"/>
            <a:ext cx="1619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Standard reporting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DE8E33-A293-41F4-8139-0E5671F80F59}"/>
              </a:ext>
            </a:extLst>
          </p:cNvPr>
          <p:cNvSpPr>
            <a:spLocks noGrp="1"/>
          </p:cNvSpPr>
          <p:nvPr/>
        </p:nvSpPr>
        <p:spPr>
          <a:xfrm>
            <a:off x="3371850" y="3162300"/>
            <a:ext cx="6191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common templates reduce inconsistent submissions and manual document chasing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7C14C6-BF87-4EC8-AF11-46F53F1F4D76}"/>
              </a:ext>
            </a:extLst>
          </p:cNvPr>
          <p:cNvSpPr>
            <a:spLocks noGrp="1"/>
          </p:cNvSpPr>
          <p:nvPr/>
        </p:nvSpPr>
        <p:spPr>
          <a:xfrm>
            <a:off x="762000" y="3638550"/>
            <a:ext cx="2266950" cy="36195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707593-6977-4564-B077-B8100053C424}"/>
              </a:ext>
            </a:extLst>
          </p:cNvPr>
          <p:cNvSpPr>
            <a:spLocks noGrp="1"/>
          </p:cNvSpPr>
          <p:nvPr/>
        </p:nvSpPr>
        <p:spPr>
          <a:xfrm>
            <a:off x="762000" y="3638550"/>
            <a:ext cx="95250" cy="36195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48A667B-F16B-48F7-AFD0-FB9D4E943E27}"/>
              </a:ext>
            </a:extLst>
          </p:cNvPr>
          <p:cNvSpPr>
            <a:spLocks noGrp="1"/>
          </p:cNvSpPr>
          <p:nvPr/>
        </p:nvSpPr>
        <p:spPr>
          <a:xfrm>
            <a:off x="1009650" y="3733800"/>
            <a:ext cx="1619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Due diligence support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844FF22-B715-48F4-9208-D7389E39A0D5}"/>
              </a:ext>
            </a:extLst>
          </p:cNvPr>
          <p:cNvSpPr>
            <a:spLocks noGrp="1"/>
          </p:cNvSpPr>
          <p:nvPr/>
        </p:nvSpPr>
        <p:spPr>
          <a:xfrm>
            <a:off x="3371850" y="3714750"/>
            <a:ext cx="6191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review queues, evidence records and certification history improve partner screening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A9DDF87-B314-43E1-ABF4-A3300C5F2B4B}"/>
              </a:ext>
            </a:extLst>
          </p:cNvPr>
          <p:cNvSpPr>
            <a:spLocks noGrp="1"/>
          </p:cNvSpPr>
          <p:nvPr/>
        </p:nvSpPr>
        <p:spPr>
          <a:xfrm>
            <a:off x="762000" y="4191000"/>
            <a:ext cx="2266950" cy="36195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5F68C45-AFB8-4BD8-B315-8DDE00D025AC}"/>
              </a:ext>
            </a:extLst>
          </p:cNvPr>
          <p:cNvSpPr>
            <a:spLocks noGrp="1"/>
          </p:cNvSpPr>
          <p:nvPr/>
        </p:nvSpPr>
        <p:spPr>
          <a:xfrm>
            <a:off x="762000" y="4191000"/>
            <a:ext cx="95250" cy="36195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0E3715A-227F-4252-90CE-19D0118F3CE0}"/>
              </a:ext>
            </a:extLst>
          </p:cNvPr>
          <p:cNvSpPr>
            <a:spLocks noGrp="1"/>
          </p:cNvSpPr>
          <p:nvPr/>
        </p:nvSpPr>
        <p:spPr>
          <a:xfrm>
            <a:off x="1009650" y="4286250"/>
            <a:ext cx="1619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Policy alignment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1E5FE06-933D-4CC7-9603-0B545F181B16}"/>
              </a:ext>
            </a:extLst>
          </p:cNvPr>
          <p:cNvSpPr>
            <a:spLocks noGrp="1"/>
          </p:cNvSpPr>
          <p:nvPr/>
        </p:nvSpPr>
        <p:spPr>
          <a:xfrm>
            <a:off x="3371850" y="4267200"/>
            <a:ext cx="6191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CTCF can be aligned with state/JAKIM expectations before wider rollout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ECA8B4-DB94-48D7-B972-1C2521E1E536}"/>
              </a:ext>
            </a:extLst>
          </p:cNvPr>
          <p:cNvSpPr>
            <a:spLocks noGrp="1"/>
          </p:cNvSpPr>
          <p:nvPr/>
        </p:nvSpPr>
        <p:spPr>
          <a:xfrm>
            <a:off x="762000" y="4743450"/>
            <a:ext cx="2266950" cy="36195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A709A56-2518-461A-B68B-09C669DFC66C}"/>
              </a:ext>
            </a:extLst>
          </p:cNvPr>
          <p:cNvSpPr>
            <a:spLocks noGrp="1"/>
          </p:cNvSpPr>
          <p:nvPr/>
        </p:nvSpPr>
        <p:spPr>
          <a:xfrm>
            <a:off x="762000" y="4743450"/>
            <a:ext cx="95250" cy="361950"/>
          </a:xfrm>
          <a:prstGeom prst="rect">
            <a:avLst/>
          </a:prstGeom>
          <a:solidFill>
            <a:srgbClr val="A6B96D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163B20B-7AE5-42C8-AD30-30A86A0B4776}"/>
              </a:ext>
            </a:extLst>
          </p:cNvPr>
          <p:cNvSpPr>
            <a:spLocks noGrp="1"/>
          </p:cNvSpPr>
          <p:nvPr/>
        </p:nvSpPr>
        <p:spPr>
          <a:xfrm>
            <a:off x="1009650" y="4838700"/>
            <a:ext cx="1619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Public trust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1F184C1-9D7E-405A-8472-C092F70CF17F}"/>
              </a:ext>
            </a:extLst>
          </p:cNvPr>
          <p:cNvSpPr>
            <a:spLocks noGrp="1"/>
          </p:cNvSpPr>
          <p:nvPr/>
        </p:nvSpPr>
        <p:spPr>
          <a:xfrm>
            <a:off x="3371850" y="4819650"/>
            <a:ext cx="6191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visible governance infrastructure strengthens confidence in Islamic social finance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C416188-AA29-4B54-B12C-B3A41675A95E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docs/pitch Zakat narrative, AGP Console review modules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64B5BA7-A0E7-40D2-AD94-F26857ABDB88}"/>
              </a:ext>
            </a:extLst>
          </p:cNvPr>
          <p:cNvSpPr>
            <a:spLocks noGrp="1"/>
          </p:cNvSpPr>
          <p:nvPr/>
        </p:nvSpPr>
        <p:spPr>
          <a:xfrm>
            <a:off x="10782300" y="6381750"/>
            <a:ext cx="800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9" name="Title 28">
            <a:extLst>
              <a:ext uri="{FF2B5EF4-FFF2-40B4-BE49-F238E27FC236}">
                <a16:creationId xmlns:a16="http://schemas.microsoft.com/office/drawing/2014/main" id="{81F4D397-7566-5A2E-17A0-6EC54777D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099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CCD8C04-195B-4892-8DBD-A7CA61BD4613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DB9D35-4B23-4C73-AA25-D42100335556}"/>
              </a:ext>
            </a:extLst>
          </p:cNvPr>
          <p:cNvSpPr>
            <a:spLocks noGrp="1"/>
          </p:cNvSpPr>
          <p:nvPr/>
        </p:nvSpPr>
        <p:spPr>
          <a:xfrm>
            <a:off x="800100" y="428625"/>
            <a:ext cx="533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BENEFIT TO DONORS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F49570-660D-470E-8D68-E078707C76A0}"/>
              </a:ext>
            </a:extLst>
          </p:cNvPr>
          <p:cNvSpPr>
            <a:spLocks noGrp="1"/>
          </p:cNvSpPr>
          <p:nvPr/>
        </p:nvSpPr>
        <p:spPr>
          <a:xfrm>
            <a:off x="609600" y="914400"/>
            <a:ext cx="904875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2925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2925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Donors get clearer confidence signals before giving, while funds still flow directly to the charity.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044457-239E-4039-BD25-559863B93F82}"/>
              </a:ext>
            </a:extLst>
          </p:cNvPr>
          <p:cNvSpPr>
            <a:spLocks noGrp="1"/>
          </p:cNvSpPr>
          <p:nvPr/>
        </p:nvSpPr>
        <p:spPr>
          <a:xfrm>
            <a:off x="914400" y="3105150"/>
            <a:ext cx="1866900" cy="10477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8B5CB7-F946-4D87-818E-49652CB55BBE}"/>
              </a:ext>
            </a:extLst>
          </p:cNvPr>
          <p:cNvSpPr>
            <a:spLocks noGrp="1"/>
          </p:cNvSpPr>
          <p:nvPr/>
        </p:nvSpPr>
        <p:spPr>
          <a:xfrm>
            <a:off x="1104900" y="3371850"/>
            <a:ext cx="323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02A4CB-C972-449E-8040-D5621090B577}"/>
              </a:ext>
            </a:extLst>
          </p:cNvPr>
          <p:cNvSpPr>
            <a:spLocks noGrp="1"/>
          </p:cNvSpPr>
          <p:nvPr/>
        </p:nvSpPr>
        <p:spPr>
          <a:xfrm>
            <a:off x="1104900" y="3562350"/>
            <a:ext cx="123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Discover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A540CB-4E0A-4470-99F3-85F2090493D4}"/>
              </a:ext>
            </a:extLst>
          </p:cNvPr>
          <p:cNvSpPr>
            <a:spLocks noGrp="1"/>
          </p:cNvSpPr>
          <p:nvPr/>
        </p:nvSpPr>
        <p:spPr>
          <a:xfrm>
            <a:off x="1104900" y="3829050"/>
            <a:ext cx="1295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find verified organizations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235A27-BBB2-4F47-81E0-4F40B104CF13}"/>
              </a:ext>
            </a:extLst>
          </p:cNvPr>
          <p:cNvSpPr>
            <a:spLocks noGrp="1"/>
          </p:cNvSpPr>
          <p:nvPr/>
        </p:nvSpPr>
        <p:spPr>
          <a:xfrm>
            <a:off x="2895600" y="3629025"/>
            <a:ext cx="400050" cy="2857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F5E8E0-55F0-4CC1-92F6-3B31863C6574}"/>
              </a:ext>
            </a:extLst>
          </p:cNvPr>
          <p:cNvSpPr>
            <a:spLocks noGrp="1"/>
          </p:cNvSpPr>
          <p:nvPr/>
        </p:nvSpPr>
        <p:spPr>
          <a:xfrm>
            <a:off x="3543300" y="3105150"/>
            <a:ext cx="1866900" cy="10477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34BD93-12DC-4AB1-8D3E-1E226710B18E}"/>
              </a:ext>
            </a:extLst>
          </p:cNvPr>
          <p:cNvSpPr>
            <a:spLocks noGrp="1"/>
          </p:cNvSpPr>
          <p:nvPr/>
        </p:nvSpPr>
        <p:spPr>
          <a:xfrm>
            <a:off x="3733800" y="3371850"/>
            <a:ext cx="323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AE04F56-4A98-4402-B27F-2C3F4F137F2F}"/>
              </a:ext>
            </a:extLst>
          </p:cNvPr>
          <p:cNvSpPr>
            <a:spLocks noGrp="1"/>
          </p:cNvSpPr>
          <p:nvPr/>
        </p:nvSpPr>
        <p:spPr>
          <a:xfrm>
            <a:off x="3733800" y="3562350"/>
            <a:ext cx="123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Evaluate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C8F0DAE-02D2-425D-BE4B-8039C863B88A}"/>
              </a:ext>
            </a:extLst>
          </p:cNvPr>
          <p:cNvSpPr>
            <a:spLocks noGrp="1"/>
          </p:cNvSpPr>
          <p:nvPr/>
        </p:nvSpPr>
        <p:spPr>
          <a:xfrm>
            <a:off x="3733800" y="3829050"/>
            <a:ext cx="1295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read reports, scores and notes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40A3038-FC37-44DA-A0E0-E4419B66D5E3}"/>
              </a:ext>
            </a:extLst>
          </p:cNvPr>
          <p:cNvSpPr>
            <a:spLocks noGrp="1"/>
          </p:cNvSpPr>
          <p:nvPr/>
        </p:nvSpPr>
        <p:spPr>
          <a:xfrm>
            <a:off x="5524500" y="3629025"/>
            <a:ext cx="400050" cy="2857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3F3A0B-1ED2-4326-8AC9-2B151AC40766}"/>
              </a:ext>
            </a:extLst>
          </p:cNvPr>
          <p:cNvSpPr>
            <a:spLocks noGrp="1"/>
          </p:cNvSpPr>
          <p:nvPr/>
        </p:nvSpPr>
        <p:spPr>
          <a:xfrm>
            <a:off x="6172200" y="3105150"/>
            <a:ext cx="1866900" cy="104775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666999-899C-4CD1-9FFB-8C88E75A6E34}"/>
              </a:ext>
            </a:extLst>
          </p:cNvPr>
          <p:cNvSpPr>
            <a:spLocks noGrp="1"/>
          </p:cNvSpPr>
          <p:nvPr/>
        </p:nvSpPr>
        <p:spPr>
          <a:xfrm>
            <a:off x="6362700" y="3371850"/>
            <a:ext cx="323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54C8F7-C51F-45A2-967D-A1DBF9A3D170}"/>
              </a:ext>
            </a:extLst>
          </p:cNvPr>
          <p:cNvSpPr>
            <a:spLocks noGrp="1"/>
          </p:cNvSpPr>
          <p:nvPr/>
        </p:nvSpPr>
        <p:spPr>
          <a:xfrm>
            <a:off x="6362700" y="3562350"/>
            <a:ext cx="123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Donate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DE94241-1473-4ED5-AA63-3BFDC6780062}"/>
              </a:ext>
            </a:extLst>
          </p:cNvPr>
          <p:cNvSpPr>
            <a:spLocks noGrp="1"/>
          </p:cNvSpPr>
          <p:nvPr/>
        </p:nvSpPr>
        <p:spPr>
          <a:xfrm>
            <a:off x="6362700" y="3829050"/>
            <a:ext cx="1295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ToyyibPay direct to charity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D9FCCF0-4AD1-4514-9ADC-77D5DBF60942}"/>
              </a:ext>
            </a:extLst>
          </p:cNvPr>
          <p:cNvSpPr>
            <a:spLocks noGrp="1"/>
          </p:cNvSpPr>
          <p:nvPr/>
        </p:nvSpPr>
        <p:spPr>
          <a:xfrm>
            <a:off x="8153400" y="3629025"/>
            <a:ext cx="400050" cy="2857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5162C65-185E-4A2A-9617-F4DC0F0FEF4E}"/>
              </a:ext>
            </a:extLst>
          </p:cNvPr>
          <p:cNvSpPr>
            <a:spLocks noGrp="1"/>
          </p:cNvSpPr>
          <p:nvPr/>
        </p:nvSpPr>
        <p:spPr>
          <a:xfrm>
            <a:off x="8801100" y="3105150"/>
            <a:ext cx="1866900" cy="104775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FE477B3-7D06-4201-A8FD-B2642E0278EA}"/>
              </a:ext>
            </a:extLst>
          </p:cNvPr>
          <p:cNvSpPr>
            <a:spLocks noGrp="1"/>
          </p:cNvSpPr>
          <p:nvPr/>
        </p:nvSpPr>
        <p:spPr>
          <a:xfrm>
            <a:off x="8991600" y="3371850"/>
            <a:ext cx="323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B36F8E2-715D-4F7E-92A8-BDAC26473B2D}"/>
              </a:ext>
            </a:extLst>
          </p:cNvPr>
          <p:cNvSpPr>
            <a:spLocks noGrp="1"/>
          </p:cNvSpPr>
          <p:nvPr/>
        </p:nvSpPr>
        <p:spPr>
          <a:xfrm>
            <a:off x="8991600" y="3562350"/>
            <a:ext cx="123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Track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C78E0B2-FEA6-4BDC-B2DF-678D8DA220C9}"/>
              </a:ext>
            </a:extLst>
          </p:cNvPr>
          <p:cNvSpPr>
            <a:spLocks noGrp="1"/>
          </p:cNvSpPr>
          <p:nvPr/>
        </p:nvSpPr>
        <p:spPr>
          <a:xfrm>
            <a:off x="8991600" y="3829050"/>
            <a:ext cx="1295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receipt, history and impact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8BA57DD-6F76-4047-B69F-82D22D1E816B}"/>
              </a:ext>
            </a:extLst>
          </p:cNvPr>
          <p:cNvSpPr>
            <a:spLocks noGrp="1"/>
          </p:cNvSpPr>
          <p:nvPr/>
        </p:nvSpPr>
        <p:spPr>
          <a:xfrm>
            <a:off x="933450" y="5010150"/>
            <a:ext cx="1809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Non-custodial principle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C6C579F-43F4-4914-9ED1-5D74579E3D3E}"/>
              </a:ext>
            </a:extLst>
          </p:cNvPr>
          <p:cNvSpPr>
            <a:spLocks noGrp="1"/>
          </p:cNvSpPr>
          <p:nvPr/>
        </p:nvSpPr>
        <p:spPr>
          <a:xfrm>
            <a:off x="2952750" y="5010150"/>
            <a:ext cx="723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AGP does not hold donor funds. The platform records, verifies and reports; payment goes to the organization account.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4133025-E8E1-4537-8BB5-0A39700DA98E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/how-it-works, ADR-003, ADR-004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941A428-2D21-4ED2-BCA5-CA5970657C9F}"/>
              </a:ext>
            </a:extLst>
          </p:cNvPr>
          <p:cNvSpPr>
            <a:spLocks noGrp="1"/>
          </p:cNvSpPr>
          <p:nvPr/>
        </p:nvSpPr>
        <p:spPr>
          <a:xfrm>
            <a:off x="10782300" y="6381750"/>
            <a:ext cx="800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0" name="Title 29">
            <a:extLst>
              <a:ext uri="{FF2B5EF4-FFF2-40B4-BE49-F238E27FC236}">
                <a16:creationId xmlns:a16="http://schemas.microsoft.com/office/drawing/2014/main" id="{81BED422-8B2E-6B07-F58B-19E09578C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056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5E52D28-45C1-4D80-A219-292F3EE2C8E1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E7BB97-6DA1-40A8-A61D-E1F8B1FEB140}"/>
              </a:ext>
            </a:extLst>
          </p:cNvPr>
          <p:cNvSpPr>
            <a:spLocks noGrp="1"/>
          </p:cNvSpPr>
          <p:nvPr/>
        </p:nvSpPr>
        <p:spPr>
          <a:xfrm>
            <a:off x="800100" y="428625"/>
            <a:ext cx="533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WHY CHARITIES NEED GOVERNANCE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C2879F-6904-4F8C-AC72-C46EAFC1D299}"/>
              </a:ext>
            </a:extLst>
          </p:cNvPr>
          <p:cNvSpPr>
            <a:spLocks noGrp="1"/>
          </p:cNvSpPr>
          <p:nvPr/>
        </p:nvSpPr>
        <p:spPr>
          <a:xfrm>
            <a:off x="609600" y="914400"/>
            <a:ext cx="89535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Proper governance protects the donor, the organization, the regulator and the beneficiary.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BBED1B-9071-41D3-AEDC-7B5B2704F4AE}"/>
              </a:ext>
            </a:extLst>
          </p:cNvPr>
          <p:cNvSpPr>
            <a:spLocks noGrp="1"/>
          </p:cNvSpPr>
          <p:nvPr/>
        </p:nvSpPr>
        <p:spPr>
          <a:xfrm>
            <a:off x="781050" y="2819400"/>
            <a:ext cx="4171950" cy="8001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01B727-1E0D-4CF5-B896-82A9A463FEFB}"/>
              </a:ext>
            </a:extLst>
          </p:cNvPr>
          <p:cNvSpPr>
            <a:spLocks noGrp="1"/>
          </p:cNvSpPr>
          <p:nvPr/>
        </p:nvSpPr>
        <p:spPr>
          <a:xfrm>
            <a:off x="1028700" y="3009900"/>
            <a:ext cx="1905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Spiritual trust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C5A2B0-2A9E-4B5A-BF3D-2AA95AD85169}"/>
              </a:ext>
            </a:extLst>
          </p:cNvPr>
          <p:cNvSpPr>
            <a:spLocks noGrp="1"/>
          </p:cNvSpPr>
          <p:nvPr/>
        </p:nvSpPr>
        <p:spPr>
          <a:xfrm>
            <a:off x="1028700" y="3295650"/>
            <a:ext cx="3162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Charity managers are trustees of donor funds; amanah has consequences.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A4BB3A-ED0C-49BF-BC42-72DA4E12696F}"/>
              </a:ext>
            </a:extLst>
          </p:cNvPr>
          <p:cNvSpPr>
            <a:spLocks noGrp="1"/>
          </p:cNvSpPr>
          <p:nvPr/>
        </p:nvSpPr>
        <p:spPr>
          <a:xfrm>
            <a:off x="5962650" y="2819400"/>
            <a:ext cx="4171950" cy="80010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290D50-42E1-4254-BBAC-85531A3C130A}"/>
              </a:ext>
            </a:extLst>
          </p:cNvPr>
          <p:cNvSpPr>
            <a:spLocks noGrp="1"/>
          </p:cNvSpPr>
          <p:nvPr/>
        </p:nvSpPr>
        <p:spPr>
          <a:xfrm>
            <a:off x="6210300" y="3009900"/>
            <a:ext cx="1905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Operational continuity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193B6A-AB1A-4639-8BC7-303B7A8058D3}"/>
              </a:ext>
            </a:extLst>
          </p:cNvPr>
          <p:cNvSpPr>
            <a:spLocks noGrp="1"/>
          </p:cNvSpPr>
          <p:nvPr/>
        </p:nvSpPr>
        <p:spPr>
          <a:xfrm>
            <a:off x="6210300" y="3295650"/>
            <a:ext cx="3162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Clear policies, roles and records reduce dependence on one person.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2E4180-0FAC-4C1F-8545-4E98802577E4}"/>
              </a:ext>
            </a:extLst>
          </p:cNvPr>
          <p:cNvSpPr>
            <a:spLocks noGrp="1"/>
          </p:cNvSpPr>
          <p:nvPr/>
        </p:nvSpPr>
        <p:spPr>
          <a:xfrm>
            <a:off x="781050" y="4019550"/>
            <a:ext cx="4171950" cy="80010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4DE2244-0EED-4232-844F-A1A2F9895827}"/>
              </a:ext>
            </a:extLst>
          </p:cNvPr>
          <p:cNvSpPr>
            <a:spLocks noGrp="1"/>
          </p:cNvSpPr>
          <p:nvPr/>
        </p:nvSpPr>
        <p:spPr>
          <a:xfrm>
            <a:off x="1028700" y="4210050"/>
            <a:ext cx="1905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Financial discipline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E35D250-37A2-4A2F-9FB3-D07DFF96FDA6}"/>
              </a:ext>
            </a:extLst>
          </p:cNvPr>
          <p:cNvSpPr>
            <a:spLocks noGrp="1"/>
          </p:cNvSpPr>
          <p:nvPr/>
        </p:nvSpPr>
        <p:spPr>
          <a:xfrm>
            <a:off x="1028700" y="4495800"/>
            <a:ext cx="3162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Fund separation and reporting reduce misuse, confusion and audit risk.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7CE627-2622-46DF-ACAA-74A10D1FB23F}"/>
              </a:ext>
            </a:extLst>
          </p:cNvPr>
          <p:cNvSpPr>
            <a:spLocks noGrp="1"/>
          </p:cNvSpPr>
          <p:nvPr/>
        </p:nvSpPr>
        <p:spPr>
          <a:xfrm>
            <a:off x="5962650" y="4019550"/>
            <a:ext cx="4171950" cy="80010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D6E28C-FC31-48BE-8BB9-D9F7789C04DA}"/>
              </a:ext>
            </a:extLst>
          </p:cNvPr>
          <p:cNvSpPr>
            <a:spLocks noGrp="1"/>
          </p:cNvSpPr>
          <p:nvPr/>
        </p:nvSpPr>
        <p:spPr>
          <a:xfrm>
            <a:off x="6210300" y="4210050"/>
            <a:ext cx="1905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Public confidence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D269BC8-F152-4555-90E6-395712BAB6F7}"/>
              </a:ext>
            </a:extLst>
          </p:cNvPr>
          <p:cNvSpPr>
            <a:spLocks noGrp="1"/>
          </p:cNvSpPr>
          <p:nvPr/>
        </p:nvSpPr>
        <p:spPr>
          <a:xfrm>
            <a:off x="6210300" y="4495800"/>
            <a:ext cx="3162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Good governance turns sincerity into evidence that the public can understand.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F10B6A1-18B9-430C-8A21-3394C7B3CF3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/about theological foundation and CTCF criteria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DBCD0DF-3DC0-4A43-8955-DB277FE65145}"/>
              </a:ext>
            </a:extLst>
          </p:cNvPr>
          <p:cNvSpPr>
            <a:spLocks noGrp="1"/>
          </p:cNvSpPr>
          <p:nvPr/>
        </p:nvSpPr>
        <p:spPr>
          <a:xfrm>
            <a:off x="10782300" y="6381750"/>
            <a:ext cx="800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86B8D94F-6154-7BD2-B009-E28A09DF7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08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07D5A08-75AD-452B-8711-85753AA31495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2D188F-9953-4CFA-9AAA-9BB0316BDFB1}"/>
              </a:ext>
            </a:extLst>
          </p:cNvPr>
          <p:cNvSpPr>
            <a:spLocks noGrp="1"/>
          </p:cNvSpPr>
          <p:nvPr/>
        </p:nvSpPr>
        <p:spPr>
          <a:xfrm>
            <a:off x="800100" y="428625"/>
            <a:ext cx="533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THREE PILLARS OF AMANAH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E5BC49-D14C-41F1-80C6-6D6354CD4F5E}"/>
              </a:ext>
            </a:extLst>
          </p:cNvPr>
          <p:cNvSpPr>
            <a:spLocks noGrp="1"/>
          </p:cNvSpPr>
          <p:nvPr/>
        </p:nvSpPr>
        <p:spPr>
          <a:xfrm>
            <a:off x="609600" y="914400"/>
            <a:ext cx="89535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AGP is designed around Amanah, Shafafiyyah and Mas'uliyyah.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5FB25F-8692-4D85-B0C9-675070C6F4EC}"/>
              </a:ext>
            </a:extLst>
          </p:cNvPr>
          <p:cNvSpPr>
            <a:spLocks noGrp="1"/>
          </p:cNvSpPr>
          <p:nvPr/>
        </p:nvSpPr>
        <p:spPr>
          <a:xfrm>
            <a:off x="819150" y="2686050"/>
            <a:ext cx="2990850" cy="23431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78DC80-6AB2-488F-9F07-DDD06FC5AB5E}"/>
              </a:ext>
            </a:extLst>
          </p:cNvPr>
          <p:cNvSpPr>
            <a:spLocks noGrp="1"/>
          </p:cNvSpPr>
          <p:nvPr/>
        </p:nvSpPr>
        <p:spPr>
          <a:xfrm>
            <a:off x="1066800" y="2952750"/>
            <a:ext cx="23431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24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أمانة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68A0BA-13DD-4A52-832E-32F6BDBCB3CC}"/>
              </a:ext>
            </a:extLst>
          </p:cNvPr>
          <p:cNvSpPr>
            <a:spLocks noGrp="1"/>
          </p:cNvSpPr>
          <p:nvPr/>
        </p:nvSpPr>
        <p:spPr>
          <a:xfrm>
            <a:off x="1066800" y="3619500"/>
            <a:ext cx="2362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 - Trust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3652C7-92F1-4C14-91A5-4DB9A1EA3316}"/>
              </a:ext>
            </a:extLst>
          </p:cNvPr>
          <p:cNvSpPr>
            <a:spLocks noGrp="1"/>
          </p:cNvSpPr>
          <p:nvPr/>
        </p:nvSpPr>
        <p:spPr>
          <a:xfrm>
            <a:off x="1066800" y="4000500"/>
            <a:ext cx="23050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Trusteeship of donor funds is made visible, reviewable and verifiable.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17AF88-B9FA-4A2B-990E-3C17DCF2CCCB}"/>
              </a:ext>
            </a:extLst>
          </p:cNvPr>
          <p:cNvSpPr>
            <a:spLocks noGrp="1"/>
          </p:cNvSpPr>
          <p:nvPr/>
        </p:nvSpPr>
        <p:spPr>
          <a:xfrm>
            <a:off x="4419600" y="2686050"/>
            <a:ext cx="2990850" cy="23431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C0AEE3-3C58-4980-B5DD-40130477FE08}"/>
              </a:ext>
            </a:extLst>
          </p:cNvPr>
          <p:cNvSpPr>
            <a:spLocks noGrp="1"/>
          </p:cNvSpPr>
          <p:nvPr/>
        </p:nvSpPr>
        <p:spPr>
          <a:xfrm>
            <a:off x="4667250" y="2952750"/>
            <a:ext cx="23431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24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شفافية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F4A5849-6367-4F4D-8C9C-DE5359B2C1CE}"/>
              </a:ext>
            </a:extLst>
          </p:cNvPr>
          <p:cNvSpPr>
            <a:spLocks noGrp="1"/>
          </p:cNvSpPr>
          <p:nvPr/>
        </p:nvSpPr>
        <p:spPr>
          <a:xfrm>
            <a:off x="4667250" y="3619500"/>
            <a:ext cx="2362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Shafafiyyah - Transparency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080614-6803-49D4-89A2-32C1FE805D72}"/>
              </a:ext>
            </a:extLst>
          </p:cNvPr>
          <p:cNvSpPr>
            <a:spLocks noGrp="1"/>
          </p:cNvSpPr>
          <p:nvPr/>
        </p:nvSpPr>
        <p:spPr>
          <a:xfrm>
            <a:off x="4667250" y="4000500"/>
            <a:ext cx="23050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Financial, project, impact and Shariah compliance evidence becomes accessible.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AEB7FC-4010-4958-A534-C141992C79B6}"/>
              </a:ext>
            </a:extLst>
          </p:cNvPr>
          <p:cNvSpPr>
            <a:spLocks noGrp="1"/>
          </p:cNvSpPr>
          <p:nvPr/>
        </p:nvSpPr>
        <p:spPr>
          <a:xfrm>
            <a:off x="8020050" y="2686050"/>
            <a:ext cx="2990850" cy="234315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EF090DC-6C38-456E-AA79-A66F1586DD32}"/>
              </a:ext>
            </a:extLst>
          </p:cNvPr>
          <p:cNvSpPr>
            <a:spLocks noGrp="1"/>
          </p:cNvSpPr>
          <p:nvPr/>
        </p:nvSpPr>
        <p:spPr>
          <a:xfrm>
            <a:off x="8267700" y="2952750"/>
            <a:ext cx="23431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24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مساءلة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23FACD-0C07-42B6-BA53-BE3B4166E538}"/>
              </a:ext>
            </a:extLst>
          </p:cNvPr>
          <p:cNvSpPr>
            <a:spLocks noGrp="1"/>
          </p:cNvSpPr>
          <p:nvPr/>
        </p:nvSpPr>
        <p:spPr>
          <a:xfrm>
            <a:off x="8267700" y="3619500"/>
            <a:ext cx="2362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Mas'uliyyah - Accountability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38731B4-FB33-43F3-A6CA-A57369DBE9E0}"/>
              </a:ext>
            </a:extLst>
          </p:cNvPr>
          <p:cNvSpPr>
            <a:spLocks noGrp="1"/>
          </p:cNvSpPr>
          <p:nvPr/>
        </p:nvSpPr>
        <p:spPr>
          <a:xfrm>
            <a:off x="8267700" y="4000500"/>
            <a:ext cx="23050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Actions, reports, decisions and scores are logged, timestamped and preserved.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313F1E6-F412-4DF0-8F56-2C93418CE55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/about - Our principles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D7CDD6-7CE2-448E-A8E2-415899E9560B}"/>
              </a:ext>
            </a:extLst>
          </p:cNvPr>
          <p:cNvSpPr>
            <a:spLocks noGrp="1"/>
          </p:cNvSpPr>
          <p:nvPr/>
        </p:nvSpPr>
        <p:spPr>
          <a:xfrm>
            <a:off x="10782300" y="6381750"/>
            <a:ext cx="800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77673C3C-343E-24DC-8B12-0BBBFB08B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933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31D9057-67A8-4B14-97F7-A6D6CC322483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EFC500-C480-47F8-AC4C-07631E222ED6}"/>
              </a:ext>
            </a:extLst>
          </p:cNvPr>
          <p:cNvSpPr>
            <a:spLocks noGrp="1"/>
          </p:cNvSpPr>
          <p:nvPr/>
        </p:nvSpPr>
        <p:spPr>
          <a:xfrm>
            <a:off x="800100" y="428625"/>
            <a:ext cx="533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PLATFORM MODEL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49F7B1-F826-4CD7-8A4B-41D409392274}"/>
              </a:ext>
            </a:extLst>
          </p:cNvPr>
          <p:cNvSpPr>
            <a:spLocks noGrp="1"/>
          </p:cNvSpPr>
          <p:nvPr/>
        </p:nvSpPr>
        <p:spPr>
          <a:xfrm>
            <a:off x="609600" y="914400"/>
            <a:ext cx="91440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285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285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One sponsored infrastructure layer serves charities, governing bodies and donors through different surfaces.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5A729D-30C2-4115-B0DD-FCB5C4976C63}"/>
              </a:ext>
            </a:extLst>
          </p:cNvPr>
          <p:cNvSpPr>
            <a:spLocks noGrp="1"/>
          </p:cNvSpPr>
          <p:nvPr/>
        </p:nvSpPr>
        <p:spPr>
          <a:xfrm>
            <a:off x="1047750" y="2800350"/>
            <a:ext cx="2705100" cy="11239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D7659B-1402-4CB7-92B8-7ABF68F88EEC}"/>
              </a:ext>
            </a:extLst>
          </p:cNvPr>
          <p:cNvSpPr>
            <a:spLocks noGrp="1"/>
          </p:cNvSpPr>
          <p:nvPr/>
        </p:nvSpPr>
        <p:spPr>
          <a:xfrm>
            <a:off x="1295400" y="308610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35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amanahOS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575684-2C2E-43D4-80D0-C9B090015917}"/>
              </a:ext>
            </a:extLst>
          </p:cNvPr>
          <p:cNvSpPr>
            <a:spLocks noGrp="1"/>
          </p:cNvSpPr>
          <p:nvPr/>
        </p:nvSpPr>
        <p:spPr>
          <a:xfrm>
            <a:off x="1295400" y="3390900"/>
            <a:ext cx="18859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free sponsored governance workspace for charities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80A916-CAEB-4670-8A71-4F8ACE2AA4E1}"/>
              </a:ext>
            </a:extLst>
          </p:cNvPr>
          <p:cNvSpPr>
            <a:spLocks noGrp="1"/>
          </p:cNvSpPr>
          <p:nvPr/>
        </p:nvSpPr>
        <p:spPr>
          <a:xfrm>
            <a:off x="4476750" y="2800350"/>
            <a:ext cx="2705100" cy="11239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42AFC2-6B59-40E2-9FB9-0EAB4553D0C4}"/>
              </a:ext>
            </a:extLst>
          </p:cNvPr>
          <p:cNvSpPr>
            <a:spLocks noGrp="1"/>
          </p:cNvSpPr>
          <p:nvPr/>
        </p:nvSpPr>
        <p:spPr>
          <a:xfrm>
            <a:off x="4724400" y="308610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35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AGP Console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8297EB-38DB-4AFC-9F2A-E1AB4DC2A447}"/>
              </a:ext>
            </a:extLst>
          </p:cNvPr>
          <p:cNvSpPr>
            <a:spLocks noGrp="1"/>
          </p:cNvSpPr>
          <p:nvPr/>
        </p:nvSpPr>
        <p:spPr>
          <a:xfrm>
            <a:off x="4724400" y="3390900"/>
            <a:ext cx="18859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review, certification and public-readiness layer for governing bodies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41DAC3-C114-4E79-BE32-292C9F36362D}"/>
              </a:ext>
            </a:extLst>
          </p:cNvPr>
          <p:cNvSpPr>
            <a:spLocks noGrp="1"/>
          </p:cNvSpPr>
          <p:nvPr/>
        </p:nvSpPr>
        <p:spPr>
          <a:xfrm>
            <a:off x="7905750" y="2800350"/>
            <a:ext cx="2705100" cy="112395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8C40E5-15C6-4CA2-AEA6-C79459132AA7}"/>
              </a:ext>
            </a:extLst>
          </p:cNvPr>
          <p:cNvSpPr>
            <a:spLocks noGrp="1"/>
          </p:cNvSpPr>
          <p:nvPr/>
        </p:nvSpPr>
        <p:spPr>
          <a:xfrm>
            <a:off x="8153400" y="308610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3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AmanahHub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F96EBB-2E2D-4253-B63E-E3BB4C0B0439}"/>
              </a:ext>
            </a:extLst>
          </p:cNvPr>
          <p:cNvSpPr>
            <a:spLocks noGrp="1"/>
          </p:cNvSpPr>
          <p:nvPr/>
        </p:nvSpPr>
        <p:spPr>
          <a:xfrm>
            <a:off x="8153400" y="3390900"/>
            <a:ext cx="18859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public trust profile and donor journey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E75E6A4-1A58-45E6-9618-DC67D4C03A63}"/>
              </a:ext>
            </a:extLst>
          </p:cNvPr>
          <p:cNvSpPr>
            <a:spLocks noGrp="1"/>
          </p:cNvSpPr>
          <p:nvPr/>
        </p:nvSpPr>
        <p:spPr>
          <a:xfrm>
            <a:off x="1485900" y="4629150"/>
            <a:ext cx="8953500" cy="55245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A3FDB79-04C7-4596-9BC5-10B6D8507AC7}"/>
              </a:ext>
            </a:extLst>
          </p:cNvPr>
          <p:cNvSpPr>
            <a:spLocks noGrp="1"/>
          </p:cNvSpPr>
          <p:nvPr/>
        </p:nvSpPr>
        <p:spPr>
          <a:xfrm>
            <a:off x="1771650" y="48006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@agp/scoring + Supabase evidence layer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59D85B-F8F2-4D18-910D-C7086D9F2040}"/>
              </a:ext>
            </a:extLst>
          </p:cNvPr>
          <p:cNvSpPr>
            <a:spLocks noGrp="1"/>
          </p:cNvSpPr>
          <p:nvPr/>
        </p:nvSpPr>
        <p:spPr>
          <a:xfrm>
            <a:off x="1771650" y="5029200"/>
            <a:ext cx="6572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CTCF, Amanah Index, RLS-protected evidence storage, audit logs, trust events and score history.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8AEE168-6A5A-47E7-92C7-328DE979B5AD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docs/ARCHITECTURE_MAP.md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0221DC-1706-40E9-9DE1-4F427DFD6864}"/>
              </a:ext>
            </a:extLst>
          </p:cNvPr>
          <p:cNvSpPr>
            <a:spLocks noGrp="1"/>
          </p:cNvSpPr>
          <p:nvPr/>
        </p:nvSpPr>
        <p:spPr>
          <a:xfrm>
            <a:off x="10782300" y="6381750"/>
            <a:ext cx="800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B7856AB2-31CD-A383-B517-C0E6AA4E0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787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479CB6F-DF52-44BD-9F12-39EE149679A3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9E984F-2994-435F-82EC-E5147326621E}"/>
              </a:ext>
            </a:extLst>
          </p:cNvPr>
          <p:cNvSpPr>
            <a:spLocks noGrp="1"/>
          </p:cNvSpPr>
          <p:nvPr/>
        </p:nvSpPr>
        <p:spPr>
          <a:xfrm>
            <a:off x="800100" y="428625"/>
            <a:ext cx="533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COST AND FUNDING MODEL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FBA9A1-AE0A-4D50-AF87-F45525626213}"/>
              </a:ext>
            </a:extLst>
          </p:cNvPr>
          <p:cNvSpPr>
            <a:spLocks noGrp="1"/>
          </p:cNvSpPr>
          <p:nvPr/>
        </p:nvSpPr>
        <p:spPr>
          <a:xfrm>
            <a:off x="609600" y="914400"/>
            <a:ext cx="91440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285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285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The platform is free for charities because the cost is carried by grants, sponsors and institutional partners.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EBEF54-CF44-4F5B-BC1B-B99F9515D9CE}"/>
              </a:ext>
            </a:extLst>
          </p:cNvPr>
          <p:cNvSpPr>
            <a:spLocks noGrp="1"/>
          </p:cNvSpPr>
          <p:nvPr/>
        </p:nvSpPr>
        <p:spPr>
          <a:xfrm>
            <a:off x="800100" y="2647950"/>
            <a:ext cx="2343150" cy="40005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E6961D-C082-42A2-9488-0D601DE8AD27}"/>
              </a:ext>
            </a:extLst>
          </p:cNvPr>
          <p:cNvSpPr>
            <a:spLocks noGrp="1"/>
          </p:cNvSpPr>
          <p:nvPr/>
        </p:nvSpPr>
        <p:spPr>
          <a:xfrm>
            <a:off x="800100" y="2647950"/>
            <a:ext cx="95250" cy="4000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A34F8A-37D3-43F1-A40C-97A8C283C384}"/>
              </a:ext>
            </a:extLst>
          </p:cNvPr>
          <p:cNvSpPr>
            <a:spLocks noGrp="1"/>
          </p:cNvSpPr>
          <p:nvPr/>
        </p:nvSpPr>
        <p:spPr>
          <a:xfrm>
            <a:off x="1066800" y="27622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Grants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E9F62F-7289-4237-A8D4-4B398CB78713}"/>
              </a:ext>
            </a:extLst>
          </p:cNvPr>
          <p:cNvSpPr>
            <a:spLocks noGrp="1"/>
          </p:cNvSpPr>
          <p:nvPr/>
        </p:nvSpPr>
        <p:spPr>
          <a:xfrm>
            <a:off x="3524250" y="2733675"/>
            <a:ext cx="6362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government innovation, Islamic social finance and digital infrastructure grants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970CA3-3FCD-494F-85F9-36CF31339170}"/>
              </a:ext>
            </a:extLst>
          </p:cNvPr>
          <p:cNvSpPr>
            <a:spLocks noGrp="1"/>
          </p:cNvSpPr>
          <p:nvPr/>
        </p:nvSpPr>
        <p:spPr>
          <a:xfrm>
            <a:off x="800100" y="3295650"/>
            <a:ext cx="2343150" cy="40005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023AE4-DCBC-4160-A062-6493F646DE59}"/>
              </a:ext>
            </a:extLst>
          </p:cNvPr>
          <p:cNvSpPr>
            <a:spLocks noGrp="1"/>
          </p:cNvSpPr>
          <p:nvPr/>
        </p:nvSpPr>
        <p:spPr>
          <a:xfrm>
            <a:off x="800100" y="3295650"/>
            <a:ext cx="95250" cy="4000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5BA720-2884-4E03-8C96-020FBF7E28B7}"/>
              </a:ext>
            </a:extLst>
          </p:cNvPr>
          <p:cNvSpPr>
            <a:spLocks noGrp="1"/>
          </p:cNvSpPr>
          <p:nvPr/>
        </p:nvSpPr>
        <p:spPr>
          <a:xfrm>
            <a:off x="1066800" y="34099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Corporate sponsors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B10403-8EA6-4B7F-91DA-5C271DD55818}"/>
              </a:ext>
            </a:extLst>
          </p:cNvPr>
          <p:cNvSpPr>
            <a:spLocks noGrp="1"/>
          </p:cNvSpPr>
          <p:nvPr/>
        </p:nvSpPr>
        <p:spPr>
          <a:xfrm>
            <a:off x="3524250" y="3381375"/>
            <a:ext cx="6362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CSR partners sponsor onboarding, training and platform access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949202F-5535-410F-86D2-7D9595A44162}"/>
              </a:ext>
            </a:extLst>
          </p:cNvPr>
          <p:cNvSpPr>
            <a:spLocks noGrp="1"/>
          </p:cNvSpPr>
          <p:nvPr/>
        </p:nvSpPr>
        <p:spPr>
          <a:xfrm>
            <a:off x="800100" y="3943350"/>
            <a:ext cx="2343150" cy="40005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FFCBAE2-4E08-4E99-8DBE-E8B260771345}"/>
              </a:ext>
            </a:extLst>
          </p:cNvPr>
          <p:cNvSpPr>
            <a:spLocks noGrp="1"/>
          </p:cNvSpPr>
          <p:nvPr/>
        </p:nvSpPr>
        <p:spPr>
          <a:xfrm>
            <a:off x="800100" y="3943350"/>
            <a:ext cx="95250" cy="40005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4591268-7F92-4371-86B5-A2C609DAC454}"/>
              </a:ext>
            </a:extLst>
          </p:cNvPr>
          <p:cNvSpPr>
            <a:spLocks noGrp="1"/>
          </p:cNvSpPr>
          <p:nvPr/>
        </p:nvSpPr>
        <p:spPr>
          <a:xfrm>
            <a:off x="1066800" y="40576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Infaq / sadaqah sponsors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463DE20-8D66-4D84-AE08-2E2076F2BED0}"/>
              </a:ext>
            </a:extLst>
          </p:cNvPr>
          <p:cNvSpPr>
            <a:spLocks noGrp="1"/>
          </p:cNvSpPr>
          <p:nvPr/>
        </p:nvSpPr>
        <p:spPr>
          <a:xfrm>
            <a:off x="3524250" y="4029075"/>
            <a:ext cx="6362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community sponsorship supports public-good access for smaller organizations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B0F89D4-EBFC-4A15-839E-0EAB808866A9}"/>
              </a:ext>
            </a:extLst>
          </p:cNvPr>
          <p:cNvSpPr>
            <a:spLocks noGrp="1"/>
          </p:cNvSpPr>
          <p:nvPr/>
        </p:nvSpPr>
        <p:spPr>
          <a:xfrm>
            <a:off x="800100" y="4591050"/>
            <a:ext cx="2343150" cy="40005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143E681-1651-4EEE-A23C-373E7D04317F}"/>
              </a:ext>
            </a:extLst>
          </p:cNvPr>
          <p:cNvSpPr>
            <a:spLocks noGrp="1"/>
          </p:cNvSpPr>
          <p:nvPr/>
        </p:nvSpPr>
        <p:spPr>
          <a:xfrm>
            <a:off x="800100" y="4591050"/>
            <a:ext cx="95250" cy="40005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022EB63-3753-49D2-BD8B-38F191EF4F85}"/>
              </a:ext>
            </a:extLst>
          </p:cNvPr>
          <p:cNvSpPr>
            <a:spLocks noGrp="1"/>
          </p:cNvSpPr>
          <p:nvPr/>
        </p:nvSpPr>
        <p:spPr>
          <a:xfrm>
            <a:off x="1066800" y="47053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Institutional partnerships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C551544-2BED-4C01-B98F-39E578F07619}"/>
              </a:ext>
            </a:extLst>
          </p:cNvPr>
          <p:cNvSpPr>
            <a:spLocks noGrp="1"/>
          </p:cNvSpPr>
          <p:nvPr/>
        </p:nvSpPr>
        <p:spPr>
          <a:xfrm>
            <a:off x="3524250" y="4676775"/>
            <a:ext cx="6362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zakat bodies, councils and foundations fund ecosystem rollout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C85BA27-7110-44AB-83AD-831292428723}"/>
              </a:ext>
            </a:extLst>
          </p:cNvPr>
          <p:cNvSpPr>
            <a:spLocks noGrp="1"/>
          </p:cNvSpPr>
          <p:nvPr/>
        </p:nvSpPr>
        <p:spPr>
          <a:xfrm>
            <a:off x="800100" y="556260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Guardrail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61824A6-C75E-46E2-9B67-984EEC90E1E7}"/>
              </a:ext>
            </a:extLst>
          </p:cNvPr>
          <p:cNvSpPr>
            <a:spLocks noGrp="1"/>
          </p:cNvSpPr>
          <p:nvPr/>
        </p:nvSpPr>
        <p:spPr>
          <a:xfrm>
            <a:off x="1866900" y="556260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Donor funds are not held by AGP; platform sustainability is funded as infrastructure, not by taking custody of donations.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96ED5AC-F093-47F9-B102-2C63AE7D140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docs/pitch/AGP_full.md and sustainability model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A8DA2F5-79D3-41DE-A923-4F23ADE5BE85}"/>
              </a:ext>
            </a:extLst>
          </p:cNvPr>
          <p:cNvSpPr>
            <a:spLocks noGrp="1"/>
          </p:cNvSpPr>
          <p:nvPr/>
        </p:nvSpPr>
        <p:spPr>
          <a:xfrm>
            <a:off x="10782300" y="6381750"/>
            <a:ext cx="800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27" name="Title 26">
            <a:extLst>
              <a:ext uri="{FF2B5EF4-FFF2-40B4-BE49-F238E27FC236}">
                <a16:creationId xmlns:a16="http://schemas.microsoft.com/office/drawing/2014/main" id="{5E570682-4648-CC12-CD0B-F15889679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249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B627314-BD56-4334-9794-3CC731954CFF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8CF3E5-8670-4D40-8F9F-B548A412C652}"/>
              </a:ext>
            </a:extLst>
          </p:cNvPr>
          <p:cNvSpPr>
            <a:spLocks noGrp="1"/>
          </p:cNvSpPr>
          <p:nvPr/>
        </p:nvSpPr>
        <p:spPr>
          <a:xfrm>
            <a:off x="800100" y="428625"/>
            <a:ext cx="533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WHY GOVERNING BODIES SHOULD SUPPORT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7E61C5-8196-4D0C-9FC6-033D60ADBAB1}"/>
              </a:ext>
            </a:extLst>
          </p:cNvPr>
          <p:cNvSpPr>
            <a:spLocks noGrp="1"/>
          </p:cNvSpPr>
          <p:nvPr/>
        </p:nvSpPr>
        <p:spPr>
          <a:xfrm>
            <a:off x="609600" y="914400"/>
            <a:ext cx="91440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2925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2925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Supporting AGP is a preventive governance investment, not simply a software purchase.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BC5886-9C89-445C-B4AE-226ABABB0CC7}"/>
              </a:ext>
            </a:extLst>
          </p:cNvPr>
          <p:cNvSpPr>
            <a:spLocks noGrp="1"/>
          </p:cNvSpPr>
          <p:nvPr/>
        </p:nvSpPr>
        <p:spPr>
          <a:xfrm>
            <a:off x="800100" y="2495550"/>
            <a:ext cx="2190750" cy="36195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FFE084-2B0A-44EF-90D3-85436CDE786D}"/>
              </a:ext>
            </a:extLst>
          </p:cNvPr>
          <p:cNvSpPr>
            <a:spLocks noGrp="1"/>
          </p:cNvSpPr>
          <p:nvPr/>
        </p:nvSpPr>
        <p:spPr>
          <a:xfrm>
            <a:off x="800100" y="2495550"/>
            <a:ext cx="95250" cy="3619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785975-979B-4677-A8B2-351BDD139DFA}"/>
              </a:ext>
            </a:extLst>
          </p:cNvPr>
          <p:cNvSpPr>
            <a:spLocks noGrp="1"/>
          </p:cNvSpPr>
          <p:nvPr/>
        </p:nvSpPr>
        <p:spPr>
          <a:xfrm>
            <a:off x="1047750" y="2590800"/>
            <a:ext cx="1524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Reduce future risk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354C6D-5546-4AB7-B1C0-A343672F0622}"/>
              </a:ext>
            </a:extLst>
          </p:cNvPr>
          <p:cNvSpPr>
            <a:spLocks noGrp="1"/>
          </p:cNvSpPr>
          <p:nvPr/>
        </p:nvSpPr>
        <p:spPr>
          <a:xfrm>
            <a:off x="3333750" y="2571750"/>
            <a:ext cx="6667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better records and governance reduce mismanagement, public complaints and emergency interventions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5CD9C4-9C8B-4937-ACE9-91FB2638ECD3}"/>
              </a:ext>
            </a:extLst>
          </p:cNvPr>
          <p:cNvSpPr>
            <a:spLocks noGrp="1"/>
          </p:cNvSpPr>
          <p:nvPr/>
        </p:nvSpPr>
        <p:spPr>
          <a:xfrm>
            <a:off x="800100" y="3048000"/>
            <a:ext cx="2190750" cy="36195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DD0884-6B69-41A8-A85C-E855143F56EF}"/>
              </a:ext>
            </a:extLst>
          </p:cNvPr>
          <p:cNvSpPr>
            <a:spLocks noGrp="1"/>
          </p:cNvSpPr>
          <p:nvPr/>
        </p:nvSpPr>
        <p:spPr>
          <a:xfrm>
            <a:off x="800100" y="3048000"/>
            <a:ext cx="95250" cy="3619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4CCADBA-C0D1-4D1A-A42B-1F98F30C5EAB}"/>
              </a:ext>
            </a:extLst>
          </p:cNvPr>
          <p:cNvSpPr>
            <a:spLocks noGrp="1"/>
          </p:cNvSpPr>
          <p:nvPr/>
        </p:nvSpPr>
        <p:spPr>
          <a:xfrm>
            <a:off x="1047750" y="3143250"/>
            <a:ext cx="1524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Uplift smaller charities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DF8C1D-7DBB-4805-9CB4-35BA12F184D9}"/>
              </a:ext>
            </a:extLst>
          </p:cNvPr>
          <p:cNvSpPr>
            <a:spLocks noGrp="1"/>
          </p:cNvSpPr>
          <p:nvPr/>
        </p:nvSpPr>
        <p:spPr>
          <a:xfrm>
            <a:off x="3333750" y="3124200"/>
            <a:ext cx="6667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support reaches organizations that cannot afford consultants or custom systems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305F262-B2E4-4632-9F05-004370F7CA63}"/>
              </a:ext>
            </a:extLst>
          </p:cNvPr>
          <p:cNvSpPr>
            <a:spLocks noGrp="1"/>
          </p:cNvSpPr>
          <p:nvPr/>
        </p:nvSpPr>
        <p:spPr>
          <a:xfrm>
            <a:off x="800100" y="3600450"/>
            <a:ext cx="2190750" cy="36195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5C55B5-E8F9-4595-BC89-9F0CD1AF55F8}"/>
              </a:ext>
            </a:extLst>
          </p:cNvPr>
          <p:cNvSpPr>
            <a:spLocks noGrp="1"/>
          </p:cNvSpPr>
          <p:nvPr/>
        </p:nvSpPr>
        <p:spPr>
          <a:xfrm>
            <a:off x="800100" y="3600450"/>
            <a:ext cx="95250" cy="36195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E4EF142-907A-4E89-AA7A-B301312BAF1A}"/>
              </a:ext>
            </a:extLst>
          </p:cNvPr>
          <p:cNvSpPr>
            <a:spLocks noGrp="1"/>
          </p:cNvSpPr>
          <p:nvPr/>
        </p:nvSpPr>
        <p:spPr>
          <a:xfrm>
            <a:off x="1047750" y="3695700"/>
            <a:ext cx="1524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Standardize evidence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1A9199-4AA5-45E6-8E52-8B8893370E82}"/>
              </a:ext>
            </a:extLst>
          </p:cNvPr>
          <p:cNvSpPr>
            <a:spLocks noGrp="1"/>
          </p:cNvSpPr>
          <p:nvPr/>
        </p:nvSpPr>
        <p:spPr>
          <a:xfrm>
            <a:off x="3333750" y="3676650"/>
            <a:ext cx="6667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common governance evidence makes review and comparison more consistent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53118E-8901-4421-B757-91298639F532}"/>
              </a:ext>
            </a:extLst>
          </p:cNvPr>
          <p:cNvSpPr>
            <a:spLocks noGrp="1"/>
          </p:cNvSpPr>
          <p:nvPr/>
        </p:nvSpPr>
        <p:spPr>
          <a:xfrm>
            <a:off x="800100" y="4152900"/>
            <a:ext cx="2190750" cy="36195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FF1E275-D3D6-4593-BEFE-3BE5AA04A9A5}"/>
              </a:ext>
            </a:extLst>
          </p:cNvPr>
          <p:cNvSpPr>
            <a:spLocks noGrp="1"/>
          </p:cNvSpPr>
          <p:nvPr/>
        </p:nvSpPr>
        <p:spPr>
          <a:xfrm>
            <a:off x="800100" y="4152900"/>
            <a:ext cx="95250" cy="36195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7CD3FEA-42EE-4BC3-833B-5AA600AD02D6}"/>
              </a:ext>
            </a:extLst>
          </p:cNvPr>
          <p:cNvSpPr>
            <a:spLocks noGrp="1"/>
          </p:cNvSpPr>
          <p:nvPr/>
        </p:nvSpPr>
        <p:spPr>
          <a:xfrm>
            <a:off x="1047750" y="4248150"/>
            <a:ext cx="1524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Strengthen Islamic social finance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6EAF262-1105-4267-B5B7-8407408C6344}"/>
              </a:ext>
            </a:extLst>
          </p:cNvPr>
          <p:cNvSpPr>
            <a:spLocks noGrp="1"/>
          </p:cNvSpPr>
          <p:nvPr/>
        </p:nvSpPr>
        <p:spPr>
          <a:xfrm>
            <a:off x="3333750" y="4229100"/>
            <a:ext cx="6667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visible Amanah, transparency and accountability protect public trust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5C1C37-4995-4A56-8344-5C215E09CB7C}"/>
              </a:ext>
            </a:extLst>
          </p:cNvPr>
          <p:cNvSpPr>
            <a:spLocks noGrp="1"/>
          </p:cNvSpPr>
          <p:nvPr/>
        </p:nvSpPr>
        <p:spPr>
          <a:xfrm>
            <a:off x="800100" y="4705350"/>
            <a:ext cx="2190750" cy="36195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EFADC17-9648-4341-81B1-7885C2C16E14}"/>
              </a:ext>
            </a:extLst>
          </p:cNvPr>
          <p:cNvSpPr>
            <a:spLocks noGrp="1"/>
          </p:cNvSpPr>
          <p:nvPr/>
        </p:nvSpPr>
        <p:spPr>
          <a:xfrm>
            <a:off x="800100" y="4705350"/>
            <a:ext cx="95250" cy="361950"/>
          </a:xfrm>
          <a:prstGeom prst="rect">
            <a:avLst/>
          </a:prstGeom>
          <a:solidFill>
            <a:srgbClr val="A6B96D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3839B0E-7551-4746-9A52-DC9E051AA39A}"/>
              </a:ext>
            </a:extLst>
          </p:cNvPr>
          <p:cNvSpPr>
            <a:spLocks noGrp="1"/>
          </p:cNvSpPr>
          <p:nvPr/>
        </p:nvSpPr>
        <p:spPr>
          <a:xfrm>
            <a:off x="1047750" y="4800600"/>
            <a:ext cx="1524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Scale without duplication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50C05C2-2B37-4D1B-BFC4-49BE29AEF0C8}"/>
              </a:ext>
            </a:extLst>
          </p:cNvPr>
          <p:cNvSpPr>
            <a:spLocks noGrp="1"/>
          </p:cNvSpPr>
          <p:nvPr/>
        </p:nvSpPr>
        <p:spPr>
          <a:xfrm>
            <a:off x="3333750" y="4781550"/>
            <a:ext cx="6667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one shared platform avoids every state or charity rebuilding similar tools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E981117-AEF9-47AB-9C54-F438E001372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docs/pitch Zakat and grant narratives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EBF6B58-6621-411E-83E6-F79ACD998EB2}"/>
              </a:ext>
            </a:extLst>
          </p:cNvPr>
          <p:cNvSpPr>
            <a:spLocks noGrp="1"/>
          </p:cNvSpPr>
          <p:nvPr/>
        </p:nvSpPr>
        <p:spPr>
          <a:xfrm>
            <a:off x="10782300" y="6381750"/>
            <a:ext cx="800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9" name="Title 28">
            <a:extLst>
              <a:ext uri="{FF2B5EF4-FFF2-40B4-BE49-F238E27FC236}">
                <a16:creationId xmlns:a16="http://schemas.microsoft.com/office/drawing/2014/main" id="{0B20460C-525D-86D3-F7A4-6ABE477C4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321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24F3EF9-B602-42A6-9A1E-CE6DC7076527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636598-49A6-4570-BF16-ABAA7F15F439}"/>
              </a:ext>
            </a:extLst>
          </p:cNvPr>
          <p:cNvSpPr>
            <a:spLocks noGrp="1"/>
          </p:cNvSpPr>
          <p:nvPr/>
        </p:nvSpPr>
        <p:spPr>
          <a:xfrm>
            <a:off x="800100" y="428625"/>
            <a:ext cx="533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PILOT COLLABORATION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8C3A37-CD6D-492B-822B-9E1D1E15E048}"/>
              </a:ext>
            </a:extLst>
          </p:cNvPr>
          <p:cNvSpPr>
            <a:spLocks noGrp="1"/>
          </p:cNvSpPr>
          <p:nvPr/>
        </p:nvSpPr>
        <p:spPr>
          <a:xfrm>
            <a:off x="609600" y="914400"/>
            <a:ext cx="87630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A low-risk pilot can prove governance adoption before wider rollout.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834E6A-A1BE-429A-868A-F154E87F88DD}"/>
              </a:ext>
            </a:extLst>
          </p:cNvPr>
          <p:cNvSpPr>
            <a:spLocks noGrp="1"/>
          </p:cNvSpPr>
          <p:nvPr/>
        </p:nvSpPr>
        <p:spPr>
          <a:xfrm>
            <a:off x="781050" y="3009900"/>
            <a:ext cx="2343150" cy="16954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034304-1CDF-476F-B667-C4EED9A2A3A3}"/>
              </a:ext>
            </a:extLst>
          </p:cNvPr>
          <p:cNvSpPr>
            <a:spLocks noGrp="1"/>
          </p:cNvSpPr>
          <p:nvPr/>
        </p:nvSpPr>
        <p:spPr>
          <a:xfrm>
            <a:off x="990600" y="3238500"/>
            <a:ext cx="266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88689E-311C-44AE-AAF9-9EF9EA026215}"/>
              </a:ext>
            </a:extLst>
          </p:cNvPr>
          <p:cNvSpPr>
            <a:spLocks noGrp="1"/>
          </p:cNvSpPr>
          <p:nvPr/>
        </p:nvSpPr>
        <p:spPr>
          <a:xfrm>
            <a:off x="990600" y="3562350"/>
            <a:ext cx="1562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Select cohort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661D3E-0120-461A-A64B-A86731F73FE5}"/>
              </a:ext>
            </a:extLst>
          </p:cNvPr>
          <p:cNvSpPr>
            <a:spLocks noGrp="1"/>
          </p:cNvSpPr>
          <p:nvPr/>
        </p:nvSpPr>
        <p:spPr>
          <a:xfrm>
            <a:off x="990600" y="3924300"/>
            <a:ext cx="1657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charities, mosques, waqf bodies or NGOs across representative categories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5AD3C2-771A-492E-B5D0-A8151D17436F}"/>
              </a:ext>
            </a:extLst>
          </p:cNvPr>
          <p:cNvSpPr>
            <a:spLocks noGrp="1"/>
          </p:cNvSpPr>
          <p:nvPr/>
        </p:nvSpPr>
        <p:spPr>
          <a:xfrm>
            <a:off x="3562350" y="3009900"/>
            <a:ext cx="2343150" cy="16954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DA5E45-3719-475E-B3E4-F358FB5C0FCE}"/>
              </a:ext>
            </a:extLst>
          </p:cNvPr>
          <p:cNvSpPr>
            <a:spLocks noGrp="1"/>
          </p:cNvSpPr>
          <p:nvPr/>
        </p:nvSpPr>
        <p:spPr>
          <a:xfrm>
            <a:off x="3771900" y="3238500"/>
            <a:ext cx="266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60DBA21-717B-4FD3-9ACE-2633EA7FFCB1}"/>
              </a:ext>
            </a:extLst>
          </p:cNvPr>
          <p:cNvSpPr>
            <a:spLocks noGrp="1"/>
          </p:cNvSpPr>
          <p:nvPr/>
        </p:nvSpPr>
        <p:spPr>
          <a:xfrm>
            <a:off x="3771900" y="3562350"/>
            <a:ext cx="1562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Sponsor access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3DBEAB-DF1C-4502-9CBE-CE6E42AC5344}"/>
              </a:ext>
            </a:extLst>
          </p:cNvPr>
          <p:cNvSpPr>
            <a:spLocks noGrp="1"/>
          </p:cNvSpPr>
          <p:nvPr/>
        </p:nvSpPr>
        <p:spPr>
          <a:xfrm>
            <a:off x="3771900" y="3924300"/>
            <a:ext cx="1657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grant or CSR sponsors cover platform, onboarding and training costs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980B42-2D71-4720-8CBC-19289620BCCD}"/>
              </a:ext>
            </a:extLst>
          </p:cNvPr>
          <p:cNvSpPr>
            <a:spLocks noGrp="1"/>
          </p:cNvSpPr>
          <p:nvPr/>
        </p:nvSpPr>
        <p:spPr>
          <a:xfrm>
            <a:off x="6343650" y="3009900"/>
            <a:ext cx="2343150" cy="169545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8BC07B3-CAB3-4982-9BB6-28F412787ACE}"/>
              </a:ext>
            </a:extLst>
          </p:cNvPr>
          <p:cNvSpPr>
            <a:spLocks noGrp="1"/>
          </p:cNvSpPr>
          <p:nvPr/>
        </p:nvSpPr>
        <p:spPr>
          <a:xfrm>
            <a:off x="6553200" y="3238500"/>
            <a:ext cx="266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227E16-5B9D-43C0-9EAE-EAD7E0B8D5C2}"/>
              </a:ext>
            </a:extLst>
          </p:cNvPr>
          <p:cNvSpPr>
            <a:spLocks noGrp="1"/>
          </p:cNvSpPr>
          <p:nvPr/>
        </p:nvSpPr>
        <p:spPr>
          <a:xfrm>
            <a:off x="6553200" y="3562350"/>
            <a:ext cx="1562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Align framework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0A97999-66DC-4C46-88B7-B6F59FCC8AEB}"/>
              </a:ext>
            </a:extLst>
          </p:cNvPr>
          <p:cNvSpPr>
            <a:spLocks noGrp="1"/>
          </p:cNvSpPr>
          <p:nvPr/>
        </p:nvSpPr>
        <p:spPr>
          <a:xfrm>
            <a:off x="6553200" y="3924300"/>
            <a:ext cx="1657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governing bodies validate CTCF evidence and publication rules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1B2F4FD-AEAD-46FE-AF52-08476178321A}"/>
              </a:ext>
            </a:extLst>
          </p:cNvPr>
          <p:cNvSpPr>
            <a:spLocks noGrp="1"/>
          </p:cNvSpPr>
          <p:nvPr/>
        </p:nvSpPr>
        <p:spPr>
          <a:xfrm>
            <a:off x="9124950" y="3009900"/>
            <a:ext cx="2343150" cy="169545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E2482D5-6167-4B48-A008-9B289CB65DA6}"/>
              </a:ext>
            </a:extLst>
          </p:cNvPr>
          <p:cNvSpPr>
            <a:spLocks noGrp="1"/>
          </p:cNvSpPr>
          <p:nvPr/>
        </p:nvSpPr>
        <p:spPr>
          <a:xfrm>
            <a:off x="9334500" y="3238500"/>
            <a:ext cx="266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D9DAD69-9D69-45F7-A3A3-532F4397C0F3}"/>
              </a:ext>
            </a:extLst>
          </p:cNvPr>
          <p:cNvSpPr>
            <a:spLocks noGrp="1"/>
          </p:cNvSpPr>
          <p:nvPr/>
        </p:nvSpPr>
        <p:spPr>
          <a:xfrm>
            <a:off x="9334500" y="3562350"/>
            <a:ext cx="1562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Measure outcomes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F3E1976-DE83-4F68-AD55-29DE8ADFA373}"/>
              </a:ext>
            </a:extLst>
          </p:cNvPr>
          <p:cNvSpPr>
            <a:spLocks noGrp="1"/>
          </p:cNvSpPr>
          <p:nvPr/>
        </p:nvSpPr>
        <p:spPr>
          <a:xfrm>
            <a:off x="9334500" y="3924300"/>
            <a:ext cx="1657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track reports completed, evidence uploaded, scores improved and donor readability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05A7CDB-FF0A-4771-9000-923ACDABBFA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docs/pitch pilot programme and architecture map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6DE5CB1-5FAE-433C-B026-5898B1BF0CF8}"/>
              </a:ext>
            </a:extLst>
          </p:cNvPr>
          <p:cNvSpPr>
            <a:spLocks noGrp="1"/>
          </p:cNvSpPr>
          <p:nvPr/>
        </p:nvSpPr>
        <p:spPr>
          <a:xfrm>
            <a:off x="10782300" y="6381750"/>
            <a:ext cx="800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249C127A-7B0E-16E4-8B1F-52ED17EAD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2816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D5E3033-9278-4114-B252-1C77CE588D27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740ECE-B4DA-4443-ADC4-A58F80363A9B}"/>
              </a:ext>
            </a:extLst>
          </p:cNvPr>
          <p:cNvSpPr>
            <a:spLocks noGrp="1"/>
          </p:cNvSpPr>
          <p:nvPr/>
        </p:nvSpPr>
        <p:spPr>
          <a:xfrm>
            <a:off x="800100" y="428625"/>
            <a:ext cx="533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OUTCOMES TO MEASURE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48A01F-BE20-4FE1-BB79-7B070915F9A2}"/>
              </a:ext>
            </a:extLst>
          </p:cNvPr>
          <p:cNvSpPr>
            <a:spLocks noGrp="1"/>
          </p:cNvSpPr>
          <p:nvPr/>
        </p:nvSpPr>
        <p:spPr>
          <a:xfrm>
            <a:off x="609600" y="914400"/>
            <a:ext cx="885825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Success should be measured by governance improvement, not vanity usage.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C01E42-6847-4017-8DDA-EF2EDE2C7DC9}"/>
              </a:ext>
            </a:extLst>
          </p:cNvPr>
          <p:cNvSpPr>
            <a:spLocks noGrp="1"/>
          </p:cNvSpPr>
          <p:nvPr/>
        </p:nvSpPr>
        <p:spPr>
          <a:xfrm>
            <a:off x="895350" y="2838450"/>
            <a:ext cx="2362200" cy="40005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B184E3-4203-4F04-8760-4B80D78145F9}"/>
              </a:ext>
            </a:extLst>
          </p:cNvPr>
          <p:cNvSpPr>
            <a:spLocks noGrp="1"/>
          </p:cNvSpPr>
          <p:nvPr/>
        </p:nvSpPr>
        <p:spPr>
          <a:xfrm>
            <a:off x="895350" y="2838450"/>
            <a:ext cx="95250" cy="4000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0F9995-F543-43B4-B882-643187234A59}"/>
              </a:ext>
            </a:extLst>
          </p:cNvPr>
          <p:cNvSpPr>
            <a:spLocks noGrp="1"/>
          </p:cNvSpPr>
          <p:nvPr/>
        </p:nvSpPr>
        <p:spPr>
          <a:xfrm>
            <a:off x="1162050" y="29527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Charity capability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2A514E-3AC2-4C96-9E36-70AD7706AF89}"/>
              </a:ext>
            </a:extLst>
          </p:cNvPr>
          <p:cNvSpPr>
            <a:spLocks noGrp="1"/>
          </p:cNvSpPr>
          <p:nvPr/>
        </p:nvSpPr>
        <p:spPr>
          <a:xfrm>
            <a:off x="3638550" y="2933700"/>
            <a:ext cx="619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reports submitted, policies adopted, evidence completeness, audit readiness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92C2B8-0A14-40F3-B47F-9865184CF5E0}"/>
              </a:ext>
            </a:extLst>
          </p:cNvPr>
          <p:cNvSpPr>
            <a:spLocks noGrp="1"/>
          </p:cNvSpPr>
          <p:nvPr/>
        </p:nvSpPr>
        <p:spPr>
          <a:xfrm>
            <a:off x="895350" y="3486150"/>
            <a:ext cx="2362200" cy="40005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3DCB64-2D01-48F9-AD2E-61768A6183C1}"/>
              </a:ext>
            </a:extLst>
          </p:cNvPr>
          <p:cNvSpPr>
            <a:spLocks noGrp="1"/>
          </p:cNvSpPr>
          <p:nvPr/>
        </p:nvSpPr>
        <p:spPr>
          <a:xfrm>
            <a:off x="895350" y="3486150"/>
            <a:ext cx="95250" cy="4000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69F555-1CE0-4E3A-B70B-8EF1B276ABAA}"/>
              </a:ext>
            </a:extLst>
          </p:cNvPr>
          <p:cNvSpPr>
            <a:spLocks noGrp="1"/>
          </p:cNvSpPr>
          <p:nvPr/>
        </p:nvSpPr>
        <p:spPr>
          <a:xfrm>
            <a:off x="1162050" y="36004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Oversight efficiency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D9BDFE5-E256-4221-8BAC-DF72404E7B95}"/>
              </a:ext>
            </a:extLst>
          </p:cNvPr>
          <p:cNvSpPr>
            <a:spLocks noGrp="1"/>
          </p:cNvSpPr>
          <p:nvPr/>
        </p:nvSpPr>
        <p:spPr>
          <a:xfrm>
            <a:off x="3638550" y="3581400"/>
            <a:ext cx="619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less manual chasing, clearer queues, faster review cycles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67A6EC-9072-469E-BED9-4EEFC084AD88}"/>
              </a:ext>
            </a:extLst>
          </p:cNvPr>
          <p:cNvSpPr>
            <a:spLocks noGrp="1"/>
          </p:cNvSpPr>
          <p:nvPr/>
        </p:nvSpPr>
        <p:spPr>
          <a:xfrm>
            <a:off x="895350" y="4133850"/>
            <a:ext cx="2362200" cy="40005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54BECF-060F-4234-87BA-926C9D7A37A5}"/>
              </a:ext>
            </a:extLst>
          </p:cNvPr>
          <p:cNvSpPr>
            <a:spLocks noGrp="1"/>
          </p:cNvSpPr>
          <p:nvPr/>
        </p:nvSpPr>
        <p:spPr>
          <a:xfrm>
            <a:off x="895350" y="4133850"/>
            <a:ext cx="95250" cy="40005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B4DB21-5BD3-48A8-909D-5CFD58C56315}"/>
              </a:ext>
            </a:extLst>
          </p:cNvPr>
          <p:cNvSpPr>
            <a:spLocks noGrp="1"/>
          </p:cNvSpPr>
          <p:nvPr/>
        </p:nvSpPr>
        <p:spPr>
          <a:xfrm>
            <a:off x="1162050" y="42481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Donor confidence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1F13E88-181D-4BEB-B260-EC2A0ACA9255}"/>
              </a:ext>
            </a:extLst>
          </p:cNvPr>
          <p:cNvSpPr>
            <a:spLocks noGrp="1"/>
          </p:cNvSpPr>
          <p:nvPr/>
        </p:nvSpPr>
        <p:spPr>
          <a:xfrm>
            <a:off x="3638550" y="4229100"/>
            <a:ext cx="619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profile readability, receipt trust, repeat giving intent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6C06CB7-355D-40E5-9754-AFF88647656D}"/>
              </a:ext>
            </a:extLst>
          </p:cNvPr>
          <p:cNvSpPr>
            <a:spLocks noGrp="1"/>
          </p:cNvSpPr>
          <p:nvPr/>
        </p:nvSpPr>
        <p:spPr>
          <a:xfrm>
            <a:off x="895350" y="4781550"/>
            <a:ext cx="2362200" cy="40005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BC2D973-4F9F-4BD7-BBA6-646D38992FDF}"/>
              </a:ext>
            </a:extLst>
          </p:cNvPr>
          <p:cNvSpPr>
            <a:spLocks noGrp="1"/>
          </p:cNvSpPr>
          <p:nvPr/>
        </p:nvSpPr>
        <p:spPr>
          <a:xfrm>
            <a:off x="895350" y="4781550"/>
            <a:ext cx="95250" cy="40005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36B63B5-9090-411F-92AB-694F34972E50}"/>
              </a:ext>
            </a:extLst>
          </p:cNvPr>
          <p:cNvSpPr>
            <a:spLocks noGrp="1"/>
          </p:cNvSpPr>
          <p:nvPr/>
        </p:nvSpPr>
        <p:spPr>
          <a:xfrm>
            <a:off x="1162050" y="48958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Sponsor impact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F52601F-10AB-4A64-A155-3087FE514397}"/>
              </a:ext>
            </a:extLst>
          </p:cNvPr>
          <p:cNvSpPr>
            <a:spLocks noGrp="1"/>
          </p:cNvSpPr>
          <p:nvPr/>
        </p:nvSpPr>
        <p:spPr>
          <a:xfrm>
            <a:off x="3638550" y="4876800"/>
            <a:ext cx="619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number of organizations subsidized, training completed, public-good value created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F0B75E-FA9F-4F26-8EEA-400531A59BB1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docs/pitch monitoring and evaluation framework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AD38370-E7EA-43C6-A11A-01A62F72E644}"/>
              </a:ext>
            </a:extLst>
          </p:cNvPr>
          <p:cNvSpPr>
            <a:spLocks noGrp="1"/>
          </p:cNvSpPr>
          <p:nvPr/>
        </p:nvSpPr>
        <p:spPr>
          <a:xfrm>
            <a:off x="10782300" y="6381750"/>
            <a:ext cx="800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2C512C7A-E398-3EE2-2B87-B62D6D289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6639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FA06919-A22B-42BD-8E08-79A46D895D6A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0788FD-3C13-4764-BA92-8745B0485C48}"/>
              </a:ext>
            </a:extLst>
          </p:cNvPr>
          <p:cNvSpPr>
            <a:spLocks noGrp="1"/>
          </p:cNvSpPr>
          <p:nvPr/>
        </p:nvSpPr>
        <p:spPr>
          <a:xfrm>
            <a:off x="800100" y="428625"/>
            <a:ext cx="533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THE ASK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D2CEAC-9D22-4025-8BB0-0ABB26E340B8}"/>
              </a:ext>
            </a:extLst>
          </p:cNvPr>
          <p:cNvSpPr>
            <a:spLocks noGrp="1"/>
          </p:cNvSpPr>
          <p:nvPr/>
        </p:nvSpPr>
        <p:spPr>
          <a:xfrm>
            <a:off x="609600" y="914400"/>
            <a:ext cx="885825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315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Help AGP become shared, sponsored governance infrastructure for trusted giving.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057DD6-6391-4C8A-8BCD-90A8E827D96F}"/>
              </a:ext>
            </a:extLst>
          </p:cNvPr>
          <p:cNvSpPr>
            <a:spLocks noGrp="1"/>
          </p:cNvSpPr>
          <p:nvPr/>
        </p:nvSpPr>
        <p:spPr>
          <a:xfrm>
            <a:off x="781050" y="3009900"/>
            <a:ext cx="4171950" cy="7239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4F4AF6-5193-4059-A3B5-B5CCB1AB15FA}"/>
              </a:ext>
            </a:extLst>
          </p:cNvPr>
          <p:cNvSpPr>
            <a:spLocks noGrp="1"/>
          </p:cNvSpPr>
          <p:nvPr/>
        </p:nvSpPr>
        <p:spPr>
          <a:xfrm>
            <a:off x="1028700" y="3181350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Governing bodies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3FC580-FA50-4937-B678-923384230FBF}"/>
              </a:ext>
            </a:extLst>
          </p:cNvPr>
          <p:cNvSpPr>
            <a:spLocks noGrp="1"/>
          </p:cNvSpPr>
          <p:nvPr/>
        </p:nvSpPr>
        <p:spPr>
          <a:xfrm>
            <a:off x="1028700" y="3429000"/>
            <a:ext cx="3143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endorse pilot guardrails, align evidence standards and nominate reviewers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00F252-5B52-4AB2-9995-D7BEE07C313F}"/>
              </a:ext>
            </a:extLst>
          </p:cNvPr>
          <p:cNvSpPr>
            <a:spLocks noGrp="1"/>
          </p:cNvSpPr>
          <p:nvPr/>
        </p:nvSpPr>
        <p:spPr>
          <a:xfrm>
            <a:off x="5962650" y="3009900"/>
            <a:ext cx="4171950" cy="72390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53C8F4-3EF9-4420-B2D9-ADFD390541BD}"/>
              </a:ext>
            </a:extLst>
          </p:cNvPr>
          <p:cNvSpPr>
            <a:spLocks noGrp="1"/>
          </p:cNvSpPr>
          <p:nvPr/>
        </p:nvSpPr>
        <p:spPr>
          <a:xfrm>
            <a:off x="6210300" y="3181350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Charity organizations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8547C-D05B-43AB-8629-98E2AD83C486}"/>
              </a:ext>
            </a:extLst>
          </p:cNvPr>
          <p:cNvSpPr>
            <a:spLocks noGrp="1"/>
          </p:cNvSpPr>
          <p:nvPr/>
        </p:nvSpPr>
        <p:spPr>
          <a:xfrm>
            <a:off x="6210300" y="3429000"/>
            <a:ext cx="3143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join pilot cohort and use AGP for real governance workflows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E78A6B-EBC6-492C-8512-4B0C4BF8B41D}"/>
              </a:ext>
            </a:extLst>
          </p:cNvPr>
          <p:cNvSpPr>
            <a:spLocks noGrp="1"/>
          </p:cNvSpPr>
          <p:nvPr/>
        </p:nvSpPr>
        <p:spPr>
          <a:xfrm>
            <a:off x="781050" y="4152900"/>
            <a:ext cx="4171950" cy="72390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33340B-B7CA-4AF3-870A-F891A007BBC0}"/>
              </a:ext>
            </a:extLst>
          </p:cNvPr>
          <p:cNvSpPr>
            <a:spLocks noGrp="1"/>
          </p:cNvSpPr>
          <p:nvPr/>
        </p:nvSpPr>
        <p:spPr>
          <a:xfrm>
            <a:off x="1028700" y="4324350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Corporate sponsors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824365-978B-4965-BDED-ECBD321CE39F}"/>
              </a:ext>
            </a:extLst>
          </p:cNvPr>
          <p:cNvSpPr>
            <a:spLocks noGrp="1"/>
          </p:cNvSpPr>
          <p:nvPr/>
        </p:nvSpPr>
        <p:spPr>
          <a:xfrm>
            <a:off x="1028700" y="4572000"/>
            <a:ext cx="3143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fund access, onboarding, training and support for selected organizations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8CC46A5-F992-471D-A859-8B771AEFFDFF}"/>
              </a:ext>
            </a:extLst>
          </p:cNvPr>
          <p:cNvSpPr>
            <a:spLocks noGrp="1"/>
          </p:cNvSpPr>
          <p:nvPr/>
        </p:nvSpPr>
        <p:spPr>
          <a:xfrm>
            <a:off x="5962650" y="4152900"/>
            <a:ext cx="4171950" cy="72390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DEC88B5-764A-4D00-B3E2-F4F640E82D9C}"/>
              </a:ext>
            </a:extLst>
          </p:cNvPr>
          <p:cNvSpPr>
            <a:spLocks noGrp="1"/>
          </p:cNvSpPr>
          <p:nvPr/>
        </p:nvSpPr>
        <p:spPr>
          <a:xfrm>
            <a:off x="6210300" y="4324350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Donors / community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8288CB9-32E5-4848-AB5C-06D1EBD72E90}"/>
              </a:ext>
            </a:extLst>
          </p:cNvPr>
          <p:cNvSpPr>
            <a:spLocks noGrp="1"/>
          </p:cNvSpPr>
          <p:nvPr/>
        </p:nvSpPr>
        <p:spPr>
          <a:xfrm>
            <a:off x="6210300" y="4572000"/>
            <a:ext cx="3143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support the infaq/sadaqah sponsorship pool and give through verified profiles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27EC563-2015-4AF6-B55B-9676FD3EF661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Prepared for discussion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824D847-0848-4FE3-B15E-F0B166C03761}"/>
              </a:ext>
            </a:extLst>
          </p:cNvPr>
          <p:cNvSpPr>
            <a:spLocks noGrp="1"/>
          </p:cNvSpPr>
          <p:nvPr/>
        </p:nvSpPr>
        <p:spPr>
          <a:xfrm>
            <a:off x="10782300" y="6381750"/>
            <a:ext cx="800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AB296E82-DA6A-9E39-3C6E-A6CA02DD0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2907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57E0986F-FF07-4C6F-AE32-5C9308DEFD98}" vid="{F530D9DA-4D8D-460D-8421-4BCD21471768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AGP-Dark-Master-Template</Template>
  <TotalTime>0</TotalTime>
  <Words>1142</Words>
  <Application>Microsoft Office PowerPoint</Application>
  <DocSecurity>0</DocSecurity>
  <PresentationFormat>Custom</PresentationFormat>
  <Paragraphs>175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Calibri</vt:lpstr>
      <vt:lpstr>Calibri Light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kamal latif</cp:lastModifiedBy>
  <cp:revision>1</cp:revision>
  <dcterms:created xsi:type="dcterms:W3CDTF">2026-07-08T04:41:08Z</dcterms:created>
  <dcterms:modified xsi:type="dcterms:W3CDTF">2026-07-08T10:40:23Z</dcterms:modified>
</cp:coreProperties>
</file>