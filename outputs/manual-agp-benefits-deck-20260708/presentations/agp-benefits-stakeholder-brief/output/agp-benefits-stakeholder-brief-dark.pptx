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73c9667f644160" /><Relationship Type="http://schemas.openxmlformats.org/officeDocument/2006/relationships/extended-properties" Target="/docProps/app.xml" Id="Rb31e568796d6496c" /><Relationship Type="http://schemas.openxmlformats.org/officeDocument/2006/relationships/officeDocument" Target="/ppt/presentation.xml" Id="R1623c5f727f84e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2fa9b318e84fbe"/>
  </p:sldMasterIdLst>
  <p:notesMasterIdLst>
    <p:notesMasterId xmlns:r="http://schemas.openxmlformats.org/officeDocument/2006/relationships" r:id="Rf2f77f43c615450c"/>
  </p:notesMasterIdLst>
  <p:sldIdLst>
    <p:sldId xmlns:r="http://schemas.openxmlformats.org/officeDocument/2006/relationships" id="256" r:id="R840e213ed35a4c3c"/>
    <p:sldId xmlns:r="http://schemas.openxmlformats.org/officeDocument/2006/relationships" id="257" r:id="Rbca3f8a562284fc6"/>
    <p:sldId xmlns:r="http://schemas.openxmlformats.org/officeDocument/2006/relationships" id="258" r:id="Rc270391b977649d0"/>
    <p:sldId xmlns:r="http://schemas.openxmlformats.org/officeDocument/2006/relationships" id="259" r:id="Rc2d7b045cd0b47ca"/>
    <p:sldId xmlns:r="http://schemas.openxmlformats.org/officeDocument/2006/relationships" id="260" r:id="R2888005e965443d1"/>
    <p:sldId xmlns:r="http://schemas.openxmlformats.org/officeDocument/2006/relationships" id="261" r:id="R2478db770698470f"/>
    <p:sldId xmlns:r="http://schemas.openxmlformats.org/officeDocument/2006/relationships" id="262" r:id="R89ea34cb96c94e09"/>
    <p:sldId xmlns:r="http://schemas.openxmlformats.org/officeDocument/2006/relationships" id="263" r:id="Re83c72eabbe5408c"/>
    <p:sldId xmlns:r="http://schemas.openxmlformats.org/officeDocument/2006/relationships" id="264" r:id="R2b8f6ccf251042f5"/>
    <p:sldId xmlns:r="http://schemas.openxmlformats.org/officeDocument/2006/relationships" id="265" r:id="Rf11458cdca854dcf"/>
    <p:sldId xmlns:r="http://schemas.openxmlformats.org/officeDocument/2006/relationships" id="266" r:id="R587c4ad6a60d4c7a"/>
    <p:sldId xmlns:r="http://schemas.openxmlformats.org/officeDocument/2006/relationships" id="267" r:id="Racd3d5d93356441b"/>
    <p:sldId xmlns:r="http://schemas.openxmlformats.org/officeDocument/2006/relationships" id="268" r:id="Rc4b9d6278d0e4c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fa9b318e84fbe" /><Relationship Type="http://schemas.openxmlformats.org/officeDocument/2006/relationships/theme" Target="/ppt/theme/theme1.xml" Id="R603a16a598a94dad" /><Relationship Type="http://schemas.openxmlformats.org/officeDocument/2006/relationships/notesMaster" Target="/ppt/notesMasters/notesMaster1.xml" Id="Rf2f77f43c615450c" /><Relationship Type="http://schemas.openxmlformats.org/officeDocument/2006/relationships/presProps" Target="/ppt/presProps.xml" Id="R93e8d91e3ca84e23" /><Relationship Type="http://schemas.openxmlformats.org/officeDocument/2006/relationships/viewProps" Target="/ppt/viewProps.xml" Id="R2a7efc0cd5734c17" /><Relationship Type="http://schemas.openxmlformats.org/officeDocument/2006/relationships/tableStyles" Target="/ppt/tableStyles.xml" Id="Re0efdd60697940e1" /><Relationship Type="http://schemas.openxmlformats.org/officeDocument/2006/relationships/slide" Target="/ppt/slides/slide1.xml" Id="R840e213ed35a4c3c" /><Relationship Type="http://schemas.openxmlformats.org/officeDocument/2006/relationships/slide" Target="/ppt/slides/slide2.xml" Id="Rbca3f8a562284fc6" /><Relationship Type="http://schemas.openxmlformats.org/officeDocument/2006/relationships/slide" Target="/ppt/slides/slide3.xml" Id="Rc270391b977649d0" /><Relationship Type="http://schemas.openxmlformats.org/officeDocument/2006/relationships/slide" Target="/ppt/slides/slide4.xml" Id="Rc2d7b045cd0b47ca" /><Relationship Type="http://schemas.openxmlformats.org/officeDocument/2006/relationships/slide" Target="/ppt/slides/slide5.xml" Id="R2888005e965443d1" /><Relationship Type="http://schemas.openxmlformats.org/officeDocument/2006/relationships/slide" Target="/ppt/slides/slide6.xml" Id="R2478db770698470f" /><Relationship Type="http://schemas.openxmlformats.org/officeDocument/2006/relationships/slide" Target="/ppt/slides/slide7.xml" Id="R89ea34cb96c94e09" /><Relationship Type="http://schemas.openxmlformats.org/officeDocument/2006/relationships/slide" Target="/ppt/slides/slide8.xml" Id="Re83c72eabbe5408c" /><Relationship Type="http://schemas.openxmlformats.org/officeDocument/2006/relationships/slide" Target="/ppt/slides/slide9.xml" Id="R2b8f6ccf251042f5" /><Relationship Type="http://schemas.openxmlformats.org/officeDocument/2006/relationships/slide" Target="/ppt/slides/slide10.xml" Id="Rf11458cdca854dcf" /><Relationship Type="http://schemas.openxmlformats.org/officeDocument/2006/relationships/slide" Target="/ppt/slides/slide11.xml" Id="R587c4ad6a60d4c7a" /><Relationship Type="http://schemas.openxmlformats.org/officeDocument/2006/relationships/slide" Target="/ppt/slides/slide12.xml" Id="Racd3d5d93356441b" /><Relationship Type="http://schemas.openxmlformats.org/officeDocument/2006/relationships/slide" Target="/ppt/slides/slide13.xml" Id="Rc4b9d6278d0e4c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92174c48e84e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b03e4b2f0542d6" /><Relationship Type="http://schemas.openxmlformats.org/officeDocument/2006/relationships/notesMaster" Target="/ppt/notesMasters/notesMaster1.xml" Id="Rbca81a2e38d04e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9e9d908e3d43ea" /><Relationship Type="http://schemas.openxmlformats.org/officeDocument/2006/relationships/notesMaster" Target="/ppt/notesMasters/notesMaster1.xml" Id="Rfaae06f568c84c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aded7cdf194649" /><Relationship Type="http://schemas.openxmlformats.org/officeDocument/2006/relationships/notesMaster" Target="/ppt/notesMasters/notesMaster1.xml" Id="R68b2b68bb55f40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f8eea89aad4b1b" /><Relationship Type="http://schemas.openxmlformats.org/officeDocument/2006/relationships/notesMaster" Target="/ppt/notesMasters/notesMaster1.xml" Id="Raffd39b3679243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436403c05344dc" /><Relationship Type="http://schemas.openxmlformats.org/officeDocument/2006/relationships/notesMaster" Target="/ppt/notesMasters/notesMaster1.xml" Id="R132d759c09dd47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24db4b8ec74404" /><Relationship Type="http://schemas.openxmlformats.org/officeDocument/2006/relationships/notesMaster" Target="/ppt/notesMasters/notesMaster1.xml" Id="R3616abfcb86d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7e5697d9b344f2" /><Relationship Type="http://schemas.openxmlformats.org/officeDocument/2006/relationships/notesMaster" Target="/ppt/notesMasters/notesMaster1.xml" Id="Rc9dea3ff4bb649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d93bcd770c498c" /><Relationship Type="http://schemas.openxmlformats.org/officeDocument/2006/relationships/notesMaster" Target="/ppt/notesMasters/notesMaster1.xml" Id="Rc55eabfc2c8247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3f5e4aed1d4148" /><Relationship Type="http://schemas.openxmlformats.org/officeDocument/2006/relationships/notesMaster" Target="/ppt/notesMasters/notesMaster1.xml" Id="R4973c770236e47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23085d17874cfe" /><Relationship Type="http://schemas.openxmlformats.org/officeDocument/2006/relationships/notesMaster" Target="/ppt/notesMasters/notesMaster1.xml" Id="R057fbe18b06742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c418bb4d5f49ba" /><Relationship Type="http://schemas.openxmlformats.org/officeDocument/2006/relationships/notesMaster" Target="/ppt/notesMasters/notesMaster1.xml" Id="Rb7b58fd3cab14d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1592855e5d4a81" /><Relationship Type="http://schemas.openxmlformats.org/officeDocument/2006/relationships/notesMaster" Target="/ppt/notesMasters/notesMaster1.xml" Id="Rc539fa70cc2f44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0d5575577d4c55" /><Relationship Type="http://schemas.openxmlformats.org/officeDocument/2006/relationships/notesMaster" Target="/ppt/notesMasters/notesMaster1.xml" Id="R03853467d8d346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ee8edc5f0419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3efa2e6ea5340ad" /><Relationship Type="http://schemas.openxmlformats.org/officeDocument/2006/relationships/slideLayout" Target="/ppt/slideLayouts/slideLayout2.xml" Id="Rdfa18d722b7d46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a18d722b7d46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5d0f095c624081" /><Relationship Type="http://schemas.openxmlformats.org/officeDocument/2006/relationships/notesSlide" Target="/ppt/notesSlides/notesSlide1.xml" Id="R3550c83b1a6e46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1976f93f0f4b5e" /><Relationship Type="http://schemas.openxmlformats.org/officeDocument/2006/relationships/notesSlide" Target="/ppt/notesSlides/notesSlide2.xml" Id="Re6fab1395cc34d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839821aaca456d" /><Relationship Type="http://schemas.openxmlformats.org/officeDocument/2006/relationships/notesSlide" Target="/ppt/notesSlides/notesSlide3.xml" Id="Rf18df65668f445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c7dde1d24a48c3" /><Relationship Type="http://schemas.openxmlformats.org/officeDocument/2006/relationships/notesSlide" Target="/ppt/notesSlides/notesSlide4.xml" Id="R9febd3b1b13942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28c0711c364197" /><Relationship Type="http://schemas.openxmlformats.org/officeDocument/2006/relationships/notesSlide" Target="/ppt/notesSlides/notesSlide5.xml" Id="R60dc0a39221148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1edb47d7b34c2b" /><Relationship Type="http://schemas.openxmlformats.org/officeDocument/2006/relationships/notesSlide" Target="/ppt/notesSlides/notesSlide6.xml" Id="R4d480117983b46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2ac21d8432430e" /><Relationship Type="http://schemas.openxmlformats.org/officeDocument/2006/relationships/notesSlide" Target="/ppt/notesSlides/notesSlide7.xml" Id="R695f1011b19f4b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20d73aac5d4461" /><Relationship Type="http://schemas.openxmlformats.org/officeDocument/2006/relationships/notesSlide" Target="/ppt/notesSlides/notesSlide8.xml" Id="Rf75be54194d546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5519fb0b39463a" /><Relationship Type="http://schemas.openxmlformats.org/officeDocument/2006/relationships/notesSlide" Target="/ppt/notesSlides/notesSlide9.xml" Id="R3c2b81ec89f947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0d2f8459894396" /><Relationship Type="http://schemas.openxmlformats.org/officeDocument/2006/relationships/notesSlide" Target="/ppt/notesSlides/notesSlide10.xml" Id="Re33392124c3042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983d0c6d0e4f57" /><Relationship Type="http://schemas.openxmlformats.org/officeDocument/2006/relationships/notesSlide" Target="/ppt/notesSlides/notesSlide11.xml" Id="Rd4db5d2c8dbd4a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229fbb16154bc4" /><Relationship Type="http://schemas.openxmlformats.org/officeDocument/2006/relationships/notesSlide" Target="/ppt/notesSlides/notesSlide12.xml" Id="Rab1335a71fd846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f5f486d23c4b27" /><Relationship Type="http://schemas.openxmlformats.org/officeDocument/2006/relationships/notesSlide" Target="/ppt/notesSlides/notesSlide13.xml" Id="R1f2698e4368f41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61AF80-BAC3-4B8B-9F73-C091EAF1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E063D-3780-4AB3-8263-77EB7251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B27D6-B052-4342-9FE1-398648F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49D55-220E-4E3E-AC46-AFE576DA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AGP STAKEHOLDER BENEFITS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1F584-32A9-44EF-8C81-CE3BE635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334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 shared governance platform that helps charities earn trust without carrying the technology cost.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08EE8-1E4D-4970-AEA7-18A6004F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AGP gives charity organizations free sponsored access to governance tools, gives governing bodies structured oversight, and gives donors confidence that funds are handled with Amanah.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FE21C-B8CD-4DF9-B77E-166AF616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145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E9906-1521-4CCC-AE1A-47854162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Charities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92631-FAE0-4F8E-9CBF-DE9C4C5B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free governance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A81F8-0934-49C7-BD15-DF058A5A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3354E-DFE2-43ED-8A15-B1DB7E4F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Governing bodies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AB4DA-1DF4-4839-9AFF-07C98A24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visibility without manual chaos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AD749-D8A1-42D6-84AC-B7C04DBE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D9571-4895-4D54-9208-1D29A8F8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195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E12AE-EF49-4238-B3B8-F2626C9D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confidence before giving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8B16C-8892-4168-BDDD-89604752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Prepared for State Islamic Affairs, JAKIM, zakat bodies, charity leaders, donors and sponsors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6C805-9370-4D9F-8DA6-2FA9A387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20462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6B003E-4A9A-42BC-BD03-EDBAD3EE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E6400-C7D5-4775-9C6E-C82229AE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1A4DD-7B24-4BE8-910E-22DD0C05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49CF1-ECCA-4F9B-A9E6-0A06300F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4D39A-E0C5-4CB9-B88A-14510E37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charity sector is generous, but governance capacity has not kept pace with donor expectations.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371BC-D608-4DF0-B0C6-7A27399A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Small and medium charities often depend on volunteers, scattered documents and inconsistent reporting. That does not mean they lack sincerity; it means they need affordable infrastructure.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84CB9-96B4-43CC-91FB-160A897F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E01B1-EA8A-45AE-83A2-C4A8513B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35366-91A4-4C9C-8FA8-57CD63A7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9FE72-74EA-4734-B8EA-C1709C09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limited admin staff, document burden, audit readiness 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8797F-8B25-4967-8DF1-F5AEA367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C7CE3-BAA1-4235-BDC0-6FC3B2E6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387A0-02F7-470E-803D-57479E23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Authorities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9BCA7-F0A6-43C9-919E-8C7639AC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386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growing number of organizations, heavy manual monitoring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B394A-19AC-423F-8009-458B9923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D4846-281C-4B5B-9D7B-D98E4024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28DE3-068D-4DD0-BD71-8FD7CA9D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A296B-00FE-458B-BE3B-5710329B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91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need clear proof before giving, not only campaign claims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012BB-4C53-47D7-9C16-AB68FA3E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F8F72-70CF-4B55-A90F-C63C808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5951B-8D20-45D9-A4C3-AB3E0A2B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Beneficiaries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34240-69A0-42E4-8F68-48F28EAA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435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depend on organizations that can sustain good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D7C06-5184-42BC-AED9-631553EF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and AGP architecture 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6CA572-3A9F-47FE-90CE-285D5108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94221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ECCEB-C5FE-4FF7-A8CA-0129615C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27222-8433-4740-90B5-0FA8746B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3E993-8C12-4408-BB50-E4F8A904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39394-0DB6-40AC-B366-14975BA1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BENEFIT TO CHARITY ORGANIZATIONS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E8E12-B72F-4D2C-BA44-A20AFAD0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helps charities become more trusted without asking them to buy expensive governance software.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D8D23-8D79-43DD-BE2F-29182E83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343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100AF-6F6F-4349-9DDD-70CC17EC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Free sponsored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001B7-82B6-4608-9BFE-7D688C6B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Core platform access is funded through grants, infaq/sadaqah and sponsors, so smaller organizations can participate.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2FDF7-1B63-4D67-8632-C23AA119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2343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18908-A4D6-4E18-89F0-D0EC50B6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F4280-99E2-4C2C-8DC8-CF937DCB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amanahOS guides reports, policies, evidence uploads, members, projects and certification readiness.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A243A-DF2B-43A7-837D-838B27E3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2343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F12E5-ED3B-4BD2-8758-EC3CA49E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readiness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36C55-7E21-4493-9C97-DD20D4BA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Documents and evidence are kept in one private-by-default workspace instead of scattered folders and chats.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68CB7-F1A0-4451-B88E-EE6E4CFB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71800"/>
            <a:ext cx="2343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24489-DCDB-4896-B6B7-621F72BA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15F4E-977C-4655-B3DF-9C9D19C9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Verified reports, Amanah Index and certification status become public confidence signals.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0DCF0-D3E9-476F-99E1-68F2455E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Core promise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F9A1F-1D38-4417-B5BE-BB7BB953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102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Proper governance becomes easier to do, easier to evidence and easier to explain to donors.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4EAF2-14E6-4896-BC50-A77949C2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apps/org modules, docs/ARCHITECTURE_MAP.md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DAC67-2AFA-4F1B-9E9A-083532D5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32669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8897C-162D-4CEA-B0FD-76EF8D31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4BC77-02C7-47B7-831E-D8B5FB70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9D93A-2573-415E-A4E0-B921A95F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58CEA-0226-4A9B-A080-9CCAD91D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BENEFIT TO GOVERNING BODIES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9951D-4F2D-4DED-AC12-EA25E0C7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33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State Islamic Affairs, JAKIM and related bodies gain oversight capacity without building a new system from zero.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CE26C-4BCD-4F80-A20B-75368BF0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E78E8-9E5A-43AC-977F-86ACF440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7DE9C-2E24-444B-B0C3-DEDE7918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Ecosystem visibility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0B3AD-65A1-455F-A662-91A19209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structured view of participating charities, governance maturity and trust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8CDD1-30B2-4E37-AA3D-85150FAF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6C1CA-CBD7-45DF-96A8-8B1FB81F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C2D6A-FDED-45A5-A8E9-B8C73C19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Standard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E8E33-A293-41F4-8139-0E5671F8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623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common templates reduce inconsistent submissions and manual document chasing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C14C6-BF87-4EC8-AF11-46F53F1F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07593-6977-4564-B077-B8100053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A667B-F16B-48F7-AFD0-FB9D4E94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Due diligence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4FF22-B715-48F4-9208-D7389E3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 queues, evidence records and certification history improve partner screening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DDF87-B314-43E1-ABF4-A3300C5F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68C45-AFB8-4BD8-B315-8DDE00D0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3715A-227F-4252-90CE-19D0118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Policy alignment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5FE06-933D-4CC7-9603-0B545F18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CTCF can be aligned with state/JAKIM expectations before wider rollout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CA8B4-DB94-48D7-B972-1C2521E1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09A56-2518-461A-B68B-09C669D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3B20B-7AE5-42C8-AD30-30A86A0B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184C1-9D7E-405A-8472-C092F70C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96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visible governance infrastructure strengthens confidence in Islamic social finance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16188-AA29-4B54-B12C-B3A41675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Zakat narrative, AGP Console review modules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B5BA7-A0E7-40D2-AD94-F26857AB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70995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8AC24E-A51B-4784-8815-2A7E1D83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11806-F7AF-4DD8-8A31-404EC980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D8C04-195B-4892-8DBD-A7CA61BD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B9D35-4B23-4C73-AA25-D4210033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BENEFIT TO DONORS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49570-660D-470E-8D68-E078707C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04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Donors get clearer confidence signals before giving, while funds still flow directly to the charity.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44457-239E-4039-BD25-559863B9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B5CB7-F946-4D87-818E-49652CB5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2A4CB-C972-449E-8040-D5621090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540CB-4E0A-4470-99F3-85F20904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find verified organizations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35A27-BBB2-4F47-81E0-4F40B104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290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5E8E0-55F0-4CC1-92F6-3B31863C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4BD93-12DC-4AB1-8D3E-1E226710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04F56-4A98-4402-B27F-2C3F4F13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62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F0DAE-02D2-425D-BE4B-8039C863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29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read reports, scores and notes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A3038-FC37-44DA-A0E0-E4419B66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290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F3A0B-1ED2-4326-8AC9-2B151AC4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66999-899C-4CD1-9FFB-8C88E75A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4C8F7-C51F-45A2-967D-A1DBF9A3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94241-1473-4ED5-AA63-3BFDC678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 direct to charity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FCCF0-4AD1-4514-9ADC-77D5DBF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290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62C65-185E-4A2A-9617-F4DC0F0F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477B3-7D06-4201-A8FD-B2642E02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71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6F8E2-715D-4F7E-92A8-BDAC2647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8E0B2-FEA6-4BDC-B2DF-678D8DA2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receipt, history and impact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A57DD-6F76-4047-B69F-82D22D1E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Non-custodial principle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6C579F-43F4-4914-9ED1-5D74579E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101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does not hold donor funds. The platform records, verifies and reports; payment goes to the organization account.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33025-E8E1-4537-8BB5-0A39700D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/how-it-works, ADR-003, ADR-004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1A428-2D21-4ED2-BCA5-CA597065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90562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5D0A85-081F-4241-87DC-6B2F5BFD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B9373-9EC5-40CA-A191-010B3E70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52D28-45C1-4D80-A219-292F3EE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7BB97-6DA1-40A8-A61D-E1F8B1FE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CHARITIES NEED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2879F-6904-4F8C-AC72-C46EAFC1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Proper governance protects the donor, the organization, the regulator and the beneficiary.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BED1B-9071-41D3-AEDC-7B5B2704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171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1B727-1E0D-4CF5-B896-82A9A463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Spiritual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5A2B0-2A9E-4B5A-BF3D-2AA95AD8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Charity managers are trustees of donor funds; amanah has consequences.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4BB3A-ED0C-49BF-BC42-72DA4E12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19400"/>
            <a:ext cx="4171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90D50-42E1-4254-BBAC-85531A3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Operational continuity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93B6A-AB1A-4639-8BC7-303B7A80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Clear policies, roles and records reduce dependence on one person.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E4180-0FAC-4C1F-8545-4E988025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4171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E2244-0EED-4232-844F-A1A2F989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discipline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5D250-37A2-4A2F-9FB3-D07DFF96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Fund separation and reporting reduce misuse, confusion and audit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CE627-2622-46DF-ACAA-74A10D1F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19550"/>
            <a:ext cx="4171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6E28C-FC31-48BE-8BB9-D9F7789C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0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69BC8-F152-4555-90E6-395712BA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Good governance turns sincerity into evidence that the public can understand.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0B6A1-18B9-430C-8A21-3394C7B3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theological foundation and CTCF criteria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CD0DF-3DC0-4A43-8955-DB277FE6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7086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BD7C59-35C8-4210-84F6-AA071AA3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9D7BE-1A52-4410-A899-A40134CE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D5A08-75AD-452B-8711-85753AA3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D188F-9953-4CFA-9AAA-9BB0316B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THREE PILLARS OF AMANAH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5BC49-D14C-41F1-80C6-6D6354CD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is designed around Amanah, Shafafiyyah and Mas'uliyyah.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FB25F-8692-4D85-B0C9-675070C6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8DC80-6AB2-488F-9F07-DDD06FC5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8A0BA-13DD-4A52-832E-32F6BDBC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652C7-92F1-4C14-91A5-4DB9A1EA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305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Trusteeship of donor funds is made visible, reviewable and verifiable.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7AF88-B9FA-4A2B-990E-3C17DCF2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0AEE3-3C58-4980-B5DD-40130477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A5849-6367-4F4D-8C9C-DE5359B2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Transparency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80614-6803-49D4-89A2-32C1FE80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305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Financial, project, impact and Shariah compliance evidence becomes accessible.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EB7FC-4010-4958-A534-C141992C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090DC-6C38-456E-AA79-A66F1586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3FACD-0C07-42B6-BA53-BE3B4166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Accountability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731B4-FB33-43F3-A6CA-A57369DB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2305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Actions, reports, decisions and scores are logged, timestamped and preserved.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3F1E6-F412-4DF0-8F56-2C93418C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- Our principles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7CDD6-7CE2-448E-A8E2-415899E9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119336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A559DA-645F-4F9A-AFCC-8628F0D6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A743E-7950-4416-8F7F-BD159261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9057-67A8-4B14-97F7-A6D6CC3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FC500-C480-47F8-AC4C-07631E2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PLATFORM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9F7B1-F826-4CD7-8A4B-41D40939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14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One sponsored infrastructure layer serves charities, governing bodies and donors through different surfaces.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A729D-30C2-4115-B0DD-FCB5C497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705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7659B-1402-4CB7-92B8-7ABF68F8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75684-2C2E-43D4-80D0-C9B09001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free sponsored governance workspace for charities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0A916-CAEB-4670-8A71-4F8ACE2A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2705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2AFC2-6B59-40E2-9FB9-0EAB4553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297EB-38DB-4AFC-9F2A-E1AB4DC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909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review, certification and public-readiness layer for governing bodies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1DAC3-C114-4E79-BE32-292C9F36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2705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C40E5-15C6-4CA2-AEA6-C7945913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96EBB-2E2D-4253-B63E-E3BB4C0B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public trust profile and donor journey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5E6A4-1A58-45E6-9618-DC67D4C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291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FDB79-04C7-4596-9BC5-10B6D850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00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Supabase evidence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9D85B-F8F2-4D18-910D-C7086D9F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29200"/>
            <a:ext cx="657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CTCF, Amanah Index, RLS-protected evidence storage, audit logs, trust events and score history.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EE168-6A5A-47E7-92C7-328DE979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docs/ARCHITECTURE_MAP.md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221DC-1706-40E9-9DE1-4F427DF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07874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58BB3-8281-491D-99EC-8BEC3F68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CD244-7039-4CDE-831C-17C8DCC0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9CB6F-DF52-44BD-9F12-39EE1496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E984F-2994-435F-82EC-E5147326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COST AND FUNDING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BA9A1-AE0A-4D50-AF87-F4552562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14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platform is free for charities because the cost is carried by grants, sponsors and institutional partners.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BEF54-CF44-4F5B-BC1B-B99F9515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6961D-C082-42A2-9488-0D601DE8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34F8A-37D3-43F1-A40C-97A8C283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Grants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F62F-7289-4237-A8D4-4B398CB7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33675"/>
            <a:ext cx="636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government innovation, Islamic social finance and digital infrastructure grants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70CA3-3FCD-494F-85F9-36CF313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23AE4-DCBC-4160-A062-6493F646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BA720-2884-4E03-8C96-020FBF7E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Corporate sponsors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10403-8EA6-4B7F-91DA-5C271DD5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1375"/>
            <a:ext cx="636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CSR partners sponsor onboarding, training and platform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9202F-5535-410F-86D2-7D9595A4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CBAE2-4E08-4E99-8DBE-E8B26077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91268-7F92-4371-86B5-A2C609DA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Infaq / sadaqah sponsors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3DE20-8D66-4D84-AE08-2E2076F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636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community sponsorship supports public-good access for smaller organizations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F89D4-EBFC-4A15-839E-0EAB808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3E681-1651-4EEE-A23C-373E7D04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2EB63-3753-49D2-BD8B-38F191EF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Institutional partnerships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51544-2BED-4C01-B98F-39E578F0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76775"/>
            <a:ext cx="636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zakat bodies, councils and foundations fund ecosystem rollout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5BA27-7110-44AB-83AD-83129242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Guardrail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824A6-C75E-46E2-9B67-984EEC90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626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 funds are not held by AGP; platform sustainability is funded as infrastructure, not by taking custody of donations.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ED5AC-F093-47F9-B102-2C63AE7D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docs/pitch/AGP_full.md and sustainability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DA2F5-79D3-41DE-A923-4F23ADE5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82498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59A8C1-E0C8-401B-AA57-57799400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60A0F-A42D-4A9A-BAE7-53278109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27314-BD56-4334-9794-3CC73195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CF3E5-8670-4D40-8F9F-B548A412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GOVERNING BODIES SHOULD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E61C5-8196-4D0C-9FC6-033D60AD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14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Supporting AGP is a preventive governance investment, not simply a software purchase.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C5886-9C89-445C-B4AE-226ABABB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FE084-2B0A-44EF-90D3-85436CD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85975-979B-4677-A8B2-351BDD13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Reduce future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4C6D-5546-4AB7-B1C0-A343672F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better records and governance reduce mismanagement, public complaints and emergency interventions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CD9C4-9C8B-4937-ACE9-91FB2638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D0884-6B69-41A8-A85C-E855143F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CADBA-C0D1-4D1A-A42B-1F98F30C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Uplift smaller charities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F8C1D-7DBB-4805-9CB4-35BA12F1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reaches organizations that cannot afford consultants or custom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5F262-B2E4-4632-9F05-004370F7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C55B5-E8F9-4595-BC89-9F0CD1AF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EF142-907A-4E89-AA7A-B301312B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Standardize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A9199-4AA5-45E6-8E52-8B889337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common governance evidence makes review and comparison more consistent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3118E-8901-4421-B757-91298639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1E275-D3D6-4593-BEFE-3BE5AA04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D3FEA-42EE-4BC3-833B-5AA600AD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Strengthen Islamic social finance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AF262-1105-4267-B5B7-8407408C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visible Amanah, transparency and accountability protect public 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C1C37-4995-4A56-8344-5C215E09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ADC17-9648-4341-81B1-7885C2C1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39B0E-7551-4746-9A52-DC9E051A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Scale without duplication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C05C2-2B37-4D1B-BFC4-49BE29AE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815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one shared platform avoids every state or charity rebuilding similar tools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981117-AEF9-47AB-9C54-F438E001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Zakat and grant narratives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F6B58-6621-411E-83E6-F79ACD99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573215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1F868E-0755-4878-9951-F98A4EA3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17251-7E3B-4BD3-9516-6AB69D3E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F3EF9-B602-42A6-9A1E-CE6DC707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36598-49A6-4570-BF16-ABAA7F15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PILOT COLLABORATION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C3A37-CD6D-492B-822B-9E1D1E15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76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 low-risk pilot can prove governance adoption before wider rollout.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34E6A-A1BE-429A-868A-F154E87F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343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34304-1CDF-476F-B667-C4EED9A2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8689E-311C-44AE-AAF9-9EF9EA02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Select cohort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61D3E-0120-461A-A64B-A86731F7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charities, mosques, waqf bodies or NGOs across representative categories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AD3C2-771A-492E-B5D0-A8151D17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2343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A5E45-3719-475E-B3E4-F358FB5C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385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DBA21-717B-4FD3-9ACE-2633EA7F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Sponsor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DBEAB-DF1C-4502-9CBE-CE6E42AC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2430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grant or CSR sponsors cover platform, onboarding and training costs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80B42-2D71-4720-8CBC-1928962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2343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C07B3-CAB3-4982-9BB6-28F41278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385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27E16-5B9D-43C0-9EAE-EAD7E0B8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Align framework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97999-66DC-4C46-88B7-B6F59FCC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governing bodies validate CTCF evidence and publication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2F4FD-AEAD-46FE-AF52-08476178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"/>
            <a:ext cx="2343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482D5-6167-4B48-A008-9B289CB6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DAD69-9D69-45F7-A3A3-532F4397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Measure outcomes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E1976-DE83-4F68-AD55-29DE8AD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2430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track reports completed, evidence uploaded, scores improved and donor readability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A7CDB-FF0A-4771-9000-923ACDAB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pilot programme and architecture 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E5CB1-5FAE-433C-B026-5898B1BF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12816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2E121-09C7-4475-A372-63B97EC5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49F6B-E644-45C0-BFFB-B6EAADC6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E3033-9278-4114-B252-1C77CE58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40ECE-B4DA-4443-ADC4-A58F8036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OUTCOMES TO MEASURE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8A01F-BE20-4FE1-BB79-7B070915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858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Success should be measured by governance improvement, not vanity usage.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01E42-6847-4017-8DDA-EF2EDE2C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184E3-4203-4F04-8760-4B80D781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F9995-F543-43B4-B882-64318723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Charity 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A514E-3AC2-4C96-9E36-70AD7706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337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reports submitted, policies adopted, evidence completeness, audit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2C2B8-0A14-40F3-B47F-9865184C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DCB64-2D01-48F9-AD2E-61768A61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9F555-1CE0-4E3A-B70B-8EF1B276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Oversight efficiency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BDFE5-E256-4221-8BAC-DF72404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814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less manual chasing, clearer queues, faster review cycles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7A6EC-9072-469E-BED9-4EEFC084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4BECF-060F-4234-87BA-926C9D7A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4DB21-5BD3-48A8-909D-5CFD58C5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13E88-181D-4BEB-B260-EC2A0AC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29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profile readability, receipt trust, repeat giving intent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06CB7-355D-40E5-9754-AFF88647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2D973-4F9F-4BD7-BBA6-646D3899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B63B5-9090-411F-92AB-694F3497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Sponsor impact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2601F-10AB-4A64-A155-3087FE51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768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number of organizations subsidized, training completed, public-good value created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F0B75E-FA9F-4F26-8EEA-400531A5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docs/pitch monitoring and evaluation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38370-E7EA-43C6-A11A-01A62F72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66639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77AC7-8863-4F55-850D-505568C2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7D489-F9E3-4D22-B5B2-DAAFB341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06919-A22B-42BD-8E08-79A46D89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788FD-3C13-4764-BA92-8745B048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2CEAC-9D22-4025-8BB0-0ABB26E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858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Help AGP become shared, sponsored governance infrastructure for trusted giving.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57DD6-6391-4C8A-8BCD-90A8E827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F4AF6-5193-4059-A3B5-B5CCB1AB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Governing bodies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FC580-FA50-4937-B678-92338423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endorse pilot guardrails, align evidence standards and nominate reviewers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0F252-5B52-4AB2-9995-D7BEE07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0990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3C8F4-3EF9-4420-B2D9-ADFD3905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Charity organizations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8547C-D05B-43AB-8629-98E2AD83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join pilot cohort and use AGP for real governance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78A6B-EBC6-492C-8512-4B0C4BF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3340B-B7CA-4AF3-870A-F891A00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Corporate sponsors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24365-978B-4965-BDED-ECBD321C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fund access, onboarding, training and support for selected organizations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C46A5-F992-471D-A859-8B771AEF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5290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C88B5-764A-4D00-B3E2-F4F640E8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/ community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88CB9-32E5-4848-AB5C-06D1EBD7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2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the infaq/sadaqah sponsorship pool and give through verified profiles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EC563-2015-4AF6-B55B-9676FD3E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Prepared for discussion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4D847-0848-4FE3-B15E-F0B166C0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6290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2026-07-08T04:41:08.1860000Z</dcterms:created>
  <dcterms:modified xsi:type="dcterms:W3CDTF">2026-07-08T04:41:08.1860000Z</dcterms:modified>
</coreProperties>
</file>