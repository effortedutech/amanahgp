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D02F9924-5EB4-98DC-B830-85BF687E0F3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F5B8A-939B-E8A8-C990-821B32418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3021C-0B74-BD2B-05C1-3B7129729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F2A2-5057-69E2-92BF-1D06333B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2DA4-F6AE-747C-9C65-EF16786E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F35E-82A2-B0E5-F74F-5EC62DEE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46C45C1-0113-CE8E-780D-033D5BC94B3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2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A62612AA-7928-1115-48BE-5EED4BD66502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3C1D5-F759-67BA-DED1-47A8C67C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8EDE-0BFA-3F7B-B491-62045B45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FB3F-C565-A83D-6F6F-7BEE495D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146D-9EA7-D60B-26C4-278B8157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F4D1-0DD6-7AF7-9A65-72F92D0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BF6D3631-3EEB-0252-5C5E-C0F195DA352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43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27F4016-FADF-575B-E566-FBE974DFD31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B00CC-1180-2194-71F4-7B5856C2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557C-16AA-2CD7-D909-4524C1CC9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1CA7-E066-A8C7-EE21-86D3C9D0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1083C-393B-47FB-20C2-599BAC81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4AF9-9DCA-1449-A74E-76E2E1CA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FF25EFA2-62C5-F470-6BE4-A7D2B80E26CB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4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EF77E54-314B-C332-BCB4-D5C5659DBF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19AC2-0257-CF11-75D6-1B66A596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EA5C-FAE5-7944-138A-358612649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B61C-F3B6-349B-552F-690A7ECC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DF433-057D-7166-585E-46C182A1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A21F-246D-8D4D-9358-E8AE96A6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B1AFF-CF77-3DD3-C01E-034CA3E9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6616A167-45B0-1AD2-C84C-74A8CF683DE7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33EB8269-8DBD-F5D1-8A5E-EB09B248C8F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DBC84-3696-4CD5-5355-C418EE0C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B6BFB-E08E-CCCD-FF63-89989496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9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BA3-0166-CDE3-CF97-41BF61891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88174-CC42-D0D4-8B7A-1019EF016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02458-EAEF-505D-5B01-03E891213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FF8E0-5D1B-E686-FE2F-47EA50B2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446B2-1B44-DF63-C94D-FE61629A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A5FDC-BBEA-0B53-F457-99E054AA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F244B9EE-EFFD-38F3-E9C0-60807C7E79E0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54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D22D24D5-4192-7CC3-4F15-E77C73C5FF9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96AA8-8262-13E6-D587-C8F671D4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D4C54-D6DC-A1A9-2D5D-8D947BFE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165BD-C6E5-84E0-67DE-A09AB445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D7015-8167-C03B-B5F7-0963C5AF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52C167F2-0205-5F0E-5346-5D2790FEFB9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13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1E94FA38-29B7-90B4-E440-0FE5E5C94881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339C8-4959-A78E-DA2D-53386EC9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60D0A-97B3-D282-EF7A-ED5AA8D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DE3D1-8A83-CCD8-F68B-F72E7AD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3E4BE00F-9550-55BC-5EE2-1587DE731C29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07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EE8D5C60-F715-F20D-E915-7AED89D35BE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4BA90-4B34-3BB4-BF99-81D8A93A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9231-E99E-D51B-DB6B-3716DDBD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FE75A-7C16-B8EC-FFED-45CD3D7F9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1F34F-CD67-DEF9-3357-7E7414C4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DD720-4832-F855-CF44-6F7206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1CE8-925E-AB9E-F756-5F81F503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C7D4731A-880E-D40A-32BD-67A6A496B83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6817C2F5-9797-3E9B-2CA6-9C3033142E8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2D4A8-84CC-F7E0-DD79-8C7576C7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467BB-B238-98E6-FBD9-6A53C667C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B92D9-092A-6A10-163B-6FE999266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E7C50-81EE-2B96-6CEE-7FAFB651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A5B7-F036-4C69-596D-C2013B33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E6A7F-827A-70B8-66CA-64B3DB9F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D71C8415-D012-C321-82F2-0CDF75FAB8CD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08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C624AC6-BC06-B765-FE93-448AAC9A6E1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F47CE-BA54-B1E0-B90F-6BEB31DE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EC043-4719-5247-0723-FBAD2999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A972-80AD-B0BF-7C86-2000654F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CA98-CEE0-00C4-FFB2-E8D9F631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2569-61F4-6807-323F-C5F2233E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2ABD67BF-241D-F2F9-2DB7-C99D41BCCF4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509F248E-9EC0-D84D-84A5-49032958167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CDF78-53E2-9A95-97CB-5280381EC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542C2-F709-715C-4A0B-A23F38161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4E83-DD69-8E73-E1EB-059FD6D8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2F4C-A316-6738-E7DD-A145D0AC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BE63-6CD1-96FC-3602-A56ED28A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05303FD-E382-817B-823A-A1A807D7E2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8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6504-55BF-6F9F-2703-BD74E12C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12C6A-D867-49D0-CF27-ED57B63CE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B60E-0153-41FC-0149-44F143B6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D58F-D77A-4DBC-9A66-B6A09FD5A3F7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FE82-99D2-320A-20FC-3FC82DB7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28A2-1DB8-94E6-5F90-F8CF9422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2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Dark Placeholde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3EF592C-44B6-DD6A-1042-75D4EBC03E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A8A1F8-B06B-3395-077C-B78DAF5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B4E8-10EC-3729-7637-ACF974D2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9D017-FED6-9049-F5BE-2648E901B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0D58F-D77A-4DBC-9A66-B6A09FD5A3F7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7B2BB-CC08-5961-0D42-C33458A4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C19B-AD9C-45AF-12DC-8E78B5F09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DCEE22BF-9D2E-612F-D6E3-99E831DBD191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B1A8-2FA5-E7A0-1F5B-65AB273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 dirty="0">
                <a:solidFill>
                  <a:srgbClr val="F6F1E7"/>
                </a:solidFill>
                <a:latin typeface="Georgia" panose="02040502050405020303" pitchFamily="18" charset="0"/>
              </a:rPr>
              <a:t>TAKLIMAT STAKEHOLDER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D3AD8-83EA-51C3-C797-C31A39973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membina semula keyakinan penderma melalui tadbir urus yang boleh disemak.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55BB6-B675-0D33-DCA3-B3EA026BE5B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F0E76-3151-7A4F-E504-4D2BEB731886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BF37F-892B-630F-1616-E69916EDE23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DABCE-A835-8DDF-73FE-3F94C161FA5A}"/>
              </a:ext>
            </a:extLst>
          </p:cNvPr>
          <p:cNvSpPr>
            <a:spLocks noGrp="1"/>
          </p:cNvSpPr>
          <p:nvPr/>
        </p:nvSpPr>
        <p:spPr>
          <a:xfrm>
            <a:off x="2869046" y="287020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E019E-FD30-C814-5120-14E627571A94}"/>
              </a:ext>
            </a:extLst>
          </p:cNvPr>
          <p:cNvSpPr>
            <a:spLocks noGrp="1"/>
          </p:cNvSpPr>
          <p:nvPr/>
        </p:nvSpPr>
        <p:spPr>
          <a:xfrm>
            <a:off x="3116696" y="30416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A9EDEA-BA70-7827-4547-79D584115485}"/>
              </a:ext>
            </a:extLst>
          </p:cNvPr>
          <p:cNvSpPr>
            <a:spLocks noGrp="1"/>
          </p:cNvSpPr>
          <p:nvPr/>
        </p:nvSpPr>
        <p:spPr>
          <a:xfrm>
            <a:off x="3116696" y="3289300"/>
            <a:ext cx="2249632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awam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untuk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penderma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FF0A2-3C52-47A9-F6DB-F626954910CC}"/>
              </a:ext>
            </a:extLst>
          </p:cNvPr>
          <p:cNvSpPr>
            <a:spLocks noGrp="1"/>
          </p:cNvSpPr>
          <p:nvPr/>
        </p:nvSpPr>
        <p:spPr>
          <a:xfrm>
            <a:off x="2869046" y="393700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42359-C179-D5CD-DA64-01B0797834C4}"/>
              </a:ext>
            </a:extLst>
          </p:cNvPr>
          <p:cNvSpPr>
            <a:spLocks noGrp="1"/>
          </p:cNvSpPr>
          <p:nvPr/>
        </p:nvSpPr>
        <p:spPr>
          <a:xfrm>
            <a:off x="3116696" y="41084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2FFFF-E03A-805A-6FB9-FE8216D3233F}"/>
              </a:ext>
            </a:extLst>
          </p:cNvPr>
          <p:cNvSpPr>
            <a:spLocks noGrp="1"/>
          </p:cNvSpPr>
          <p:nvPr/>
        </p:nvSpPr>
        <p:spPr>
          <a:xfrm>
            <a:off x="3116696" y="4356100"/>
            <a:ext cx="2249632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kerja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tadbir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urus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D30F02-E89E-EE83-A912-EE7A195A63A0}"/>
              </a:ext>
            </a:extLst>
          </p:cNvPr>
          <p:cNvSpPr>
            <a:spLocks noGrp="1"/>
          </p:cNvSpPr>
          <p:nvPr/>
        </p:nvSpPr>
        <p:spPr>
          <a:xfrm>
            <a:off x="2869046" y="500380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09F83-65D9-11B4-1ABB-820AC2CAFE83}"/>
              </a:ext>
            </a:extLst>
          </p:cNvPr>
          <p:cNvSpPr>
            <a:spLocks noGrp="1"/>
          </p:cNvSpPr>
          <p:nvPr/>
        </p:nvSpPr>
        <p:spPr>
          <a:xfrm>
            <a:off x="3116696" y="51752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B0C29-88FB-271D-38E7-13FA8E3AEE82}"/>
              </a:ext>
            </a:extLst>
          </p:cNvPr>
          <p:cNvSpPr>
            <a:spLocks noGrp="1"/>
          </p:cNvSpPr>
          <p:nvPr/>
        </p:nvSpPr>
        <p:spPr>
          <a:xfrm>
            <a:off x="3116696" y="5422900"/>
            <a:ext cx="2249632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pensijilan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dan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penerbitan</a:t>
            </a:r>
            <a:endParaRPr sz="1000" b="0" dirty="0">
              <a:solidFill>
                <a:srgbClr val="C8D5C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9DA49-1124-C370-A085-B126BF4CD95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Dek AGP untuk pihak berkepentingan - versi Bahasa Melayu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5F60D-7D36-5F37-04C1-3E021A9ABD3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3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8F11-8932-9B03-47F5-0570AB0B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 dirty="0">
                <a:solidFill>
                  <a:srgbClr val="F6F1E7"/>
                </a:solidFill>
                <a:latin typeface="Georgia" panose="02040502050405020303" pitchFamily="18" charset="0"/>
              </a:rPr>
              <a:t>MISI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F66DB-237B-5DB0-5A90-79D55EC4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wujud kerana kepercayaan ialah asas kepada pemberian.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568CE-C965-5C7B-AC10-5C6E2B032AF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799BB-F8F6-F03E-615E-F781A906C92D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B4B54-B0A7-F95A-456A-8A415FB43F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D0DAA5-66D3-B2A0-C40B-2A498B1FAED6}"/>
              </a:ext>
            </a:extLst>
          </p:cNvPr>
          <p:cNvSpPr>
            <a:spLocks noGrp="1"/>
          </p:cNvSpPr>
          <p:nvPr/>
        </p:nvSpPr>
        <p:spPr>
          <a:xfrm>
            <a:off x="742949" y="3448050"/>
            <a:ext cx="3699741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2CB40-F689-5E5F-56F5-4BA05698644C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ADDCB-6ACF-1B71-5399-80B0DE965792}"/>
              </a:ext>
            </a:extLst>
          </p:cNvPr>
          <p:cNvSpPr>
            <a:spLocks noGrp="1"/>
          </p:cNvSpPr>
          <p:nvPr/>
        </p:nvSpPr>
        <p:spPr>
          <a:xfrm>
            <a:off x="971549" y="3562350"/>
            <a:ext cx="3369541" cy="1691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970B8-16DD-8048-6EEC-CD28560D346A}"/>
              </a:ext>
            </a:extLst>
          </p:cNvPr>
          <p:cNvSpPr>
            <a:spLocks noGrp="1"/>
          </p:cNvSpPr>
          <p:nvPr/>
        </p:nvSpPr>
        <p:spPr>
          <a:xfrm>
            <a:off x="46228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untuk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konteks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ROS, JAKIM, SIRC dan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keperluan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negeri.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5506C-0ABF-C68D-30FB-4D6415C710CA}"/>
              </a:ext>
            </a:extLst>
          </p:cNvPr>
          <p:cNvSpPr>
            <a:spLocks noGrp="1"/>
          </p:cNvSpPr>
          <p:nvPr/>
        </p:nvSpPr>
        <p:spPr>
          <a:xfrm>
            <a:off x="742949" y="4057650"/>
            <a:ext cx="3699741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F3C40-A835-F5D8-9A4C-12151AB2A974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E6B80-2D2B-D986-84A5-A1A40DCD43DF}"/>
              </a:ext>
            </a:extLst>
          </p:cNvPr>
          <p:cNvSpPr>
            <a:spLocks noGrp="1"/>
          </p:cNvSpPr>
          <p:nvPr/>
        </p:nvSpPr>
        <p:spPr>
          <a:xfrm>
            <a:off x="971549" y="4171950"/>
            <a:ext cx="3369541" cy="1691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DEF51-D2E1-6E80-2E35-5F4B98C1EC38}"/>
              </a:ext>
            </a:extLst>
          </p:cNvPr>
          <p:cNvSpPr>
            <a:spLocks noGrp="1"/>
          </p:cNvSpPr>
          <p:nvPr/>
        </p:nvSpPr>
        <p:spPr>
          <a:xfrm>
            <a:off x="46228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354BB9-51EC-4F17-3A9C-39CAAEF00D21}"/>
              </a:ext>
            </a:extLst>
          </p:cNvPr>
          <p:cNvSpPr>
            <a:spLocks noGrp="1"/>
          </p:cNvSpPr>
          <p:nvPr/>
        </p:nvSpPr>
        <p:spPr>
          <a:xfrm>
            <a:off x="742949" y="4667250"/>
            <a:ext cx="3699741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E856C-EB8A-6E31-B023-444A1987495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EE128-A8DF-10F3-16DE-2625BB565EE4}"/>
              </a:ext>
            </a:extLst>
          </p:cNvPr>
          <p:cNvSpPr>
            <a:spLocks noGrp="1"/>
          </p:cNvSpPr>
          <p:nvPr/>
        </p:nvSpPr>
        <p:spPr>
          <a:xfrm>
            <a:off x="971549" y="4781550"/>
            <a:ext cx="3369541" cy="1691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7423EB-C9CB-4723-C1F0-8072384F7535}"/>
              </a:ext>
            </a:extLst>
          </p:cNvPr>
          <p:cNvSpPr>
            <a:spLocks noGrp="1"/>
          </p:cNvSpPr>
          <p:nvPr/>
        </p:nvSpPr>
        <p:spPr>
          <a:xfrm>
            <a:off x="46228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E27AAA-073D-C266-94CF-8E0B95572FD0}"/>
              </a:ext>
            </a:extLst>
          </p:cNvPr>
          <p:cNvSpPr>
            <a:spLocks noGrp="1"/>
          </p:cNvSpPr>
          <p:nvPr/>
        </p:nvSpPr>
        <p:spPr>
          <a:xfrm>
            <a:off x="742949" y="5276850"/>
            <a:ext cx="3699741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D93FD-6650-CAE3-49C8-723E95CD24D3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A41571-F9CC-8FD9-EB4B-4DA8ABE4D549}"/>
              </a:ext>
            </a:extLst>
          </p:cNvPr>
          <p:cNvSpPr>
            <a:spLocks noGrp="1"/>
          </p:cNvSpPr>
          <p:nvPr/>
        </p:nvSpPr>
        <p:spPr>
          <a:xfrm>
            <a:off x="971549" y="5391150"/>
            <a:ext cx="3369541" cy="1691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</a:t>
            </a:r>
            <a:r>
              <a:rPr sz="975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untuk</a:t>
            </a:r>
            <a:r>
              <a:rPr sz="97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pelbagai</a:t>
            </a:r>
            <a:r>
              <a:rPr sz="97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</a:t>
            </a:r>
            <a:endParaRPr sz="975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C78829-F3EC-5E6A-B5DB-A51FAB59BDB4}"/>
              </a:ext>
            </a:extLst>
          </p:cNvPr>
          <p:cNvSpPr>
            <a:spLocks noGrp="1"/>
          </p:cNvSpPr>
          <p:nvPr/>
        </p:nvSpPr>
        <p:spPr>
          <a:xfrm>
            <a:off x="4622800" y="5391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22FE5-A92A-7FFB-A3F6-2D16825625EA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apps/user/app/about/page.tsx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190C8-DB0E-2B35-B3D3-987B6D644F2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39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002C-EC6F-4378-1F5C-00D705CC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PRINSIP TERAS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B09BA-A159-13C0-6DA1-54E93516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tonggak Amanah menjadi asas reka bentuk platform.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0B724-4197-56B6-E299-D74A65EE85F2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D51BE-534A-292C-E28B-43F68FA002DC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E5FA1-545C-51A0-F583-73553A36084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397F5-416D-A833-885F-C28C464C4BB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AABF3-584B-7E42-FF4A-69D64C9C6241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904E7-BF81-12EA-B9CD-05A8CF50AF84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</a:t>
            </a:r>
            <a:endParaRPr lang="en-US" sz="1200" b="1" dirty="0">
              <a:solidFill>
                <a:srgbClr val="0E1B18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- </a:t>
            </a:r>
            <a:r>
              <a:rPr sz="1200" b="1" dirty="0" err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Kepercayaan</a:t>
            </a:r>
            <a:endParaRPr sz="1200" b="1" dirty="0">
              <a:solidFill>
                <a:srgbClr val="0E1B1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735D0-3A14-785D-1EB1-73763846E88B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20A684-8908-979B-2A02-F0A0830DF701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777D66-1DB5-A65B-27AA-AF078037FB72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105BEE-0365-7008-71B0-3E54D929151C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</a:t>
            </a:r>
            <a:r>
              <a:rPr sz="1200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 </a:t>
            </a:r>
            <a:endParaRPr lang="en-US" sz="1200" b="1" dirty="0">
              <a:solidFill>
                <a:srgbClr val="0E1B18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- </a:t>
            </a:r>
            <a:r>
              <a:rPr sz="1200" b="1" dirty="0" err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Ketelusan</a:t>
            </a:r>
            <a:endParaRPr sz="1200" b="1" dirty="0">
              <a:solidFill>
                <a:srgbClr val="0E1B1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71F9D7-4A77-3B7C-A4C6-98FD44886D9E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B2A39-2CC9-1EA1-9510-B5EA1ADFB2A5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A04F4-7936-FE29-7CD5-41F3D52530C6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712168-25E1-056A-4DB0-365430EC5842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649682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</a:t>
            </a:r>
            <a:r>
              <a:rPr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endParaRPr lang="en-US" sz="120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- </a:t>
            </a: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Kebertanggungjawaban</a:t>
            </a:r>
            <a:endParaRPr sz="120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53460-7F46-A173-0C24-1499215463F1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55EB6-1919-5DC7-98B5-15178FF226C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Our principles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ECD78-EC52-FD87-797A-F728D3D7957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753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331C-C92E-1211-96B8-2161F416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ASAS SYARIAH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41A52-70C5-571C-9534-02E61FA4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Platform ini menterjemah tanggungjawab amanah kepada kawalan tadbir urus.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91E97D-DF7D-42D0-760B-9BB4E69EDA3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F3EC0-B148-8068-2CF0-366679859782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C1170-3219-99AE-3D9F-A149F36E553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4F937-23BC-E81A-2A4C-8BF990D90DB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A063F1-ABF2-F9F5-7A88-2016AB8628E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3AFB7-6279-DE61-C5E9-5B180B91C5E7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155CA-FC7F-D5EF-0406-2B053B0B5DAF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F2494-7510-1DC5-43B5-2D99718A28A7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6DE24-4020-A62F-4366-68A7B92600DB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6B6866-6730-FEB8-7308-5D5E2110109E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40733-3423-1AED-DBDA-2C5206AFDE37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30D163-F5F0-1482-C8FC-8650C2FD067A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79E9CD-8491-76FD-6FFD-04BC47F7B430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C3229-B0F1-B840-65E7-D98D95D3DBF4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3DBA4-5ED8-B7C7-F0BF-788D372A2AB6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76469-9B0C-FFCA-FF90-D0373623A9C3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71B09-B188-91C0-A6C7-56B8E39D4F62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F73419-B907-C4B3-D159-A830F82A4452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0D1822-AB55-1F9A-B139-83228658DD0B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68850A-5A24-70E3-E102-1C8A96609708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A7C31-CB7A-B9BF-FEB4-A7E8F99CEBAD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58E105-D69E-6DD4-A307-50E51866902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7658B5-9681-ECC8-445E-A4CA654B36AE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5E066F-99C5-44EB-E24D-5B69100EE5FF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CCCC29-538A-58C2-D247-2FC1D4FF9D71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8EC32-C591-15BB-94BC-31BEFE32CFB8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12E93-5458-8534-A700-B884DE0A9BEA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2E3C26-204C-AED2-9E70-C5C720859E72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3FEC3-11E5-6830-5DBB-EE284376B583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EFB460-1BA3-EF28-171B-54457593365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5B5304-38F0-DD42-2C25-5CC1FAA0F0F1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0B8847-74F5-9035-5F65-1912D9FE83A8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B7A835-584C-FD0E-D73E-CA540E507D32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90B9FA-1A0F-D118-D28C-4816D0F92E6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Built on Quran and Sunnah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7E5EB4-A714-2608-9F53-AC5ECE30CAC1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581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D90C-AE74-608F-81EB-4B07FA82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PERJALANAN PENDERMA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C2A96-3DDE-9D9B-EA58-E1C23D66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Pengalaman memberi dibuat ringkas; lapisan pengesahan kekal ketat.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AA0B8-69F3-69E4-051D-B85E23AC32D8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A2A82-1AB8-C286-3A78-93BF9DDABA10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476B2-D98E-4CEB-7E56-87EB26CD1F7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3C371-2F8A-1D90-5131-9E1A7DF8AA56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5AE48-2D80-B4A2-59C4-25AD8204B9A6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ADE0A-85F4-4D4C-425C-5A94BE92E7C5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negeri,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jenis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dana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CF600-556F-7BAB-014C-428FC1942B8F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72703-1855-DDA7-E192-2D6942E4E4DA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7243A-F132-01CD-CBB0-A17DABDBABCA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1EA456-CE54-C2D9-BDE6-BA06AD5E1D94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dan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skor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9B27E-43E0-0795-68A4-8FC41A2D0168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CADE-3DB4-005C-2527-9B36F3FF41C2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C99E54-B975-E308-6C78-30861F997CC9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998DC0-4FBE-D326-2800-3C63AA49B64B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4689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terus</a:t>
            </a:r>
            <a:endParaRPr sz="1000" b="0" dirty="0">
              <a:solidFill>
                <a:srgbClr val="C8D5C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28541-C94D-ED68-C34F-55109E0B95ED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915EE0-CCA2-B411-FA74-E2644026EBE3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12956E-E0CE-55B7-3186-30F446D7886A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1A36C3-31CC-E42E-8CC2-1D4D3ADB39F4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dan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impak</a:t>
            </a:r>
            <a:endParaRPr sz="1000" b="0" dirty="0">
              <a:solidFill>
                <a:srgbClr val="C8D5C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39FCA-9E20-C54D-A939-57F702455C7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Your giving journey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C4326-307A-9C86-DDA1-132B6A22132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8055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2878-2D61-1E69-D281-8252AED9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PENSIJILAN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02364-6133-096D-CBFE-BDE95822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CTCF menilai organisasi melalui lima lapisan; Lapisan 1 ialah syarat kelayakan.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7682-8B98-7DE5-C108-22DA5B09FC0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DD55A-3977-FB63-970D-052A1B4D3826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8F0FB-0A65-A848-10E5-AD4882C0BBC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FDEF85-0FD0-004D-AA07-670D8D98B1E8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5C248-21EC-733C-B39A-507F39A47442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A414F-B50F-AC24-CA35-254F09C83EAB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38B41E-A73D-1AF9-9ACB-01807498CBB0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197A84-BD12-F20D-7692-5134AEAE4327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8564C-D31E-D53E-8F78-14CFCA4BAE54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12DF2-4DC8-30B6-C3A6-5755BA0F24C9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8E723-2B0A-1F1C-EEC0-8E6C5893CC0B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AE8B02-B736-87B9-F27F-C021DD209BC9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8D8149-9479-074D-05BC-9045CF73D1A2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27EF0-6057-C22F-4BED-B4F1024C7BFE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033825-2844-06A2-D407-08B54603C4D8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5FE98-34D4-78D2-E198-48AE946E5744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2C690C-1603-2283-F7CA-04C532121619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836C63-CE75-D3F2-EBA3-F9ED6B0CE4AC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91C9C4-6332-E5DE-422D-8710878F48BB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42C788-1BD4-38C3-D05F-3849536A47B2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AB012-B8A0-135E-5F5B-C458D45C074B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E3F4A-D6A9-5DE1-E54D-7FAB95F2148F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C29AAB-44ED-AD47-EC93-92190EA7AC0C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956F8F-762E-EC61-D10C-20CCFC6F33B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09335A-8AE2-8895-641E-E422A618A135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14AB1-BF88-0D19-72E1-0756906D15B6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6EAF2B-27B8-0AD7-181E-21E2B5DF0177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F5A497-C310-05C1-5B15-623AEC994671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A2C427-5628-0C00-BE5A-E2ED07066F9C}"/>
              </a:ext>
            </a:extLst>
          </p:cNvPr>
          <p:cNvSpPr>
            <a:spLocks noGrp="1"/>
          </p:cNvSpPr>
          <p:nvPr/>
        </p:nvSpPr>
        <p:spPr>
          <a:xfrm>
            <a:off x="6057900" y="7048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07D16B-688A-0FF0-13E4-1B40DD9397DC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</a:t>
            </a:r>
            <a:r>
              <a:rPr sz="1125" b="1" dirty="0">
                <a:solidFill>
                  <a:srgbClr val="D8A84E"/>
                </a:solidFill>
                <a:latin typeface="Aptos"/>
                <a:ea typeface="Aptos"/>
                <a:cs typeface="Aptos"/>
              </a:rPr>
              <a:t> Amanah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3F2405-2DB7-C5BA-6D50-F051E511D247}"/>
              </a:ext>
            </a:extLst>
          </p:cNvPr>
          <p:cNvSpPr>
            <a:spLocks noGrp="1"/>
          </p:cNvSpPr>
          <p:nvPr/>
        </p:nvSpPr>
        <p:spPr>
          <a:xfrm>
            <a:off x="6343650" y="12573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62670-3893-26D1-149B-F893916B828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CTCF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26EE1-3B61-83AE-4DE5-B9354940621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41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282-281B-AC46-B94A-3981BAF3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AMANAH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8F82-F097-352A-0C05-A1DBE62BA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Index ialah skor hidup yang dikira daripada bukti disahkan.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4F4E8-CF7A-751F-6CE8-C6F518D19D1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E72FD-91EF-9546-DAB8-8D8E117621CC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B651B-3581-BFEE-E8E1-F689C2DAA93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CAF05-4617-F0F6-961D-8E09367CD2E8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4D0A0-BDAF-5A16-529D-8B152948E18D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87DA6-331E-87ED-F922-C5249D8FE575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DD3A4-3172-25C9-81AC-A82FC50AD9D5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7EC8C6-1140-AED3-8F09-0296328E0B4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AC652-8303-2060-7937-32C310E4D623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42BD8-294C-CD41-B7AC-B798BC61CF0C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161970-37D2-A7C6-16FD-6CED14EEDED7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3E6F6E-CC44-C3F0-A189-24431A056D2B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A5276-464D-E274-4C90-97610A7DD57C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D4426-7DC4-C4F2-E65A-B669C650C083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B670C-C367-BD96-C245-1C168610AFF0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5BE18-DE21-7D9E-7BFA-BAD034AF5B1A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22FC7B-C423-C8C4-D51E-A842478E6B3F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AC881A-CA75-8A04-E7E9-FFFE4A4C07F2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33A8E-5E2F-CC20-A7D4-3ED0ABA4BE17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AD6A28-CADF-2352-A8BD-4DD8E9348F70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D31C4-EF3E-940A-4C7B-32EF5FEE18C2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367EC9-ABA8-D1DB-E04B-F15523D3F579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3857E-B8C8-B4F0-00CB-460B69A653EE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71798C-6114-AF48-35E5-8843B66A4052}"/>
              </a:ext>
            </a:extLst>
          </p:cNvPr>
          <p:cNvSpPr>
            <a:spLocks noGrp="1"/>
          </p:cNvSpPr>
          <p:nvPr/>
        </p:nvSpPr>
        <p:spPr>
          <a:xfrm>
            <a:off x="6115050" y="69850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31CB6-A163-7EA7-F59A-A732F582AA8E}"/>
              </a:ext>
            </a:extLst>
          </p:cNvPr>
          <p:cNvSpPr>
            <a:spLocks noGrp="1"/>
          </p:cNvSpPr>
          <p:nvPr/>
        </p:nvSpPr>
        <p:spPr>
          <a:xfrm>
            <a:off x="6400800" y="9842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64DFF3-4743-1C91-C526-1F0782505948}"/>
              </a:ext>
            </a:extLst>
          </p:cNvPr>
          <p:cNvSpPr>
            <a:spLocks noGrp="1"/>
          </p:cNvSpPr>
          <p:nvPr/>
        </p:nvSpPr>
        <p:spPr>
          <a:xfrm>
            <a:off x="6400800" y="132715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versi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menyimpan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timestamp,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sebab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perubahan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dan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pecahan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skor</a:t>
            </a:r>
            <a:r>
              <a:rPr sz="9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A2F51-DF4E-47DA-2167-8A032777AA7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Amanah Index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51A5D-33B5-58B0-EB04-1A5FE47E7FD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12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5B5F-CA18-CA5C-B76D-376E789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ALIRAN SUMBANGAN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4628-9ADD-C33F-7E89-6B2988748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ialah lapisan ketelusan, bukan perantara yang memegang dana.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62B0E-13E4-9868-33EE-34DF6520286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5792D-1352-9BA3-034A-C15A0AE0899B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2AFB4-3B3A-B56F-3E79-473CB5FA229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7F2BA-CE00-3E52-AE86-04EAA4F47C1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1F57C-841A-0765-6778-D12913AB008E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E974F-6D75-7273-1A5E-2F1C9BA9C3E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927614-A603-DEED-5492-6A60B62A35F4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F619C-FD14-49FC-B727-D7B00AC173CD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1FB12-1176-C78B-5E97-ED588ED11046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AA6946-5A94-5324-2488-AC0BEA1F722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3B2D1-8BF2-6CAB-4972-52C86218CD8F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73284-88A1-BB60-75E3-2D3C12FDF938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11007-EEB7-096D-12AA-5FF27AA01A3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59707A-DD97-6E4A-4EBB-D53264F1EF4D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9E4E16-C4F9-4727-96DA-35BCF8401918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37889-2FB2-6CFE-B21F-717019E00453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8658C-A4FD-D197-C3BA-2057D2C03A27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5C70D-A8D7-C314-0242-14435ECE7F5F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093C1-2249-91A0-48E5-6759880F84F3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76224-2864-78DF-45EC-DAE707F8B366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F3964D-BB8F-4006-2035-4340098B7E92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1FF00A-77DF-467F-868D-804EE3F91942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ADDB05-0F59-27E9-5463-1A049CA911C3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How donations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C2CD6A-0944-6E87-6D63-3FC26B0D07C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845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3CA-02BA-9811-C24C-E9E6A5A9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SISTEM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D9CFF-083E-105E-0081-83943FB6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permukaan produk berkongsi satu enjin bukti dan kepercayaan.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1AF8C-CC7B-8B1D-ECEE-EE5AC36324D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48A5E-C1D3-868A-59B0-737A3D358C8E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AE385-D2C6-F305-466A-339D4BEE52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1593A-DA8D-C51D-5C9F-4A9DC156E930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30F8C-CB6E-E031-F445-015F3D68F02B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E8597F-1F07-8692-2D18-A74281FD66CF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39FB2-1A14-7DB7-81C2-379A09DCDD14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7B2229-C407-4C03-BCBB-4D8772570307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27B96-9DB3-B29C-6B89-C2CB579BA568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C2187-E3D2-84BB-BEF0-98ABBC3EADF5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44F9F-A917-6735-B3A7-4CFEF8B81BF8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358CF-C71D-4641-D529-E73E150489CF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2EDAC-6C90-ECD3-D16C-046887EE31F2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977265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B6758D-88D6-DA2F-550E-1524B3C48B81}"/>
              </a:ext>
            </a:extLst>
          </p:cNvPr>
          <p:cNvSpPr>
            <a:spLocks noGrp="1"/>
          </p:cNvSpPr>
          <p:nvPr/>
        </p:nvSpPr>
        <p:spPr>
          <a:xfrm>
            <a:off x="3913676" y="4384675"/>
            <a:ext cx="365979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</a:t>
            </a:r>
            <a:r>
              <a:rPr sz="105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lapisan</a:t>
            </a:r>
            <a:r>
              <a:rPr sz="10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bukti</a:t>
            </a:r>
            <a:r>
              <a:rPr sz="10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Supabase</a:t>
            </a:r>
            <a:endParaRPr sz="105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C47E89-1DDB-AB53-BF29-4348ED6A0872}"/>
              </a:ext>
            </a:extLst>
          </p:cNvPr>
          <p:cNvSpPr>
            <a:spLocks noGrp="1"/>
          </p:cNvSpPr>
          <p:nvPr/>
        </p:nvSpPr>
        <p:spPr>
          <a:xfrm>
            <a:off x="1838325" y="4640262"/>
            <a:ext cx="7715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dengan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RLS, private storage, signed URLs, audit log append-only, trust event dan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sejarah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skor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8ACC7-BD67-EC12-CAE8-5D507A8999F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docs/ARCHITECTURE_MAP.md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A7B4A-D4FC-CE7B-EE3D-D679F3B5C9D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304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5AE1-2CD9-A877-EA6F-0FC29FF6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KEBERTANGGUNGJAWABAN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E434-D04D-B18B-DFF9-7D652911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Mas'uliyyah dibina ke dalam seni bina, bukan diletakkan sebagai slogan.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D40B98-BA18-5B38-9F87-CC7A1256E46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B745-BBCC-B79E-6C38-ACD95631BC69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2413-339B-0EAB-59D2-3DA3FB8FCE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A1371-6BA2-8C2A-9D85-61EC727435A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9CCEF-36B4-5541-7CD3-6B1B933E9F16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0190F-0616-BABE-61DD-C38763AA7977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penting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direkod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dan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diberi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timestamp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E43B8-B3F1-A86F-9571-F9F24079CF72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F7EB-BB4F-AB22-AAE5-25C2DAA3A41B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37279-7BEA-AB38-49A0-5BC82230EA01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keputusan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dan snapshot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skor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tidak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diubah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senyap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E855E-BB1B-5319-9DDB-2CAAEDD5B90E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7DB53C-A373-1A27-118F-95CD5F9FFBA8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64B686-D30B-EBA7-C60B-2EE5EBF6CBD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menjadi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batas </a:t>
            </a:r>
            <a:r>
              <a:rPr sz="1000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keselamatan</a:t>
            </a:r>
            <a:r>
              <a:rPr sz="1000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tenant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177F9-14DF-62B8-B324-215812885D8C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E6AD2-6B72-D8AC-1EDD-4C2755EE29D1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3DEC2-3A91-A384-B3C8-6452D379B246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B51942-86A5-1BB8-A497-BA2165BEEE2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principles, ADR-001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654F5-75C2-D3FE-82A1-EA553945F45F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68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2AE7-648A-3473-98EB-F3AFF68B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NILAI UNTUK PIHAK BERKEPENTINGAN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3074-C63A-C05D-E788-4B63C7ABA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Setiap pihak membaca rekod kepercayaan yang sama melalui paparan yang sesuai.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4BA4B-8909-A8BB-1FD7-06F62A7471C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02FF-B0F0-6F56-9574-DF599B5172C5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233DA-95C1-4C6D-E420-EB748441EF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E048-E4EF-D067-DA35-7D33B21A5080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714914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ADCF5-CF69-1217-C758-DBA6CE82DA36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1CCD4F-C1F3-E2CC-E301-42C4BE24CAD1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2307359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51014-D37C-02DC-2C56-8B6B4BD1DFC1}"/>
              </a:ext>
            </a:extLst>
          </p:cNvPr>
          <p:cNvSpPr>
            <a:spLocks noGrp="1"/>
          </p:cNvSpPr>
          <p:nvPr/>
        </p:nvSpPr>
        <p:spPr>
          <a:xfrm>
            <a:off x="4191000" y="2387311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sumbangan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dengan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lebih</a:t>
            </a:r>
            <a:r>
              <a:rPr sz="975" b="0" dirty="0">
                <a:solidFill>
                  <a:srgbClr val="C8D5C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C8D5CF"/>
                </a:solidFill>
                <a:latin typeface="Aptos"/>
                <a:ea typeface="Aptos"/>
                <a:cs typeface="Aptos"/>
              </a:rPr>
              <a:t>yakin</a:t>
            </a:r>
            <a:endParaRPr sz="975" b="0" dirty="0">
              <a:solidFill>
                <a:srgbClr val="C8D5C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FF418-1F54-A087-F24D-D3D631F6676D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89099-4643-B474-D168-BF9DBBCC2C4E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C8906-0A43-673C-0D55-D8F1F97988BF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714914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80528-82C9-F78A-50AE-1F8D96454571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8F5B0-8CCA-F9D4-FFBB-EA95CB6421CC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2307359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</a:t>
            </a:r>
            <a:r>
              <a:rPr sz="97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amal</a:t>
            </a:r>
            <a:r>
              <a:rPr sz="97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/ masjid / NGO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C70A8-1AF8-CAA9-0252-82D23EE5978C}"/>
              </a:ext>
            </a:extLst>
          </p:cNvPr>
          <p:cNvSpPr>
            <a:spLocks noGrp="1"/>
          </p:cNvSpPr>
          <p:nvPr/>
        </p:nvSpPr>
        <p:spPr>
          <a:xfrm>
            <a:off x="4191000" y="2996911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565EC6-8E86-74E5-822A-66C86F9EB80B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EA903-1067-24D3-AAA0-57405A44C5F8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F4B017-E669-1EAC-E7E2-81B3D2C5091C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714914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292FE-4C55-BAFD-4B91-838F91D0BB85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89931-0EF7-6F17-716B-A08D9C803F9F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2307359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A99B07-6CAC-DA3B-591C-4E21488AB3CC}"/>
              </a:ext>
            </a:extLst>
          </p:cNvPr>
          <p:cNvSpPr>
            <a:spLocks noGrp="1"/>
          </p:cNvSpPr>
          <p:nvPr/>
        </p:nvSpPr>
        <p:spPr>
          <a:xfrm>
            <a:off x="4191000" y="3606511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FAA3D6-F8C3-E850-079D-01FA4BED1C91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4E1696-F424-4C1C-8397-0AFA83975DCA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C693B-8BA7-61A3-43B1-DAC92F57B5A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714914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477AF-4E48-7285-61B7-96B3AA755D20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66D4A9-1CDE-29F8-C53D-C17FE28BB7E3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2307359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4A0983-2F54-6DBF-4294-8939100DF52D}"/>
              </a:ext>
            </a:extLst>
          </p:cNvPr>
          <p:cNvSpPr>
            <a:spLocks noGrp="1"/>
          </p:cNvSpPr>
          <p:nvPr/>
        </p:nvSpPr>
        <p:spPr>
          <a:xfrm>
            <a:off x="4191000" y="4216111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BA6C88-79E6-0046-3257-1FB4B6D39512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F499F1-F7EC-5ED1-E710-BD8535788CE2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A85B27-9330-40E9-F83A-26407848EA8E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714914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9F7BC-BFDB-4B03-DBAC-854E18D384F9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788F9E-552E-8CA6-2C3E-6955C7389E5D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2307359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124216-A1D7-71C3-173A-DA67A1873355}"/>
              </a:ext>
            </a:extLst>
          </p:cNvPr>
          <p:cNvSpPr>
            <a:spLocks noGrp="1"/>
          </p:cNvSpPr>
          <p:nvPr/>
        </p:nvSpPr>
        <p:spPr>
          <a:xfrm>
            <a:off x="4191000" y="4825711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F6C014-43BD-0BDD-4CED-7A3398ED3B2B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1505CB-6663-9486-FF2E-FF353F3E51C1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C3D2F-4427-AC01-2A22-E8DC0172D3E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architecture map dan pitch notes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E8EE00-7774-51D3-82E7-CDCC6EA37B7B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2778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A840-A90E-2864-2083-2BAA3D49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PROGRAM RINTIS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098B-2FB8-F470-0681-3BF223459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Program rintis perlu membuktikan amalan tadbir urus, bukan sekadar angka penggunaan.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D29F1-3387-2AC5-D9FC-7CBE6DE24374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69363-60D4-3878-C3FC-07E88A2B39F9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1B260-D3EA-D307-DBB3-8FE5E020A8C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073DE-1186-D507-FB3F-6FFF2B65757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8EB6A-1F97-4F67-603F-6FD5D366B28C}"/>
              </a:ext>
            </a:extLst>
          </p:cNvPr>
          <p:cNvSpPr>
            <a:spLocks noGrp="1"/>
          </p:cNvSpPr>
          <p:nvPr/>
        </p:nvSpPr>
        <p:spPr>
          <a:xfrm>
            <a:off x="952499" y="3295650"/>
            <a:ext cx="2098387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32F63-FF48-EC7E-17CA-A2C4AC1A7FDB}"/>
              </a:ext>
            </a:extLst>
          </p:cNvPr>
          <p:cNvSpPr>
            <a:spLocks noGrp="1"/>
          </p:cNvSpPr>
          <p:nvPr/>
        </p:nvSpPr>
        <p:spPr>
          <a:xfrm>
            <a:off x="952500" y="3714751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</a:t>
            </a:r>
            <a:r>
              <a:rPr sz="825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amal</a:t>
            </a:r>
            <a:r>
              <a:rPr sz="825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masjid, NGO </a:t>
            </a:r>
            <a:r>
              <a:rPr sz="825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atau</a:t>
            </a:r>
            <a:r>
              <a:rPr sz="825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badan waqf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5B2C9-75E7-FC68-47E4-3B5CEF2B9D60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46091-26EE-06DB-2332-C5B5BF6B3A88}"/>
              </a:ext>
            </a:extLst>
          </p:cNvPr>
          <p:cNvSpPr>
            <a:spLocks noGrp="1"/>
          </p:cNvSpPr>
          <p:nvPr/>
        </p:nvSpPr>
        <p:spPr>
          <a:xfrm>
            <a:off x="3562349" y="3295650"/>
            <a:ext cx="2098387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FD16D-EF97-AA4A-D676-D332779969D8}"/>
              </a:ext>
            </a:extLst>
          </p:cNvPr>
          <p:cNvSpPr>
            <a:spLocks noGrp="1"/>
          </p:cNvSpPr>
          <p:nvPr/>
        </p:nvSpPr>
        <p:spPr>
          <a:xfrm>
            <a:off x="3562350" y="3714751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polisi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bukti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dimuat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naik dan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kelulusan</a:t>
            </a:r>
            <a:endParaRPr sz="1000" b="0" dirty="0">
              <a:solidFill>
                <a:srgbClr val="263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A20A2-8353-8AB6-A5FE-00C64E8DDB96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CDE81A-BA21-B9FB-0C3A-BA44A7ED010D}"/>
              </a:ext>
            </a:extLst>
          </p:cNvPr>
          <p:cNvSpPr>
            <a:spLocks noGrp="1"/>
          </p:cNvSpPr>
          <p:nvPr/>
        </p:nvSpPr>
        <p:spPr>
          <a:xfrm>
            <a:off x="6172199" y="3295650"/>
            <a:ext cx="2098387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</a:t>
            </a:r>
            <a:r>
              <a:rPr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isyarat</a:t>
            </a:r>
            <a:r>
              <a:rPr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kepercayaan</a:t>
            </a:r>
            <a:endParaRPr sz="120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25D90-56FE-2DED-9137-386F7E976CD5}"/>
              </a:ext>
            </a:extLst>
          </p:cNvPr>
          <p:cNvSpPr>
            <a:spLocks noGrp="1"/>
          </p:cNvSpPr>
          <p:nvPr/>
        </p:nvSpPr>
        <p:spPr>
          <a:xfrm>
            <a:off x="6172200" y="3714751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B7F0E7-D500-863D-9C3B-D89D6DC1A29D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734186-64ED-0786-B2B0-FC07F8DEE8DE}"/>
              </a:ext>
            </a:extLst>
          </p:cNvPr>
          <p:cNvSpPr>
            <a:spLocks noGrp="1"/>
          </p:cNvSpPr>
          <p:nvPr/>
        </p:nvSpPr>
        <p:spPr>
          <a:xfrm>
            <a:off x="8782049" y="3295650"/>
            <a:ext cx="2098387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</a:t>
            </a:r>
            <a:r>
              <a:rPr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2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</a:t>
            </a:r>
            <a:endParaRPr sz="120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65BC1-97CF-751B-0D4B-DF1773AB2818}"/>
              </a:ext>
            </a:extLst>
          </p:cNvPr>
          <p:cNvSpPr>
            <a:spLocks noGrp="1"/>
          </p:cNvSpPr>
          <p:nvPr/>
        </p:nvSpPr>
        <p:spPr>
          <a:xfrm>
            <a:off x="8782050" y="3714751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29ABE-E595-9B19-91B6-368E8ADA129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pitch notes dan Phase 2 architecture 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8BE4-F15C-7C39-1A44-ED9F5DB17E0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892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A667-F6B4-4D73-4046-DB67EF95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KEPUTUSAN DIPERLUKAN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E5392-B675-CBF6-729B-238BAF600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Yang diperlukan sekarang: penaja, kohort rintis, majlis tadbir dan piawaian bukti.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E032B-C5CB-FE06-DF33-5C9997553C9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7CFA0-08F8-B1A7-2BD9-5CA69786664E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9D376-0746-A152-0C8A-4737AF397D7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CF774-4717-12B1-E3EE-DCDC26B3318B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DA770-831B-F569-2F55-A54F6F143EC3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A9F8F-ECE3-2001-3678-4AC0AB44F0DA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2F39C7-42B2-7ABD-52B3-6939EDA1E50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pasti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</a:t>
            </a:r>
            <a:r>
              <a:rPr sz="10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 wakil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395EE2-914F-0310-9754-B600C59F318F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BD8FF-E7D3-629C-31A7-8FA7143C4D94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40A0A-2ED9-0AB5-7F11-F7A748D928EC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4163A-E21A-62CD-D872-29A1F7E2D3ED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8956A-D827-E0F9-82FB-4A85E3BAB823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A2F0-82D7-003D-AB13-C387BC1D02EE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910527-48E0-CE1F-39D6-B0C156C3F2C8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D94F-39A1-7CC9-FA92-B639F99B9D64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F6E733-63EE-1B7D-EC4D-BAFE67271AAE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B7EB0-D832-81E3-01FC-39918F3DD8C4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0E57D1-C0B3-693D-26ED-5C84D3371EF2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5F07C-EE0E-016C-2D6B-D43AB2F71D2F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A1AB5-EEF1-7E43-5321-EEDE33B7367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Disediakan untuk perbincangan pihak berkepentingan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968F4-2A85-F142-278F-37621EE7CBB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665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14-9F43-C18E-C907-0F34804B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 dirty="0">
                <a:solidFill>
                  <a:srgbClr val="F6F1E7"/>
                </a:solidFill>
                <a:latin typeface="Georgia" panose="02040502050405020303" pitchFamily="18" charset="0"/>
              </a:rPr>
              <a:t>PENUTUP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57212-E832-5D69-5388-F694A147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799"/>
            <a:ext cx="7747000" cy="1581727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AGP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boleh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menjadi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infrastruktur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kepercayaan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bersama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untuk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ekosistem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pemberian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Islam.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Matlamatnya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jelas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membantu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organisasi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memperkukuh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tadbir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urus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membantu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pihak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penyemak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menilai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bukti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secara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tersusun</a:t>
            </a:r>
            <a:endParaRPr lang="en-US" sz="1050" dirty="0">
              <a:solidFill>
                <a:srgbClr val="C8D5CF"/>
              </a:solidFill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membantu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penderma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memberi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dengan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lebih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 </a:t>
            </a:r>
            <a:r>
              <a:rPr lang="en-US" sz="1050" dirty="0" err="1">
                <a:solidFill>
                  <a:srgbClr val="C8D5CF"/>
                </a:solidFill>
                <a:latin typeface="Aptos" panose="020B0004020202020204" pitchFamily="34" charset="0"/>
              </a:rPr>
              <a:t>yakin</a:t>
            </a:r>
            <a:r>
              <a:rPr lang="en-US" sz="1050" dirty="0">
                <a:solidFill>
                  <a:srgbClr val="C8D5CF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EEFE9-E8B5-B9A1-66AA-CB178702A7C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00812-AFA2-A718-3678-CC8FF1543E7A}"/>
              </a:ext>
            </a:extLst>
          </p:cNvPr>
          <p:cNvSpPr txBox="1"/>
          <p:nvPr/>
        </p:nvSpPr>
        <p:spPr>
          <a:xfrm>
            <a:off x="812800" y="431800"/>
            <a:ext cx="5588000" cy="3334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2000" b="1" dirty="0">
                <a:solidFill>
                  <a:srgbClr val="D8A84E"/>
                </a:solidFill>
                <a:latin typeface="Aptos" panose="020B0004020202020204" pitchFamily="34" charset="0"/>
              </a:rPr>
              <a:t>AGP - 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13BE9-5EFA-BDA9-81DE-63CBD092C58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484B9-8FD0-2B8B-4A98-B3DB889F187F}"/>
              </a:ext>
            </a:extLst>
          </p:cNvPr>
          <p:cNvSpPr>
            <a:spLocks noGrp="1"/>
          </p:cNvSpPr>
          <p:nvPr/>
        </p:nvSpPr>
        <p:spPr>
          <a:xfrm>
            <a:off x="609600" y="3659332"/>
            <a:ext cx="2476500" cy="963468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7CA2-2895-4529-DE50-EB74BDAAA051}"/>
              </a:ext>
            </a:extLst>
          </p:cNvPr>
          <p:cNvSpPr>
            <a:spLocks noGrp="1"/>
          </p:cNvSpPr>
          <p:nvPr/>
        </p:nvSpPr>
        <p:spPr>
          <a:xfrm>
            <a:off x="876300" y="3830782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BC62FC-FBC1-7B87-569B-3D276DB6000B}"/>
              </a:ext>
            </a:extLst>
          </p:cNvPr>
          <p:cNvSpPr>
            <a:spLocks noGrp="1"/>
          </p:cNvSpPr>
          <p:nvPr/>
        </p:nvSpPr>
        <p:spPr>
          <a:xfrm>
            <a:off x="876300" y="4078432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F01AF-3105-AA09-D00B-9F2546EE84A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AGP Melayu stakeholder deck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A3103-BA24-908C-C997-94CC5D567FE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7916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951</Words>
  <Application>Microsoft Office PowerPoint</Application>
  <PresentationFormat>Widescreen</PresentationFormat>
  <Paragraphs>220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Georgia</vt:lpstr>
      <vt:lpstr>Wingdings</vt:lpstr>
      <vt:lpstr>Office Theme</vt:lpstr>
      <vt:lpstr>TAKLIMAT STAKEHOLDER</vt:lpstr>
      <vt:lpstr>MISI</vt:lpstr>
      <vt:lpstr>PRINSIP TERAS</vt:lpstr>
      <vt:lpstr>ASAS SYARIAH</vt:lpstr>
      <vt:lpstr>PERJALANAN PENDERMA</vt:lpstr>
      <vt:lpstr>PENSIJILAN</vt:lpstr>
      <vt:lpstr>AMANAH INDEX</vt:lpstr>
      <vt:lpstr>ALIRAN SUMBANGAN</vt:lpstr>
      <vt:lpstr>SISTEM PLATFORM</vt:lpstr>
      <vt:lpstr>KEBERTANGGUNGJAWABAN</vt:lpstr>
      <vt:lpstr>NILAI UNTUK PIHAK BERKEPENTINGAN</vt:lpstr>
      <vt:lpstr>PROGRAM RINTIS</vt:lpstr>
      <vt:lpstr>KEPUTUSAN DIPERLUKAN</vt:lpstr>
      <vt:lpstr>PENUTUP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31</cp:revision>
  <dcterms:created xsi:type="dcterms:W3CDTF">2026-07-08T16:24:39Z</dcterms:created>
  <dcterms:modified xsi:type="dcterms:W3CDTF">2026-07-08T17:03:10Z</dcterms:modified>
</cp:coreProperties>
</file>