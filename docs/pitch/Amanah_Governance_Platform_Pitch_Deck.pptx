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6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Sadaqah_Platform_Phase1_Compiled_Master.md
- Project docs: Sadaqah_Platform_Phase1_Development_Lock_Pack.md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Sadaqah_Platform_Phase1_Compiled_Master.md (problem, scope, personas)
- Project docs: Islamic Charity Organisations in Malaysia.md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Sadaqah_Platform_Phase1_Compiled_Master.md (CTCF + Amanah Index sections)
- Project docs: Islamic Charity Organisations in Malaysia.md (compliance requirements and audit expectations)
- Product positioning direction from current project brief: centralized support model layered on scoring/certification workflow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GitHub repo README: https://github.com/EffortEdutech/AmanahGP
- Project docs: Sadaqah_Platform_Phase1_Development_Lock_Pack.md
- Project docs: RLS_POLICY_PLAN.md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Islamic Charity Organisations in Malaysia.md
- Project docs: Sadaqah_Platform_Phase1_Compiled_Master.md (Malaysia classification, CTCF, Amanah Index)
- Centralized support / uplift model is included here as pitch positioning and operating model, not only as a current software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Project docs: Sadaqah_Platform_Phase1_Compiled_Master.md
- Project docs: Sadaqah_Platform_Phase1_Development_Lock_Pack.md
- GitHub repo README: https://github.com/EffortEdutech/AmanahGP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P_MASTER">
    <p:bg>
      <p:bgPr>
        <a:solidFill>
          <a:srgbClr val="0B2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F28"/>
          </a:solidFill>
          <a:ln w="12700">
            <a:solidFill>
              <a:srgbClr val="0B2F2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64E"/>
          </a:solidFill>
          <a:ln w="12700">
            <a:solidFill>
              <a:srgbClr val="D4A64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 GOVERNANCE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543800" y="64739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Malaysia-first Islamic charity trust infrastructure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7" y="868680"/>
            <a:ext cx="572414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Amanah Governance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2331720"/>
            <a:ext cx="5623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Giving. Transparent Governance.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Malaysia-first trust infrastructure for Islamic charities — combining verification, certification, donor transparency, and continuous capability uplift.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3493008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3872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Non-custodial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76272" y="349300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3538728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Malaysia-first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3493008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7493F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67912" y="353872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+ uplift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0" y="822960"/>
            <a:ext cx="4892040" cy="5074920"/>
          </a:xfrm>
          <a:prstGeom prst="roundRect">
            <a:avLst>
              <a:gd name="adj" fmla="val 1495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76288" y="10972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this different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76288" y="148132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9105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2128" y="147218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Governance, audit readiness, reporting, project evidence, and Shariah controls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76288" y="276148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87121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82128" y="275234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Public-safe certification and Amanah Index™ with explainable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76288" y="4041648"/>
            <a:ext cx="804672" cy="438912"/>
          </a:xfrm>
          <a:prstGeom prst="roundRect">
            <a:avLst>
              <a:gd name="adj" fmla="val 16667"/>
            </a:avLst>
          </a:prstGeom>
          <a:solidFill>
            <a:srgbClr val="D4A64E"/>
          </a:solidFill>
          <a:ln w="12700">
            <a:solidFill>
              <a:srgbClr val="D4A6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151376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82128" y="403250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support model helps organizations close gaps and raise trust over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31152" y="5212080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in Phase 1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AmanahHub — public and donor-facing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C7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AmanahHub Console — organization, reviewer, scholar, and ops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Islamic giving has a trust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 is not only payments. It is governance visibility, audit readiness, and donor confidence across very different kinds of institutions.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584448" cy="3520440"/>
          </a:xfrm>
          <a:prstGeom prst="roundRect">
            <a:avLst>
              <a:gd name="adj" fmla="val 2078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donors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239572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verify whether a charity is well managed, well governed, and accountable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078992" y="307238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Little consistency in how impact, financial discipline, and project evidence are shown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78992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visibility into whether reporting improves or deteriorates over time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4462272" y="1783080"/>
            <a:ext cx="3584448" cy="3520440"/>
          </a:xfrm>
          <a:prstGeom prst="roundRect">
            <a:avLst>
              <a:gd name="adj" fmla="val 2078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organizations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82896" y="239572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credible organizations lack structured tools to prove governance and compliance consistently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4882896" y="3237855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Audit, finance, and reporting requirements are often fragmented and resource-heavy</a:t>
            </a:r>
            <a:endParaRPr lang="en-US" sz="1330" dirty="0"/>
          </a:p>
        </p:txBody>
      </p:sp>
      <p:sp>
        <p:nvSpPr>
          <p:cNvPr id="20" name="Text 18"/>
          <p:cNvSpPr/>
          <p:nvPr/>
        </p:nvSpPr>
        <p:spPr>
          <a:xfrm>
            <a:off x="4882896" y="3914511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capability can look like lower trust — even when the mission itself is strong</a:t>
            </a:r>
            <a:endParaRPr lang="en-US" sz="1330" dirty="0"/>
          </a:p>
        </p:txBody>
      </p:sp>
      <p:sp>
        <p:nvSpPr>
          <p:cNvPr id="21" name="Shape 19"/>
          <p:cNvSpPr/>
          <p:nvPr/>
        </p:nvSpPr>
        <p:spPr>
          <a:xfrm>
            <a:off x="8266176" y="1783080"/>
            <a:ext cx="3264408" cy="3520440"/>
          </a:xfrm>
          <a:prstGeom prst="roundRect">
            <a:avLst>
              <a:gd name="adj" fmla="val 224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522208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Malaysia makes this harder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239572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NGOs, mosques/surau, waqf bodies, tahfiz institutions, and state-linked entities operate under different oversight models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8686800" y="3230886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 can involve zakat, waqf, sadaqah, or mixed funds — each with different controls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686800" y="3900573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rigid checklist cannot fairly assess every Islamic charity structure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658368" y="5687568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donors struggle to trust, and smaller organizations struggle to qualify.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879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just a rating platform — a rating and uplift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87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governance, management, audit, or reporting standards are weak, the score reflects it transparently. But the organization also gets a pathway to improve.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848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model works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78992" y="248716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CTCF evaluates governance, financial transparency, project traceability, impact discipline, and Shariah governance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078992" y="323697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 Index™ shows ongoing trust through verified events and immutable history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78992" y="398678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controls do not get hidden; they reduce rating and certification outcomes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1078992" y="47365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3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expert support then helps close those gaps continuously, so organizations can improve audit readiness and trust standing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650992" y="182880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113B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20848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improvement loop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61888" y="2505456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2574036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46888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current governance and evidence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7336" y="2825496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61888" y="3218688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61888" y="3287268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31821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certification result and trust score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17336" y="3538728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1888" y="3931920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400050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89534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exact gaps: audit, management, reporting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17336" y="4251960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61888" y="4645152"/>
            <a:ext cx="310896" cy="310896"/>
          </a:xfrm>
          <a:prstGeom prst="ellipse">
            <a:avLst/>
          </a:prstGeom>
          <a:solidFill>
            <a:srgbClr val="D4A64E"/>
          </a:solidFill>
          <a:ln w="12700">
            <a:solidFill>
              <a:srgbClr val="D4A6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61888" y="4713732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46085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remediation through centralized expertise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17336" y="4965192"/>
            <a:ext cx="0" cy="384048"/>
          </a:xfrm>
          <a:prstGeom prst="line">
            <a:avLst/>
          </a:prstGeom>
          <a:noFill/>
          <a:ln w="16510">
            <a:solidFill>
              <a:srgbClr val="2A5A5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61888" y="5358384"/>
            <a:ext cx="310896" cy="310896"/>
          </a:xfrm>
          <a:prstGeom prst="ellipse">
            <a:avLst/>
          </a:prstGeom>
          <a:solidFill>
            <a:srgbClr val="1A5046"/>
          </a:solidFill>
          <a:ln w="12700">
            <a:solidFill>
              <a:srgbClr val="2A5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542696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53218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Re-rate, re-certify, and make progress visible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platform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Supabase-first, two-app architecture with direct-to-charity payment flow, reviewer controls, and trust-history updates.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224028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368296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Donors / Public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" y="262432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profiles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trust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2402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07208" y="2368296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AmanahHub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624328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directory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 + project 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Receipt/status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56048" y="1938528"/>
            <a:ext cx="2249424" cy="1481328"/>
          </a:xfrm>
          <a:prstGeom prst="roundRect">
            <a:avLst>
              <a:gd name="adj" fmla="val 4938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65776" y="206654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Supabase trust 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93208" y="2322576"/>
            <a:ext cx="19751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• Postgres • 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RLS • audit logs • trust events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+ Amanah history</a:t>
            </a:r>
            <a:endParaRPr lang="en-US" sz="11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28844A4-32D7-5F48-10AE-30CCFAE88EA2}"/>
              </a:ext>
            </a:extLst>
          </p:cNvPr>
          <p:cNvGrpSpPr/>
          <p:nvPr/>
        </p:nvGrpSpPr>
        <p:grpSpPr>
          <a:xfrm>
            <a:off x="7586038" y="2235708"/>
            <a:ext cx="1828800" cy="868680"/>
            <a:chOff x="7571232" y="2240280"/>
            <a:chExt cx="1828800" cy="868680"/>
          </a:xfrm>
        </p:grpSpPr>
        <p:sp>
          <p:nvSpPr>
            <p:cNvPr id="14" name="Shape 12"/>
            <p:cNvSpPr/>
            <p:nvPr/>
          </p:nvSpPr>
          <p:spPr>
            <a:xfrm>
              <a:off x="7571232" y="2240280"/>
              <a:ext cx="1828800" cy="868680"/>
            </a:xfrm>
            <a:prstGeom prst="roundRect">
              <a:avLst>
                <a:gd name="adj" fmla="val 8421"/>
              </a:avLst>
            </a:prstGeom>
            <a:solidFill>
              <a:srgbClr val="123A33"/>
            </a:solidFill>
            <a:ln w="15240">
              <a:solidFill>
                <a:srgbClr val="2A5A5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7680960" y="2368296"/>
              <a:ext cx="160934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D4A64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AmanahHub Console</a:t>
              </a:r>
              <a:endParaRPr lang="en-US" sz="12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708392" y="2624328"/>
              <a:ext cx="155448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Org onboarding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Reports + evidence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Financials + certification</a:t>
              </a:r>
              <a:endParaRPr lang="en-US" sz="11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235167A-C13B-A37C-4E99-00FC3411C587}"/>
              </a:ext>
            </a:extLst>
          </p:cNvPr>
          <p:cNvGrpSpPr/>
          <p:nvPr/>
        </p:nvGrpSpPr>
        <p:grpSpPr>
          <a:xfrm>
            <a:off x="9720072" y="2249424"/>
            <a:ext cx="1783080" cy="868680"/>
            <a:chOff x="9674352" y="2240280"/>
            <a:chExt cx="1783080" cy="868680"/>
          </a:xfrm>
        </p:grpSpPr>
        <p:sp>
          <p:nvSpPr>
            <p:cNvPr id="17" name="Shape 15"/>
            <p:cNvSpPr/>
            <p:nvPr/>
          </p:nvSpPr>
          <p:spPr>
            <a:xfrm>
              <a:off x="9674352" y="2240280"/>
              <a:ext cx="1783080" cy="868680"/>
            </a:xfrm>
            <a:prstGeom prst="roundRect">
              <a:avLst>
                <a:gd name="adj" fmla="val 8421"/>
              </a:avLst>
            </a:prstGeom>
            <a:solidFill>
              <a:srgbClr val="123A33"/>
            </a:solidFill>
            <a:ln w="15240">
              <a:solidFill>
                <a:srgbClr val="2A5A50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8" name="Text 16"/>
            <p:cNvSpPr/>
            <p:nvPr/>
          </p:nvSpPr>
          <p:spPr>
            <a:xfrm>
              <a:off x="9784080" y="2368296"/>
              <a:ext cx="1563624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D4A64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Reviewers / Scholars</a:t>
              </a:r>
              <a:endParaRPr lang="en-US" sz="12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811512" y="2624328"/>
              <a:ext cx="15087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Verify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Approve public evidence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F7F1E7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Decision workflow</a:t>
              </a:r>
              <a:endParaRPr lang="en-US" sz="11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2441448" y="2670048"/>
            <a:ext cx="256032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17720" y="2670048"/>
            <a:ext cx="338328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 flipV="1">
            <a:off x="9391977" y="2670048"/>
            <a:ext cx="290430" cy="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938528" y="470916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03120" y="4901184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ToyyibPay / direct-to-charity checkout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5157216"/>
            <a:ext cx="2231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</a:rPr>
              <a:t>Platform never holds funds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4709160"/>
            <a:ext cx="2523744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92624" y="49011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→ trust event → score update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51572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7F1E7"/>
                </a:solidFill>
              </a:rPr>
              <a:t>Idempotent and append-only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4709160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45552" y="4901184"/>
            <a:ext cx="2395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public transparency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08976" y="51206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7F1E7"/>
                </a:solidFill>
              </a:rPr>
              <a:t>Only approved orgs, reports, and evidence are public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6089904" y="3429000"/>
            <a:ext cx="6096" cy="1280160"/>
          </a:xfrm>
          <a:prstGeom prst="line">
            <a:avLst/>
          </a:prstGeom>
          <a:noFill/>
          <a:ln w="28575">
            <a:solidFill>
              <a:srgbClr val="FFC000"/>
            </a:solidFill>
            <a:prstDash val="solid"/>
            <a:tailEnd type="triangle"/>
          </a:ln>
        </p:spPr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B999E392-3A29-6A99-920A-69C9AB31394A}"/>
              </a:ext>
            </a:extLst>
          </p:cNvPr>
          <p:cNvCxnSpPr>
            <a:stCxn id="8" idx="2"/>
            <a:endCxn id="24" idx="0"/>
          </p:cNvCxnSpPr>
          <p:nvPr/>
        </p:nvCxnSpPr>
        <p:spPr>
          <a:xfrm rot="5400000">
            <a:off x="2638044" y="3689604"/>
            <a:ext cx="1600200" cy="438912"/>
          </a:xfrm>
          <a:prstGeom prst="bentConnector3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BB361D1A-1389-848F-9283-7BEE5F7BCE8D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>
          <a:xfrm rot="16200000" flipH="1">
            <a:off x="7969541" y="3635285"/>
            <a:ext cx="1604772" cy="542978"/>
          </a:xfrm>
          <a:prstGeom prst="bentConnector3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45C39D-D0FC-F14A-F02A-99464D2D08E2}"/>
              </a:ext>
            </a:extLst>
          </p:cNvPr>
          <p:cNvCxnSpPr>
            <a:cxnSpLocks/>
            <a:stCxn id="14" idx="1"/>
            <a:endCxn id="11" idx="3"/>
          </p:cNvCxnSpPr>
          <p:nvPr/>
        </p:nvCxnSpPr>
        <p:spPr>
          <a:xfrm flipH="1">
            <a:off x="7205472" y="2670048"/>
            <a:ext cx="380566" cy="914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 WIN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9198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the real governance complexity of Malaysia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adapts to different Islamic charity structures — and the support model helps weaker organizations become stronger over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NGO / foundation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25420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Mosque / surau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43708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Waqf body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1996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Tahfiz / school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80284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State-linked body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9857232" y="1901952"/>
            <a:ext cx="1664208" cy="914400"/>
          </a:xfrm>
          <a:prstGeom prst="roundRect">
            <a:avLst>
              <a:gd name="adj" fmla="val 8000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966960" y="21579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oversight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86384" y="3140745"/>
            <a:ext cx="3794760" cy="2558142"/>
          </a:xfrm>
          <a:prstGeom prst="roundRect">
            <a:avLst>
              <a:gd name="adj" fmla="val 3265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24128" y="34015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scoring and certification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3785616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differ by organization type, oversight authority, and fund type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188720" y="429768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expectations are not identical for all institutions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1188720" y="4809744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4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trust model fairer and more credible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4736592" y="3154679"/>
            <a:ext cx="6400800" cy="2558143"/>
          </a:xfrm>
          <a:prstGeom prst="roundRect">
            <a:avLst>
              <a:gd name="adj" fmla="val 3636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10912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compliance and audit support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175504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lower rating is not the end state — it is a diagnostic starting point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5175504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can be paired with centralized expertise to help fill gaps in management, documentation, audit preparation, and ongoing reporting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5175504" y="4663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the organization improves, its index and certification can improve visibly over time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175504" y="5120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a scalable “trust infrastructure + capability uplift” model</a:t>
            </a:r>
            <a:endParaRPr lang="en-US" sz="12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AND ASK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launch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immediate goal is a credible pilot: real organizations, real reporting, visible trust history, and a practical path to scale.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targets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charities onboarded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115568" y="30540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active pilot partners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1115568" y="36393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reports, public-safe evidence, and visible score history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115568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chemeClr val="accent4">
                  <a:lumMod val="60000"/>
                  <a:lumOff val="40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23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Direct-to-charity donation confirmation with reliable webhook flow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4242816" y="182880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23A33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8848" y="2084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partners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trust and transparency framework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663440" y="3054096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donor story grounded in evidence and history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4663440" y="363931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route to improve governance, audit readiness, and reporting discipline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663440" y="4224528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Malaysia-first model that can scale category by category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065008" y="182880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17493F"/>
          </a:solidFill>
          <a:ln w="15240">
            <a:solidFill>
              <a:srgbClr val="2A5A50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21040" y="2084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4A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asking for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485632" y="246888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charity partners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485632" y="305409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/ scholar ecosystem support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8485632" y="363931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implementation and funding partners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485632" y="422452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220" dirty="0">
                <a:solidFill>
                  <a:srgbClr val="F7F1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mission to make Islamic giving safer, clearer, and more trusted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822960" y="572414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1E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Amanah Governance Platform turns transparency into trust — and trust into stronger institutions.</a:t>
            </a:r>
            <a:endParaRPr lang="en-US" sz="18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25603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64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2771</TotalTime>
  <Words>1173</Words>
  <Application>Microsoft Office PowerPoint</Application>
  <PresentationFormat>Widescreen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Amanah Governance Platform — 7 Slide Pitch Deck</dc:title>
  <dc:subject>Amanah Governance Platform Pitch Deck</dc:subject>
  <dc:creator>OpenAI</dc:creator>
  <cp:lastModifiedBy>kamal latif</cp:lastModifiedBy>
  <cp:revision>19</cp:revision>
  <dcterms:created xsi:type="dcterms:W3CDTF">2026-03-31T06:43:47Z</dcterms:created>
  <dcterms:modified xsi:type="dcterms:W3CDTF">2026-04-02T06:35:48Z</dcterms:modified>
</cp:coreProperties>
</file>