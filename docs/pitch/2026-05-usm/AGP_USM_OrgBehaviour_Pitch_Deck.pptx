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807589878e41ae" /><Relationship Type="http://schemas.openxmlformats.org/officeDocument/2006/relationships/extended-properties" Target="/docProps/app.xml" Id="Rd3e778899ed04881" /><Relationship Type="http://schemas.openxmlformats.org/officeDocument/2006/relationships/officeDocument" Target="/ppt/presentation.xml" Id="R52a48dc8685a4b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ec13959b6c4e26"/>
  </p:sldMasterIdLst>
  <p:notesMasterIdLst>
    <p:notesMasterId xmlns:r="http://schemas.openxmlformats.org/officeDocument/2006/relationships" r:id="R259b6d69c57d44d9"/>
  </p:notesMasterIdLst>
  <p:sldIdLst>
    <p:sldId xmlns:r="http://schemas.openxmlformats.org/officeDocument/2006/relationships" id="256" r:id="R5a58f63d01144378"/>
    <p:sldId xmlns:r="http://schemas.openxmlformats.org/officeDocument/2006/relationships" id="257" r:id="Rd02ab7c15f0b4937"/>
    <p:sldId xmlns:r="http://schemas.openxmlformats.org/officeDocument/2006/relationships" id="258" r:id="R3230b65d71f842bd"/>
    <p:sldId xmlns:r="http://schemas.openxmlformats.org/officeDocument/2006/relationships" id="259" r:id="Rb660fd007fe7440f"/>
    <p:sldId xmlns:r="http://schemas.openxmlformats.org/officeDocument/2006/relationships" id="260" r:id="R42d09122156b4b50"/>
    <p:sldId xmlns:r="http://schemas.openxmlformats.org/officeDocument/2006/relationships" id="261" r:id="R2870ce3d7cad418e"/>
    <p:sldId xmlns:r="http://schemas.openxmlformats.org/officeDocument/2006/relationships" id="262" r:id="Rdbc61182936c4b7c"/>
    <p:sldId xmlns:r="http://schemas.openxmlformats.org/officeDocument/2006/relationships" id="263" r:id="R12332f1d141945be"/>
    <p:sldId xmlns:r="http://schemas.openxmlformats.org/officeDocument/2006/relationships" id="264" r:id="R82f4f0229ff542b7"/>
    <p:sldId xmlns:r="http://schemas.openxmlformats.org/officeDocument/2006/relationships" id="265" r:id="Rbbc89f3f419d4c9f"/>
    <p:sldId xmlns:r="http://schemas.openxmlformats.org/officeDocument/2006/relationships" id="266" r:id="R6ba552ce70dd40b1"/>
    <p:sldId xmlns:r="http://schemas.openxmlformats.org/officeDocument/2006/relationships" id="267" r:id="Rd912d87c33f74ae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c13959b6c4e26" /><Relationship Type="http://schemas.openxmlformats.org/officeDocument/2006/relationships/theme" Target="/ppt/theme/theme1.xml" Id="R6087469938684536" /><Relationship Type="http://schemas.openxmlformats.org/officeDocument/2006/relationships/notesMaster" Target="/ppt/notesMasters/notesMaster1.xml" Id="R259b6d69c57d44d9" /><Relationship Type="http://schemas.openxmlformats.org/officeDocument/2006/relationships/presProps" Target="/ppt/presProps.xml" Id="R7ad7108820d9491d" /><Relationship Type="http://schemas.openxmlformats.org/officeDocument/2006/relationships/viewProps" Target="/ppt/viewProps.xml" Id="R3d101a3c21744659" /><Relationship Type="http://schemas.openxmlformats.org/officeDocument/2006/relationships/tableStyles" Target="/ppt/tableStyles.xml" Id="Re644c94268a24e45" /><Relationship Type="http://schemas.openxmlformats.org/officeDocument/2006/relationships/slide" Target="/ppt/slides/slide1.xml" Id="R5a58f63d01144378" /><Relationship Type="http://schemas.openxmlformats.org/officeDocument/2006/relationships/slide" Target="/ppt/slides/slide2.xml" Id="Rd02ab7c15f0b4937" /><Relationship Type="http://schemas.openxmlformats.org/officeDocument/2006/relationships/slide" Target="/ppt/slides/slide3.xml" Id="R3230b65d71f842bd" /><Relationship Type="http://schemas.openxmlformats.org/officeDocument/2006/relationships/slide" Target="/ppt/slides/slide4.xml" Id="Rb660fd007fe7440f" /><Relationship Type="http://schemas.openxmlformats.org/officeDocument/2006/relationships/slide" Target="/ppt/slides/slide5.xml" Id="R42d09122156b4b50" /><Relationship Type="http://schemas.openxmlformats.org/officeDocument/2006/relationships/slide" Target="/ppt/slides/slide6.xml" Id="R2870ce3d7cad418e" /><Relationship Type="http://schemas.openxmlformats.org/officeDocument/2006/relationships/slide" Target="/ppt/slides/slide7.xml" Id="Rdbc61182936c4b7c" /><Relationship Type="http://schemas.openxmlformats.org/officeDocument/2006/relationships/slide" Target="/ppt/slides/slide8.xml" Id="R12332f1d141945be" /><Relationship Type="http://schemas.openxmlformats.org/officeDocument/2006/relationships/slide" Target="/ppt/slides/slide9.xml" Id="R82f4f0229ff542b7" /><Relationship Type="http://schemas.openxmlformats.org/officeDocument/2006/relationships/slide" Target="/ppt/slides/slide10.xml" Id="Rbbc89f3f419d4c9f" /><Relationship Type="http://schemas.openxmlformats.org/officeDocument/2006/relationships/slide" Target="/ppt/slides/slide11.xml" Id="R6ba552ce70dd40b1" /><Relationship Type="http://schemas.openxmlformats.org/officeDocument/2006/relationships/slide" Target="/ppt/slides/slide12.xml" Id="Rd912d87c33f74a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e2b9c31f17a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91d8cb2d224467" /><Relationship Type="http://schemas.openxmlformats.org/officeDocument/2006/relationships/notesMaster" Target="/ppt/notesMasters/notesMaster1.xml" Id="R9496d77263504e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711b279f7f414d" /><Relationship Type="http://schemas.openxmlformats.org/officeDocument/2006/relationships/notesMaster" Target="/ppt/notesMasters/notesMaster1.xml" Id="Rcdca5c2036d1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2ba5239e14577" /><Relationship Type="http://schemas.openxmlformats.org/officeDocument/2006/relationships/notesMaster" Target="/ppt/notesMasters/notesMaster1.xml" Id="R6e64d6b37b39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ff33bd2ed46fc" /><Relationship Type="http://schemas.openxmlformats.org/officeDocument/2006/relationships/notesMaster" Target="/ppt/notesMasters/notesMaster1.xml" Id="Rba6cab5dc1f848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5d34773c4f49f8" /><Relationship Type="http://schemas.openxmlformats.org/officeDocument/2006/relationships/notesMaster" Target="/ppt/notesMasters/notesMaster1.xml" Id="R95ddf5ad048b43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2c54e5f3334a46" /><Relationship Type="http://schemas.openxmlformats.org/officeDocument/2006/relationships/notesMaster" Target="/ppt/notesMasters/notesMaster1.xml" Id="R4baada26803840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d53b813764c2c" /><Relationship Type="http://schemas.openxmlformats.org/officeDocument/2006/relationships/notesMaster" Target="/ppt/notesMasters/notesMaster1.xml" Id="R24be44b45b2f44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cae2bec3b54504" /><Relationship Type="http://schemas.openxmlformats.org/officeDocument/2006/relationships/notesMaster" Target="/ppt/notesMasters/notesMaster1.xml" Id="R3b75ecf48c4d42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15144a8c0343c7" /><Relationship Type="http://schemas.openxmlformats.org/officeDocument/2006/relationships/notesMaster" Target="/ppt/notesMasters/notesMaster1.xml" Id="R77ed691bda214e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839f5749f44b28" /><Relationship Type="http://schemas.openxmlformats.org/officeDocument/2006/relationships/notesMaster" Target="/ppt/notesMasters/notesMaster1.xml" Id="Rbfc6ad58f5b044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4204fb069a4ddb" /><Relationship Type="http://schemas.openxmlformats.org/officeDocument/2006/relationships/notesMaster" Target="/ppt/notesMasters/notesMaster1.xml" Id="Rd5ad49e5cbe947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3df0eb3ade4952" /><Relationship Type="http://schemas.openxmlformats.org/officeDocument/2006/relationships/notesMaster" Target="/ppt/notesMasters/notesMaster1.xml" Id="R834254854ff8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40323719544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e93d8c1940442a" /><Relationship Type="http://schemas.openxmlformats.org/officeDocument/2006/relationships/slideLayout" Target="/ppt/slideLayouts/slideLayout2.xml" Id="Ra35129d6873945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5129d6873945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f7d26674674b02" /><Relationship Type="http://schemas.openxmlformats.org/officeDocument/2006/relationships/notesSlide" Target="/ppt/notesSlides/notesSlide1.xml" Id="R5d28b55b16b041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a2b70d84b240fb" /><Relationship Type="http://schemas.openxmlformats.org/officeDocument/2006/relationships/image" Target="/ppt/media/image.png" Id="R02f8bbf424284da4" /><Relationship Type="http://schemas.openxmlformats.org/officeDocument/2006/relationships/notesSlide" Target="/ppt/notesSlides/notesSlide2.xml" Id="Raf65a0123c89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a6437a6c54790" /><Relationship Type="http://schemas.openxmlformats.org/officeDocument/2006/relationships/notesSlide" Target="/ppt/notesSlides/notesSlide3.xml" Id="Reb08b916f55b49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862b2eb3a4d37" /><Relationship Type="http://schemas.openxmlformats.org/officeDocument/2006/relationships/notesSlide" Target="/ppt/notesSlides/notesSlide4.xml" Id="R8f35597882c1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8c67483fd49dd" /><Relationship Type="http://schemas.openxmlformats.org/officeDocument/2006/relationships/notesSlide" Target="/ppt/notesSlides/notesSlide5.xml" Id="Rbf090e083c66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30164f6824c78" /><Relationship Type="http://schemas.openxmlformats.org/officeDocument/2006/relationships/notesSlide" Target="/ppt/notesSlides/notesSlide6.xml" Id="Raff88db555d545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9f604ecd934633" /><Relationship Type="http://schemas.openxmlformats.org/officeDocument/2006/relationships/notesSlide" Target="/ppt/notesSlides/notesSlide7.xml" Id="Rffc521d6546544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5f5db1eda4722" /><Relationship Type="http://schemas.openxmlformats.org/officeDocument/2006/relationships/notesSlide" Target="/ppt/notesSlides/notesSlide8.xml" Id="R03913a2d3fc74d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3c6a8afd1042b9" /><Relationship Type="http://schemas.openxmlformats.org/officeDocument/2006/relationships/notesSlide" Target="/ppt/notesSlides/notesSlide9.xml" Id="R9ddbf654d17444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a20452b8764e50" /><Relationship Type="http://schemas.openxmlformats.org/officeDocument/2006/relationships/notesSlide" Target="/ppt/notesSlides/notesSlide10.xml" Id="R6b62f177bc3040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3ed46d11654646" /><Relationship Type="http://schemas.openxmlformats.org/officeDocument/2006/relationships/notesSlide" Target="/ppt/notesSlides/notesSlide11.xml" Id="R93887f5abf874c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a8190f3af4c7d" /><Relationship Type="http://schemas.openxmlformats.org/officeDocument/2006/relationships/notesSlide" Target="/ppt/notesSlides/notesSlide12.xml" Id="R5aee24d56e364b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2BFDA-EDAD-4907-88BA-CB52A541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512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5B"/>
                </a:solidFill>
              </a:defRPr>
            </a:pPr>
            <a:r>
              <a:rPr sz="1650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C3ADF-B83E-40A8-AE69-0B6027B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5905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46F"/>
                </a:solidFill>
              </a:defRPr>
            </a:pPr>
            <a:r>
              <a:rPr sz="1500">
                <a:solidFill>
                  <a:srgbClr val="65746F"/>
                </a:solidFill>
              </a:rPr>
              <a:t>May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5D5F5-263C-4CF0-AF19-879F65C3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B887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4A745-F4A7-474F-B6C6-A71052F3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3468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2A2A"/>
                </a:solidFill>
              </a:defRPr>
            </a:pPr>
            <a:r>
              <a:rPr sz="5700" b="1">
                <a:solidFill>
                  <a:srgbClr val="172A2A"/>
                </a:solidFill>
              </a:rPr>
              <a:t>Public-Interest Governance Infrastructure for Islamic Social Finance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7AFB6-54F9-42D8-8392-004B356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1468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44542"/>
                </a:solidFill>
              </a:defRPr>
            </a:pPr>
            <a:r>
              <a:rPr sz="2250">
                <a:solidFill>
                  <a:srgbClr val="344542"/>
                </a:solidFill>
              </a:rPr>
              <a:t>AGP-led grant and development proposal with Prof. Anuar as advising member and JAKIM/MAIN as potential authority-side partners.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93004-DE61-4EDE-9E99-1D31747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8195"/>
            <a:ext cx="53721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00A17-2697-4F9B-9E70-118CEA76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0DC20-8E8F-4FF6-BF2A-D2151AA2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Live seeded MVP, not a paper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11D18-38FC-4C3B-9F5F-77A57F65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08195"/>
            <a:ext cx="53721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8C99D-4BE8-4600-A7B2-AD05928C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Principle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13C0B-668B-4E00-98FC-FD75293E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Charity organizations do not pay AGP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1210F-8F3C-4AFE-83C1-97D30E2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08195"/>
            <a:ext cx="53721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BF1C6-1A0E-4400-A491-1FAD434E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7815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140E7-9E76-4223-92D3-8D98080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0482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Keep all grant pathways open</a:t>
            </a:r>
          </a:p>
        </p:txBody>
      </p:sp>
    </p:spTree>
    <p:extLst>
      <p:ext uri="{BB962C8B-B14F-4D97-AF65-F5344CB8AC3E}">
        <p14:creationId xmlns:p14="http://schemas.microsoft.com/office/powerpoint/2010/main" val="6149534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DD3D78-B0AE-4E15-997E-5F8C3DB8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03F0F-5774-450D-AD72-749F79E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0344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AmanahHub is already live with public trust profiles.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97771-64E8-497B-B864-B99AF9CD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1258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current deployed public directory provides a credible demo base for funders, JAKIM/MAIN discussions, and advisor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63EBC-4AE7-4181-B7D4-A48757A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F6F5B"/>
                </a:solidFill>
              </a:defRPr>
            </a:pPr>
            <a:r>
              <a:rPr sz="4200" b="1">
                <a:solidFill>
                  <a:srgbClr val="1F6F5B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E366-62D4-4964-856B-E4087DE6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44542"/>
                </a:solidFill>
              </a:defRPr>
            </a:pPr>
            <a:r>
              <a:rPr sz="1500">
                <a:solidFill>
                  <a:srgbClr val="344542"/>
                </a:solidFill>
              </a:rPr>
              <a:t>visible organisations in the public charity directory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0F241-F814-4691-8F12-92662226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D6684"/>
                </a:solidFill>
              </a:defRPr>
            </a:pPr>
            <a:r>
              <a:rPr sz="4200" b="1">
                <a:solidFill>
                  <a:srgbClr val="2D6684"/>
                </a:solidFill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5B059-5812-4FDC-BFDE-6EC42DC7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44542"/>
                </a:solidFill>
              </a:defRPr>
            </a:pPr>
            <a:r>
              <a:rPr sz="1500">
                <a:solidFill>
                  <a:srgbClr val="344542"/>
                </a:solidFill>
              </a:rPr>
              <a:t>published trust profiles with donor-facing trust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280AF-9C06-4173-9A43-64F1E272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8872D"/>
                </a:solidFill>
              </a:defRPr>
            </a:pPr>
            <a:r>
              <a:rPr sz="4200" b="1">
                <a:solidFill>
                  <a:srgbClr val="B8872D"/>
                </a:solidFill>
              </a:rPr>
              <a:t>Gold / Silver / Bronze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57C62-AC03-45EC-BD40-5BDF2AA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44542"/>
                </a:solidFill>
              </a:defRPr>
            </a:pPr>
            <a:r>
              <a:rPr sz="1500">
                <a:solidFill>
                  <a:srgbClr val="344542"/>
                </a:solidFill>
              </a:rPr>
              <a:t>certification language already visible in seeded profiles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C6913-7AE5-4119-9CCB-C4036CD0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46F"/>
                </a:solidFill>
              </a:defRPr>
            </a:pPr>
            <a:r>
              <a:rPr sz="1500" b="0">
                <a:solidFill>
                  <a:srgbClr val="65746F"/>
                </a:solidFill>
              </a:rPr>
              <a:t>Live protected surfaces also exist for amanahOS and AGP Console.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DA69F-ACD8-4F0A-9F51-0B8AE7A2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857" y="2884170"/>
            <a:ext cx="9468993" cy="5810250"/>
          </a:xfrm>
          <a:prstGeom xmlns:a="http://schemas.openxmlformats.org/drawingml/2006/main" prst="roundRect">
            <a:avLst>
              <a:gd name="adj" fmla="val 1311"/>
            </a:avLst>
          </a:prstGeom>
          <a:noFill xmlns:a="http://schemas.openxmlformats.org/drawingml/2006/main"/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8bbf424284da4"/>
          <a:stretch xmlns:a="http://schemas.openxmlformats.org/drawingml/2006/main"/>
        </p:blipFill>
        <p:spPr>
          <a:xfrm xmlns:a="http://schemas.openxmlformats.org/drawingml/2006/main">
            <a:off x="7999857" y="2884170"/>
            <a:ext cx="9468993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6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1CA58-6926-4DCB-ACE7-1B27A7A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77F61-47A8-4B99-B154-C1BDB78B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2016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Islamic giving has scale, but governance remains fragmented at the operating edge.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9453B-25C9-4371-80A8-657795E7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91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Mosques, suraus, waqf initiatives and charities often need a shared system for evidence, reporting, review and public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9039F-3AA4-4040-86C0-65FB628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EDCE8-AF46-4460-BE94-72192FDD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864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Public generosity is real, but donor confidence depends on visible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3D957-7920-4656-802D-36FA85E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44D2A-AC49-4D84-A3B6-04733B07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864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Manual reporting and scattered files make oversight slow, reactive and difficult to standardise.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2F389-83E2-49EE-B66E-C09DC46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7CDD2-EFE2-4448-A044-4B69F4F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864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Volunteer-led committees need routines, training and simple workflows, not only policy reminders.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426A9-DE14-4923-B86A-D1C408AA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5BEA7-995A-42AF-A280-27D7AFD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864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Authorities need dashboards that respect MAIN/JAKIM authority while reducing administrative burden.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C0DAF-CD50-4564-B5B1-5383047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579" y="2621280"/>
            <a:ext cx="7321271" cy="1093470"/>
          </a:xfrm>
          <a:prstGeom xmlns:a="http://schemas.openxmlformats.org/drawingml/2006/main" prst="roundRect">
            <a:avLst>
              <a:gd name="adj" fmla="val 6969"/>
            </a:avLst>
          </a:prstGeom>
          <a:noFill xmlns:a="http://schemas.openxmlformats.org/drawingml/2006/main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2BA3A-CA4F-4B0D-B5F4-E5EFF8A5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00350"/>
            <a:ext cx="689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Behavioural insight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A8A8C-49A7-4EA0-A2AF-D98F6EAC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6705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The bottleneck is not only technology adoption. It is organizational habit 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69CCE-A40C-4AD4-9E91-C31EC285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579" y="3886200"/>
            <a:ext cx="7321271" cy="1093470"/>
          </a:xfrm>
          <a:prstGeom xmlns:a="http://schemas.openxmlformats.org/drawingml/2006/main" prst="roundRect">
            <a:avLst>
              <a:gd name="adj" fmla="val 6969"/>
            </a:avLst>
          </a:prstGeom>
          <a:noFill xmlns:a="http://schemas.openxmlformats.org/drawingml/2006/main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E08BC-3DDE-4FA9-8C4E-867CC2C8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57650"/>
            <a:ext cx="689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Governance insight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A8256-3924-4D49-B6FD-A8B377A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2435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Trust improves when evidence, review, remediation and publication become routine.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FB81E-203E-40D3-A496-099B97ED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579" y="5151120"/>
            <a:ext cx="7321271" cy="1093470"/>
          </a:xfrm>
          <a:prstGeom xmlns:a="http://schemas.openxmlformats.org/drawingml/2006/main" prst="roundRect">
            <a:avLst>
              <a:gd name="adj" fmla="val 6969"/>
            </a:avLst>
          </a:prstGeom>
          <a:noFill xmlns:a="http://schemas.openxmlformats.org/drawingml/2006/main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095B2-39B8-4179-B635-203BB9E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14950"/>
            <a:ext cx="689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Institutional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1FDB4-E690-4267-91F0-3691B98A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60070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A shared registry can help each authority see its ecosystem without replacing its authority.</a:t>
            </a:r>
          </a:p>
        </p:txBody>
      </p:sp>
    </p:spTree>
    <p:extLst>
      <p:ext uri="{BB962C8B-B14F-4D97-AF65-F5344CB8AC3E}">
        <p14:creationId xmlns:p14="http://schemas.microsoft.com/office/powerpoint/2010/main" val="1838627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6948E7-BB67-4515-B011-24481E77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B5EAE-1743-461B-9491-A723C22C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801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AGP connects public trust, organization operations and evaluator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55F77-1F55-45B6-8B00-ABFCF0DA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172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platform is structured as a public-interest governance layer rather than a commercial product sold to charities.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DAF13-84C6-4399-B33E-1FED4EA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5353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5FF30-3A33-432C-97BC-5819B2D6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535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AmanahHub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3B2EF-A339-4EAA-8B66-E7960A2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35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Public donor directory, verified trust profiles, scores, certification tiers and direct-to-charity giving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BE59E-A816-43D1-A2B2-C365C0B4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5353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F546B-4C05-435C-829C-0B2530E2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535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amanahOS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B1087-0B6E-4473-A082-8E1103A6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535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Organisation workspace for profiles, accounting, evidence, projects, reports, policy kit, trust score and certification.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39693-BD68-4F71-9D32-31D5F6C4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876550"/>
            <a:ext cx="5353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956F2-FEBC-4719-9674-EF9B7AED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81350"/>
            <a:ext cx="535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AGP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0E2DA-86A7-4A87-B266-6287331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543300"/>
            <a:ext cx="535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Evaluator and platform control plane for trust events, governance cases, review queues, scholar approval and publication.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8656C-D651-4CA0-9F7F-92248E8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542"/>
                </a:solidFill>
              </a:defRPr>
            </a:pPr>
            <a:r>
              <a:rPr sz="1650" b="0">
                <a:solidFill>
                  <a:srgbClr val="344542"/>
                </a:solidFill>
              </a:rPr>
              <a:t>Shared backbone: Amanah scoring engine, Supabase schema, trust events, fund accounting, audit logs and public profile publication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19168650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9343F-B40C-4897-BA7C-C663AA3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5430C-AB6E-4871-A0DB-E636A43A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182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The trust loop turns amanah into a repeatable governance rhythm.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767B4-996B-4181-9971-9C18D3A3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Each stage creates evidence that can be reviewed, improved and selectively published.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5FC60-5BBF-44CF-B7BA-A270A80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88C6C-22D1-4D05-AEA3-755E2FD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09AAB-54A6-4285-A67F-69D53B48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AGP creates the authority-linked organization record and public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F9814-B72E-41A5-A6D3-3F147316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289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0F6E2-2A5C-49CC-8E09-E4253C34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337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Operate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E52C2-36F6-4FB4-9025-37591B0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95650"/>
            <a:ext cx="3200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Members update reports, projects, bookkeeping, policies and evidence over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97839-493D-4998-A91E-BDD2BCF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4EB2E-1D1C-44ED-A7F3-F286EEE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26657-9F45-4868-8E65-9CEA829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956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Console routes trust events, clarifications, findings and scholar approval.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ACE94-951C-4ECA-AC9E-7EFF1583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289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1AB1C-7EF2-49FE-BF98-E223A9B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337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8B108-7FD7-4072-9005-E1FF5CE3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956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Amanah Index converts verified behaviour into donor-readable trust signals.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8CA59-F7B3-44C0-ADD4-FB0E823F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6289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4C40"/>
                </a:solidFill>
              </a:defRPr>
            </a:pPr>
            <a:r>
              <a:rPr sz="1500" b="1">
                <a:solidFill>
                  <a:srgbClr val="A54C40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167B6-7A42-44EA-B777-3EC5C744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9337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EA8B9-FA83-4B46-A27D-5129F61C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2956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Approved public profiles help donors and authorities see accountable progress.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0765B-5FBE-4F45-B14D-71CA68D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011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D"/>
          </a:solidFill>
          <a:ln xmlns:a="http://schemas.openxmlformats.org/drawingml/2006/main" w="0">
            <a:solidFill>
              <a:srgbClr val="D7E2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06026-66B9-49EC-9FD1-C548C622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46F"/>
                </a:solidFill>
              </a:defRPr>
            </a:pPr>
            <a:r>
              <a:rPr sz="1650" b="0">
                <a:solidFill>
                  <a:srgbClr val="65746F"/>
                </a:solidFill>
              </a:rPr>
              <a:t>This is especially useful for organizations that are under the authority of JAKIM or a state MAIN but have varying levels of digital maturity.</a:t>
            </a:r>
          </a:p>
        </p:txBody>
      </p:sp>
    </p:spTree>
    <p:extLst>
      <p:ext uri="{BB962C8B-B14F-4D97-AF65-F5344CB8AC3E}">
        <p14:creationId xmlns:p14="http://schemas.microsoft.com/office/powerpoint/2010/main" val="17578529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97464-211D-47D7-856D-F0C5EBF1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PUBLIC-INTEREST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1BF70-B61C-4B50-841D-672D47F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858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Charity organizations receive governance services without paying AGP.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03365-D85E-4086-8636-D5A0EDE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158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payer model should be aligned with public trust: funders and institutions support the infrastructure because they benefit from sector-wide accountability.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568A7-0ABD-4F9F-A821-BE4CA2A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2A"/>
                </a:solidFill>
              </a:defRPr>
            </a:pPr>
            <a:r>
              <a:rPr sz="2100" b="1">
                <a:solidFill>
                  <a:srgbClr val="172A2A"/>
                </a:solidFill>
              </a:rPr>
              <a:t>Funded 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89AC4-CC66-402D-AEB9-70E140C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6D770-30E3-4D87-A624-7BBEC50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Grant funding for development, expansion and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F4D06-F583-4D81-8813-739C4EC2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6CC62-21B3-4700-9734-3348A05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Corporate ESG/CSR sponsorship for onboarding and audit-readiness cohorts.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00C2A-63DA-48DF-853B-11DB97B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4A7AC-1946-4D7F-A3C8-6903A2A2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Zakat, waqf, council and institutional support for long-term ecosystem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6D396-B61E-4016-8311-964B8BCC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2A"/>
                </a:solidFill>
              </a:defRPr>
            </a:pPr>
            <a:r>
              <a:rPr sz="2100" b="1">
                <a:solidFill>
                  <a:srgbClr val="172A2A"/>
                </a:solidFill>
              </a:rPr>
              <a:t>Sponsored service 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46FBF-46C3-4547-A917-09E6EF08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4F4EB-1F2C-486E-92D2-C99AC02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Organisation SaaS subscription and managed bookkeeping.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216AB-05CF-48E7-BAC6-8A2CA9F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74706-ECA2-47DD-8F79-6F10DDEF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909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Audit-readiness, certification support and governance workshops.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F1F3D-26EE-4D9E-A548-A0223355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2196B-1FD1-4FFC-AACB-CD4B453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10050"/>
            <a:ext cx="784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Institutional dashboards, CSR/funder reporting tools and reviewer/Shariah marketplace.</a:t>
            </a:r>
          </a:p>
        </p:txBody>
      </p:sp>
    </p:spTree>
    <p:extLst>
      <p:ext uri="{BB962C8B-B14F-4D97-AF65-F5344CB8AC3E}">
        <p14:creationId xmlns:p14="http://schemas.microsoft.com/office/powerpoint/2010/main" val="13148517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75607-8FA5-417C-B8A6-35938AB4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JAKIM / MAIN DEVELOPMENT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CF7F5-3EB0-427D-BB4F-696C1492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7538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Register the ecosystem first; activate governance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D8A1-1551-4F1B-89B1-D58E1F1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2153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AGP can become the implementation partner that creates a living registry and governance workflow for organizations under an authority 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AA4A4-71C5-4BF7-99E7-3332253C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49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7FF06-C91C-4528-A187-B9B328AF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Authority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A686C-F74E-4A01-A07F-D7EC6971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849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JAKIM or a state MAIN identifies the organizations under the selected pilot or rollout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86EAF-06FC-4971-9C47-DBD2A68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849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Step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D97AA-087A-4CC4-97CE-7C28052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AGP registration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46D91-8448-47D4-9341-095977E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849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AGP registers mosques, suraus, charities, waqf initiatives and other approved entities into the 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3FF1A-5DEB-4549-AB7A-2FD927F8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849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Step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F7F8B-9077-4E72-BE72-BA66ABF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Member activation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FFF44-1A1E-4564-99A1-0F35B57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849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Organization members update profiles, reports, evidence, bookkeeping and certification progress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A0366-C9F9-4660-A86A-360F1BE5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047" y="2884170"/>
            <a:ext cx="7822803" cy="1093470"/>
          </a:xfrm>
          <a:prstGeom xmlns:a="http://schemas.openxmlformats.org/drawingml/2006/main" prst="roundRect">
            <a:avLst>
              <a:gd name="adj" fmla="val 6969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4F9D9-F1DC-4802-B187-C5CABAF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For JAKIM/MAIN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4E4F1-B87E-439F-9011-58454315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33750"/>
            <a:ext cx="7410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Central dashboard visibility, reporting gaps, audit-readiness signals and better public confidence.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DBA83-5E4A-4753-9108-31BC8E30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047" y="4130040"/>
            <a:ext cx="7822803" cy="1093470"/>
          </a:xfrm>
          <a:prstGeom xmlns:a="http://schemas.openxmlformats.org/drawingml/2006/main" prst="roundRect">
            <a:avLst>
              <a:gd name="adj" fmla="val 6969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7C2F3-8AEF-4E93-985E-9321F3D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For organizations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EEF7C-EAFF-4FFE-A09B-5293FDA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0"/>
            <a:ext cx="7410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Guided onboarding, governance support and public trust profile readiness without AGP fees.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91046-582D-4D94-9E3E-ADCD5C9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047" y="5375910"/>
            <a:ext cx="7822803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403F0-B92F-481A-A481-E0710829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4355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For donors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C73A5-B168-4332-A4D8-A0D69A4E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10250"/>
            <a:ext cx="741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Clearer trust signals before donating, with direct-to-charity giving context.</a:t>
            </a:r>
          </a:p>
        </p:txBody>
      </p:sp>
    </p:spTree>
    <p:extLst>
      <p:ext uri="{BB962C8B-B14F-4D97-AF65-F5344CB8AC3E}">
        <p14:creationId xmlns:p14="http://schemas.microsoft.com/office/powerpoint/2010/main" val="10818835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A9B37-EC91-4490-B4B8-9233A448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ADVISOR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4F7E0-2DA6-4247-ABCB-6A483616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44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Prof. Anuar can strengthen the behaviour-change and evaluation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7AD74-A2C1-4163-BE4B-CE52A56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recommended role is advising member, allowing AGP to apply directly while still benefiting from organizational behaviour expertise.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42BF4-466D-4316-AA53-5296DCE9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1280"/>
            <a:ext cx="8191500" cy="3192780"/>
          </a:xfrm>
          <a:prstGeom xmlns:a="http://schemas.openxmlformats.org/drawingml/2006/main" prst="roundRect">
            <a:avLst>
              <a:gd name="adj" fmla="val 2387"/>
            </a:avLst>
          </a:prstGeom>
          <a:noFill xmlns:a="http://schemas.openxmlformats.org/drawingml/2006/main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A47C1-AB71-44B4-B73E-85C3E580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Adoption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7B117-0B5B-44C8-A6F9-99EDBC13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Explain what drives digital governance uptake among committees and administrators.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1525-95BA-4C27-A2B6-99E1EB9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1280"/>
            <a:ext cx="8191500" cy="3192780"/>
          </a:xfrm>
          <a:prstGeom xmlns:a="http://schemas.openxmlformats.org/drawingml/2006/main" prst="roundRect">
            <a:avLst>
              <a:gd name="adj" fmla="val 2387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00EA7-1DAA-4F83-ACA8-D6619CD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Training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AC35A-FE81-4B84-8B80-2B1B53C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Shape workshops around HRD, organizational learning and volunteer-led capability building.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5289-A894-4B68-BF81-2FAAD6D4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23610"/>
            <a:ext cx="8191500" cy="3192780"/>
          </a:xfrm>
          <a:prstGeom xmlns:a="http://schemas.openxmlformats.org/drawingml/2006/main" prst="roundRect">
            <a:avLst>
              <a:gd name="adj" fmla="val 2387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F820C-B9D5-452C-89F6-67943014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Evaluation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4C11F-CBDD-4067-85A5-D4FC65C3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Guide baseline/endline logic, interview framing and behavioural measurement.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AE50D-15FC-4437-8F7B-C5EAF84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23610"/>
            <a:ext cx="8191500" cy="3192780"/>
          </a:xfrm>
          <a:prstGeom xmlns:a="http://schemas.openxmlformats.org/drawingml/2006/main" prst="roundRect">
            <a:avLst>
              <a:gd name="adj" fmla="val 2387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89CF2-8A66-43CF-A966-7E8F901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912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Credibility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D5BA1-A356-45BB-ABF8-5CB71B03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579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Help position AGP as a serious governance intervention, not just a software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FC038-DAB5-447E-B802-BAE7DD47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46F"/>
                </a:solidFill>
              </a:defRPr>
            </a:pPr>
            <a:r>
              <a:rPr sz="1650" b="0">
                <a:solidFill>
                  <a:srgbClr val="65746F"/>
                </a:solidFill>
              </a:rPr>
              <a:t>This keeps USM-linked research possibilities open without making USM the only route or formal applicant anchor.</a:t>
            </a:r>
          </a:p>
        </p:txBody>
      </p:sp>
    </p:spTree>
    <p:extLst>
      <p:ext uri="{BB962C8B-B14F-4D97-AF65-F5344CB8AC3E}">
        <p14:creationId xmlns:p14="http://schemas.microsoft.com/office/powerpoint/2010/main" val="1162053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80713-3F67-4A98-BDA6-3486D86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PILOT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5A491-92BA-449C-8821-2FED2DEA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087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Success should be measured as capability change, not just account creation.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883DB-731D-4FBC-BCEC-A00F85B6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9544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live seeded MVP gives funders confidence; the pilot should prove real organizational behaviour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2D34B-5363-488A-A3DB-E4BB7FB7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4170"/>
            <a:ext cx="5384800" cy="3301365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5B322-8EC9-46B1-889E-B16CDC8E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Registry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958EF-9A27-4582-B1A7-FC0F39C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100% of agreed JAKIM/MAIN pilot cohort registered.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C5590-7E97-4936-ADBA-FFA6FFBA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884170"/>
            <a:ext cx="5384800" cy="3301365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B3262-4520-41A4-8E37-C5671D59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Evidence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B8360-3632-4304-91D2-742F97E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80% complete core evidence pack.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4384-DD63-4260-88B2-6A10A5C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2884170"/>
            <a:ext cx="5384800" cy="3301365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80730-A50C-49BD-A0A1-5C1B2CF9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048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E1155-3A9F-4852-977A-25A886A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3337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50% improvement in timeliness against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D56DE-AE69-4064-9885-9366518D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95085"/>
            <a:ext cx="5384800" cy="3301365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B0F53-A01A-48C9-B3EF-D2F3900F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722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Amanah movement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A3E2C-F67B-41F0-9ED9-BEE9A6D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+10 to +15 points where baseline gaps exist.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D0F6E-1CEC-4482-A559-016E08B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6395085"/>
            <a:ext cx="5384800" cy="3301365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ADB21-EE8E-4FE7-8A66-A18E9DD4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722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Remediation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2AC8B-ADDF-4694-A4FB-21AD998F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838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70% of findings closed within agreed cycle.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B9B05-B0BA-421F-8414-E1A782A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6395085"/>
            <a:ext cx="5384800" cy="3301365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1E635-D7AC-4380-B5D6-E08CC4D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5722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Trust perception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B7D92-7DB1-4E1F-803C-E0A1F91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838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20% donor confidence lift after viewing public profiles.</a:t>
            </a:r>
          </a:p>
        </p:txBody>
      </p:sp>
    </p:spTree>
    <p:extLst>
      <p:ext uri="{BB962C8B-B14F-4D97-AF65-F5344CB8AC3E}">
        <p14:creationId xmlns:p14="http://schemas.microsoft.com/office/powerpoint/2010/main" val="6236068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C44FF-91BD-4563-A51F-2E11C096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FUNDING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53DB2-53CC-4ED0-AF52-B8262488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506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Lead with AGP direct applications, but keep every viable route open.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19B0F-1B63-4EF1-BC5E-E2E6B94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125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grant execution board remains the pipeline: no route is dropped while the JAKIM/MAIN and advisor conversations mature.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A1FDE-E76F-42C2-8058-45C87F5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1280"/>
            <a:ext cx="5397500" cy="3432810"/>
          </a:xfrm>
          <a:prstGeom xmlns:a="http://schemas.openxmlformats.org/drawingml/2006/main" prst="roundRect">
            <a:avLst>
              <a:gd name="adj" fmla="val 2220"/>
            </a:avLst>
          </a:prstGeom>
          <a:noFill xmlns:a="http://schemas.openxmlformats.org/drawingml/2006/main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DC7B4-F33B-4557-AAF7-3F9E6A2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Immediate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3CD6C-CC7C-4766-A237-0B340898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MD Status, Hasanah Micro, IsDB Engage registration, JAKIM/MAIN letter.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F125D-5E15-4D2F-967A-20AF4E4B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621280"/>
            <a:ext cx="5397500" cy="3432810"/>
          </a:xfrm>
          <a:prstGeom xmlns:a="http://schemas.openxmlformats.org/drawingml/2006/main" prst="roundRect">
            <a:avLst>
              <a:gd name="adj" fmla="val 2220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5F632-EBC4-4827-9EE4-BB5C973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Build credibility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4285D-0750-4FE3-AD5A-0ECB08CC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Cradle CIP, SC FIKRA ACE, JAWHAR engagement, Shariah advisor.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241FC-7C79-4DB3-A05E-1658A590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2621280"/>
            <a:ext cx="5397500" cy="3432810"/>
          </a:xfrm>
          <a:prstGeom xmlns:a="http://schemas.openxmlformats.org/drawingml/2006/main" prst="roundRect">
            <a:avLst>
              <a:gd name="adj" fmla="val 2220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390F7-A106-4694-A8FD-369A2202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003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Accelerate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C653C-B30D-40A9-A3FA-55E1E8B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06705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MDEC MDCG, IERIF/INCEIF, Hasanah Special Grant, pilot coordinators.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BBEC5-C87F-49AB-8A18-125595B2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63640"/>
            <a:ext cx="5397500" cy="3432810"/>
          </a:xfrm>
          <a:prstGeom xmlns:a="http://schemas.openxmlformats.org/drawingml/2006/main" prst="roundRect">
            <a:avLst>
              <a:gd name="adj" fmla="val 2220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7085D-7BE7-4FDE-8830-1DCF59A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Scale prep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43799-6CFE-48BC-8263-9F8E519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0560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IsDB Transform Fund, pilot evidence pack, CSR/ESG sponsorships.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29C5F-B3AA-40A0-BEB4-38EB7B8B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6263640"/>
            <a:ext cx="5397500" cy="3432810"/>
          </a:xfrm>
          <a:prstGeom xmlns:a="http://schemas.openxmlformats.org/drawingml/2006/main" prst="roundRect">
            <a:avLst>
              <a:gd name="adj" fmla="val 2220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6D739-54F3-4A7C-927A-D524FC70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E9874-EA4B-4699-8845-E70E951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0560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MDAG, additional state MAIN expansion, regional OIC partnerships.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44A7F-F91A-4B84-A074-77F424FB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6263640"/>
            <a:ext cx="5397500" cy="3432810"/>
          </a:xfrm>
          <a:prstGeom xmlns:a="http://schemas.openxmlformats.org/drawingml/2006/main" prst="roundRect">
            <a:avLst>
              <a:gd name="adj" fmla="val 2220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1DBD6-AC6D-4F8D-8598-BB6CDC3A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389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Academic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CD95B-BB53-4013-9FE7-33389BB6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0560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University-linked co-applications stay available when funder fit is strong.</a:t>
            </a:r>
          </a:p>
        </p:txBody>
      </p:sp>
    </p:spTree>
    <p:extLst>
      <p:ext uri="{BB962C8B-B14F-4D97-AF65-F5344CB8AC3E}">
        <p14:creationId xmlns:p14="http://schemas.microsoft.com/office/powerpoint/2010/main" val="4389309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A78A2-3DC1-41B6-9068-B5168591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AAFD3-4019-45A4-9D8E-256142E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9791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RM550,000 funds a serious 12-month proof cycle.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46FBA-6341-4B56-8425-E57E523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015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budget supports product hardening, research/evaluation, training, field operations and institutional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6DE3A-C116-43BD-AF86-AFDDF2E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2670"/>
            <a:ext cx="81153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06608-3D39-410F-9157-604D089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RM180k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56183-B4CA-4FFA-88A6-29F89B2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Platform development, configuration, trust profile polish and data exports.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89E45-5FE2-488E-B72E-E10F40B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9460"/>
            <a:ext cx="81153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698EF-D2B0-4AF7-BEA5-E8786F0C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RM90k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FD080-FFF4-4D3D-BB39-E885F2D0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Research design, surveys, interviews, analysis and reporting.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13092-619F-4E12-8709-14302216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81153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48130-864E-4E85-AB7E-E50FC727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RM80k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77FEB-FD03-4E8F-B25F-340E2C0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Training, governance workshops, materials and facilitation.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1E36B-204D-4DDF-9233-3ED3978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12670"/>
            <a:ext cx="81153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D912B-1E64-4486-94F1-5144481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RM90k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D130F-5ABD-413A-B3E0-B2E51F2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Pilot operations, helpdesk, field coordination and onboarding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78CA7-95F8-4234-9874-580F13CB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9460"/>
            <a:ext cx="81153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EAF53-6A86-4D19-A147-C48067F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RM55k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FACE-C2F7-4B11-9101-0B63E490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3380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Cloud, storage, monitoring, backup, security and compliance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461F9-04F9-4E0C-8C40-C03F089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86250"/>
            <a:ext cx="8115300" cy="853440"/>
          </a:xfrm>
          <a:prstGeom xmlns:a="http://schemas.openxmlformats.org/drawingml/2006/main" prst="roundRect">
            <a:avLst>
              <a:gd name="adj" fmla="val 8929"/>
            </a:avLst>
          </a:prstGeom>
          <a:noFill xmlns:a="http://schemas.openxmlformats.org/drawingml/2006/main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F449B-9916-4FD7-8E48-0E74FF59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577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RM55k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130A9-93F6-4340-9EF4-8E5FEFF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2440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Dissemination and contingency for delivery risk.</a:t>
            </a:r>
          </a:p>
        </p:txBody>
      </p:sp>
    </p:spTree>
    <p:extLst>
      <p:ext uri="{BB962C8B-B14F-4D97-AF65-F5344CB8AC3E}">
        <p14:creationId xmlns:p14="http://schemas.microsoft.com/office/powerpoint/2010/main" val="14488104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5EEB3-4CF4-40D7-B668-7F8C2A7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MEETING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C859-0410-4D8D-ADFD-DE55E70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192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A2A"/>
                </a:solidFill>
              </a:defRPr>
            </a:pPr>
            <a:r>
              <a:rPr sz="3750" b="1">
                <a:solidFill>
                  <a:srgbClr val="172A2A"/>
                </a:solidFill>
              </a:rPr>
              <a:t>Leave with advisory support and a practical institutional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E9457-7B14-4572-976A-C363D6E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4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46F"/>
                </a:solidFill>
              </a:defRPr>
            </a:pPr>
            <a:r>
              <a:rPr sz="1725">
                <a:solidFill>
                  <a:srgbClr val="65746F"/>
                </a:solidFill>
              </a:rPr>
              <a:t>The decision is not to close every route today; it is to secure enough alignment to move the next proposals forward.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4D82B-549A-4950-B5E2-496CD46D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C03EF-C824-41EE-B2E0-FCD8448F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878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Advisor 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02626-80B7-4BAB-80AD-E71961E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Invite Prof. Anuar to advise the behaviour-change, training and evaluation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8C010-4C2D-46B0-AFFE-10ABB62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2A026-C002-4A64-8C0C-EF2CB99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878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Institutional door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E772A-4FD5-4731-82F2-BC961753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Identify the best first JAKIM/MAIN or JAWHAR conversation and authority scope.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D9658-554D-4C5C-9768-9655C76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D8634-83BB-44DC-BEDC-284F112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878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Grant packaging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96A80-CA5A-4C8F-9DE8-2310BDC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Prepare modular proposals for direct grants, institutional partners and academic routes.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81247-7A9C-4A06-BBC6-9294A7BD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795" y="2884170"/>
            <a:ext cx="7466055" cy="2217420"/>
          </a:xfrm>
          <a:prstGeom xmlns:a="http://schemas.openxmlformats.org/drawingml/2006/main" prst="roundRect">
            <a:avLst>
              <a:gd name="adj" fmla="val 3436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1B530-AF5A-4379-B19E-34D21B4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62300"/>
            <a:ext cx="6819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A2A"/>
                </a:solidFill>
              </a:defRPr>
            </a:pPr>
            <a:r>
              <a:rPr sz="2250" b="1">
                <a:solidFill>
                  <a:srgbClr val="172A2A"/>
                </a:solidFill>
              </a:rPr>
              <a:t>Proposed 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377D3-EEB8-4CED-A058-88BA2EE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76650"/>
            <a:ext cx="68199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F6F5B"/>
                </a:solidFill>
              </a:defRPr>
            </a:pPr>
            <a:r>
              <a:rPr sz="2475" b="1">
                <a:solidFill>
                  <a:srgbClr val="1F6F5B"/>
                </a:solidFill>
              </a:rPr>
              <a:t>Can Prof. Anuar advise the organizational behaviour model while AGP approaches JAKIM/MAIN and keeps all grant routes open?</a:t>
            </a:r>
          </a:p>
        </p:txBody>
      </p:sp>
    </p:spTree>
    <p:extLst>
      <p:ext uri="{BB962C8B-B14F-4D97-AF65-F5344CB8AC3E}">
        <p14:creationId xmlns:p14="http://schemas.microsoft.com/office/powerpoint/2010/main" val="339919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2026-05-08T10:49:06.7140000Z</dcterms:created>
  <dcterms:modified xsi:type="dcterms:W3CDTF">2026-05-08T10:49:06.7150000Z</dcterms:modified>
</coreProperties>
</file>