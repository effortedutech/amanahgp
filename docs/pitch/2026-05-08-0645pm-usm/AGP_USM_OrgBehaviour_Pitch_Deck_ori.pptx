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238559" y="582635"/>
            <a:ext cx="95222" cy="95222"/>
          </a:xfrm>
          <a:prstGeom prst="ellipse">
            <a:avLst/>
          </a:prstGeom>
          <a:solidFill>
            <a:srgbClr val="1F5D4F"/>
          </a:solidFill>
          <a:ln/>
          <a:effectLst>
            <a:outerShdw sx="100000" sy="100000" kx="0" ky="0" algn="bl" rotWithShape="0" blurRad="101600" dist="50800" dir="16200000">
              <a:srgbClr val="D8E3DD">
                <a:alpha val="10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7467038" y="546530"/>
            <a:ext cx="2785532" cy="2056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89" kern="0" dirty="0">
                <a:solidFill>
                  <a:srgbClr val="16231F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AMANAH GOVERNANCE PLATFORM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6267051" y="533301"/>
            <a:ext cx="954148" cy="2321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44" kern="0" dirty="0">
                <a:solidFill>
                  <a:srgbClr val="6B756F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MAY 2026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42945" y="1714417"/>
            <a:ext cx="16482116" cy="2321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264" kern="0" dirty="0">
                <a:solidFill>
                  <a:srgbClr val="1F5D4F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PITCH DECK · USM · ORG BEHAVIOUR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142945" y="2175095"/>
            <a:ext cx="15893358" cy="35103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9300" spc="-279" kern="0" dirty="0">
                <a:solidFill>
                  <a:srgbClr val="16231F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Public-interest governance </a:t>
            </a:r>
            <a:pPr algn="l" indent="0" marL="0">
              <a:lnSpc>
                <a:spcPct val="98000"/>
              </a:lnSpc>
              <a:buNone/>
            </a:pPr>
            <a:r>
              <a:rPr lang="en-US" sz="9300" i="1" spc="-279" kern="0" dirty="0">
                <a:solidFill>
                  <a:srgbClr val="1F5D4F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infrastructure </a:t>
            </a:r>
            <a:pPr algn="l" indent="0" marL="0">
              <a:lnSpc>
                <a:spcPct val="98000"/>
              </a:lnSpc>
              <a:buNone/>
            </a:pPr>
            <a:r>
              <a:rPr lang="en-US" sz="9300" spc="-279" kern="0" dirty="0">
                <a:solidFill>
                  <a:srgbClr val="16231F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for Islamic social finance.</a:t>
            </a:r>
            <a:endParaRPr lang="en-US" sz="9300" dirty="0"/>
          </a:p>
        </p:txBody>
      </p:sp>
      <p:sp>
        <p:nvSpPr>
          <p:cNvPr id="7" name="Text 5"/>
          <p:cNvSpPr/>
          <p:nvPr/>
        </p:nvSpPr>
        <p:spPr>
          <a:xfrm>
            <a:off x="1142945" y="6028228"/>
            <a:ext cx="10791825" cy="80952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250" i="1" dirty="0">
                <a:solidFill>
                  <a:srgbClr val="2C3A35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An AGP-led grant and development proposal — with Prof. Anuar as advising member, and JAKIM/MAIN as potential authority-side partners.</a:t>
            </a:r>
            <a:endParaRPr lang="en-US" sz="2250" dirty="0"/>
          </a:p>
        </p:txBody>
      </p:sp>
      <p:sp>
        <p:nvSpPr>
          <p:cNvPr id="8" name="Shape 6"/>
          <p:cNvSpPr/>
          <p:nvPr/>
        </p:nvSpPr>
        <p:spPr>
          <a:xfrm>
            <a:off x="1142945" y="7930747"/>
            <a:ext cx="4978439" cy="9525"/>
          </a:xfrm>
          <a:prstGeom prst="rect">
            <a:avLst/>
          </a:prstGeom>
          <a:solidFill>
            <a:srgbClr val="16231F"/>
          </a:solidFill>
          <a:ln/>
        </p:spPr>
      </p:sp>
      <p:sp>
        <p:nvSpPr>
          <p:cNvPr id="9" name="Text 7"/>
          <p:cNvSpPr/>
          <p:nvPr/>
        </p:nvSpPr>
        <p:spPr>
          <a:xfrm>
            <a:off x="1142945" y="8168046"/>
            <a:ext cx="5127792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215" kern="0" dirty="0">
                <a:solidFill>
                  <a:srgbClr val="6B756F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01 · POSITION</a:t>
            </a:r>
            <a:endParaRPr lang="en-US" sz="975" dirty="0"/>
          </a:p>
        </p:txBody>
      </p:sp>
      <p:sp>
        <p:nvSpPr>
          <p:cNvPr id="10" name="Text 8"/>
          <p:cNvSpPr/>
          <p:nvPr/>
        </p:nvSpPr>
        <p:spPr>
          <a:xfrm>
            <a:off x="1142945" y="8441035"/>
            <a:ext cx="5127792" cy="3600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50" dirty="0">
                <a:solidFill>
                  <a:srgbClr val="16231F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Live seeded MVP, not a paper concept.</a:t>
            </a:r>
            <a:endParaRPr lang="en-US" sz="1950" dirty="0"/>
          </a:p>
        </p:txBody>
      </p:sp>
      <p:sp>
        <p:nvSpPr>
          <p:cNvPr id="11" name="Shape 9"/>
          <p:cNvSpPr/>
          <p:nvPr/>
        </p:nvSpPr>
        <p:spPr>
          <a:xfrm>
            <a:off x="6654684" y="7930747"/>
            <a:ext cx="4978439" cy="9525"/>
          </a:xfrm>
          <a:prstGeom prst="rect">
            <a:avLst/>
          </a:prstGeom>
          <a:solidFill>
            <a:srgbClr val="16231F"/>
          </a:solidFill>
          <a:ln/>
        </p:spPr>
      </p:sp>
      <p:sp>
        <p:nvSpPr>
          <p:cNvPr id="12" name="Text 10"/>
          <p:cNvSpPr/>
          <p:nvPr/>
        </p:nvSpPr>
        <p:spPr>
          <a:xfrm>
            <a:off x="6654684" y="8168046"/>
            <a:ext cx="5127792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215" kern="0" dirty="0">
                <a:solidFill>
                  <a:srgbClr val="6B756F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02 · PRINCIPLE</a:t>
            </a:r>
            <a:endParaRPr lang="en-US" sz="975" dirty="0"/>
          </a:p>
        </p:txBody>
      </p:sp>
      <p:sp>
        <p:nvSpPr>
          <p:cNvPr id="13" name="Text 11"/>
          <p:cNvSpPr/>
          <p:nvPr/>
        </p:nvSpPr>
        <p:spPr>
          <a:xfrm>
            <a:off x="6654684" y="8441035"/>
            <a:ext cx="5127792" cy="3600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50" dirty="0">
                <a:solidFill>
                  <a:srgbClr val="16231F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Charity organizations do not pay AGP.</a:t>
            </a:r>
            <a:endParaRPr lang="en-US" sz="1950" dirty="0"/>
          </a:p>
        </p:txBody>
      </p:sp>
      <p:sp>
        <p:nvSpPr>
          <p:cNvPr id="14" name="Shape 12"/>
          <p:cNvSpPr/>
          <p:nvPr/>
        </p:nvSpPr>
        <p:spPr>
          <a:xfrm>
            <a:off x="12166424" y="7930747"/>
            <a:ext cx="4978439" cy="9525"/>
          </a:xfrm>
          <a:prstGeom prst="rect">
            <a:avLst/>
          </a:prstGeom>
          <a:solidFill>
            <a:srgbClr val="16231F"/>
          </a:solidFill>
          <a:ln/>
        </p:spPr>
      </p:sp>
      <p:sp>
        <p:nvSpPr>
          <p:cNvPr id="15" name="Text 13"/>
          <p:cNvSpPr/>
          <p:nvPr/>
        </p:nvSpPr>
        <p:spPr>
          <a:xfrm>
            <a:off x="12166424" y="8168046"/>
            <a:ext cx="5127792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215" kern="0" dirty="0">
                <a:solidFill>
                  <a:srgbClr val="6B756F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03 · ROUTE</a:t>
            </a:r>
            <a:endParaRPr lang="en-US" sz="975" dirty="0"/>
          </a:p>
        </p:txBody>
      </p:sp>
      <p:sp>
        <p:nvSpPr>
          <p:cNvPr id="16" name="Text 14"/>
          <p:cNvSpPr/>
          <p:nvPr/>
        </p:nvSpPr>
        <p:spPr>
          <a:xfrm>
            <a:off x="12166424" y="8441035"/>
            <a:ext cx="5127792" cy="3600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50" dirty="0">
                <a:solidFill>
                  <a:srgbClr val="16231F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Keep all grant pathways open.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1142945" y="9559589"/>
            <a:ext cx="5764099" cy="2321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44" kern="0" dirty="0">
                <a:solidFill>
                  <a:srgbClr val="6B756F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CONFIDENTIAL — FOR ADVISOR AND AUTHORITY DISCUSSION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1558020" y="9559589"/>
            <a:ext cx="844318" cy="2321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44" kern="0" dirty="0">
                <a:solidFill>
                  <a:srgbClr val="6B756F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01 / 12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64330" y="582635"/>
            <a:ext cx="95222" cy="95222"/>
          </a:xfrm>
          <a:prstGeom prst="ellipse">
            <a:avLst/>
          </a:prstGeom>
          <a:solidFill>
            <a:srgbClr val="1F5D4F"/>
          </a:solidFill>
          <a:ln/>
          <a:effectLst>
            <a:outerShdw sx="100000" sy="100000" kx="0" ky="0" algn="bl" rotWithShape="0" blurRad="101600" dist="50800" dir="16200000">
              <a:srgbClr val="D8E3DD">
                <a:alpha val="10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7192808" y="546530"/>
            <a:ext cx="2785532" cy="2056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89" kern="0" dirty="0">
                <a:solidFill>
                  <a:srgbClr val="16231F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AMANAH GOVERNANCE PLATFORM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5718455" y="533301"/>
            <a:ext cx="1502745" cy="2321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44" kern="0" dirty="0">
                <a:solidFill>
                  <a:srgbClr val="6B756F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02 — EVIDENCE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42945" y="1371561"/>
            <a:ext cx="16482116" cy="2321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264" kern="0" dirty="0">
                <a:solidFill>
                  <a:srgbClr val="1F5D4F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EVIDENCE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142945" y="1832240"/>
            <a:ext cx="14716125" cy="17479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6600" spc="-198" kern="0" dirty="0">
                <a:solidFill>
                  <a:srgbClr val="16231F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AmanahHub is already </a:t>
            </a:r>
            <a:pPr algn="l" indent="0" marL="0">
              <a:lnSpc>
                <a:spcPct val="102000"/>
              </a:lnSpc>
              <a:buNone/>
            </a:pPr>
            <a:r>
              <a:rPr lang="en-US" sz="6600" i="1" spc="-198" kern="0" dirty="0">
                <a:solidFill>
                  <a:srgbClr val="1F5D4F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live </a:t>
            </a:r>
            <a:pPr algn="l" indent="0" marL="0">
              <a:lnSpc>
                <a:spcPct val="102000"/>
              </a:lnSpc>
              <a:buNone/>
            </a:pPr>
            <a:r>
              <a:rPr lang="en-US" sz="6600" spc="-198" kern="0" dirty="0">
                <a:solidFill>
                  <a:srgbClr val="16231F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, with public trust profiles.</a:t>
            </a:r>
            <a:endParaRPr lang="en-US" sz="6600" dirty="0"/>
          </a:p>
        </p:txBody>
      </p:sp>
      <p:sp>
        <p:nvSpPr>
          <p:cNvPr id="7" name="Text 5"/>
          <p:cNvSpPr/>
          <p:nvPr/>
        </p:nvSpPr>
        <p:spPr>
          <a:xfrm>
            <a:off x="1142945" y="3808760"/>
            <a:ext cx="10791825" cy="9123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550" i="1" dirty="0">
                <a:solidFill>
                  <a:srgbClr val="2C3A35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Funders and partners can inspect a working public directory today, supported by deployed protected workspaces.</a:t>
            </a:r>
            <a:endParaRPr lang="en-US" sz="2550" dirty="0"/>
          </a:p>
        </p:txBody>
      </p:sp>
      <p:sp>
        <p:nvSpPr>
          <p:cNvPr id="8" name="Text 6"/>
          <p:cNvSpPr/>
          <p:nvPr/>
        </p:nvSpPr>
        <p:spPr>
          <a:xfrm>
            <a:off x="1142945" y="5333972"/>
            <a:ext cx="7848600" cy="18192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16500" spc="-660" kern="0" dirty="0">
                <a:solidFill>
                  <a:srgbClr val="16231F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46</a:t>
            </a:r>
            <a:endParaRPr lang="en-US" sz="16500" dirty="0"/>
          </a:p>
        </p:txBody>
      </p:sp>
      <p:sp>
        <p:nvSpPr>
          <p:cNvPr id="9" name="Text 7"/>
          <p:cNvSpPr/>
          <p:nvPr/>
        </p:nvSpPr>
        <p:spPr>
          <a:xfrm>
            <a:off x="1142945" y="7286515"/>
            <a:ext cx="5297691" cy="6201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i="1" dirty="0">
                <a:solidFill>
                  <a:srgbClr val="2C3A35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Visible organisations in the public charity directory.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9524862" y="5333972"/>
            <a:ext cx="7848742" cy="18192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16500" i="1" spc="-660" kern="0" dirty="0">
                <a:solidFill>
                  <a:srgbClr val="1F5D4F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37</a:t>
            </a:r>
            <a:endParaRPr lang="en-US" sz="16500" dirty="0"/>
          </a:p>
        </p:txBody>
      </p:sp>
      <p:sp>
        <p:nvSpPr>
          <p:cNvPr id="11" name="Text 9"/>
          <p:cNvSpPr/>
          <p:nvPr/>
        </p:nvSpPr>
        <p:spPr>
          <a:xfrm>
            <a:off x="9524862" y="7286515"/>
            <a:ext cx="5297691" cy="3291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i="1" dirty="0">
                <a:solidFill>
                  <a:srgbClr val="2C3A35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Published donor-facing trust profiles.</a:t>
            </a:r>
            <a:endParaRPr lang="en-US" sz="2250" dirty="0"/>
          </a:p>
        </p:txBody>
      </p:sp>
      <p:sp>
        <p:nvSpPr>
          <p:cNvPr id="12" name="Shape 10"/>
          <p:cNvSpPr/>
          <p:nvPr/>
        </p:nvSpPr>
        <p:spPr>
          <a:xfrm>
            <a:off x="1142945" y="8060559"/>
            <a:ext cx="16002055" cy="9525"/>
          </a:xfrm>
          <a:prstGeom prst="rect">
            <a:avLst/>
          </a:prstGeom>
          <a:solidFill>
            <a:srgbClr val="16231F"/>
          </a:solidFill>
          <a:ln/>
        </p:spPr>
      </p:sp>
      <p:sp>
        <p:nvSpPr>
          <p:cNvPr id="13" name="Text 11"/>
          <p:cNvSpPr/>
          <p:nvPr/>
        </p:nvSpPr>
        <p:spPr>
          <a:xfrm>
            <a:off x="1142945" y="8297857"/>
            <a:ext cx="3885125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76" kern="0" dirty="0">
                <a:solidFill>
                  <a:srgbClr val="1F5D4F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CATEGORIES</a:t>
            </a:r>
            <a:endParaRPr lang="en-US" sz="975" dirty="0"/>
          </a:p>
        </p:txBody>
      </p:sp>
      <p:sp>
        <p:nvSpPr>
          <p:cNvPr id="14" name="Text 12"/>
          <p:cNvSpPr/>
          <p:nvPr/>
        </p:nvSpPr>
        <p:spPr>
          <a:xfrm>
            <a:off x="1142945" y="8551829"/>
            <a:ext cx="3885125" cy="5350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350" dirty="0">
                <a:solidFill>
                  <a:srgbClr val="16231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Mosque/surau, waqf, zakat, foundations, welfare and cooperative.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5219595" y="8297857"/>
            <a:ext cx="3885125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76" kern="0" dirty="0">
                <a:solidFill>
                  <a:srgbClr val="1F5D4F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TRUST TIERS</a:t>
            </a:r>
            <a:endParaRPr lang="en-US" sz="975" dirty="0"/>
          </a:p>
        </p:txBody>
      </p:sp>
      <p:sp>
        <p:nvSpPr>
          <p:cNvPr id="16" name="Text 14"/>
          <p:cNvSpPr/>
          <p:nvPr/>
        </p:nvSpPr>
        <p:spPr>
          <a:xfrm>
            <a:off x="5219595" y="8551829"/>
            <a:ext cx="3885125" cy="5350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350" dirty="0">
                <a:solidFill>
                  <a:srgbClr val="16231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Gold, Silver and Bronze profile language is visible.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9296245" y="8297857"/>
            <a:ext cx="3885125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76" kern="0" dirty="0">
                <a:solidFill>
                  <a:srgbClr val="1F5D4F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PROTECTED APPS</a:t>
            </a:r>
            <a:endParaRPr lang="en-US" sz="975" dirty="0"/>
          </a:p>
        </p:txBody>
      </p:sp>
      <p:sp>
        <p:nvSpPr>
          <p:cNvPr id="18" name="Text 16"/>
          <p:cNvSpPr/>
          <p:nvPr/>
        </p:nvSpPr>
        <p:spPr>
          <a:xfrm>
            <a:off x="9296245" y="8551829"/>
            <a:ext cx="3885125" cy="5350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350" dirty="0">
                <a:solidFill>
                  <a:srgbClr val="16231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amanahOS and AGP Console are deployed login surfaces.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13372895" y="8297857"/>
            <a:ext cx="3885267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76" kern="0" dirty="0">
                <a:solidFill>
                  <a:srgbClr val="1F5D4F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GRANT PROOF</a:t>
            </a:r>
            <a:endParaRPr lang="en-US" sz="975" dirty="0"/>
          </a:p>
        </p:txBody>
      </p:sp>
      <p:sp>
        <p:nvSpPr>
          <p:cNvPr id="20" name="Text 18"/>
          <p:cNvSpPr/>
          <p:nvPr/>
        </p:nvSpPr>
        <p:spPr>
          <a:xfrm>
            <a:off x="13372895" y="8551829"/>
            <a:ext cx="3885267" cy="286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350" dirty="0">
                <a:solidFill>
                  <a:srgbClr val="16231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 live MVP reduces funder execution risk.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1142945" y="9559589"/>
            <a:ext cx="5651117" cy="2321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44" kern="0" dirty="0">
                <a:solidFill>
                  <a:srgbClr val="6B756F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LIVE MVP · PUBLIC DIRECTORY INSPECTABLE ON REQUEST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1503173" y="9559589"/>
            <a:ext cx="844318" cy="2321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44" kern="0" dirty="0">
                <a:solidFill>
                  <a:srgbClr val="6B756F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02 / 12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019175" y="582635"/>
            <a:ext cx="95222" cy="95222"/>
          </a:xfrm>
          <a:prstGeom prst="ellipse">
            <a:avLst/>
          </a:prstGeom>
          <a:solidFill>
            <a:srgbClr val="1F5D4F"/>
          </a:solidFill>
          <a:ln/>
          <a:effectLst>
            <a:outerShdw sx="100000" sy="100000" kx="0" ky="0" algn="bl" rotWithShape="0" blurRad="101600" dist="50800" dir="16200000">
              <a:srgbClr val="D8E3DD">
                <a:alpha val="10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7247654" y="546530"/>
            <a:ext cx="2785532" cy="2056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89" kern="0" dirty="0">
                <a:solidFill>
                  <a:srgbClr val="16231F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AMANAH GOVERNANCE PLATFORM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5828147" y="533301"/>
            <a:ext cx="1393053" cy="2321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44" kern="0" dirty="0">
                <a:solidFill>
                  <a:srgbClr val="6B756F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03 — PROBLEM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42945" y="1371561"/>
            <a:ext cx="16482116" cy="2321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264" kern="0" dirty="0">
                <a:solidFill>
                  <a:srgbClr val="1F5D4F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PROBLEM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142945" y="1832240"/>
            <a:ext cx="14716125" cy="15148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5700" spc="-171" kern="0" dirty="0">
                <a:solidFill>
                  <a:srgbClr val="16231F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Islamic giving has scale — but governance is </a:t>
            </a:r>
            <a:pPr algn="l" indent="0" marL="0">
              <a:lnSpc>
                <a:spcPct val="102000"/>
              </a:lnSpc>
              <a:buNone/>
            </a:pPr>
            <a:r>
              <a:rPr lang="en-US" sz="5700" i="1" spc="-171" kern="0" dirty="0">
                <a:solidFill>
                  <a:srgbClr val="1F5D4F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fragmented </a:t>
            </a:r>
            <a:pPr algn="l" indent="0" marL="0">
              <a:lnSpc>
                <a:spcPct val="102000"/>
              </a:lnSpc>
              <a:buNone/>
            </a:pPr>
            <a:r>
              <a:rPr lang="en-US" sz="5700" spc="-171" kern="0" dirty="0">
                <a:solidFill>
                  <a:srgbClr val="16231F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at the operating edge.</a:t>
            </a:r>
            <a:endParaRPr lang="en-US" sz="5700" dirty="0"/>
          </a:p>
        </p:txBody>
      </p:sp>
      <p:sp>
        <p:nvSpPr>
          <p:cNvPr id="7" name="Text 5"/>
          <p:cNvSpPr/>
          <p:nvPr/>
        </p:nvSpPr>
        <p:spPr>
          <a:xfrm>
            <a:off x="1142945" y="3575596"/>
            <a:ext cx="10791825" cy="9123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550" i="1" dirty="0">
                <a:solidFill>
                  <a:srgbClr val="2C3A35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The gap is not generosity. It is consistent evidence, reporting, review and public trust across thousands of community institutions.</a:t>
            </a:r>
            <a:endParaRPr lang="en-US" sz="2550" dirty="0"/>
          </a:p>
        </p:txBody>
      </p:sp>
      <p:sp>
        <p:nvSpPr>
          <p:cNvPr id="8" name="Shape 6"/>
          <p:cNvSpPr/>
          <p:nvPr/>
        </p:nvSpPr>
        <p:spPr>
          <a:xfrm>
            <a:off x="1142945" y="5143390"/>
            <a:ext cx="5333972" cy="9525"/>
          </a:xfrm>
          <a:prstGeom prst="rect">
            <a:avLst/>
          </a:prstGeom>
          <a:solidFill>
            <a:srgbClr val="16231F"/>
          </a:solidFill>
          <a:ln/>
        </p:spPr>
      </p:sp>
      <p:sp>
        <p:nvSpPr>
          <p:cNvPr id="9" name="Text 7"/>
          <p:cNvSpPr/>
          <p:nvPr/>
        </p:nvSpPr>
        <p:spPr>
          <a:xfrm>
            <a:off x="1142945" y="5418859"/>
            <a:ext cx="5140850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76" kern="0" dirty="0">
                <a:solidFill>
                  <a:srgbClr val="1F5D4F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01</a:t>
            </a:r>
            <a:endParaRPr lang="en-US" sz="975" dirty="0"/>
          </a:p>
        </p:txBody>
      </p:sp>
      <p:sp>
        <p:nvSpPr>
          <p:cNvPr id="10" name="Text 8"/>
          <p:cNvSpPr/>
          <p:nvPr/>
        </p:nvSpPr>
        <p:spPr>
          <a:xfrm>
            <a:off x="1142945" y="5710866"/>
            <a:ext cx="5140850" cy="3809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50" dirty="0">
                <a:solidFill>
                  <a:srgbClr val="16231F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Donor confidence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1142945" y="6167961"/>
            <a:ext cx="4512917" cy="5807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425" dirty="0">
                <a:solidFill>
                  <a:srgbClr val="2C3A35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Donors need visible accountability before giving repeatedly.</a:t>
            </a:r>
            <a:endParaRPr lang="en-US" sz="1425" dirty="0"/>
          </a:p>
        </p:txBody>
      </p:sp>
      <p:sp>
        <p:nvSpPr>
          <p:cNvPr id="12" name="Shape 10"/>
          <p:cNvSpPr/>
          <p:nvPr/>
        </p:nvSpPr>
        <p:spPr>
          <a:xfrm>
            <a:off x="6476917" y="5143390"/>
            <a:ext cx="5333972" cy="9525"/>
          </a:xfrm>
          <a:prstGeom prst="rect">
            <a:avLst/>
          </a:prstGeom>
          <a:solidFill>
            <a:srgbClr val="16231F"/>
          </a:solidFill>
          <a:ln/>
        </p:spPr>
      </p:sp>
      <p:sp>
        <p:nvSpPr>
          <p:cNvPr id="13" name="Shape 11"/>
          <p:cNvSpPr/>
          <p:nvPr/>
        </p:nvSpPr>
        <p:spPr>
          <a:xfrm>
            <a:off x="6476917" y="5143390"/>
            <a:ext cx="9525" cy="1952680"/>
          </a:xfrm>
          <a:prstGeom prst="rect">
            <a:avLst/>
          </a:prstGeom>
          <a:solidFill>
            <a:srgbClr val="16231F"/>
          </a:solidFill>
          <a:ln/>
        </p:spPr>
      </p:sp>
      <p:sp>
        <p:nvSpPr>
          <p:cNvPr id="14" name="Text 12"/>
          <p:cNvSpPr/>
          <p:nvPr/>
        </p:nvSpPr>
        <p:spPr>
          <a:xfrm>
            <a:off x="6828592" y="5418859"/>
            <a:ext cx="4778624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76" kern="0" dirty="0">
                <a:solidFill>
                  <a:srgbClr val="1F5D4F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02</a:t>
            </a:r>
            <a:endParaRPr lang="en-US" sz="975" dirty="0"/>
          </a:p>
        </p:txBody>
      </p:sp>
      <p:sp>
        <p:nvSpPr>
          <p:cNvPr id="15" name="Text 13"/>
          <p:cNvSpPr/>
          <p:nvPr/>
        </p:nvSpPr>
        <p:spPr>
          <a:xfrm>
            <a:off x="6828592" y="5710866"/>
            <a:ext cx="4778624" cy="3809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50" dirty="0">
                <a:solidFill>
                  <a:srgbClr val="16231F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Manual burden</a:t>
            </a:r>
            <a:endParaRPr lang="en-US" sz="2250" dirty="0"/>
          </a:p>
        </p:txBody>
      </p:sp>
      <p:sp>
        <p:nvSpPr>
          <p:cNvPr id="16" name="Text 14"/>
          <p:cNvSpPr/>
          <p:nvPr/>
        </p:nvSpPr>
        <p:spPr>
          <a:xfrm>
            <a:off x="6828592" y="6167961"/>
            <a:ext cx="4512917" cy="5807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425" dirty="0">
                <a:solidFill>
                  <a:srgbClr val="2C3A35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Reports and evidence often sit in scattered files, forms and spreadsheets.</a:t>
            </a:r>
            <a:endParaRPr lang="en-US" sz="1425" dirty="0"/>
          </a:p>
        </p:txBody>
      </p:sp>
      <p:sp>
        <p:nvSpPr>
          <p:cNvPr id="17" name="Shape 15"/>
          <p:cNvSpPr/>
          <p:nvPr/>
        </p:nvSpPr>
        <p:spPr>
          <a:xfrm>
            <a:off x="11810890" y="5143390"/>
            <a:ext cx="5333972" cy="9525"/>
          </a:xfrm>
          <a:prstGeom prst="rect">
            <a:avLst/>
          </a:prstGeom>
          <a:solidFill>
            <a:srgbClr val="16231F"/>
          </a:solidFill>
          <a:ln/>
        </p:spPr>
      </p:sp>
      <p:sp>
        <p:nvSpPr>
          <p:cNvPr id="18" name="Shape 16"/>
          <p:cNvSpPr/>
          <p:nvPr/>
        </p:nvSpPr>
        <p:spPr>
          <a:xfrm>
            <a:off x="11810890" y="5143390"/>
            <a:ext cx="9525" cy="1952680"/>
          </a:xfrm>
          <a:prstGeom prst="rect">
            <a:avLst/>
          </a:prstGeom>
          <a:solidFill>
            <a:srgbClr val="16231F"/>
          </a:solidFill>
          <a:ln/>
        </p:spPr>
      </p:sp>
      <p:sp>
        <p:nvSpPr>
          <p:cNvPr id="19" name="Text 17"/>
          <p:cNvSpPr/>
          <p:nvPr/>
        </p:nvSpPr>
        <p:spPr>
          <a:xfrm>
            <a:off x="12162565" y="5418859"/>
            <a:ext cx="4778624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76" kern="0" dirty="0">
                <a:solidFill>
                  <a:srgbClr val="1F5D4F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03</a:t>
            </a:r>
            <a:endParaRPr lang="en-US" sz="975" dirty="0"/>
          </a:p>
        </p:txBody>
      </p:sp>
      <p:sp>
        <p:nvSpPr>
          <p:cNvPr id="20" name="Text 18"/>
          <p:cNvSpPr/>
          <p:nvPr/>
        </p:nvSpPr>
        <p:spPr>
          <a:xfrm>
            <a:off x="12162565" y="5710866"/>
            <a:ext cx="4778624" cy="3809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50" dirty="0">
                <a:solidFill>
                  <a:srgbClr val="16231F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Oversight pressure</a:t>
            </a:r>
            <a:endParaRPr lang="en-US" sz="2250" dirty="0"/>
          </a:p>
        </p:txBody>
      </p:sp>
      <p:sp>
        <p:nvSpPr>
          <p:cNvPr id="21" name="Text 19"/>
          <p:cNvSpPr/>
          <p:nvPr/>
        </p:nvSpPr>
        <p:spPr>
          <a:xfrm>
            <a:off x="12162565" y="6167961"/>
            <a:ext cx="4512917" cy="5807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425" dirty="0">
                <a:solidFill>
                  <a:srgbClr val="2C3A35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Authorities need a live view without replacing state or institutional authority.</a:t>
            </a:r>
            <a:endParaRPr lang="en-US" sz="1425" dirty="0"/>
          </a:p>
        </p:txBody>
      </p:sp>
      <p:sp>
        <p:nvSpPr>
          <p:cNvPr id="22" name="Shape 20"/>
          <p:cNvSpPr/>
          <p:nvPr/>
        </p:nvSpPr>
        <p:spPr>
          <a:xfrm>
            <a:off x="1142945" y="7400754"/>
            <a:ext cx="5333972" cy="9525"/>
          </a:xfrm>
          <a:prstGeom prst="rect">
            <a:avLst/>
          </a:prstGeom>
          <a:solidFill>
            <a:srgbClr val="16231F"/>
          </a:solidFill>
          <a:ln/>
        </p:spPr>
      </p:sp>
      <p:sp>
        <p:nvSpPr>
          <p:cNvPr id="23" name="Text 21"/>
          <p:cNvSpPr/>
          <p:nvPr/>
        </p:nvSpPr>
        <p:spPr>
          <a:xfrm>
            <a:off x="1142945" y="7676224"/>
            <a:ext cx="5140850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76" kern="0" dirty="0">
                <a:solidFill>
                  <a:srgbClr val="1F5D4F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04</a:t>
            </a:r>
            <a:endParaRPr lang="en-US" sz="975" dirty="0"/>
          </a:p>
        </p:txBody>
      </p:sp>
      <p:sp>
        <p:nvSpPr>
          <p:cNvPr id="24" name="Text 22"/>
          <p:cNvSpPr/>
          <p:nvPr/>
        </p:nvSpPr>
        <p:spPr>
          <a:xfrm>
            <a:off x="1142945" y="7968230"/>
            <a:ext cx="5140850" cy="3809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50" dirty="0">
                <a:solidFill>
                  <a:srgbClr val="16231F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Volunteer reality</a:t>
            </a:r>
            <a:endParaRPr lang="en-US" sz="2250" dirty="0"/>
          </a:p>
        </p:txBody>
      </p:sp>
      <p:sp>
        <p:nvSpPr>
          <p:cNvPr id="25" name="Text 23"/>
          <p:cNvSpPr/>
          <p:nvPr/>
        </p:nvSpPr>
        <p:spPr>
          <a:xfrm>
            <a:off x="1142945" y="8425325"/>
            <a:ext cx="4512917" cy="5807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425" dirty="0">
                <a:solidFill>
                  <a:srgbClr val="2C3A35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Mosque and surau committees need simple routines, not heavy software.</a:t>
            </a:r>
            <a:endParaRPr lang="en-US" sz="1425" dirty="0"/>
          </a:p>
        </p:txBody>
      </p:sp>
      <p:sp>
        <p:nvSpPr>
          <p:cNvPr id="26" name="Shape 24"/>
          <p:cNvSpPr/>
          <p:nvPr/>
        </p:nvSpPr>
        <p:spPr>
          <a:xfrm>
            <a:off x="6476917" y="7400754"/>
            <a:ext cx="5333972" cy="9525"/>
          </a:xfrm>
          <a:prstGeom prst="rect">
            <a:avLst/>
          </a:prstGeom>
          <a:solidFill>
            <a:srgbClr val="16231F"/>
          </a:solidFill>
          <a:ln/>
        </p:spPr>
      </p:sp>
      <p:sp>
        <p:nvSpPr>
          <p:cNvPr id="27" name="Shape 25"/>
          <p:cNvSpPr/>
          <p:nvPr/>
        </p:nvSpPr>
        <p:spPr>
          <a:xfrm>
            <a:off x="6476917" y="7400754"/>
            <a:ext cx="9525" cy="1647996"/>
          </a:xfrm>
          <a:prstGeom prst="rect">
            <a:avLst/>
          </a:prstGeom>
          <a:solidFill>
            <a:srgbClr val="16231F"/>
          </a:solidFill>
          <a:ln/>
        </p:spPr>
      </p:sp>
      <p:sp>
        <p:nvSpPr>
          <p:cNvPr id="28" name="Text 26"/>
          <p:cNvSpPr/>
          <p:nvPr/>
        </p:nvSpPr>
        <p:spPr>
          <a:xfrm>
            <a:off x="6828592" y="7676224"/>
            <a:ext cx="4778624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76" kern="0" dirty="0">
                <a:solidFill>
                  <a:srgbClr val="1F5D4F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05</a:t>
            </a:r>
            <a:endParaRPr lang="en-US" sz="975" dirty="0"/>
          </a:p>
        </p:txBody>
      </p:sp>
      <p:sp>
        <p:nvSpPr>
          <p:cNvPr id="29" name="Text 27"/>
          <p:cNvSpPr/>
          <p:nvPr/>
        </p:nvSpPr>
        <p:spPr>
          <a:xfrm>
            <a:off x="6828592" y="7968230"/>
            <a:ext cx="4778624" cy="3809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50" dirty="0">
                <a:solidFill>
                  <a:srgbClr val="16231F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Behaviour change</a:t>
            </a:r>
            <a:endParaRPr lang="en-US" sz="2250" dirty="0"/>
          </a:p>
        </p:txBody>
      </p:sp>
      <p:sp>
        <p:nvSpPr>
          <p:cNvPr id="30" name="Text 28"/>
          <p:cNvSpPr/>
          <p:nvPr/>
        </p:nvSpPr>
        <p:spPr>
          <a:xfrm>
            <a:off x="6828592" y="8425325"/>
            <a:ext cx="4512917" cy="5807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425" dirty="0">
                <a:solidFill>
                  <a:srgbClr val="2C3A35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Better governance requires habit formation and guided adoption.</a:t>
            </a:r>
            <a:endParaRPr lang="en-US" sz="1425" dirty="0"/>
          </a:p>
        </p:txBody>
      </p:sp>
      <p:sp>
        <p:nvSpPr>
          <p:cNvPr id="31" name="Shape 29"/>
          <p:cNvSpPr/>
          <p:nvPr/>
        </p:nvSpPr>
        <p:spPr>
          <a:xfrm>
            <a:off x="11810890" y="7400754"/>
            <a:ext cx="5333972" cy="9525"/>
          </a:xfrm>
          <a:prstGeom prst="rect">
            <a:avLst/>
          </a:prstGeom>
          <a:solidFill>
            <a:srgbClr val="16231F"/>
          </a:solidFill>
          <a:ln/>
        </p:spPr>
      </p:sp>
      <p:sp>
        <p:nvSpPr>
          <p:cNvPr id="32" name="Shape 30"/>
          <p:cNvSpPr/>
          <p:nvPr/>
        </p:nvSpPr>
        <p:spPr>
          <a:xfrm>
            <a:off x="11810890" y="7400754"/>
            <a:ext cx="9525" cy="1647996"/>
          </a:xfrm>
          <a:prstGeom prst="rect">
            <a:avLst/>
          </a:prstGeom>
          <a:solidFill>
            <a:srgbClr val="16231F"/>
          </a:solidFill>
          <a:ln/>
        </p:spPr>
      </p:sp>
      <p:sp>
        <p:nvSpPr>
          <p:cNvPr id="33" name="Text 31"/>
          <p:cNvSpPr/>
          <p:nvPr/>
        </p:nvSpPr>
        <p:spPr>
          <a:xfrm>
            <a:off x="12162565" y="7676224"/>
            <a:ext cx="4778624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76" kern="0" dirty="0">
                <a:solidFill>
                  <a:srgbClr val="1F5D4F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06</a:t>
            </a:r>
            <a:endParaRPr lang="en-US" sz="975" dirty="0"/>
          </a:p>
        </p:txBody>
      </p:sp>
      <p:sp>
        <p:nvSpPr>
          <p:cNvPr id="34" name="Text 32"/>
          <p:cNvSpPr/>
          <p:nvPr/>
        </p:nvSpPr>
        <p:spPr>
          <a:xfrm>
            <a:off x="12162565" y="7968230"/>
            <a:ext cx="4778624" cy="3809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50" dirty="0">
                <a:solidFill>
                  <a:srgbClr val="16231F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Public trust</a:t>
            </a:r>
            <a:endParaRPr lang="en-US" sz="2250" dirty="0"/>
          </a:p>
        </p:txBody>
      </p:sp>
      <p:sp>
        <p:nvSpPr>
          <p:cNvPr id="35" name="Text 33"/>
          <p:cNvSpPr/>
          <p:nvPr/>
        </p:nvSpPr>
        <p:spPr>
          <a:xfrm>
            <a:off x="12162565" y="8425325"/>
            <a:ext cx="4512917" cy="5807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425" dirty="0">
                <a:solidFill>
                  <a:srgbClr val="2C3A35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Amanah must be visible, reviewable and updated over time.</a:t>
            </a:r>
            <a:endParaRPr lang="en-US" sz="1425" dirty="0"/>
          </a:p>
        </p:txBody>
      </p:sp>
      <p:sp>
        <p:nvSpPr>
          <p:cNvPr id="36" name="Text 34"/>
          <p:cNvSpPr/>
          <p:nvPr/>
        </p:nvSpPr>
        <p:spPr>
          <a:xfrm>
            <a:off x="1142945" y="9559589"/>
            <a:ext cx="3616720" cy="2321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44" kern="0" dirty="0">
                <a:solidFill>
                  <a:srgbClr val="6B756F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SIX PRESSURES, ONE MISSING LAYER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10515671" y="9559589"/>
            <a:ext cx="844318" cy="2321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44" kern="0" dirty="0">
                <a:solidFill>
                  <a:srgbClr val="6B756F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03 / 12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64330" y="582635"/>
            <a:ext cx="95222" cy="95222"/>
          </a:xfrm>
          <a:prstGeom prst="ellipse">
            <a:avLst/>
          </a:prstGeom>
          <a:solidFill>
            <a:srgbClr val="1F5D4F"/>
          </a:solidFill>
          <a:ln/>
          <a:effectLst>
            <a:outerShdw sx="100000" sy="100000" kx="0" ky="0" algn="bl" rotWithShape="0" blurRad="101600" dist="50800" dir="16200000">
              <a:srgbClr val="D8E3DD">
                <a:alpha val="10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7192808" y="546530"/>
            <a:ext cx="2785532" cy="2056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89" kern="0" dirty="0">
                <a:solidFill>
                  <a:srgbClr val="16231F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AMANAH GOVERNANCE PLATFORM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5718455" y="533301"/>
            <a:ext cx="1502745" cy="2321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44" kern="0" dirty="0">
                <a:solidFill>
                  <a:srgbClr val="6B756F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04 — SOLUTION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42945" y="1371561"/>
            <a:ext cx="16482116" cy="2321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264" kern="0" dirty="0">
                <a:solidFill>
                  <a:srgbClr val="1F5D4F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SOLUTION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142945" y="1832240"/>
            <a:ext cx="14716125" cy="17479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6600" spc="-198" kern="0" dirty="0">
                <a:solidFill>
                  <a:srgbClr val="16231F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Three live surfaces, one </a:t>
            </a:r>
            <a:pPr algn="l" indent="0" marL="0">
              <a:lnSpc>
                <a:spcPct val="102000"/>
              </a:lnSpc>
              <a:buNone/>
            </a:pPr>
            <a:r>
              <a:rPr lang="en-US" sz="6600" i="1" spc="-198" kern="0" dirty="0">
                <a:solidFill>
                  <a:srgbClr val="1F5D4F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evidence and scoring </a:t>
            </a:r>
            <a:pPr algn="l" indent="0" marL="0">
              <a:lnSpc>
                <a:spcPct val="102000"/>
              </a:lnSpc>
              <a:buNone/>
            </a:pPr>
            <a:r>
              <a:rPr lang="en-US" sz="6600" spc="-198" kern="0" dirty="0">
                <a:solidFill>
                  <a:srgbClr val="16231F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backbone.</a:t>
            </a:r>
            <a:endParaRPr lang="en-US" sz="6600" dirty="0"/>
          </a:p>
        </p:txBody>
      </p:sp>
      <p:sp>
        <p:nvSpPr>
          <p:cNvPr id="7" name="Text 5"/>
          <p:cNvSpPr/>
          <p:nvPr/>
        </p:nvSpPr>
        <p:spPr>
          <a:xfrm>
            <a:off x="1142945" y="3808760"/>
            <a:ext cx="10791825" cy="9123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550" i="1" dirty="0">
                <a:solidFill>
                  <a:srgbClr val="2C3A35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AGP connects donor trust, organization operations and evaluator control — sharing a single source of truth.</a:t>
            </a:r>
            <a:endParaRPr lang="en-US" sz="2550" dirty="0"/>
          </a:p>
        </p:txBody>
      </p:sp>
      <p:sp>
        <p:nvSpPr>
          <p:cNvPr id="8" name="Shape 6"/>
          <p:cNvSpPr/>
          <p:nvPr/>
        </p:nvSpPr>
        <p:spPr>
          <a:xfrm>
            <a:off x="1142945" y="8200154"/>
            <a:ext cx="16002055" cy="9525"/>
          </a:xfrm>
          <a:prstGeom prst="rect">
            <a:avLst/>
          </a:prstGeom>
          <a:solidFill>
            <a:srgbClr val="16231F"/>
          </a:solidFill>
          <a:ln/>
        </p:spPr>
      </p:sp>
      <p:sp>
        <p:nvSpPr>
          <p:cNvPr id="9" name="Shape 7"/>
          <p:cNvSpPr/>
          <p:nvPr/>
        </p:nvSpPr>
        <p:spPr>
          <a:xfrm>
            <a:off x="1142945" y="5143390"/>
            <a:ext cx="16002055" cy="9525"/>
          </a:xfrm>
          <a:prstGeom prst="rect">
            <a:avLst/>
          </a:prstGeom>
          <a:solidFill>
            <a:srgbClr val="16231F"/>
          </a:solidFill>
          <a:ln/>
        </p:spPr>
      </p:sp>
      <p:sp>
        <p:nvSpPr>
          <p:cNvPr id="10" name="Text 8"/>
          <p:cNvSpPr/>
          <p:nvPr/>
        </p:nvSpPr>
        <p:spPr>
          <a:xfrm>
            <a:off x="1142945" y="5495065"/>
            <a:ext cx="5101675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76" kern="0" dirty="0">
                <a:solidFill>
                  <a:srgbClr val="1F5D4F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PUBLIC · DONOR</a:t>
            </a:r>
            <a:endParaRPr lang="en-US" sz="975" dirty="0"/>
          </a:p>
        </p:txBody>
      </p:sp>
      <p:sp>
        <p:nvSpPr>
          <p:cNvPr id="11" name="Text 9"/>
          <p:cNvSpPr/>
          <p:nvPr/>
        </p:nvSpPr>
        <p:spPr>
          <a:xfrm>
            <a:off x="1142945" y="5768054"/>
            <a:ext cx="5101675" cy="4571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300" spc="-33" kern="0" dirty="0">
                <a:solidFill>
                  <a:srgbClr val="16231F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AmanahHub</a:t>
            </a:r>
            <a:endParaRPr lang="en-US" sz="3300" dirty="0"/>
          </a:p>
        </p:txBody>
      </p:sp>
      <p:sp>
        <p:nvSpPr>
          <p:cNvPr id="12" name="Text 10"/>
          <p:cNvSpPr/>
          <p:nvPr/>
        </p:nvSpPr>
        <p:spPr>
          <a:xfrm>
            <a:off x="1142945" y="6339389"/>
            <a:ext cx="4512917" cy="85210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425" dirty="0">
                <a:solidFill>
                  <a:srgbClr val="2C3A35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Public directory, verified profiles, Amanah scores, certification tiers and direct-to-charity giving context.</a:t>
            </a:r>
            <a:endParaRPr lang="en-US" sz="1425" dirty="0"/>
          </a:p>
        </p:txBody>
      </p:sp>
      <p:sp>
        <p:nvSpPr>
          <p:cNvPr id="13" name="Shape 11"/>
          <p:cNvSpPr/>
          <p:nvPr/>
        </p:nvSpPr>
        <p:spPr>
          <a:xfrm>
            <a:off x="6476917" y="5152209"/>
            <a:ext cx="9525" cy="3047945"/>
          </a:xfrm>
          <a:prstGeom prst="rect">
            <a:avLst/>
          </a:prstGeom>
          <a:solidFill>
            <a:srgbClr val="16231F"/>
          </a:solidFill>
          <a:ln/>
        </p:spPr>
      </p:sp>
      <p:sp>
        <p:nvSpPr>
          <p:cNvPr id="14" name="Text 12"/>
          <p:cNvSpPr/>
          <p:nvPr/>
        </p:nvSpPr>
        <p:spPr>
          <a:xfrm>
            <a:off x="6866626" y="5495065"/>
            <a:ext cx="4700275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76" kern="0" dirty="0">
                <a:solidFill>
                  <a:srgbClr val="1F5D4F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WORKSPACE · ORGANIZATION</a:t>
            </a:r>
            <a:endParaRPr lang="en-US" sz="975" dirty="0"/>
          </a:p>
        </p:txBody>
      </p:sp>
      <p:sp>
        <p:nvSpPr>
          <p:cNvPr id="15" name="Text 13"/>
          <p:cNvSpPr/>
          <p:nvPr/>
        </p:nvSpPr>
        <p:spPr>
          <a:xfrm>
            <a:off x="6866626" y="5768054"/>
            <a:ext cx="4700275" cy="4571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300" spc="-33" kern="0" dirty="0">
                <a:solidFill>
                  <a:srgbClr val="16231F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amanahOS</a:t>
            </a:r>
            <a:endParaRPr lang="en-US" sz="3300" dirty="0"/>
          </a:p>
        </p:txBody>
      </p:sp>
      <p:sp>
        <p:nvSpPr>
          <p:cNvPr id="16" name="Text 14"/>
          <p:cNvSpPr/>
          <p:nvPr/>
        </p:nvSpPr>
        <p:spPr>
          <a:xfrm>
            <a:off x="6866626" y="6339389"/>
            <a:ext cx="4512917" cy="5807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425" dirty="0">
                <a:solidFill>
                  <a:srgbClr val="2C3A35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Profiles, accounting, evidence, projects, reports, policy kit, trust score and certification.</a:t>
            </a:r>
            <a:endParaRPr lang="en-US" sz="1425" dirty="0"/>
          </a:p>
        </p:txBody>
      </p:sp>
      <p:sp>
        <p:nvSpPr>
          <p:cNvPr id="17" name="Shape 15"/>
          <p:cNvSpPr/>
          <p:nvPr/>
        </p:nvSpPr>
        <p:spPr>
          <a:xfrm>
            <a:off x="11810890" y="5152209"/>
            <a:ext cx="9525" cy="3047945"/>
          </a:xfrm>
          <a:prstGeom prst="rect">
            <a:avLst/>
          </a:prstGeom>
          <a:solidFill>
            <a:srgbClr val="16231F"/>
          </a:solidFill>
          <a:ln/>
        </p:spPr>
      </p:sp>
      <p:sp>
        <p:nvSpPr>
          <p:cNvPr id="18" name="Text 16"/>
          <p:cNvSpPr/>
          <p:nvPr/>
        </p:nvSpPr>
        <p:spPr>
          <a:xfrm>
            <a:off x="12200598" y="5495065"/>
            <a:ext cx="4700275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76" kern="0" dirty="0">
                <a:solidFill>
                  <a:srgbClr val="1F5D4F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CONTROL · EVALUATOR</a:t>
            </a:r>
            <a:endParaRPr lang="en-US" sz="975" dirty="0"/>
          </a:p>
        </p:txBody>
      </p:sp>
      <p:sp>
        <p:nvSpPr>
          <p:cNvPr id="19" name="Text 17"/>
          <p:cNvSpPr/>
          <p:nvPr/>
        </p:nvSpPr>
        <p:spPr>
          <a:xfrm>
            <a:off x="12200598" y="5768054"/>
            <a:ext cx="4700275" cy="4571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300" spc="-33" kern="0" dirty="0">
                <a:solidFill>
                  <a:srgbClr val="16231F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AGP Console</a:t>
            </a:r>
            <a:endParaRPr lang="en-US" sz="3300" dirty="0"/>
          </a:p>
        </p:txBody>
      </p:sp>
      <p:sp>
        <p:nvSpPr>
          <p:cNvPr id="20" name="Text 18"/>
          <p:cNvSpPr/>
          <p:nvPr/>
        </p:nvSpPr>
        <p:spPr>
          <a:xfrm>
            <a:off x="12200598" y="6339389"/>
            <a:ext cx="4512917" cy="5807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425" dirty="0">
                <a:solidFill>
                  <a:srgbClr val="2C3A35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Trust events, governance cases, review queues, scholar approval and publication.</a:t>
            </a:r>
            <a:endParaRPr lang="en-US" sz="1425" dirty="0"/>
          </a:p>
        </p:txBody>
      </p:sp>
      <p:sp>
        <p:nvSpPr>
          <p:cNvPr id="21" name="Shape 19"/>
          <p:cNvSpPr/>
          <p:nvPr/>
        </p:nvSpPr>
        <p:spPr>
          <a:xfrm>
            <a:off x="1142945" y="8317287"/>
            <a:ext cx="16002055" cy="826685"/>
          </a:xfrm>
          <a:prstGeom prst="rect">
            <a:avLst/>
          </a:prstGeom>
          <a:solidFill>
            <a:srgbClr val="16231F"/>
          </a:solidFill>
          <a:ln/>
        </p:spPr>
      </p:sp>
      <p:sp>
        <p:nvSpPr>
          <p:cNvPr id="22" name="Text 20"/>
          <p:cNvSpPr/>
          <p:nvPr/>
        </p:nvSpPr>
        <p:spPr>
          <a:xfrm>
            <a:off x="1485801" y="8640988"/>
            <a:ext cx="1599346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215" kern="0" dirty="0">
                <a:solidFill>
                  <a:srgbClr val="C8B878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SHARED BACKBONE</a:t>
            </a:r>
            <a:endParaRPr lang="en-US" sz="975" dirty="0"/>
          </a:p>
        </p:txBody>
      </p:sp>
      <p:sp>
        <p:nvSpPr>
          <p:cNvPr id="23" name="Text 21"/>
          <p:cNvSpPr/>
          <p:nvPr/>
        </p:nvSpPr>
        <p:spPr>
          <a:xfrm>
            <a:off x="3237425" y="8583938"/>
            <a:ext cx="13677990" cy="3314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F4F0E8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Amanah scoring engine · trust events · fund accounting · audit logs · public profile publication controls · Supabase-backed evidence records.</a:t>
            </a:r>
            <a:endParaRPr lang="en-US" sz="1650" dirty="0"/>
          </a:p>
        </p:txBody>
      </p:sp>
      <p:sp>
        <p:nvSpPr>
          <p:cNvPr id="24" name="Text 22"/>
          <p:cNvSpPr/>
          <p:nvPr/>
        </p:nvSpPr>
        <p:spPr>
          <a:xfrm>
            <a:off x="1142945" y="9559589"/>
            <a:ext cx="3164648" cy="2321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44" kern="0" dirty="0">
                <a:solidFill>
                  <a:srgbClr val="6B756F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ONE BACKBONE, THREE SURFACES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0296149" y="9559589"/>
            <a:ext cx="844318" cy="2321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44" kern="0" dirty="0">
                <a:solidFill>
                  <a:srgbClr val="6B756F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04 / 12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0270" y="582635"/>
            <a:ext cx="95222" cy="95222"/>
          </a:xfrm>
          <a:prstGeom prst="ellipse">
            <a:avLst/>
          </a:prstGeom>
          <a:solidFill>
            <a:srgbClr val="1F5D4F"/>
          </a:solidFill>
          <a:ln/>
          <a:effectLst>
            <a:outerShdw sx="100000" sy="100000" kx="0" ky="0" algn="bl" rotWithShape="0" blurRad="101600" dist="50800" dir="16200000">
              <a:srgbClr val="D8E3DD">
                <a:alpha val="10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6808749" y="546530"/>
            <a:ext cx="2785532" cy="2056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89" kern="0" dirty="0">
                <a:solidFill>
                  <a:srgbClr val="16231F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AMANAH GOVERNANCE PLATFORM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4950336" y="533301"/>
            <a:ext cx="2270864" cy="2321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44" kern="0" dirty="0">
                <a:solidFill>
                  <a:srgbClr val="6B756F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05 — OPERATING MODEL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42945" y="1371561"/>
            <a:ext cx="16482116" cy="2321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264" kern="0" dirty="0">
                <a:solidFill>
                  <a:srgbClr val="1F5D4F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OPERATING MODEL · THE TRUST LOOP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142945" y="1832240"/>
            <a:ext cx="14716125" cy="17479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6600" spc="-198" kern="0" dirty="0">
                <a:solidFill>
                  <a:srgbClr val="16231F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Turning </a:t>
            </a:r>
            <a:pPr algn="l" indent="0" marL="0">
              <a:lnSpc>
                <a:spcPct val="102000"/>
              </a:lnSpc>
              <a:buNone/>
            </a:pPr>
            <a:r>
              <a:rPr lang="en-US" sz="6600" i="1" spc="-198" kern="0" dirty="0">
                <a:solidFill>
                  <a:srgbClr val="1F5D4F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amanah </a:t>
            </a:r>
            <a:pPr algn="l" indent="0" marL="0">
              <a:lnSpc>
                <a:spcPct val="102000"/>
              </a:lnSpc>
              <a:buNone/>
            </a:pPr>
            <a:r>
              <a:rPr lang="en-US" sz="6600" spc="-198" kern="0" dirty="0">
                <a:solidFill>
                  <a:srgbClr val="16231F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into a repeatable governance rhythm.</a:t>
            </a:r>
            <a:endParaRPr lang="en-US" sz="6600" dirty="0"/>
          </a:p>
        </p:txBody>
      </p:sp>
      <p:sp>
        <p:nvSpPr>
          <p:cNvPr id="7" name="Text 5"/>
          <p:cNvSpPr/>
          <p:nvPr/>
        </p:nvSpPr>
        <p:spPr>
          <a:xfrm>
            <a:off x="1142945" y="3808760"/>
            <a:ext cx="10791825" cy="4752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550" i="1" dirty="0">
                <a:solidFill>
                  <a:srgbClr val="2C3A35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A path from registration to evidence, review, scoring and selective publication.</a:t>
            </a:r>
            <a:endParaRPr lang="en-US" sz="2550" dirty="0"/>
          </a:p>
        </p:txBody>
      </p:sp>
      <p:sp>
        <p:nvSpPr>
          <p:cNvPr id="8" name="Text 6"/>
          <p:cNvSpPr/>
          <p:nvPr/>
        </p:nvSpPr>
        <p:spPr>
          <a:xfrm>
            <a:off x="1142945" y="5333972"/>
            <a:ext cx="3021717" cy="9525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200" spc="-144" kern="0" dirty="0">
                <a:solidFill>
                  <a:srgbClr val="1F5D4F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1</a:t>
            </a:r>
            <a:endParaRPr lang="en-US" sz="7200" dirty="0"/>
          </a:p>
        </p:txBody>
      </p:sp>
      <p:sp>
        <p:nvSpPr>
          <p:cNvPr id="9" name="Text 7"/>
          <p:cNvSpPr/>
          <p:nvPr/>
        </p:nvSpPr>
        <p:spPr>
          <a:xfrm>
            <a:off x="1142945" y="6419866"/>
            <a:ext cx="3021717" cy="4001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50" dirty="0">
                <a:solidFill>
                  <a:srgbClr val="16231F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Register</a:t>
            </a:r>
            <a:endParaRPr lang="en-US" sz="2850" dirty="0"/>
          </a:p>
        </p:txBody>
      </p:sp>
      <p:sp>
        <p:nvSpPr>
          <p:cNvPr id="10" name="Text 8"/>
          <p:cNvSpPr/>
          <p:nvPr/>
        </p:nvSpPr>
        <p:spPr>
          <a:xfrm>
            <a:off x="1142945" y="6934150"/>
            <a:ext cx="2746925" cy="5523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350" dirty="0">
                <a:solidFill>
                  <a:srgbClr val="2C3A35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Authority-linked organization record and public baseline.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4343301" y="5333972"/>
            <a:ext cx="9525" cy="2371604"/>
          </a:xfrm>
          <a:prstGeom prst="rect">
            <a:avLst/>
          </a:prstGeom>
          <a:solidFill>
            <a:srgbClr val="16231F"/>
          </a:solidFill>
          <a:ln/>
        </p:spPr>
      </p:sp>
      <p:sp>
        <p:nvSpPr>
          <p:cNvPr id="12" name="Text 10"/>
          <p:cNvSpPr/>
          <p:nvPr/>
        </p:nvSpPr>
        <p:spPr>
          <a:xfrm>
            <a:off x="4618770" y="5333972"/>
            <a:ext cx="2737983" cy="9525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200" spc="-144" kern="0" dirty="0">
                <a:solidFill>
                  <a:srgbClr val="1F5D4F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2</a:t>
            </a:r>
            <a:endParaRPr lang="en-US" sz="7200" dirty="0"/>
          </a:p>
        </p:txBody>
      </p:sp>
      <p:sp>
        <p:nvSpPr>
          <p:cNvPr id="13" name="Text 11"/>
          <p:cNvSpPr/>
          <p:nvPr/>
        </p:nvSpPr>
        <p:spPr>
          <a:xfrm>
            <a:off x="4618770" y="6419866"/>
            <a:ext cx="2737983" cy="4001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50" dirty="0">
                <a:solidFill>
                  <a:srgbClr val="16231F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Operate</a:t>
            </a:r>
            <a:endParaRPr lang="en-US" sz="2850" dirty="0"/>
          </a:p>
        </p:txBody>
      </p:sp>
      <p:sp>
        <p:nvSpPr>
          <p:cNvPr id="14" name="Text 12"/>
          <p:cNvSpPr/>
          <p:nvPr/>
        </p:nvSpPr>
        <p:spPr>
          <a:xfrm>
            <a:off x="4618770" y="6934150"/>
            <a:ext cx="2737983" cy="80952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350" dirty="0">
                <a:solidFill>
                  <a:srgbClr val="2C3A35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Members update reports, projects, bookkeeping and evidence.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7543656" y="5333972"/>
            <a:ext cx="9525" cy="2371604"/>
          </a:xfrm>
          <a:prstGeom prst="rect">
            <a:avLst/>
          </a:prstGeom>
          <a:solidFill>
            <a:srgbClr val="16231F"/>
          </a:solidFill>
          <a:ln/>
        </p:spPr>
      </p:sp>
      <p:sp>
        <p:nvSpPr>
          <p:cNvPr id="16" name="Text 14"/>
          <p:cNvSpPr/>
          <p:nvPr/>
        </p:nvSpPr>
        <p:spPr>
          <a:xfrm>
            <a:off x="7819126" y="5333972"/>
            <a:ext cx="2738125" cy="9525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200" spc="-144" kern="0" dirty="0">
                <a:solidFill>
                  <a:srgbClr val="1F5D4F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3</a:t>
            </a:r>
            <a:endParaRPr lang="en-US" sz="7200" dirty="0"/>
          </a:p>
        </p:txBody>
      </p:sp>
      <p:sp>
        <p:nvSpPr>
          <p:cNvPr id="17" name="Text 15"/>
          <p:cNvSpPr/>
          <p:nvPr/>
        </p:nvSpPr>
        <p:spPr>
          <a:xfrm>
            <a:off x="7819126" y="6419866"/>
            <a:ext cx="2738125" cy="4001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50" dirty="0">
                <a:solidFill>
                  <a:srgbClr val="16231F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Review</a:t>
            </a:r>
            <a:endParaRPr lang="en-US" sz="2850" dirty="0"/>
          </a:p>
        </p:txBody>
      </p:sp>
      <p:sp>
        <p:nvSpPr>
          <p:cNvPr id="18" name="Text 16"/>
          <p:cNvSpPr/>
          <p:nvPr/>
        </p:nvSpPr>
        <p:spPr>
          <a:xfrm>
            <a:off x="7819126" y="6934150"/>
            <a:ext cx="2738125" cy="5523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350" dirty="0">
                <a:solidFill>
                  <a:srgbClr val="2C3A35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Console routes trust events, findings and scholar approval.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10744150" y="5333972"/>
            <a:ext cx="9525" cy="2371604"/>
          </a:xfrm>
          <a:prstGeom prst="rect">
            <a:avLst/>
          </a:prstGeom>
          <a:solidFill>
            <a:srgbClr val="16231F"/>
          </a:solidFill>
          <a:ln/>
        </p:spPr>
      </p:sp>
      <p:sp>
        <p:nvSpPr>
          <p:cNvPr id="20" name="Text 18"/>
          <p:cNvSpPr/>
          <p:nvPr/>
        </p:nvSpPr>
        <p:spPr>
          <a:xfrm>
            <a:off x="11019620" y="5333972"/>
            <a:ext cx="2737983" cy="9525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200" spc="-144" kern="0" dirty="0">
                <a:solidFill>
                  <a:srgbClr val="1F5D4F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4</a:t>
            </a:r>
            <a:endParaRPr lang="en-US" sz="7200" dirty="0"/>
          </a:p>
        </p:txBody>
      </p:sp>
      <p:sp>
        <p:nvSpPr>
          <p:cNvPr id="21" name="Text 19"/>
          <p:cNvSpPr/>
          <p:nvPr/>
        </p:nvSpPr>
        <p:spPr>
          <a:xfrm>
            <a:off x="11019620" y="6419866"/>
            <a:ext cx="2737983" cy="4001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50" dirty="0">
                <a:solidFill>
                  <a:srgbClr val="16231F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Score</a:t>
            </a:r>
            <a:endParaRPr lang="en-US" sz="2850" dirty="0"/>
          </a:p>
        </p:txBody>
      </p:sp>
      <p:sp>
        <p:nvSpPr>
          <p:cNvPr id="22" name="Text 20"/>
          <p:cNvSpPr/>
          <p:nvPr/>
        </p:nvSpPr>
        <p:spPr>
          <a:xfrm>
            <a:off x="11019620" y="6934150"/>
            <a:ext cx="2737983" cy="5523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350" dirty="0">
                <a:solidFill>
                  <a:srgbClr val="2C3A35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Verified behaviour becomes donor-readable trust signals.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13944506" y="5333972"/>
            <a:ext cx="9525" cy="2371604"/>
          </a:xfrm>
          <a:prstGeom prst="rect">
            <a:avLst/>
          </a:prstGeom>
          <a:solidFill>
            <a:srgbClr val="16231F"/>
          </a:solidFill>
          <a:ln/>
        </p:spPr>
      </p:sp>
      <p:sp>
        <p:nvSpPr>
          <p:cNvPr id="24" name="Text 22"/>
          <p:cNvSpPr/>
          <p:nvPr/>
        </p:nvSpPr>
        <p:spPr>
          <a:xfrm>
            <a:off x="14219976" y="5333972"/>
            <a:ext cx="2738125" cy="9525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200" spc="-144" kern="0" dirty="0">
                <a:solidFill>
                  <a:srgbClr val="1F5D4F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5</a:t>
            </a:r>
            <a:endParaRPr lang="en-US" sz="7200" dirty="0"/>
          </a:p>
        </p:txBody>
      </p:sp>
      <p:sp>
        <p:nvSpPr>
          <p:cNvPr id="25" name="Text 23"/>
          <p:cNvSpPr/>
          <p:nvPr/>
        </p:nvSpPr>
        <p:spPr>
          <a:xfrm>
            <a:off x="14219976" y="6419866"/>
            <a:ext cx="2738125" cy="4001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50" dirty="0">
                <a:solidFill>
                  <a:srgbClr val="16231F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Publish</a:t>
            </a:r>
            <a:endParaRPr lang="en-US" sz="2850" dirty="0"/>
          </a:p>
        </p:txBody>
      </p:sp>
      <p:sp>
        <p:nvSpPr>
          <p:cNvPr id="26" name="Text 24"/>
          <p:cNvSpPr/>
          <p:nvPr/>
        </p:nvSpPr>
        <p:spPr>
          <a:xfrm>
            <a:off x="14219976" y="6934150"/>
            <a:ext cx="2738125" cy="5523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350" dirty="0">
                <a:solidFill>
                  <a:srgbClr val="2C3A35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Approved profiles create public confidence and transparency.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1142945" y="9559589"/>
            <a:ext cx="5054410" cy="2321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44" kern="0" dirty="0">
                <a:solidFill>
                  <a:srgbClr val="6B756F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REGISTER → OPERATE → REVIEW → SCORE → PUBLISH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1213510" y="9559589"/>
            <a:ext cx="844318" cy="2321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44" kern="0" dirty="0">
                <a:solidFill>
                  <a:srgbClr val="6B756F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05 / 12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51057" y="582635"/>
            <a:ext cx="95222" cy="95222"/>
          </a:xfrm>
          <a:prstGeom prst="ellipse">
            <a:avLst/>
          </a:prstGeom>
          <a:solidFill>
            <a:srgbClr val="1F5D4F"/>
          </a:solidFill>
          <a:ln/>
          <a:effectLst>
            <a:outerShdw sx="100000" sy="100000" kx="0" ky="0" algn="bl" rotWithShape="0" blurRad="101600" dist="50800" dir="16200000">
              <a:srgbClr val="D8E3DD">
                <a:alpha val="10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6479535" y="546530"/>
            <a:ext cx="2785532" cy="2056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89" kern="0" dirty="0">
                <a:solidFill>
                  <a:srgbClr val="16231F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AMANAH GOVERNANCE PLATFORM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4292047" y="533301"/>
            <a:ext cx="2938541" cy="2321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44" kern="0" dirty="0">
                <a:solidFill>
                  <a:srgbClr val="6B756F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06 — PUBLIC-INTEREST MODEL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42945" y="1371561"/>
            <a:ext cx="16482116" cy="2321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264" kern="0" dirty="0">
                <a:solidFill>
                  <a:srgbClr val="1F5D4F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PUBLIC-INTEREST MODEL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142945" y="1832240"/>
            <a:ext cx="14716125" cy="17479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6600" spc="-198" kern="0" dirty="0">
                <a:solidFill>
                  <a:srgbClr val="16231F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Funded </a:t>
            </a:r>
            <a:pPr algn="l" indent="0" marL="0">
              <a:lnSpc>
                <a:spcPct val="102000"/>
              </a:lnSpc>
              <a:buNone/>
            </a:pPr>
            <a:r>
              <a:rPr lang="en-US" sz="6600" i="1" spc="-198" kern="0" dirty="0">
                <a:solidFill>
                  <a:srgbClr val="1F5D4F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around </a:t>
            </a:r>
            <a:pPr algn="l" indent="0" marL="0">
              <a:lnSpc>
                <a:spcPct val="102000"/>
              </a:lnSpc>
              <a:buNone/>
            </a:pPr>
            <a:r>
              <a:rPr lang="en-US" sz="6600" spc="-198" kern="0" dirty="0">
                <a:solidFill>
                  <a:srgbClr val="16231F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charities, not </a:t>
            </a:r>
            <a:pPr algn="l" indent="0" marL="0">
              <a:lnSpc>
                <a:spcPct val="102000"/>
              </a:lnSpc>
              <a:buNone/>
            </a:pPr>
            <a:r>
              <a:rPr lang="en-US" sz="6600" i="1" spc="-198" kern="0" dirty="0">
                <a:solidFill>
                  <a:srgbClr val="1F5D4F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from </a:t>
            </a:r>
            <a:pPr algn="l" indent="0" marL="0">
              <a:lnSpc>
                <a:spcPct val="102000"/>
              </a:lnSpc>
              <a:buNone/>
            </a:pPr>
            <a:r>
              <a:rPr lang="en-US" sz="6600" spc="-198" kern="0" dirty="0">
                <a:solidFill>
                  <a:srgbClr val="16231F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charities.</a:t>
            </a:r>
            <a:endParaRPr lang="en-US" sz="6600" dirty="0"/>
          </a:p>
        </p:txBody>
      </p:sp>
      <p:sp>
        <p:nvSpPr>
          <p:cNvPr id="7" name="Text 5"/>
          <p:cNvSpPr/>
          <p:nvPr/>
        </p:nvSpPr>
        <p:spPr>
          <a:xfrm>
            <a:off x="1142945" y="3808760"/>
            <a:ext cx="10791825" cy="9123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550" i="1" dirty="0">
                <a:solidFill>
                  <a:srgbClr val="2C3A35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The platform protects charity organizations from AGP fees while institutions and sponsors fund the infrastructure they benefit from.</a:t>
            </a:r>
            <a:endParaRPr lang="en-US" sz="2550" dirty="0"/>
          </a:p>
        </p:txBody>
      </p:sp>
      <p:sp>
        <p:nvSpPr>
          <p:cNvPr id="8" name="Shape 6"/>
          <p:cNvSpPr/>
          <p:nvPr/>
        </p:nvSpPr>
        <p:spPr>
          <a:xfrm>
            <a:off x="1142945" y="5143390"/>
            <a:ext cx="7620000" cy="9525"/>
          </a:xfrm>
          <a:prstGeom prst="rect">
            <a:avLst/>
          </a:prstGeom>
          <a:solidFill>
            <a:srgbClr val="16231F"/>
          </a:solidFill>
          <a:ln/>
        </p:spPr>
      </p:sp>
      <p:sp>
        <p:nvSpPr>
          <p:cNvPr id="9" name="Text 7"/>
          <p:cNvSpPr/>
          <p:nvPr/>
        </p:nvSpPr>
        <p:spPr>
          <a:xfrm>
            <a:off x="1142945" y="5418859"/>
            <a:ext cx="7848600" cy="2056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210" kern="0" dirty="0">
                <a:solidFill>
                  <a:srgbClr val="1F5D4F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FUNDED BY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142945" y="6437781"/>
            <a:ext cx="7620000" cy="9525"/>
          </a:xfrm>
          <a:prstGeom prst="rect">
            <a:avLst/>
          </a:prstGeom>
          <a:solidFill>
            <a:srgbClr val="16231F">
              <a:alpha val="18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1409595" y="5986336"/>
            <a:ext cx="7573950" cy="3181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575" dirty="0">
                <a:solidFill>
                  <a:srgbClr val="16231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Grant funding for development, expansion and operations.</a:t>
            </a:r>
            <a:endParaRPr lang="en-US" sz="1575" dirty="0"/>
          </a:p>
        </p:txBody>
      </p:sp>
      <p:sp>
        <p:nvSpPr>
          <p:cNvPr id="12" name="Shape 10"/>
          <p:cNvSpPr/>
          <p:nvPr/>
        </p:nvSpPr>
        <p:spPr>
          <a:xfrm>
            <a:off x="1142945" y="7069473"/>
            <a:ext cx="7620000" cy="9525"/>
          </a:xfrm>
          <a:prstGeom prst="rect">
            <a:avLst/>
          </a:prstGeom>
          <a:solidFill>
            <a:srgbClr val="16231F">
              <a:alpha val="18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1409595" y="6618029"/>
            <a:ext cx="7573950" cy="3181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575" dirty="0">
                <a:solidFill>
                  <a:srgbClr val="16231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Corporate ESG/CSR sponsorship for onboarding and audit-readiness cohorts.</a:t>
            </a:r>
            <a:endParaRPr lang="en-US" sz="1575" dirty="0"/>
          </a:p>
        </p:txBody>
      </p:sp>
      <p:sp>
        <p:nvSpPr>
          <p:cNvPr id="14" name="Shape 12"/>
          <p:cNvSpPr/>
          <p:nvPr/>
        </p:nvSpPr>
        <p:spPr>
          <a:xfrm>
            <a:off x="1142945" y="7701166"/>
            <a:ext cx="7620000" cy="9525"/>
          </a:xfrm>
          <a:prstGeom prst="rect">
            <a:avLst/>
          </a:prstGeom>
          <a:solidFill>
            <a:srgbClr val="16231F">
              <a:alpha val="18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1409595" y="7249721"/>
            <a:ext cx="7573950" cy="3181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575" dirty="0">
                <a:solidFill>
                  <a:srgbClr val="16231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Zakat, waqf, council and institutional support for long-term ecosystem value.</a:t>
            </a:r>
            <a:endParaRPr lang="en-US" sz="1575" dirty="0"/>
          </a:p>
        </p:txBody>
      </p:sp>
      <p:sp>
        <p:nvSpPr>
          <p:cNvPr id="16" name="Shape 14"/>
          <p:cNvSpPr/>
          <p:nvPr/>
        </p:nvSpPr>
        <p:spPr>
          <a:xfrm>
            <a:off x="9524862" y="5143390"/>
            <a:ext cx="7620138" cy="9525"/>
          </a:xfrm>
          <a:prstGeom prst="rect">
            <a:avLst/>
          </a:prstGeom>
          <a:solidFill>
            <a:srgbClr val="16231F"/>
          </a:solidFill>
          <a:ln/>
        </p:spPr>
      </p:sp>
      <p:sp>
        <p:nvSpPr>
          <p:cNvPr id="17" name="Text 15"/>
          <p:cNvSpPr/>
          <p:nvPr/>
        </p:nvSpPr>
        <p:spPr>
          <a:xfrm>
            <a:off x="9524862" y="5418859"/>
            <a:ext cx="7848742" cy="2056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210" kern="0" dirty="0">
                <a:solidFill>
                  <a:srgbClr val="1F5D4F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SPONSORED SERVICE LINES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9524862" y="6437781"/>
            <a:ext cx="7620138" cy="9525"/>
          </a:xfrm>
          <a:prstGeom prst="rect">
            <a:avLst/>
          </a:prstGeom>
          <a:solidFill>
            <a:srgbClr val="16231F">
              <a:alpha val="18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9791513" y="5986336"/>
            <a:ext cx="7574092" cy="3181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575" dirty="0">
                <a:solidFill>
                  <a:srgbClr val="16231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Organisation SaaS subscription and managed bookkeeping.</a:t>
            </a:r>
            <a:endParaRPr lang="en-US" sz="1575" dirty="0"/>
          </a:p>
        </p:txBody>
      </p:sp>
      <p:sp>
        <p:nvSpPr>
          <p:cNvPr id="20" name="Shape 18"/>
          <p:cNvSpPr/>
          <p:nvPr/>
        </p:nvSpPr>
        <p:spPr>
          <a:xfrm>
            <a:off x="9524862" y="7069473"/>
            <a:ext cx="7620138" cy="9525"/>
          </a:xfrm>
          <a:prstGeom prst="rect">
            <a:avLst/>
          </a:prstGeom>
          <a:solidFill>
            <a:srgbClr val="16231F">
              <a:alpha val="18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9791513" y="6618029"/>
            <a:ext cx="7574092" cy="3181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575" dirty="0">
                <a:solidFill>
                  <a:srgbClr val="16231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Audit-readiness, certification support and governance workshops.</a:t>
            </a:r>
            <a:endParaRPr lang="en-US" sz="1575" dirty="0"/>
          </a:p>
        </p:txBody>
      </p:sp>
      <p:sp>
        <p:nvSpPr>
          <p:cNvPr id="22" name="Shape 20"/>
          <p:cNvSpPr/>
          <p:nvPr/>
        </p:nvSpPr>
        <p:spPr>
          <a:xfrm>
            <a:off x="9524862" y="7981184"/>
            <a:ext cx="7620138" cy="9525"/>
          </a:xfrm>
          <a:prstGeom prst="rect">
            <a:avLst/>
          </a:prstGeom>
          <a:solidFill>
            <a:srgbClr val="16231F">
              <a:alpha val="18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9791513" y="7249721"/>
            <a:ext cx="7574092" cy="5981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575" dirty="0">
                <a:solidFill>
                  <a:srgbClr val="16231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Institutional dashboards, CSR/funder reporting tools and reviewer/Shariah marketplace.</a:t>
            </a:r>
            <a:endParaRPr lang="en-US" sz="1575" dirty="0"/>
          </a:p>
        </p:txBody>
      </p:sp>
      <p:sp>
        <p:nvSpPr>
          <p:cNvPr id="24" name="Text 22"/>
          <p:cNvSpPr/>
          <p:nvPr/>
        </p:nvSpPr>
        <p:spPr>
          <a:xfrm>
            <a:off x="1142945" y="9559589"/>
            <a:ext cx="4068793" cy="2321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44" kern="0" dirty="0">
                <a:solidFill>
                  <a:srgbClr val="6B756F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CHARITY ORGANIZATIONS DO NOT PAY AGP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0735055" y="9559589"/>
            <a:ext cx="844318" cy="2321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44" kern="0" dirty="0">
                <a:solidFill>
                  <a:srgbClr val="6B756F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06 / 12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757306" y="582635"/>
            <a:ext cx="95222" cy="95222"/>
          </a:xfrm>
          <a:prstGeom prst="ellipse">
            <a:avLst/>
          </a:prstGeom>
          <a:solidFill>
            <a:srgbClr val="1F5D4F"/>
          </a:solidFill>
          <a:ln/>
          <a:effectLst>
            <a:outerShdw sx="100000" sy="100000" kx="0" ky="0" algn="bl" rotWithShape="0" blurRad="101600" dist="50800" dir="16200000">
              <a:srgbClr val="D8E3DD">
                <a:alpha val="10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985785" y="546530"/>
            <a:ext cx="2785532" cy="2056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89" kern="0" dirty="0">
                <a:solidFill>
                  <a:srgbClr val="16231F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AMANAH GOVERNANCE PLATFORM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3304408" y="533301"/>
            <a:ext cx="3955810" cy="2321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44" kern="0" dirty="0">
                <a:solidFill>
                  <a:srgbClr val="6B756F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07 — JAKIM / MAIN DEVELOPMENT MODEL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42945" y="1371561"/>
            <a:ext cx="16482116" cy="2321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264" kern="0" dirty="0">
                <a:solidFill>
                  <a:srgbClr val="1F5D4F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JAKIM / MAIN DEVELOPMENT MODEL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142945" y="1832240"/>
            <a:ext cx="14716125" cy="17479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6600" spc="-198" kern="0" dirty="0">
                <a:solidFill>
                  <a:srgbClr val="16231F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Register the ecosystem first; </a:t>
            </a:r>
            <a:pPr algn="l" indent="0" marL="0">
              <a:lnSpc>
                <a:spcPct val="102000"/>
              </a:lnSpc>
              <a:buNone/>
            </a:pPr>
            <a:r>
              <a:rPr lang="en-US" sz="6600" i="1" spc="-198" kern="0" dirty="0">
                <a:solidFill>
                  <a:srgbClr val="1F5D4F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activate governance </a:t>
            </a:r>
            <a:pPr algn="l" indent="0" marL="0">
              <a:lnSpc>
                <a:spcPct val="102000"/>
              </a:lnSpc>
              <a:buNone/>
            </a:pPr>
            <a:r>
              <a:rPr lang="en-US" sz="6600" spc="-198" kern="0" dirty="0">
                <a:solidFill>
                  <a:srgbClr val="16231F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over time.</a:t>
            </a:r>
            <a:endParaRPr lang="en-US" sz="6600" dirty="0"/>
          </a:p>
        </p:txBody>
      </p:sp>
      <p:sp>
        <p:nvSpPr>
          <p:cNvPr id="7" name="Text 5"/>
          <p:cNvSpPr/>
          <p:nvPr/>
        </p:nvSpPr>
        <p:spPr>
          <a:xfrm>
            <a:off x="1142945" y="3808760"/>
            <a:ext cx="10791825" cy="9123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550" i="1" dirty="0">
                <a:solidFill>
                  <a:srgbClr val="2C3A35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AGP can become the implementation partner for a living registry and governance workflow under an authority scope.</a:t>
            </a:r>
            <a:endParaRPr lang="en-US" sz="2550" dirty="0"/>
          </a:p>
        </p:txBody>
      </p:sp>
      <p:sp>
        <p:nvSpPr>
          <p:cNvPr id="8" name="Shape 6"/>
          <p:cNvSpPr/>
          <p:nvPr/>
        </p:nvSpPr>
        <p:spPr>
          <a:xfrm>
            <a:off x="1142945" y="4952945"/>
            <a:ext cx="16002055" cy="9525"/>
          </a:xfrm>
          <a:prstGeom prst="rect">
            <a:avLst/>
          </a:prstGeom>
          <a:solidFill>
            <a:srgbClr val="16231F"/>
          </a:solidFill>
          <a:ln/>
        </p:spPr>
      </p:sp>
      <p:sp>
        <p:nvSpPr>
          <p:cNvPr id="9" name="Text 7"/>
          <p:cNvSpPr/>
          <p:nvPr/>
        </p:nvSpPr>
        <p:spPr>
          <a:xfrm>
            <a:off x="1142945" y="5228415"/>
            <a:ext cx="5180167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95" kern="0" dirty="0">
                <a:solidFill>
                  <a:srgbClr val="1F5D4F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Step 01 · Authority scope</a:t>
            </a:r>
            <a:endParaRPr lang="en-US" sz="975" dirty="0"/>
          </a:p>
        </p:txBody>
      </p:sp>
      <p:sp>
        <p:nvSpPr>
          <p:cNvPr id="10" name="Text 8"/>
          <p:cNvSpPr/>
          <p:nvPr/>
        </p:nvSpPr>
        <p:spPr>
          <a:xfrm>
            <a:off x="1142945" y="5501404"/>
            <a:ext cx="5180167" cy="7389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400" dirty="0">
                <a:solidFill>
                  <a:srgbClr val="16231F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JAKIM or a state MAIN identifies the pilot or rollout cohort.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142945" y="6316513"/>
            <a:ext cx="5180167" cy="5807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425" dirty="0">
                <a:solidFill>
                  <a:srgbClr val="2C3A35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 defined scope anchors registration, scoring and public profile decisions.</a:t>
            </a:r>
            <a:endParaRPr lang="en-US" sz="1425" dirty="0"/>
          </a:p>
        </p:txBody>
      </p:sp>
      <p:sp>
        <p:nvSpPr>
          <p:cNvPr id="12" name="Shape 10"/>
          <p:cNvSpPr/>
          <p:nvPr/>
        </p:nvSpPr>
        <p:spPr>
          <a:xfrm>
            <a:off x="6476917" y="4961764"/>
            <a:ext cx="9525" cy="2514506"/>
          </a:xfrm>
          <a:prstGeom prst="rect">
            <a:avLst/>
          </a:prstGeom>
          <a:solidFill>
            <a:srgbClr val="16231F"/>
          </a:solidFill>
          <a:ln/>
        </p:spPr>
      </p:sp>
      <p:sp>
        <p:nvSpPr>
          <p:cNvPr id="13" name="Text 11"/>
          <p:cNvSpPr/>
          <p:nvPr/>
        </p:nvSpPr>
        <p:spPr>
          <a:xfrm>
            <a:off x="6790421" y="5228415"/>
            <a:ext cx="4857258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95" kern="0" dirty="0">
                <a:solidFill>
                  <a:srgbClr val="1F5D4F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Step 02 · AGP registration</a:t>
            </a:r>
            <a:endParaRPr lang="en-US" sz="975" dirty="0"/>
          </a:p>
        </p:txBody>
      </p:sp>
      <p:sp>
        <p:nvSpPr>
          <p:cNvPr id="14" name="Text 12"/>
          <p:cNvSpPr/>
          <p:nvPr/>
        </p:nvSpPr>
        <p:spPr>
          <a:xfrm>
            <a:off x="6790421" y="5501404"/>
            <a:ext cx="4857258" cy="10894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400" dirty="0">
                <a:solidFill>
                  <a:srgbClr val="16231F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AGP registers mosques, suraus, charities, waqf initiatives and approved entities.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6790421" y="6666949"/>
            <a:ext cx="4857258" cy="5807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425" dirty="0">
                <a:solidFill>
                  <a:srgbClr val="2C3A35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 living registry becomes the structural baseline for all downstream work.</a:t>
            </a:r>
            <a:endParaRPr lang="en-US" sz="1425" dirty="0"/>
          </a:p>
        </p:txBody>
      </p:sp>
      <p:sp>
        <p:nvSpPr>
          <p:cNvPr id="16" name="Shape 14"/>
          <p:cNvSpPr/>
          <p:nvPr/>
        </p:nvSpPr>
        <p:spPr>
          <a:xfrm>
            <a:off x="11810890" y="4961764"/>
            <a:ext cx="9525" cy="2514506"/>
          </a:xfrm>
          <a:prstGeom prst="rect">
            <a:avLst/>
          </a:prstGeom>
          <a:solidFill>
            <a:srgbClr val="16231F"/>
          </a:solidFill>
          <a:ln/>
        </p:spPr>
      </p:sp>
      <p:sp>
        <p:nvSpPr>
          <p:cNvPr id="17" name="Text 15"/>
          <p:cNvSpPr/>
          <p:nvPr/>
        </p:nvSpPr>
        <p:spPr>
          <a:xfrm>
            <a:off x="12124394" y="5228415"/>
            <a:ext cx="4857258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95" kern="0" dirty="0">
                <a:solidFill>
                  <a:srgbClr val="1F5D4F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Step 03 · Member activation</a:t>
            </a:r>
            <a:endParaRPr lang="en-US" sz="975" dirty="0"/>
          </a:p>
        </p:txBody>
      </p:sp>
      <p:sp>
        <p:nvSpPr>
          <p:cNvPr id="18" name="Text 16"/>
          <p:cNvSpPr/>
          <p:nvPr/>
        </p:nvSpPr>
        <p:spPr>
          <a:xfrm>
            <a:off x="12124394" y="5501404"/>
            <a:ext cx="4857258" cy="10894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400" dirty="0">
                <a:solidFill>
                  <a:srgbClr val="16231F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Organizations update profiles, reports, evidence and certification progress over time.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12124394" y="6666949"/>
            <a:ext cx="4857258" cy="5807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425" dirty="0">
                <a:solidFill>
                  <a:srgbClr val="2C3A35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Activation is gradual, trained and supported — not switched on overnight.</a:t>
            </a:r>
            <a:endParaRPr lang="en-US" sz="1425" dirty="0"/>
          </a:p>
        </p:txBody>
      </p:sp>
      <p:sp>
        <p:nvSpPr>
          <p:cNvPr id="20" name="Shape 18"/>
          <p:cNvSpPr/>
          <p:nvPr/>
        </p:nvSpPr>
        <p:spPr>
          <a:xfrm>
            <a:off x="1142945" y="7143750"/>
            <a:ext cx="5181699" cy="1905000"/>
          </a:xfrm>
          <a:prstGeom prst="rect">
            <a:avLst/>
          </a:prstGeom>
          <a:solidFill>
            <a:srgbClr val="1F5D4F"/>
          </a:solidFill>
          <a:ln/>
        </p:spPr>
      </p:sp>
      <p:sp>
        <p:nvSpPr>
          <p:cNvPr id="21" name="Text 19"/>
          <p:cNvSpPr/>
          <p:nvPr/>
        </p:nvSpPr>
        <p:spPr>
          <a:xfrm>
            <a:off x="1485801" y="7448434"/>
            <a:ext cx="4630867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95" kern="0" dirty="0">
                <a:solidFill>
                  <a:srgbClr val="F4F0E8">
                    <a:alpha val="85000"/>
                  </a:srgbClr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FOR JAKIM / MAIN</a:t>
            </a:r>
            <a:endParaRPr lang="en-US" sz="975" dirty="0"/>
          </a:p>
        </p:txBody>
      </p:sp>
      <p:sp>
        <p:nvSpPr>
          <p:cNvPr id="22" name="Text 20"/>
          <p:cNvSpPr/>
          <p:nvPr/>
        </p:nvSpPr>
        <p:spPr>
          <a:xfrm>
            <a:off x="1485801" y="7759457"/>
            <a:ext cx="4630867" cy="10038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50" dirty="0">
                <a:solidFill>
                  <a:srgbClr val="F4F0E8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Dashboards show reporting gaps, audit-readiness signals and improvement progress.</a:t>
            </a:r>
            <a:endParaRPr lang="en-US" sz="1950" dirty="0"/>
          </a:p>
        </p:txBody>
      </p:sp>
      <p:sp>
        <p:nvSpPr>
          <p:cNvPr id="23" name="Shape 21"/>
          <p:cNvSpPr/>
          <p:nvPr/>
        </p:nvSpPr>
        <p:spPr>
          <a:xfrm>
            <a:off x="6553123" y="7143750"/>
            <a:ext cx="5181699" cy="1905000"/>
          </a:xfrm>
          <a:prstGeom prst="rect">
            <a:avLst/>
          </a:prstGeom>
          <a:solidFill>
            <a:srgbClr val="16231F"/>
          </a:solidFill>
          <a:ln/>
        </p:spPr>
      </p:sp>
      <p:sp>
        <p:nvSpPr>
          <p:cNvPr id="24" name="Text 22"/>
          <p:cNvSpPr/>
          <p:nvPr/>
        </p:nvSpPr>
        <p:spPr>
          <a:xfrm>
            <a:off x="6895978" y="7448434"/>
            <a:ext cx="4630867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95" kern="0" dirty="0">
                <a:solidFill>
                  <a:srgbClr val="F4F0E8">
                    <a:alpha val="85000"/>
                  </a:srgbClr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FOR ORGANIZATIONS</a:t>
            </a:r>
            <a:endParaRPr lang="en-US" sz="975" dirty="0"/>
          </a:p>
        </p:txBody>
      </p:sp>
      <p:sp>
        <p:nvSpPr>
          <p:cNvPr id="25" name="Text 23"/>
          <p:cNvSpPr/>
          <p:nvPr/>
        </p:nvSpPr>
        <p:spPr>
          <a:xfrm>
            <a:off x="6895978" y="7759457"/>
            <a:ext cx="4630867" cy="6819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50" dirty="0">
                <a:solidFill>
                  <a:srgbClr val="F4F0E8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Guided onboarding and governance support — without AGP fees.</a:t>
            </a:r>
            <a:endParaRPr lang="en-US" sz="1950" dirty="0"/>
          </a:p>
        </p:txBody>
      </p:sp>
      <p:sp>
        <p:nvSpPr>
          <p:cNvPr id="26" name="Shape 24"/>
          <p:cNvSpPr/>
          <p:nvPr/>
        </p:nvSpPr>
        <p:spPr>
          <a:xfrm>
            <a:off x="11963300" y="7143750"/>
            <a:ext cx="5181699" cy="1905000"/>
          </a:xfrm>
          <a:prstGeom prst="rect">
            <a:avLst/>
          </a:prstGeom>
          <a:solidFill>
            <a:srgbClr val="ECE6D9"/>
          </a:solidFill>
          <a:ln w="8819">
            <a:solidFill>
              <a:srgbClr val="16231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2314976" y="7457254"/>
            <a:ext cx="4612699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95" kern="0" dirty="0">
                <a:solidFill>
                  <a:srgbClr val="16231F">
                    <a:alpha val="85000"/>
                  </a:srgbClr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FOR DONORS</a:t>
            </a:r>
            <a:endParaRPr lang="en-US" sz="975" dirty="0"/>
          </a:p>
        </p:txBody>
      </p:sp>
      <p:sp>
        <p:nvSpPr>
          <p:cNvPr id="28" name="Text 26"/>
          <p:cNvSpPr/>
          <p:nvPr/>
        </p:nvSpPr>
        <p:spPr>
          <a:xfrm>
            <a:off x="12314976" y="7768277"/>
            <a:ext cx="4612699" cy="3600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50" dirty="0">
                <a:solidFill>
                  <a:srgbClr val="16231F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Clearer trust signals before donating.</a:t>
            </a:r>
            <a:endParaRPr lang="en-US" sz="1950" dirty="0"/>
          </a:p>
        </p:txBody>
      </p:sp>
      <p:sp>
        <p:nvSpPr>
          <p:cNvPr id="29" name="Text 27"/>
          <p:cNvSpPr/>
          <p:nvPr/>
        </p:nvSpPr>
        <p:spPr>
          <a:xfrm>
            <a:off x="1142945" y="9559589"/>
            <a:ext cx="3390613" cy="2321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44" kern="0" dirty="0">
                <a:solidFill>
                  <a:srgbClr val="6B756F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REGISTER · ACTIVATE · EVALUATE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0405842" y="9559589"/>
            <a:ext cx="844318" cy="2321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44" kern="0" dirty="0">
                <a:solidFill>
                  <a:srgbClr val="6B756F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07 / 12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44808" y="582635"/>
            <a:ext cx="95222" cy="95222"/>
          </a:xfrm>
          <a:prstGeom prst="ellipse">
            <a:avLst/>
          </a:prstGeom>
          <a:solidFill>
            <a:srgbClr val="1F5D4F"/>
          </a:solidFill>
          <a:ln/>
          <a:effectLst>
            <a:outerShdw sx="100000" sy="100000" kx="0" ky="0" algn="bl" rotWithShape="0" blurRad="101600" dist="50800" dir="16200000">
              <a:srgbClr val="D8E3DD">
                <a:alpha val="10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6973287" y="546530"/>
            <a:ext cx="2785532" cy="2056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89" kern="0" dirty="0">
                <a:solidFill>
                  <a:srgbClr val="16231F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AMANAH GOVERNANCE PLATFORM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5279550" y="533301"/>
            <a:ext cx="1941650" cy="2321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44" kern="0" dirty="0">
                <a:solidFill>
                  <a:srgbClr val="6B756F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08 — ADVISOR ROLE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42945" y="1371561"/>
            <a:ext cx="16482116" cy="2321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264" kern="0" dirty="0">
                <a:solidFill>
                  <a:srgbClr val="1F5D4F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ADVISOR ROLE · PROF. ANUAR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142945" y="1832240"/>
            <a:ext cx="14716125" cy="17479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6600" spc="-198" kern="0" dirty="0">
                <a:solidFill>
                  <a:srgbClr val="16231F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Strengthening the </a:t>
            </a:r>
            <a:pPr algn="l" indent="0" marL="0">
              <a:lnSpc>
                <a:spcPct val="102000"/>
              </a:lnSpc>
              <a:buNone/>
            </a:pPr>
            <a:r>
              <a:rPr lang="en-US" sz="6600" i="1" spc="-198" kern="0" dirty="0">
                <a:solidFill>
                  <a:srgbClr val="1F5D4F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behaviour-change </a:t>
            </a:r>
            <a:pPr algn="l" indent="0" marL="0">
              <a:lnSpc>
                <a:spcPct val="102000"/>
              </a:lnSpc>
              <a:buNone/>
            </a:pPr>
            <a:r>
              <a:rPr lang="en-US" sz="6600" spc="-198" kern="0" dirty="0">
                <a:solidFill>
                  <a:srgbClr val="16231F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and evaluation layer.</a:t>
            </a:r>
            <a:endParaRPr lang="en-US" sz="6600" dirty="0"/>
          </a:p>
        </p:txBody>
      </p:sp>
      <p:sp>
        <p:nvSpPr>
          <p:cNvPr id="7" name="Text 5"/>
          <p:cNvSpPr/>
          <p:nvPr/>
        </p:nvSpPr>
        <p:spPr>
          <a:xfrm>
            <a:off x="1142945" y="3808760"/>
            <a:ext cx="10791825" cy="9123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550" i="1" dirty="0">
                <a:solidFill>
                  <a:srgbClr val="2C3A35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The recommended role is advising member — allowing AGP to apply directly while keeping academic and research pathways open.</a:t>
            </a:r>
            <a:endParaRPr lang="en-US" sz="2550" dirty="0"/>
          </a:p>
        </p:txBody>
      </p:sp>
      <p:sp>
        <p:nvSpPr>
          <p:cNvPr id="8" name="Text 6"/>
          <p:cNvSpPr/>
          <p:nvPr/>
        </p:nvSpPr>
        <p:spPr>
          <a:xfrm>
            <a:off x="1142945" y="5314817"/>
            <a:ext cx="7770250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95" kern="0" dirty="0">
                <a:solidFill>
                  <a:srgbClr val="1F5D4F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01 · Adoption model</a:t>
            </a:r>
            <a:endParaRPr lang="en-US" sz="975" dirty="0"/>
          </a:p>
        </p:txBody>
      </p:sp>
      <p:sp>
        <p:nvSpPr>
          <p:cNvPr id="9" name="Text 7"/>
          <p:cNvSpPr/>
          <p:nvPr/>
        </p:nvSpPr>
        <p:spPr>
          <a:xfrm>
            <a:off x="1142945" y="5549635"/>
            <a:ext cx="7770250" cy="3228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950" dirty="0">
                <a:solidFill>
                  <a:srgbClr val="16231F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What drives digital governance uptake.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1142945" y="5910406"/>
            <a:ext cx="7063683" cy="2780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2C3A35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Explain adoption among committees across mosque, surau and charity contexts.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9143972" y="5143390"/>
            <a:ext cx="9525" cy="1285847"/>
          </a:xfrm>
          <a:prstGeom prst="rect">
            <a:avLst/>
          </a:prstGeom>
          <a:solidFill>
            <a:srgbClr val="16231F"/>
          </a:solidFill>
          <a:ln/>
        </p:spPr>
      </p:sp>
      <p:sp>
        <p:nvSpPr>
          <p:cNvPr id="12" name="Text 10"/>
          <p:cNvSpPr/>
          <p:nvPr/>
        </p:nvSpPr>
        <p:spPr>
          <a:xfrm>
            <a:off x="9609887" y="5314817"/>
            <a:ext cx="7290358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95" kern="0" dirty="0">
                <a:solidFill>
                  <a:srgbClr val="1F5D4F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02 · Training design</a:t>
            </a:r>
            <a:endParaRPr lang="en-US" sz="975" dirty="0"/>
          </a:p>
        </p:txBody>
      </p:sp>
      <p:sp>
        <p:nvSpPr>
          <p:cNvPr id="13" name="Text 11"/>
          <p:cNvSpPr/>
          <p:nvPr/>
        </p:nvSpPr>
        <p:spPr>
          <a:xfrm>
            <a:off x="9609887" y="5549635"/>
            <a:ext cx="7290358" cy="3228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950" dirty="0">
                <a:solidFill>
                  <a:srgbClr val="16231F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HRD &amp; volunteer-led capability.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9609887" y="5910406"/>
            <a:ext cx="7063683" cy="2780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2C3A35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Shape workshops around organizational learning and volunteer rhythm.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1142945" y="6429237"/>
            <a:ext cx="8001027" cy="9525"/>
          </a:xfrm>
          <a:prstGeom prst="rect">
            <a:avLst/>
          </a:prstGeom>
          <a:solidFill>
            <a:srgbClr val="16231F"/>
          </a:solidFill>
          <a:ln/>
        </p:spPr>
      </p:sp>
      <p:sp>
        <p:nvSpPr>
          <p:cNvPr id="16" name="Text 14"/>
          <p:cNvSpPr/>
          <p:nvPr/>
        </p:nvSpPr>
        <p:spPr>
          <a:xfrm>
            <a:off x="1142945" y="6609484"/>
            <a:ext cx="7770250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95" kern="0" dirty="0">
                <a:solidFill>
                  <a:srgbClr val="1F5D4F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03 · Evaluation method</a:t>
            </a:r>
            <a:endParaRPr lang="en-US" sz="975" dirty="0"/>
          </a:p>
        </p:txBody>
      </p:sp>
      <p:sp>
        <p:nvSpPr>
          <p:cNvPr id="17" name="Text 15"/>
          <p:cNvSpPr/>
          <p:nvPr/>
        </p:nvSpPr>
        <p:spPr>
          <a:xfrm>
            <a:off x="1142945" y="6844302"/>
            <a:ext cx="7770250" cy="3228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950" dirty="0">
                <a:solidFill>
                  <a:srgbClr val="16231F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Baseline / endline logic.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1142945" y="7205072"/>
            <a:ext cx="7063683" cy="2780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2C3A35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Guide interviews and behavioural measurement so capability change is provable.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9143972" y="6429237"/>
            <a:ext cx="8001027" cy="9525"/>
          </a:xfrm>
          <a:prstGeom prst="rect">
            <a:avLst/>
          </a:prstGeom>
          <a:solidFill>
            <a:srgbClr val="16231F"/>
          </a:solidFill>
          <a:ln/>
        </p:spPr>
      </p:sp>
      <p:sp>
        <p:nvSpPr>
          <p:cNvPr id="20" name="Shape 18"/>
          <p:cNvSpPr/>
          <p:nvPr/>
        </p:nvSpPr>
        <p:spPr>
          <a:xfrm>
            <a:off x="9143972" y="6429237"/>
            <a:ext cx="9525" cy="1285985"/>
          </a:xfrm>
          <a:prstGeom prst="rect">
            <a:avLst/>
          </a:prstGeom>
          <a:solidFill>
            <a:srgbClr val="16231F"/>
          </a:solidFill>
          <a:ln/>
        </p:spPr>
      </p:sp>
      <p:sp>
        <p:nvSpPr>
          <p:cNvPr id="21" name="Text 19"/>
          <p:cNvSpPr/>
          <p:nvPr/>
        </p:nvSpPr>
        <p:spPr>
          <a:xfrm>
            <a:off x="9609887" y="6609484"/>
            <a:ext cx="7290358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95" kern="0" dirty="0">
                <a:solidFill>
                  <a:srgbClr val="1F5D4F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04 · Credibility</a:t>
            </a:r>
            <a:endParaRPr lang="en-US" sz="975" dirty="0"/>
          </a:p>
        </p:txBody>
      </p:sp>
      <p:sp>
        <p:nvSpPr>
          <p:cNvPr id="22" name="Text 20"/>
          <p:cNvSpPr/>
          <p:nvPr/>
        </p:nvSpPr>
        <p:spPr>
          <a:xfrm>
            <a:off x="9609887" y="6844302"/>
            <a:ext cx="7290358" cy="3228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950" dirty="0">
                <a:solidFill>
                  <a:srgbClr val="16231F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A serious governance intervention.</a:t>
            </a:r>
            <a:endParaRPr lang="en-US" sz="1950" dirty="0"/>
          </a:p>
        </p:txBody>
      </p:sp>
      <p:sp>
        <p:nvSpPr>
          <p:cNvPr id="23" name="Text 21"/>
          <p:cNvSpPr/>
          <p:nvPr/>
        </p:nvSpPr>
        <p:spPr>
          <a:xfrm>
            <a:off x="9609887" y="7205072"/>
            <a:ext cx="7063683" cy="2780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2C3A35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Position AGP as a research-anchored governance program, not just software.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1142945" y="8087568"/>
            <a:ext cx="16002055" cy="9525"/>
          </a:xfrm>
          <a:prstGeom prst="rect">
            <a:avLst/>
          </a:prstGeom>
          <a:solidFill>
            <a:srgbClr val="16231F"/>
          </a:solidFill>
          <a:ln/>
        </p:spPr>
      </p:sp>
      <p:sp>
        <p:nvSpPr>
          <p:cNvPr id="25" name="Text 23"/>
          <p:cNvSpPr/>
          <p:nvPr/>
        </p:nvSpPr>
        <p:spPr>
          <a:xfrm>
            <a:off x="1142945" y="8286887"/>
            <a:ext cx="16482116" cy="7999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i="1" dirty="0">
                <a:solidFill>
                  <a:srgbClr val="16231F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USM-linked co-applications remain available where a funder specifically values academic anchoring.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142945" y="9559589"/>
            <a:ext cx="4746830" cy="2321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44" kern="0" dirty="0">
                <a:solidFill>
                  <a:srgbClr val="6B756F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ADVISING MEMBER · ACADEMIC ROUTE PRESERVED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1064269" y="9559589"/>
            <a:ext cx="844318" cy="2321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44" kern="0" dirty="0">
                <a:solidFill>
                  <a:srgbClr val="6B756F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08 / 12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25424" y="582635"/>
            <a:ext cx="95222" cy="95222"/>
          </a:xfrm>
          <a:prstGeom prst="ellipse">
            <a:avLst/>
          </a:prstGeom>
          <a:solidFill>
            <a:srgbClr val="1F5D4F"/>
          </a:solidFill>
          <a:ln/>
          <a:effectLst>
            <a:outerShdw sx="100000" sy="100000" kx="0" ky="0" algn="bl" rotWithShape="0" blurRad="101600" dist="50800" dir="16200000">
              <a:srgbClr val="D8E3DD">
                <a:alpha val="10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6753903" y="546530"/>
            <a:ext cx="2785532" cy="2056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89" kern="0" dirty="0">
                <a:solidFill>
                  <a:srgbClr val="16231F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AMANAH GOVERNANCE PLATFORM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4840644" y="533301"/>
            <a:ext cx="2380555" cy="2321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44" kern="0" dirty="0">
                <a:solidFill>
                  <a:srgbClr val="6B756F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09 — PILOT EVALUATION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42945" y="1371561"/>
            <a:ext cx="16482116" cy="2321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264" kern="0" dirty="0">
                <a:solidFill>
                  <a:srgbClr val="1F5D4F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PILOT EVALUATION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142945" y="1832240"/>
            <a:ext cx="14716125" cy="17479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6600" spc="-198" kern="0" dirty="0">
                <a:solidFill>
                  <a:srgbClr val="16231F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Measure capability change, </a:t>
            </a:r>
            <a:pPr algn="l" indent="0" marL="0">
              <a:lnSpc>
                <a:spcPct val="102000"/>
              </a:lnSpc>
              <a:buNone/>
            </a:pPr>
            <a:r>
              <a:rPr lang="en-US" sz="6600" i="1" spc="-198" kern="0" dirty="0">
                <a:solidFill>
                  <a:srgbClr val="1F5D4F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not </a:t>
            </a:r>
            <a:pPr algn="l" indent="0" marL="0">
              <a:lnSpc>
                <a:spcPct val="102000"/>
              </a:lnSpc>
              <a:buNone/>
            </a:pPr>
            <a:r>
              <a:rPr lang="en-US" sz="6600" spc="-198" kern="0" dirty="0">
                <a:solidFill>
                  <a:srgbClr val="16231F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account creation.</a:t>
            </a:r>
            <a:endParaRPr lang="en-US" sz="6600" dirty="0"/>
          </a:p>
        </p:txBody>
      </p:sp>
      <p:sp>
        <p:nvSpPr>
          <p:cNvPr id="7" name="Text 5"/>
          <p:cNvSpPr/>
          <p:nvPr/>
        </p:nvSpPr>
        <p:spPr>
          <a:xfrm>
            <a:off x="1142945" y="3808760"/>
            <a:ext cx="10791825" cy="9123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550" i="1" dirty="0">
                <a:solidFill>
                  <a:srgbClr val="2C3A35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The pilot must prove that organizations become more evidence-ready, report more consistently, and improve trust signals.</a:t>
            </a:r>
            <a:endParaRPr lang="en-US" sz="2550" dirty="0"/>
          </a:p>
        </p:txBody>
      </p:sp>
      <p:sp>
        <p:nvSpPr>
          <p:cNvPr id="8" name="Shape 6"/>
          <p:cNvSpPr/>
          <p:nvPr/>
        </p:nvSpPr>
        <p:spPr>
          <a:xfrm>
            <a:off x="1142945" y="5143390"/>
            <a:ext cx="5333972" cy="9525"/>
          </a:xfrm>
          <a:prstGeom prst="rect">
            <a:avLst/>
          </a:prstGeom>
          <a:solidFill>
            <a:srgbClr val="16231F"/>
          </a:solidFill>
          <a:ln/>
        </p:spPr>
      </p:sp>
      <p:sp>
        <p:nvSpPr>
          <p:cNvPr id="9" name="Text 7"/>
          <p:cNvSpPr/>
          <p:nvPr/>
        </p:nvSpPr>
        <p:spPr>
          <a:xfrm>
            <a:off x="1142945" y="5418859"/>
            <a:ext cx="5180167" cy="9525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200" spc="-180" kern="0" dirty="0">
                <a:solidFill>
                  <a:srgbClr val="16231F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100</a:t>
            </a:r>
            <a:pPr algn="l" indent="0" marL="0">
              <a:lnSpc>
                <a:spcPct val="100000"/>
              </a:lnSpc>
              <a:buNone/>
            </a:pPr>
            <a:r>
              <a:rPr lang="en-US" sz="3300" spc="-180" kern="0" dirty="0">
                <a:solidFill>
                  <a:srgbClr val="1F5D4F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%</a:t>
            </a:r>
            <a:endParaRPr lang="en-US" sz="7200" dirty="0"/>
          </a:p>
        </p:txBody>
      </p:sp>
      <p:sp>
        <p:nvSpPr>
          <p:cNvPr id="10" name="Text 8"/>
          <p:cNvSpPr/>
          <p:nvPr/>
        </p:nvSpPr>
        <p:spPr>
          <a:xfrm>
            <a:off x="1142945" y="6485599"/>
            <a:ext cx="5180167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95" kern="0" dirty="0">
                <a:solidFill>
                  <a:srgbClr val="1F5D4F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REGISTRY COVERAGE</a:t>
            </a:r>
            <a:endParaRPr lang="en-US" sz="975" dirty="0"/>
          </a:p>
        </p:txBody>
      </p:sp>
      <p:sp>
        <p:nvSpPr>
          <p:cNvPr id="11" name="Text 9"/>
          <p:cNvSpPr/>
          <p:nvPr/>
        </p:nvSpPr>
        <p:spPr>
          <a:xfrm>
            <a:off x="1142945" y="6720417"/>
            <a:ext cx="4512917" cy="3003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425" dirty="0">
                <a:solidFill>
                  <a:srgbClr val="2C3A35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Of agreed JAKIM / MAIN pilot cohort registered.</a:t>
            </a:r>
            <a:endParaRPr lang="en-US" sz="1425" dirty="0"/>
          </a:p>
        </p:txBody>
      </p:sp>
      <p:sp>
        <p:nvSpPr>
          <p:cNvPr id="12" name="Shape 10"/>
          <p:cNvSpPr/>
          <p:nvPr/>
        </p:nvSpPr>
        <p:spPr>
          <a:xfrm>
            <a:off x="6476917" y="5143390"/>
            <a:ext cx="5333972" cy="9525"/>
          </a:xfrm>
          <a:prstGeom prst="rect">
            <a:avLst/>
          </a:prstGeom>
          <a:solidFill>
            <a:srgbClr val="16231F"/>
          </a:solidFill>
          <a:ln/>
        </p:spPr>
      </p:sp>
      <p:sp>
        <p:nvSpPr>
          <p:cNvPr id="13" name="Shape 11"/>
          <p:cNvSpPr/>
          <p:nvPr/>
        </p:nvSpPr>
        <p:spPr>
          <a:xfrm>
            <a:off x="6476917" y="5143390"/>
            <a:ext cx="9525" cy="2067746"/>
          </a:xfrm>
          <a:prstGeom prst="rect">
            <a:avLst/>
          </a:prstGeom>
          <a:solidFill>
            <a:srgbClr val="16231F"/>
          </a:solidFill>
          <a:ln/>
        </p:spPr>
      </p:sp>
      <p:sp>
        <p:nvSpPr>
          <p:cNvPr id="14" name="Text 12"/>
          <p:cNvSpPr/>
          <p:nvPr/>
        </p:nvSpPr>
        <p:spPr>
          <a:xfrm>
            <a:off x="6790421" y="5418859"/>
            <a:ext cx="4857258" cy="9525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200" spc="-180" kern="0" dirty="0">
                <a:solidFill>
                  <a:srgbClr val="16231F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80</a:t>
            </a:r>
            <a:pPr algn="l" indent="0" marL="0">
              <a:lnSpc>
                <a:spcPct val="100000"/>
              </a:lnSpc>
              <a:buNone/>
            </a:pPr>
            <a:r>
              <a:rPr lang="en-US" sz="3300" spc="-180" kern="0" dirty="0">
                <a:solidFill>
                  <a:srgbClr val="1F5D4F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%</a:t>
            </a:r>
            <a:endParaRPr lang="en-US" sz="7200" dirty="0"/>
          </a:p>
        </p:txBody>
      </p:sp>
      <p:sp>
        <p:nvSpPr>
          <p:cNvPr id="15" name="Text 13"/>
          <p:cNvSpPr/>
          <p:nvPr/>
        </p:nvSpPr>
        <p:spPr>
          <a:xfrm>
            <a:off x="6790421" y="6485599"/>
            <a:ext cx="4857258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95" kern="0" dirty="0">
                <a:solidFill>
                  <a:srgbClr val="1F5D4F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EVIDENCE READINESS</a:t>
            </a:r>
            <a:endParaRPr lang="en-US" sz="975" dirty="0"/>
          </a:p>
        </p:txBody>
      </p:sp>
      <p:sp>
        <p:nvSpPr>
          <p:cNvPr id="16" name="Text 14"/>
          <p:cNvSpPr/>
          <p:nvPr/>
        </p:nvSpPr>
        <p:spPr>
          <a:xfrm>
            <a:off x="6790421" y="6720417"/>
            <a:ext cx="4512917" cy="3003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425" dirty="0">
                <a:solidFill>
                  <a:srgbClr val="2C3A35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Complete the core evidence pack.</a:t>
            </a:r>
            <a:endParaRPr lang="en-US" sz="1425" dirty="0"/>
          </a:p>
        </p:txBody>
      </p:sp>
      <p:sp>
        <p:nvSpPr>
          <p:cNvPr id="17" name="Shape 15"/>
          <p:cNvSpPr/>
          <p:nvPr/>
        </p:nvSpPr>
        <p:spPr>
          <a:xfrm>
            <a:off x="11810890" y="5143390"/>
            <a:ext cx="5333972" cy="9525"/>
          </a:xfrm>
          <a:prstGeom prst="rect">
            <a:avLst/>
          </a:prstGeom>
          <a:solidFill>
            <a:srgbClr val="16231F"/>
          </a:solidFill>
          <a:ln/>
        </p:spPr>
      </p:sp>
      <p:sp>
        <p:nvSpPr>
          <p:cNvPr id="18" name="Shape 16"/>
          <p:cNvSpPr/>
          <p:nvPr/>
        </p:nvSpPr>
        <p:spPr>
          <a:xfrm>
            <a:off x="11810890" y="5143390"/>
            <a:ext cx="9525" cy="2067746"/>
          </a:xfrm>
          <a:prstGeom prst="rect">
            <a:avLst/>
          </a:prstGeom>
          <a:solidFill>
            <a:srgbClr val="16231F"/>
          </a:solidFill>
          <a:ln/>
        </p:spPr>
      </p:sp>
      <p:sp>
        <p:nvSpPr>
          <p:cNvPr id="19" name="Text 17"/>
          <p:cNvSpPr/>
          <p:nvPr/>
        </p:nvSpPr>
        <p:spPr>
          <a:xfrm>
            <a:off x="12124394" y="5418859"/>
            <a:ext cx="4857258" cy="9525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200" spc="-180" kern="0" dirty="0">
                <a:solidFill>
                  <a:srgbClr val="16231F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50</a:t>
            </a:r>
            <a:pPr algn="l" indent="0" marL="0">
              <a:lnSpc>
                <a:spcPct val="100000"/>
              </a:lnSpc>
              <a:buNone/>
            </a:pPr>
            <a:r>
              <a:rPr lang="en-US" sz="3300" spc="-180" kern="0" dirty="0">
                <a:solidFill>
                  <a:srgbClr val="1F5D4F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%</a:t>
            </a:r>
            <a:endParaRPr lang="en-US" sz="7200" dirty="0"/>
          </a:p>
        </p:txBody>
      </p:sp>
      <p:sp>
        <p:nvSpPr>
          <p:cNvPr id="20" name="Text 18"/>
          <p:cNvSpPr/>
          <p:nvPr/>
        </p:nvSpPr>
        <p:spPr>
          <a:xfrm>
            <a:off x="12124394" y="6485599"/>
            <a:ext cx="4857258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95" kern="0" dirty="0">
                <a:solidFill>
                  <a:srgbClr val="1F5D4F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REPORTING DISCIPLINE</a:t>
            </a:r>
            <a:endParaRPr lang="en-US" sz="975" dirty="0"/>
          </a:p>
        </p:txBody>
      </p:sp>
      <p:sp>
        <p:nvSpPr>
          <p:cNvPr id="21" name="Text 19"/>
          <p:cNvSpPr/>
          <p:nvPr/>
        </p:nvSpPr>
        <p:spPr>
          <a:xfrm>
            <a:off x="12124394" y="6720417"/>
            <a:ext cx="4512917" cy="3003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425" dirty="0">
                <a:solidFill>
                  <a:srgbClr val="2C3A35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Improvement in timeliness against baseline.</a:t>
            </a:r>
            <a:endParaRPr lang="en-US" sz="1425" dirty="0"/>
          </a:p>
        </p:txBody>
      </p:sp>
      <p:sp>
        <p:nvSpPr>
          <p:cNvPr id="22" name="Shape 20"/>
          <p:cNvSpPr/>
          <p:nvPr/>
        </p:nvSpPr>
        <p:spPr>
          <a:xfrm>
            <a:off x="1142945" y="7211136"/>
            <a:ext cx="5333972" cy="9525"/>
          </a:xfrm>
          <a:prstGeom prst="rect">
            <a:avLst/>
          </a:prstGeom>
          <a:solidFill>
            <a:srgbClr val="16231F"/>
          </a:solidFill>
          <a:ln/>
        </p:spPr>
      </p:sp>
      <p:sp>
        <p:nvSpPr>
          <p:cNvPr id="23" name="Text 21"/>
          <p:cNvSpPr/>
          <p:nvPr/>
        </p:nvSpPr>
        <p:spPr>
          <a:xfrm>
            <a:off x="1142945" y="7486606"/>
            <a:ext cx="5180167" cy="9525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200" spc="-180" kern="0" dirty="0">
                <a:solidFill>
                  <a:srgbClr val="16231F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+10</a:t>
            </a:r>
            <a:pPr algn="l" indent="0" marL="0">
              <a:lnSpc>
                <a:spcPct val="100000"/>
              </a:lnSpc>
              <a:buNone/>
            </a:pPr>
            <a:r>
              <a:rPr lang="en-US" sz="3300" spc="-180" kern="0" dirty="0">
                <a:solidFill>
                  <a:srgbClr val="1F5D4F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→15</a:t>
            </a:r>
            <a:endParaRPr lang="en-US" sz="7200" dirty="0"/>
          </a:p>
        </p:txBody>
      </p:sp>
      <p:sp>
        <p:nvSpPr>
          <p:cNvPr id="24" name="Text 22"/>
          <p:cNvSpPr/>
          <p:nvPr/>
        </p:nvSpPr>
        <p:spPr>
          <a:xfrm>
            <a:off x="1142945" y="8553345"/>
            <a:ext cx="5180167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95" kern="0" dirty="0">
                <a:solidFill>
                  <a:srgbClr val="1F5D4F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AMANAH MOVEMENT</a:t>
            </a:r>
            <a:endParaRPr lang="en-US" sz="975" dirty="0"/>
          </a:p>
        </p:txBody>
      </p:sp>
      <p:sp>
        <p:nvSpPr>
          <p:cNvPr id="25" name="Text 23"/>
          <p:cNvSpPr/>
          <p:nvPr/>
        </p:nvSpPr>
        <p:spPr>
          <a:xfrm>
            <a:off x="1142945" y="8788163"/>
            <a:ext cx="4512917" cy="3003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425" dirty="0">
                <a:solidFill>
                  <a:srgbClr val="2C3A35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Score points where baseline gaps exist.</a:t>
            </a:r>
            <a:endParaRPr lang="en-US" sz="1425" dirty="0"/>
          </a:p>
        </p:txBody>
      </p:sp>
      <p:sp>
        <p:nvSpPr>
          <p:cNvPr id="26" name="Shape 24"/>
          <p:cNvSpPr/>
          <p:nvPr/>
        </p:nvSpPr>
        <p:spPr>
          <a:xfrm>
            <a:off x="6476917" y="7211136"/>
            <a:ext cx="5333972" cy="9525"/>
          </a:xfrm>
          <a:prstGeom prst="rect">
            <a:avLst/>
          </a:prstGeom>
          <a:solidFill>
            <a:srgbClr val="16231F"/>
          </a:solidFill>
          <a:ln/>
        </p:spPr>
      </p:sp>
      <p:sp>
        <p:nvSpPr>
          <p:cNvPr id="27" name="Shape 25"/>
          <p:cNvSpPr/>
          <p:nvPr/>
        </p:nvSpPr>
        <p:spPr>
          <a:xfrm>
            <a:off x="6476917" y="7211136"/>
            <a:ext cx="9525" cy="2067746"/>
          </a:xfrm>
          <a:prstGeom prst="rect">
            <a:avLst/>
          </a:prstGeom>
          <a:solidFill>
            <a:srgbClr val="16231F"/>
          </a:solidFill>
          <a:ln/>
        </p:spPr>
      </p:sp>
      <p:sp>
        <p:nvSpPr>
          <p:cNvPr id="28" name="Text 26"/>
          <p:cNvSpPr/>
          <p:nvPr/>
        </p:nvSpPr>
        <p:spPr>
          <a:xfrm>
            <a:off x="6790421" y="7486606"/>
            <a:ext cx="4857258" cy="9525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200" spc="-180" kern="0" dirty="0">
                <a:solidFill>
                  <a:srgbClr val="16231F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70</a:t>
            </a:r>
            <a:pPr algn="l" indent="0" marL="0">
              <a:lnSpc>
                <a:spcPct val="100000"/>
              </a:lnSpc>
              <a:buNone/>
            </a:pPr>
            <a:r>
              <a:rPr lang="en-US" sz="3300" spc="-180" kern="0" dirty="0">
                <a:solidFill>
                  <a:srgbClr val="1F5D4F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%</a:t>
            </a:r>
            <a:endParaRPr lang="en-US" sz="7200" dirty="0"/>
          </a:p>
        </p:txBody>
      </p:sp>
      <p:sp>
        <p:nvSpPr>
          <p:cNvPr id="29" name="Text 27"/>
          <p:cNvSpPr/>
          <p:nvPr/>
        </p:nvSpPr>
        <p:spPr>
          <a:xfrm>
            <a:off x="6790421" y="8553345"/>
            <a:ext cx="4857258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95" kern="0" dirty="0">
                <a:solidFill>
                  <a:srgbClr val="1F5D4F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REMEDIATION</a:t>
            </a:r>
            <a:endParaRPr lang="en-US" sz="975" dirty="0"/>
          </a:p>
        </p:txBody>
      </p:sp>
      <p:sp>
        <p:nvSpPr>
          <p:cNvPr id="30" name="Text 28"/>
          <p:cNvSpPr/>
          <p:nvPr/>
        </p:nvSpPr>
        <p:spPr>
          <a:xfrm>
            <a:off x="6790421" y="8788163"/>
            <a:ext cx="4512917" cy="3003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425" dirty="0">
                <a:solidFill>
                  <a:srgbClr val="2C3A35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Of findings closed within agreed cycle.</a:t>
            </a:r>
            <a:endParaRPr lang="en-US" sz="1425" dirty="0"/>
          </a:p>
        </p:txBody>
      </p:sp>
      <p:sp>
        <p:nvSpPr>
          <p:cNvPr id="31" name="Shape 29"/>
          <p:cNvSpPr/>
          <p:nvPr/>
        </p:nvSpPr>
        <p:spPr>
          <a:xfrm>
            <a:off x="11810890" y="7211136"/>
            <a:ext cx="5333972" cy="9525"/>
          </a:xfrm>
          <a:prstGeom prst="rect">
            <a:avLst/>
          </a:prstGeom>
          <a:solidFill>
            <a:srgbClr val="16231F"/>
          </a:solidFill>
          <a:ln/>
        </p:spPr>
      </p:sp>
      <p:sp>
        <p:nvSpPr>
          <p:cNvPr id="32" name="Shape 30"/>
          <p:cNvSpPr/>
          <p:nvPr/>
        </p:nvSpPr>
        <p:spPr>
          <a:xfrm>
            <a:off x="11810890" y="7211136"/>
            <a:ext cx="9525" cy="2067746"/>
          </a:xfrm>
          <a:prstGeom prst="rect">
            <a:avLst/>
          </a:prstGeom>
          <a:solidFill>
            <a:srgbClr val="16231F"/>
          </a:solidFill>
          <a:ln/>
        </p:spPr>
      </p:sp>
      <p:sp>
        <p:nvSpPr>
          <p:cNvPr id="33" name="Text 31"/>
          <p:cNvSpPr/>
          <p:nvPr/>
        </p:nvSpPr>
        <p:spPr>
          <a:xfrm>
            <a:off x="12124394" y="7486606"/>
            <a:ext cx="4857258" cy="9525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200" spc="-180" kern="0" dirty="0">
                <a:solidFill>
                  <a:srgbClr val="16231F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20</a:t>
            </a:r>
            <a:pPr algn="l" indent="0" marL="0">
              <a:lnSpc>
                <a:spcPct val="100000"/>
              </a:lnSpc>
              <a:buNone/>
            </a:pPr>
            <a:r>
              <a:rPr lang="en-US" sz="3300" spc="-180" kern="0" dirty="0">
                <a:solidFill>
                  <a:srgbClr val="1F5D4F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%</a:t>
            </a:r>
            <a:endParaRPr lang="en-US" sz="7200" dirty="0"/>
          </a:p>
        </p:txBody>
      </p:sp>
      <p:sp>
        <p:nvSpPr>
          <p:cNvPr id="34" name="Text 32"/>
          <p:cNvSpPr/>
          <p:nvPr/>
        </p:nvSpPr>
        <p:spPr>
          <a:xfrm>
            <a:off x="12124394" y="8553345"/>
            <a:ext cx="4857258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95" kern="0" dirty="0">
                <a:solidFill>
                  <a:srgbClr val="1F5D4F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TRUST PERCEPTION</a:t>
            </a:r>
            <a:endParaRPr lang="en-US" sz="975" dirty="0"/>
          </a:p>
        </p:txBody>
      </p:sp>
      <p:sp>
        <p:nvSpPr>
          <p:cNvPr id="35" name="Text 33"/>
          <p:cNvSpPr/>
          <p:nvPr/>
        </p:nvSpPr>
        <p:spPr>
          <a:xfrm>
            <a:off x="12124394" y="8788163"/>
            <a:ext cx="4512917" cy="3003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425" dirty="0">
                <a:solidFill>
                  <a:srgbClr val="2C3A35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Donor confidence lift after viewing public profiles.</a:t>
            </a:r>
            <a:endParaRPr lang="en-US" sz="1425" dirty="0"/>
          </a:p>
        </p:txBody>
      </p:sp>
      <p:sp>
        <p:nvSpPr>
          <p:cNvPr id="36" name="Text 34"/>
          <p:cNvSpPr/>
          <p:nvPr/>
        </p:nvSpPr>
        <p:spPr>
          <a:xfrm>
            <a:off x="1142945" y="9559589"/>
            <a:ext cx="4972937" cy="2321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44" kern="0" dirty="0">
                <a:solidFill>
                  <a:srgbClr val="6B756F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SIX MEASURABLE OUTCOMES FOR A 12-MONTH PILOT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11173960" y="9559589"/>
            <a:ext cx="844318" cy="2321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44" kern="0" dirty="0">
                <a:solidFill>
                  <a:srgbClr val="6B756F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09 / 12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25424" y="582635"/>
            <a:ext cx="95222" cy="95222"/>
          </a:xfrm>
          <a:prstGeom prst="ellipse">
            <a:avLst/>
          </a:prstGeom>
          <a:solidFill>
            <a:srgbClr val="1F5D4F"/>
          </a:solidFill>
          <a:ln/>
          <a:effectLst>
            <a:outerShdw sx="100000" sy="100000" kx="0" ky="0" algn="bl" rotWithShape="0" blurRad="101600" dist="50800" dir="16200000">
              <a:srgbClr val="D8E3DD">
                <a:alpha val="10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6753903" y="546530"/>
            <a:ext cx="2785532" cy="2056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89" kern="0" dirty="0">
                <a:solidFill>
                  <a:srgbClr val="16231F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AMANAH GOVERNANCE PLATFORM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4840644" y="533301"/>
            <a:ext cx="2380555" cy="2321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44" kern="0" dirty="0">
                <a:solidFill>
                  <a:srgbClr val="6B756F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10 — FUNDING STRATEGY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42945" y="1371561"/>
            <a:ext cx="16482116" cy="2321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264" kern="0" dirty="0">
                <a:solidFill>
                  <a:srgbClr val="1F5D4F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FUNDING STRATEGY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142945" y="1832240"/>
            <a:ext cx="14716125" cy="17479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6600" spc="-198" kern="0" dirty="0">
                <a:solidFill>
                  <a:srgbClr val="16231F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Lead with AGP direct applications — </a:t>
            </a:r>
            <a:pPr algn="l" indent="0" marL="0">
              <a:lnSpc>
                <a:spcPct val="102000"/>
              </a:lnSpc>
              <a:buNone/>
            </a:pPr>
            <a:r>
              <a:rPr lang="en-US" sz="6600" i="1" spc="-198" kern="0" dirty="0">
                <a:solidFill>
                  <a:srgbClr val="1F5D4F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keep every viable route open.</a:t>
            </a:r>
            <a:endParaRPr lang="en-US" sz="6600" dirty="0"/>
          </a:p>
        </p:txBody>
      </p:sp>
      <p:sp>
        <p:nvSpPr>
          <p:cNvPr id="7" name="Text 5"/>
          <p:cNvSpPr/>
          <p:nvPr/>
        </p:nvSpPr>
        <p:spPr>
          <a:xfrm>
            <a:off x="1142945" y="3808760"/>
            <a:ext cx="10791825" cy="9123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550" i="1" dirty="0">
                <a:solidFill>
                  <a:srgbClr val="2C3A35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The grant execution board remains the pipeline: no route is dropped while JAKIM/MAIN and advisor conversations mature.</a:t>
            </a:r>
            <a:endParaRPr lang="en-US" sz="2550" dirty="0"/>
          </a:p>
        </p:txBody>
      </p:sp>
      <p:sp>
        <p:nvSpPr>
          <p:cNvPr id="8" name="Shape 6"/>
          <p:cNvSpPr/>
          <p:nvPr/>
        </p:nvSpPr>
        <p:spPr>
          <a:xfrm>
            <a:off x="1142945" y="5143390"/>
            <a:ext cx="16002055" cy="9525"/>
          </a:xfrm>
          <a:prstGeom prst="rect">
            <a:avLst/>
          </a:prstGeom>
          <a:solidFill>
            <a:srgbClr val="16231F"/>
          </a:solidFill>
          <a:ln/>
        </p:spPr>
      </p:sp>
      <p:sp>
        <p:nvSpPr>
          <p:cNvPr id="9" name="Text 7"/>
          <p:cNvSpPr/>
          <p:nvPr/>
        </p:nvSpPr>
        <p:spPr>
          <a:xfrm>
            <a:off x="1142945" y="5426439"/>
            <a:ext cx="1028700" cy="2180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050" spc="210" kern="0" dirty="0">
                <a:solidFill>
                  <a:srgbClr val="6B756F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01 · NOW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400129" y="5323637"/>
            <a:ext cx="2362090" cy="4238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250" dirty="0">
                <a:solidFill>
                  <a:srgbClr val="1F5D4F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Immediate base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4990703" y="5375038"/>
            <a:ext cx="12518925" cy="3210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650" dirty="0">
                <a:solidFill>
                  <a:srgbClr val="2C3A35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MD Status · Hasanah Micro · IsDB Engage registration · JAKIM/MAIN letter.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1142945" y="5880778"/>
            <a:ext cx="16002055" cy="9525"/>
          </a:xfrm>
          <a:prstGeom prst="rect">
            <a:avLst/>
          </a:prstGeom>
          <a:solidFill>
            <a:srgbClr val="16231F"/>
          </a:solidFill>
          <a:ln/>
        </p:spPr>
      </p:sp>
      <p:sp>
        <p:nvSpPr>
          <p:cNvPr id="13" name="Text 11"/>
          <p:cNvSpPr/>
          <p:nvPr/>
        </p:nvSpPr>
        <p:spPr>
          <a:xfrm>
            <a:off x="1142945" y="6163827"/>
            <a:ext cx="1028700" cy="2180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050" spc="210" kern="0" dirty="0">
                <a:solidFill>
                  <a:srgbClr val="6B756F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02 · Q+1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2400129" y="6061025"/>
            <a:ext cx="2362090" cy="4238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250" dirty="0">
                <a:solidFill>
                  <a:srgbClr val="16231F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Build credibility</a:t>
            </a:r>
            <a:endParaRPr lang="en-US" sz="2250" dirty="0"/>
          </a:p>
        </p:txBody>
      </p:sp>
      <p:sp>
        <p:nvSpPr>
          <p:cNvPr id="15" name="Text 13"/>
          <p:cNvSpPr/>
          <p:nvPr/>
        </p:nvSpPr>
        <p:spPr>
          <a:xfrm>
            <a:off x="4990703" y="6112426"/>
            <a:ext cx="12518925" cy="3210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650" dirty="0">
                <a:solidFill>
                  <a:srgbClr val="2C3A35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Cradle CIP · SC FIKRA ACE · JAWHAR engagement · Shariah advisor.</a:t>
            </a:r>
            <a:endParaRPr lang="en-US" sz="1650" dirty="0"/>
          </a:p>
        </p:txBody>
      </p:sp>
      <p:sp>
        <p:nvSpPr>
          <p:cNvPr id="16" name="Shape 14"/>
          <p:cNvSpPr/>
          <p:nvPr/>
        </p:nvSpPr>
        <p:spPr>
          <a:xfrm>
            <a:off x="1142945" y="6618166"/>
            <a:ext cx="16002055" cy="9525"/>
          </a:xfrm>
          <a:prstGeom prst="rect">
            <a:avLst/>
          </a:prstGeom>
          <a:solidFill>
            <a:srgbClr val="16231F"/>
          </a:solidFill>
          <a:ln/>
        </p:spPr>
      </p:sp>
      <p:sp>
        <p:nvSpPr>
          <p:cNvPr id="17" name="Text 15"/>
          <p:cNvSpPr/>
          <p:nvPr/>
        </p:nvSpPr>
        <p:spPr>
          <a:xfrm>
            <a:off x="1142945" y="6901215"/>
            <a:ext cx="1028700" cy="2180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050" spc="210" kern="0" dirty="0">
                <a:solidFill>
                  <a:srgbClr val="6B756F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03 · Q+2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2400129" y="6798414"/>
            <a:ext cx="2362090" cy="4238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250" dirty="0">
                <a:solidFill>
                  <a:srgbClr val="16231F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Accelerate</a:t>
            </a:r>
            <a:endParaRPr lang="en-US" sz="2250" dirty="0"/>
          </a:p>
        </p:txBody>
      </p:sp>
      <p:sp>
        <p:nvSpPr>
          <p:cNvPr id="19" name="Text 17"/>
          <p:cNvSpPr/>
          <p:nvPr/>
        </p:nvSpPr>
        <p:spPr>
          <a:xfrm>
            <a:off x="4990703" y="6849814"/>
            <a:ext cx="12518925" cy="3210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650" dirty="0">
                <a:solidFill>
                  <a:srgbClr val="2C3A35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MDEC MDCG · IERIF / INCEIF · Hasanah Special Grant · pilot coordinators.</a:t>
            </a:r>
            <a:endParaRPr lang="en-US" sz="1650" dirty="0"/>
          </a:p>
        </p:txBody>
      </p:sp>
      <p:sp>
        <p:nvSpPr>
          <p:cNvPr id="20" name="Shape 18"/>
          <p:cNvSpPr/>
          <p:nvPr/>
        </p:nvSpPr>
        <p:spPr>
          <a:xfrm>
            <a:off x="1142945" y="7355555"/>
            <a:ext cx="16002055" cy="9525"/>
          </a:xfrm>
          <a:prstGeom prst="rect">
            <a:avLst/>
          </a:prstGeom>
          <a:solidFill>
            <a:srgbClr val="16231F"/>
          </a:solidFill>
          <a:ln/>
        </p:spPr>
      </p:sp>
      <p:sp>
        <p:nvSpPr>
          <p:cNvPr id="21" name="Text 19"/>
          <p:cNvSpPr/>
          <p:nvPr/>
        </p:nvSpPr>
        <p:spPr>
          <a:xfrm>
            <a:off x="1142945" y="7638604"/>
            <a:ext cx="1028700" cy="2180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050" spc="210" kern="0" dirty="0">
                <a:solidFill>
                  <a:srgbClr val="6B756F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04 · Q+3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2400129" y="7535802"/>
            <a:ext cx="2362090" cy="4238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250" dirty="0">
                <a:solidFill>
                  <a:srgbClr val="16231F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Scale prep</a:t>
            </a:r>
            <a:endParaRPr lang="en-US" sz="2250" dirty="0"/>
          </a:p>
        </p:txBody>
      </p:sp>
      <p:sp>
        <p:nvSpPr>
          <p:cNvPr id="23" name="Text 21"/>
          <p:cNvSpPr/>
          <p:nvPr/>
        </p:nvSpPr>
        <p:spPr>
          <a:xfrm>
            <a:off x="4990703" y="7587203"/>
            <a:ext cx="12518925" cy="3210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650" dirty="0">
                <a:solidFill>
                  <a:srgbClr val="2C3A35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IsDB Transform Fund · pilot evidence pack · CSR / ESG sponsorships.</a:t>
            </a:r>
            <a:endParaRPr lang="en-US" sz="1650" dirty="0"/>
          </a:p>
        </p:txBody>
      </p:sp>
      <p:sp>
        <p:nvSpPr>
          <p:cNvPr id="24" name="Shape 22"/>
          <p:cNvSpPr/>
          <p:nvPr/>
        </p:nvSpPr>
        <p:spPr>
          <a:xfrm>
            <a:off x="1142945" y="8092943"/>
            <a:ext cx="16002055" cy="9525"/>
          </a:xfrm>
          <a:prstGeom prst="rect">
            <a:avLst/>
          </a:prstGeom>
          <a:solidFill>
            <a:srgbClr val="16231F"/>
          </a:solidFill>
          <a:ln/>
        </p:spPr>
      </p:sp>
      <p:sp>
        <p:nvSpPr>
          <p:cNvPr id="25" name="Text 23"/>
          <p:cNvSpPr/>
          <p:nvPr/>
        </p:nvSpPr>
        <p:spPr>
          <a:xfrm>
            <a:off x="1142945" y="8375992"/>
            <a:ext cx="1028700" cy="2180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050" spc="210" kern="0" dirty="0">
                <a:solidFill>
                  <a:srgbClr val="6B756F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05 · Q+4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2400129" y="8273190"/>
            <a:ext cx="2362090" cy="4238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250" dirty="0">
                <a:solidFill>
                  <a:srgbClr val="16231F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Scale</a:t>
            </a:r>
            <a:endParaRPr lang="en-US" sz="2250" dirty="0"/>
          </a:p>
        </p:txBody>
      </p:sp>
      <p:sp>
        <p:nvSpPr>
          <p:cNvPr id="27" name="Text 25"/>
          <p:cNvSpPr/>
          <p:nvPr/>
        </p:nvSpPr>
        <p:spPr>
          <a:xfrm>
            <a:off x="4990703" y="8324591"/>
            <a:ext cx="12518925" cy="3210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650" dirty="0">
                <a:solidFill>
                  <a:srgbClr val="2C3A35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MDAG · additional state MAIN expansion · regional OIC partnerships.</a:t>
            </a:r>
            <a:endParaRPr lang="en-US" sz="1650" dirty="0"/>
          </a:p>
        </p:txBody>
      </p:sp>
      <p:sp>
        <p:nvSpPr>
          <p:cNvPr id="28" name="Shape 26"/>
          <p:cNvSpPr/>
          <p:nvPr/>
        </p:nvSpPr>
        <p:spPr>
          <a:xfrm>
            <a:off x="1142945" y="9567719"/>
            <a:ext cx="16002055" cy="9525"/>
          </a:xfrm>
          <a:prstGeom prst="rect">
            <a:avLst/>
          </a:prstGeom>
          <a:solidFill>
            <a:srgbClr val="16231F"/>
          </a:solidFill>
          <a:ln/>
        </p:spPr>
      </p:sp>
      <p:sp>
        <p:nvSpPr>
          <p:cNvPr id="29" name="Shape 27"/>
          <p:cNvSpPr/>
          <p:nvPr/>
        </p:nvSpPr>
        <p:spPr>
          <a:xfrm>
            <a:off x="1142945" y="8830331"/>
            <a:ext cx="16002055" cy="9525"/>
          </a:xfrm>
          <a:prstGeom prst="rect">
            <a:avLst/>
          </a:prstGeom>
          <a:solidFill>
            <a:srgbClr val="16231F"/>
          </a:solidFill>
          <a:ln/>
        </p:spPr>
      </p:sp>
      <p:sp>
        <p:nvSpPr>
          <p:cNvPr id="30" name="Text 28"/>
          <p:cNvSpPr/>
          <p:nvPr/>
        </p:nvSpPr>
        <p:spPr>
          <a:xfrm>
            <a:off x="1142945" y="9113380"/>
            <a:ext cx="1028700" cy="2180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050" spc="210" kern="0" dirty="0">
                <a:solidFill>
                  <a:srgbClr val="6B756F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— · Open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2400129" y="9010578"/>
            <a:ext cx="2362090" cy="4238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250" i="1" dirty="0">
                <a:solidFill>
                  <a:srgbClr val="16231F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Academic route</a:t>
            </a:r>
            <a:endParaRPr lang="en-US" sz="2250" dirty="0"/>
          </a:p>
        </p:txBody>
      </p:sp>
      <p:sp>
        <p:nvSpPr>
          <p:cNvPr id="32" name="Text 30"/>
          <p:cNvSpPr/>
          <p:nvPr/>
        </p:nvSpPr>
        <p:spPr>
          <a:xfrm>
            <a:off x="4990703" y="9061979"/>
            <a:ext cx="12518925" cy="3210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650" i="1" dirty="0">
                <a:solidFill>
                  <a:srgbClr val="6B756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University-linked co-applications remain open when funder fit is strong.</a:t>
            </a:r>
            <a:endParaRPr lang="en-US" sz="1650" dirty="0"/>
          </a:p>
        </p:txBody>
      </p:sp>
      <p:sp>
        <p:nvSpPr>
          <p:cNvPr id="33" name="Text 31"/>
          <p:cNvSpPr/>
          <p:nvPr/>
        </p:nvSpPr>
        <p:spPr>
          <a:xfrm>
            <a:off x="1142945" y="9559589"/>
            <a:ext cx="4859955" cy="2321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44" kern="0" dirty="0">
                <a:solidFill>
                  <a:srgbClr val="6B756F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NO ROUTE DROPPED · SEQUENCED, NOT EXCLUSIVE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11119114" y="9559589"/>
            <a:ext cx="844318" cy="2321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44" kern="0" dirty="0">
                <a:solidFill>
                  <a:srgbClr val="6B756F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10 / 12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44808" y="582635"/>
            <a:ext cx="95222" cy="95222"/>
          </a:xfrm>
          <a:prstGeom prst="ellipse">
            <a:avLst/>
          </a:prstGeom>
          <a:solidFill>
            <a:srgbClr val="1F5D4F"/>
          </a:solidFill>
          <a:ln/>
          <a:effectLst>
            <a:outerShdw sx="100000" sy="100000" kx="0" ky="0" algn="bl" rotWithShape="0" blurRad="101600" dist="50800" dir="16200000">
              <a:srgbClr val="D8E3DD">
                <a:alpha val="10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6973287" y="546530"/>
            <a:ext cx="2785532" cy="2056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89" kern="0" dirty="0">
                <a:solidFill>
                  <a:srgbClr val="16231F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AMANAH GOVERNANCE PLATFORM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5279550" y="533301"/>
            <a:ext cx="1941650" cy="2321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44" kern="0" dirty="0">
                <a:solidFill>
                  <a:srgbClr val="6B756F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11 — USE OF FUNDS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42945" y="1371561"/>
            <a:ext cx="16482116" cy="2321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264" kern="0" dirty="0">
                <a:solidFill>
                  <a:srgbClr val="1F5D4F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USE OF FUNDS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142945" y="1832240"/>
            <a:ext cx="14716125" cy="17479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6600" i="1" spc="-198" kern="0" dirty="0">
                <a:solidFill>
                  <a:srgbClr val="1F5D4F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RM 550,000 </a:t>
            </a:r>
            <a:pPr algn="l" indent="0" marL="0">
              <a:lnSpc>
                <a:spcPct val="102000"/>
              </a:lnSpc>
              <a:buNone/>
            </a:pPr>
            <a:r>
              <a:rPr lang="en-US" sz="6600" spc="-198" kern="0" dirty="0">
                <a:solidFill>
                  <a:srgbClr val="16231F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funds a serious 12-month proof cycle.</a:t>
            </a:r>
            <a:endParaRPr lang="en-US" sz="6600" dirty="0"/>
          </a:p>
        </p:txBody>
      </p:sp>
      <p:sp>
        <p:nvSpPr>
          <p:cNvPr id="7" name="Text 5"/>
          <p:cNvSpPr/>
          <p:nvPr/>
        </p:nvSpPr>
        <p:spPr>
          <a:xfrm>
            <a:off x="1142945" y="3808760"/>
            <a:ext cx="10791825" cy="9123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550" i="1" dirty="0">
                <a:solidFill>
                  <a:srgbClr val="2C3A35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Product hardening, research and evaluation, training, field operations and institutional readiness.</a:t>
            </a:r>
            <a:endParaRPr lang="en-US" sz="2550" dirty="0"/>
          </a:p>
        </p:txBody>
      </p:sp>
      <p:sp>
        <p:nvSpPr>
          <p:cNvPr id="8" name="Text 6"/>
          <p:cNvSpPr/>
          <p:nvPr/>
        </p:nvSpPr>
        <p:spPr>
          <a:xfrm>
            <a:off x="1142945" y="5333972"/>
            <a:ext cx="4976770" cy="147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9000" i="1" spc="-504" kern="0" dirty="0">
                <a:solidFill>
                  <a:srgbClr val="1F5D4F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RM</a:t>
            </a:r>
            <a:pPr algn="l" indent="0" marL="0">
              <a:lnSpc>
                <a:spcPct val="90000"/>
              </a:lnSpc>
              <a:buNone/>
            </a:pPr>
            <a:r>
              <a:rPr lang="en-US" sz="12600" spc="-504" kern="0" dirty="0">
                <a:solidFill>
                  <a:srgbClr val="16231F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550</a:t>
            </a:r>
            <a:pPr algn="l" indent="0" marL="0">
              <a:lnSpc>
                <a:spcPct val="90000"/>
              </a:lnSpc>
              <a:buNone/>
            </a:pPr>
            <a:r>
              <a:rPr lang="en-US" sz="6300" spc="-504" kern="0" dirty="0">
                <a:solidFill>
                  <a:srgbClr val="6B756F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k</a:t>
            </a:r>
            <a:endParaRPr lang="en-US" sz="12600" dirty="0"/>
          </a:p>
        </p:txBody>
      </p:sp>
      <p:sp>
        <p:nvSpPr>
          <p:cNvPr id="9" name="Text 7"/>
          <p:cNvSpPr/>
          <p:nvPr/>
        </p:nvSpPr>
        <p:spPr>
          <a:xfrm>
            <a:off x="1142945" y="7238972"/>
            <a:ext cx="4512917" cy="3732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231" kern="0" dirty="0">
                <a:solidFill>
                  <a:srgbClr val="6B756F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12-MONTH TOTAL BUDGET — SIX ALLOCATIONS →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667500" y="5143390"/>
            <a:ext cx="10477500" cy="9525"/>
          </a:xfrm>
          <a:prstGeom prst="rect">
            <a:avLst/>
          </a:prstGeom>
          <a:solidFill>
            <a:srgbClr val="16231F"/>
          </a:solidFill>
          <a:ln/>
        </p:spPr>
      </p:sp>
      <p:sp>
        <p:nvSpPr>
          <p:cNvPr id="11" name="Text 9"/>
          <p:cNvSpPr/>
          <p:nvPr/>
        </p:nvSpPr>
        <p:spPr>
          <a:xfrm>
            <a:off x="6667500" y="5354230"/>
            <a:ext cx="1314367" cy="3115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66" kern="0" dirty="0">
                <a:solidFill>
                  <a:srgbClr val="16231F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RM 180k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8134146" y="5304483"/>
            <a:ext cx="9281180" cy="2780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2C3A35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Platform development, configuration, trust profile polish and data exports.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8134146" y="5620466"/>
            <a:ext cx="9010854" cy="57051"/>
          </a:xfrm>
          <a:prstGeom prst="rect">
            <a:avLst/>
          </a:prstGeom>
          <a:solidFill>
            <a:srgbClr val="ECE6D9"/>
          </a:solidFill>
          <a:ln/>
        </p:spPr>
      </p:sp>
      <p:sp>
        <p:nvSpPr>
          <p:cNvPr id="14" name="Shape 12"/>
          <p:cNvSpPr/>
          <p:nvPr/>
        </p:nvSpPr>
        <p:spPr>
          <a:xfrm>
            <a:off x="8134146" y="5620466"/>
            <a:ext cx="9010854" cy="57051"/>
          </a:xfrm>
          <a:prstGeom prst="rect">
            <a:avLst/>
          </a:prstGeom>
          <a:solidFill>
            <a:srgbClr val="1F5D4F"/>
          </a:solidFill>
          <a:ln/>
        </p:spPr>
      </p:sp>
      <p:sp>
        <p:nvSpPr>
          <p:cNvPr id="15" name="Shape 13"/>
          <p:cNvSpPr/>
          <p:nvPr/>
        </p:nvSpPr>
        <p:spPr>
          <a:xfrm>
            <a:off x="6667500" y="5829791"/>
            <a:ext cx="10477500" cy="9525"/>
          </a:xfrm>
          <a:prstGeom prst="rect">
            <a:avLst/>
          </a:prstGeom>
          <a:solidFill>
            <a:srgbClr val="16231F"/>
          </a:solidFill>
          <a:ln/>
        </p:spPr>
      </p:sp>
      <p:sp>
        <p:nvSpPr>
          <p:cNvPr id="16" name="Text 14"/>
          <p:cNvSpPr/>
          <p:nvPr/>
        </p:nvSpPr>
        <p:spPr>
          <a:xfrm>
            <a:off x="6667500" y="6040630"/>
            <a:ext cx="1314367" cy="3115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66" kern="0" dirty="0">
                <a:solidFill>
                  <a:srgbClr val="16231F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RM 90k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8134146" y="5990883"/>
            <a:ext cx="9281180" cy="2780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2C3A35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Research design, surveys, interviews, analysis and reporting.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8134146" y="6306867"/>
            <a:ext cx="9010854" cy="57051"/>
          </a:xfrm>
          <a:prstGeom prst="rect">
            <a:avLst/>
          </a:prstGeom>
          <a:solidFill>
            <a:srgbClr val="ECE6D9"/>
          </a:solidFill>
          <a:ln/>
        </p:spPr>
      </p:sp>
      <p:sp>
        <p:nvSpPr>
          <p:cNvPr id="19" name="Shape 17"/>
          <p:cNvSpPr/>
          <p:nvPr/>
        </p:nvSpPr>
        <p:spPr>
          <a:xfrm>
            <a:off x="8134146" y="6306867"/>
            <a:ext cx="4505358" cy="57051"/>
          </a:xfrm>
          <a:prstGeom prst="rect">
            <a:avLst/>
          </a:prstGeom>
          <a:solidFill>
            <a:srgbClr val="1F5D4F"/>
          </a:solidFill>
          <a:ln/>
        </p:spPr>
      </p:sp>
      <p:sp>
        <p:nvSpPr>
          <p:cNvPr id="20" name="Shape 18"/>
          <p:cNvSpPr/>
          <p:nvPr/>
        </p:nvSpPr>
        <p:spPr>
          <a:xfrm>
            <a:off x="6667500" y="6516191"/>
            <a:ext cx="10477500" cy="9525"/>
          </a:xfrm>
          <a:prstGeom prst="rect">
            <a:avLst/>
          </a:prstGeom>
          <a:solidFill>
            <a:srgbClr val="16231F"/>
          </a:solidFill>
          <a:ln/>
        </p:spPr>
      </p:sp>
      <p:sp>
        <p:nvSpPr>
          <p:cNvPr id="21" name="Text 19"/>
          <p:cNvSpPr/>
          <p:nvPr/>
        </p:nvSpPr>
        <p:spPr>
          <a:xfrm>
            <a:off x="6667500" y="6727031"/>
            <a:ext cx="1314367" cy="3115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66" kern="0" dirty="0">
                <a:solidFill>
                  <a:srgbClr val="16231F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RM 80k</a:t>
            </a: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8134146" y="6677284"/>
            <a:ext cx="9281180" cy="2780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2C3A35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Training, governance workshops, materials and facilitation.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8134146" y="6993268"/>
            <a:ext cx="9010854" cy="57051"/>
          </a:xfrm>
          <a:prstGeom prst="rect">
            <a:avLst/>
          </a:prstGeom>
          <a:solidFill>
            <a:srgbClr val="ECE6D9"/>
          </a:solidFill>
          <a:ln/>
        </p:spPr>
      </p:sp>
      <p:sp>
        <p:nvSpPr>
          <p:cNvPr id="24" name="Shape 22"/>
          <p:cNvSpPr/>
          <p:nvPr/>
        </p:nvSpPr>
        <p:spPr>
          <a:xfrm>
            <a:off x="8134146" y="6993268"/>
            <a:ext cx="3964754" cy="57051"/>
          </a:xfrm>
          <a:prstGeom prst="rect">
            <a:avLst/>
          </a:prstGeom>
          <a:solidFill>
            <a:srgbClr val="1F5D4F"/>
          </a:solidFill>
          <a:ln/>
        </p:spPr>
      </p:sp>
      <p:sp>
        <p:nvSpPr>
          <p:cNvPr id="25" name="Shape 23"/>
          <p:cNvSpPr/>
          <p:nvPr/>
        </p:nvSpPr>
        <p:spPr>
          <a:xfrm>
            <a:off x="6667500" y="7202592"/>
            <a:ext cx="10477500" cy="9525"/>
          </a:xfrm>
          <a:prstGeom prst="rect">
            <a:avLst/>
          </a:prstGeom>
          <a:solidFill>
            <a:srgbClr val="16231F"/>
          </a:solidFill>
          <a:ln/>
        </p:spPr>
      </p:sp>
      <p:sp>
        <p:nvSpPr>
          <p:cNvPr id="26" name="Text 24"/>
          <p:cNvSpPr/>
          <p:nvPr/>
        </p:nvSpPr>
        <p:spPr>
          <a:xfrm>
            <a:off x="6667500" y="7413432"/>
            <a:ext cx="1314367" cy="3115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66" kern="0" dirty="0">
                <a:solidFill>
                  <a:srgbClr val="16231F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RM 90k</a:t>
            </a:r>
            <a:endParaRPr lang="en-US" sz="1650" dirty="0"/>
          </a:p>
        </p:txBody>
      </p:sp>
      <p:sp>
        <p:nvSpPr>
          <p:cNvPr id="27" name="Text 25"/>
          <p:cNvSpPr/>
          <p:nvPr/>
        </p:nvSpPr>
        <p:spPr>
          <a:xfrm>
            <a:off x="8134146" y="7363685"/>
            <a:ext cx="9281180" cy="2780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2C3A35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Pilot operations, helpdesk, field coordination and onboarding support.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8134146" y="7679669"/>
            <a:ext cx="9010854" cy="57051"/>
          </a:xfrm>
          <a:prstGeom prst="rect">
            <a:avLst/>
          </a:prstGeom>
          <a:solidFill>
            <a:srgbClr val="ECE6D9"/>
          </a:solidFill>
          <a:ln/>
        </p:spPr>
      </p:sp>
      <p:sp>
        <p:nvSpPr>
          <p:cNvPr id="29" name="Shape 27"/>
          <p:cNvSpPr/>
          <p:nvPr/>
        </p:nvSpPr>
        <p:spPr>
          <a:xfrm>
            <a:off x="8134146" y="7679669"/>
            <a:ext cx="4505358" cy="57051"/>
          </a:xfrm>
          <a:prstGeom prst="rect">
            <a:avLst/>
          </a:prstGeom>
          <a:solidFill>
            <a:srgbClr val="1F5D4F"/>
          </a:solidFill>
          <a:ln/>
        </p:spPr>
      </p:sp>
      <p:sp>
        <p:nvSpPr>
          <p:cNvPr id="30" name="Shape 28"/>
          <p:cNvSpPr/>
          <p:nvPr/>
        </p:nvSpPr>
        <p:spPr>
          <a:xfrm>
            <a:off x="6667500" y="7888993"/>
            <a:ext cx="10477500" cy="9525"/>
          </a:xfrm>
          <a:prstGeom prst="rect">
            <a:avLst/>
          </a:prstGeom>
          <a:solidFill>
            <a:srgbClr val="16231F"/>
          </a:solidFill>
          <a:ln/>
        </p:spPr>
      </p:sp>
      <p:sp>
        <p:nvSpPr>
          <p:cNvPr id="31" name="Text 29"/>
          <p:cNvSpPr/>
          <p:nvPr/>
        </p:nvSpPr>
        <p:spPr>
          <a:xfrm>
            <a:off x="6667500" y="8099833"/>
            <a:ext cx="1314367" cy="3115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66" kern="0" dirty="0">
                <a:solidFill>
                  <a:srgbClr val="16231F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RM 55k</a:t>
            </a:r>
            <a:endParaRPr lang="en-US" sz="1650" dirty="0"/>
          </a:p>
        </p:txBody>
      </p:sp>
      <p:sp>
        <p:nvSpPr>
          <p:cNvPr id="32" name="Text 30"/>
          <p:cNvSpPr/>
          <p:nvPr/>
        </p:nvSpPr>
        <p:spPr>
          <a:xfrm>
            <a:off x="8134146" y="8050085"/>
            <a:ext cx="9281180" cy="2780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2C3A35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Cloud, storage, monitoring, backup, security and compliance support.</a:t>
            </a:r>
            <a:endParaRPr lang="en-US" sz="1350" dirty="0"/>
          </a:p>
        </p:txBody>
      </p:sp>
      <p:sp>
        <p:nvSpPr>
          <p:cNvPr id="33" name="Shape 31"/>
          <p:cNvSpPr/>
          <p:nvPr/>
        </p:nvSpPr>
        <p:spPr>
          <a:xfrm>
            <a:off x="8134146" y="8366070"/>
            <a:ext cx="9010854" cy="57051"/>
          </a:xfrm>
          <a:prstGeom prst="rect">
            <a:avLst/>
          </a:prstGeom>
          <a:solidFill>
            <a:srgbClr val="ECE6D9"/>
          </a:solidFill>
          <a:ln/>
        </p:spPr>
      </p:sp>
      <p:sp>
        <p:nvSpPr>
          <p:cNvPr id="34" name="Shape 32"/>
          <p:cNvSpPr/>
          <p:nvPr/>
        </p:nvSpPr>
        <p:spPr>
          <a:xfrm>
            <a:off x="8134146" y="8366070"/>
            <a:ext cx="2703160" cy="57051"/>
          </a:xfrm>
          <a:prstGeom prst="rect">
            <a:avLst/>
          </a:prstGeom>
          <a:solidFill>
            <a:srgbClr val="1F5D4F"/>
          </a:solidFill>
          <a:ln/>
        </p:spPr>
      </p:sp>
      <p:sp>
        <p:nvSpPr>
          <p:cNvPr id="35" name="Shape 33"/>
          <p:cNvSpPr/>
          <p:nvPr/>
        </p:nvSpPr>
        <p:spPr>
          <a:xfrm>
            <a:off x="6667500" y="9261795"/>
            <a:ext cx="10477500" cy="9525"/>
          </a:xfrm>
          <a:prstGeom prst="rect">
            <a:avLst/>
          </a:prstGeom>
          <a:solidFill>
            <a:srgbClr val="16231F"/>
          </a:solidFill>
          <a:ln/>
        </p:spPr>
      </p:sp>
      <p:sp>
        <p:nvSpPr>
          <p:cNvPr id="36" name="Shape 34"/>
          <p:cNvSpPr/>
          <p:nvPr/>
        </p:nvSpPr>
        <p:spPr>
          <a:xfrm>
            <a:off x="6667500" y="8575394"/>
            <a:ext cx="10477500" cy="9525"/>
          </a:xfrm>
          <a:prstGeom prst="rect">
            <a:avLst/>
          </a:prstGeom>
          <a:solidFill>
            <a:srgbClr val="16231F"/>
          </a:solidFill>
          <a:ln/>
        </p:spPr>
      </p:sp>
      <p:sp>
        <p:nvSpPr>
          <p:cNvPr id="37" name="Text 35"/>
          <p:cNvSpPr/>
          <p:nvPr/>
        </p:nvSpPr>
        <p:spPr>
          <a:xfrm>
            <a:off x="6667500" y="8786233"/>
            <a:ext cx="1314367" cy="3115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66" kern="0" dirty="0">
                <a:solidFill>
                  <a:srgbClr val="16231F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RM 55k</a:t>
            </a:r>
            <a:endParaRPr lang="en-US" sz="1650" dirty="0"/>
          </a:p>
        </p:txBody>
      </p:sp>
      <p:sp>
        <p:nvSpPr>
          <p:cNvPr id="38" name="Text 36"/>
          <p:cNvSpPr/>
          <p:nvPr/>
        </p:nvSpPr>
        <p:spPr>
          <a:xfrm>
            <a:off x="8134146" y="8736487"/>
            <a:ext cx="9281180" cy="2780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2C3A35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Dissemination and contingency for delivery risk.</a:t>
            </a:r>
            <a:endParaRPr lang="en-US" sz="1350" dirty="0"/>
          </a:p>
        </p:txBody>
      </p:sp>
      <p:sp>
        <p:nvSpPr>
          <p:cNvPr id="39" name="Shape 37"/>
          <p:cNvSpPr/>
          <p:nvPr/>
        </p:nvSpPr>
        <p:spPr>
          <a:xfrm>
            <a:off x="8134146" y="9052471"/>
            <a:ext cx="9010854" cy="57051"/>
          </a:xfrm>
          <a:prstGeom prst="rect">
            <a:avLst/>
          </a:prstGeom>
          <a:solidFill>
            <a:srgbClr val="ECE6D9"/>
          </a:solidFill>
          <a:ln/>
        </p:spPr>
      </p:sp>
      <p:sp>
        <p:nvSpPr>
          <p:cNvPr id="40" name="Shape 38"/>
          <p:cNvSpPr/>
          <p:nvPr/>
        </p:nvSpPr>
        <p:spPr>
          <a:xfrm>
            <a:off x="8134146" y="9052471"/>
            <a:ext cx="2703160" cy="57051"/>
          </a:xfrm>
          <a:prstGeom prst="rect">
            <a:avLst/>
          </a:prstGeom>
          <a:solidFill>
            <a:srgbClr val="1F5D4F"/>
          </a:solidFill>
          <a:ln/>
        </p:spPr>
      </p:sp>
      <p:sp>
        <p:nvSpPr>
          <p:cNvPr id="41" name="Text 39"/>
          <p:cNvSpPr/>
          <p:nvPr/>
        </p:nvSpPr>
        <p:spPr>
          <a:xfrm>
            <a:off x="1142945" y="9559589"/>
            <a:ext cx="9041588" cy="2321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44" kern="0" dirty="0">
                <a:solidFill>
                  <a:srgbClr val="6B756F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SIX ALLOCATIONS ACROSS PRODUCT, RESEARCH, TRAINING, FIELD, INFRA AND CONTINGENCY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13149102" y="9559589"/>
            <a:ext cx="844318" cy="2321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44" kern="0" dirty="0">
                <a:solidFill>
                  <a:srgbClr val="6B756F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11 / 12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99654" y="582635"/>
            <a:ext cx="95222" cy="95222"/>
          </a:xfrm>
          <a:prstGeom prst="ellipse">
            <a:avLst/>
          </a:prstGeom>
          <a:solidFill>
            <a:srgbClr val="1F5D4F"/>
          </a:solidFill>
          <a:ln/>
          <a:effectLst>
            <a:outerShdw sx="100000" sy="100000" kx="0" ky="0" algn="bl" rotWithShape="0" blurRad="101600" dist="50800" dir="16200000">
              <a:srgbClr val="D8E3DD">
                <a:alpha val="10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7028133" y="546530"/>
            <a:ext cx="2785532" cy="2056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89" kern="0" dirty="0">
                <a:solidFill>
                  <a:srgbClr val="16231F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AMANAH GOVERNANCE PLATFORM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5389241" y="533301"/>
            <a:ext cx="1831958" cy="2321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44" kern="0" dirty="0">
                <a:solidFill>
                  <a:srgbClr val="6B756F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12 — MEETING ASK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42945" y="1371561"/>
            <a:ext cx="16482116" cy="2321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264" kern="0" dirty="0">
                <a:solidFill>
                  <a:srgbClr val="1F5D4F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MEETING ASK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142945" y="1832240"/>
            <a:ext cx="14716125" cy="17479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6600" spc="-198" kern="0" dirty="0">
                <a:solidFill>
                  <a:srgbClr val="16231F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Leave with advisory support and a </a:t>
            </a:r>
            <a:pPr algn="l" indent="0" marL="0">
              <a:lnSpc>
                <a:spcPct val="102000"/>
              </a:lnSpc>
              <a:buNone/>
            </a:pPr>
            <a:r>
              <a:rPr lang="en-US" sz="6600" i="1" spc="-198" kern="0" dirty="0">
                <a:solidFill>
                  <a:srgbClr val="1F5D4F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practical institutional path.</a:t>
            </a:r>
            <a:endParaRPr lang="en-US" sz="6600" dirty="0"/>
          </a:p>
        </p:txBody>
      </p:sp>
      <p:sp>
        <p:nvSpPr>
          <p:cNvPr id="7" name="Text 5"/>
          <p:cNvSpPr/>
          <p:nvPr/>
        </p:nvSpPr>
        <p:spPr>
          <a:xfrm>
            <a:off x="1142945" y="3808760"/>
            <a:ext cx="10791825" cy="9123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550" i="1" dirty="0">
                <a:solidFill>
                  <a:srgbClr val="2C3A35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The decision is not to close every route today — it is to secure enough alignment to move the next proposals forward.</a:t>
            </a:r>
            <a:endParaRPr lang="en-US" sz="2550" dirty="0"/>
          </a:p>
        </p:txBody>
      </p:sp>
      <p:sp>
        <p:nvSpPr>
          <p:cNvPr id="8" name="Shape 6"/>
          <p:cNvSpPr/>
          <p:nvPr/>
        </p:nvSpPr>
        <p:spPr>
          <a:xfrm>
            <a:off x="1142945" y="7137273"/>
            <a:ext cx="16002055" cy="9525"/>
          </a:xfrm>
          <a:prstGeom prst="rect">
            <a:avLst/>
          </a:prstGeom>
          <a:solidFill>
            <a:srgbClr val="16231F"/>
          </a:solidFill>
          <a:ln/>
        </p:spPr>
      </p:sp>
      <p:sp>
        <p:nvSpPr>
          <p:cNvPr id="9" name="Shape 7"/>
          <p:cNvSpPr/>
          <p:nvPr/>
        </p:nvSpPr>
        <p:spPr>
          <a:xfrm>
            <a:off x="1142945" y="5143390"/>
            <a:ext cx="16002055" cy="9525"/>
          </a:xfrm>
          <a:prstGeom prst="rect">
            <a:avLst/>
          </a:prstGeom>
          <a:solidFill>
            <a:srgbClr val="16231F"/>
          </a:solidFill>
          <a:ln/>
        </p:spPr>
      </p:sp>
      <p:sp>
        <p:nvSpPr>
          <p:cNvPr id="10" name="Text 8"/>
          <p:cNvSpPr/>
          <p:nvPr/>
        </p:nvSpPr>
        <p:spPr>
          <a:xfrm>
            <a:off x="1142945" y="5495065"/>
            <a:ext cx="5140850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95" kern="0" dirty="0">
                <a:solidFill>
                  <a:srgbClr val="1F5D4F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Ask 01</a:t>
            </a:r>
            <a:endParaRPr lang="en-US" sz="975" dirty="0"/>
          </a:p>
        </p:txBody>
      </p:sp>
      <p:sp>
        <p:nvSpPr>
          <p:cNvPr id="11" name="Text 9"/>
          <p:cNvSpPr/>
          <p:nvPr/>
        </p:nvSpPr>
        <p:spPr>
          <a:xfrm>
            <a:off x="1142945" y="5787071"/>
            <a:ext cx="5140850" cy="3885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400" dirty="0">
                <a:solidFill>
                  <a:srgbClr val="16231F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Advisor confirmation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142945" y="6251746"/>
            <a:ext cx="5140850" cy="5807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425" dirty="0">
                <a:solidFill>
                  <a:srgbClr val="2C3A35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Invite Prof. Anuar to advise behaviour-change, training and evaluation.</a:t>
            </a:r>
            <a:endParaRPr lang="en-US" sz="1425" dirty="0"/>
          </a:p>
        </p:txBody>
      </p:sp>
      <p:sp>
        <p:nvSpPr>
          <p:cNvPr id="13" name="Shape 11"/>
          <p:cNvSpPr/>
          <p:nvPr/>
        </p:nvSpPr>
        <p:spPr>
          <a:xfrm>
            <a:off x="6476917" y="5152209"/>
            <a:ext cx="9525" cy="1985064"/>
          </a:xfrm>
          <a:prstGeom prst="rect">
            <a:avLst/>
          </a:prstGeom>
          <a:solidFill>
            <a:srgbClr val="16231F"/>
          </a:solidFill>
          <a:ln/>
        </p:spPr>
      </p:sp>
      <p:sp>
        <p:nvSpPr>
          <p:cNvPr id="14" name="Text 12"/>
          <p:cNvSpPr/>
          <p:nvPr/>
        </p:nvSpPr>
        <p:spPr>
          <a:xfrm>
            <a:off x="6828592" y="5495065"/>
            <a:ext cx="4778624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95" kern="0" dirty="0">
                <a:solidFill>
                  <a:srgbClr val="1F5D4F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Ask 02</a:t>
            </a:r>
            <a:endParaRPr lang="en-US" sz="975" dirty="0"/>
          </a:p>
        </p:txBody>
      </p:sp>
      <p:sp>
        <p:nvSpPr>
          <p:cNvPr id="15" name="Text 13"/>
          <p:cNvSpPr/>
          <p:nvPr/>
        </p:nvSpPr>
        <p:spPr>
          <a:xfrm>
            <a:off x="6828592" y="5787071"/>
            <a:ext cx="4778624" cy="3885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400" dirty="0">
                <a:solidFill>
                  <a:srgbClr val="16231F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Institutional door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6828592" y="6251746"/>
            <a:ext cx="4778624" cy="5807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425" dirty="0">
                <a:solidFill>
                  <a:srgbClr val="2C3A35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Identify the first JAKIM/MAIN or JAWHAR conversation and authority scope.</a:t>
            </a:r>
            <a:endParaRPr lang="en-US" sz="1425" dirty="0"/>
          </a:p>
        </p:txBody>
      </p:sp>
      <p:sp>
        <p:nvSpPr>
          <p:cNvPr id="17" name="Shape 15"/>
          <p:cNvSpPr/>
          <p:nvPr/>
        </p:nvSpPr>
        <p:spPr>
          <a:xfrm>
            <a:off x="11810890" y="5152209"/>
            <a:ext cx="9525" cy="1985064"/>
          </a:xfrm>
          <a:prstGeom prst="rect">
            <a:avLst/>
          </a:prstGeom>
          <a:solidFill>
            <a:srgbClr val="16231F"/>
          </a:solidFill>
          <a:ln/>
        </p:spPr>
      </p:sp>
      <p:sp>
        <p:nvSpPr>
          <p:cNvPr id="18" name="Text 16"/>
          <p:cNvSpPr/>
          <p:nvPr/>
        </p:nvSpPr>
        <p:spPr>
          <a:xfrm>
            <a:off x="12162565" y="5495065"/>
            <a:ext cx="4778624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95" kern="0" dirty="0">
                <a:solidFill>
                  <a:srgbClr val="1F5D4F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Ask 03</a:t>
            </a:r>
            <a:endParaRPr lang="en-US" sz="975" dirty="0"/>
          </a:p>
        </p:txBody>
      </p:sp>
      <p:sp>
        <p:nvSpPr>
          <p:cNvPr id="19" name="Text 17"/>
          <p:cNvSpPr/>
          <p:nvPr/>
        </p:nvSpPr>
        <p:spPr>
          <a:xfrm>
            <a:off x="12162565" y="5787071"/>
            <a:ext cx="4778624" cy="3885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400" dirty="0">
                <a:solidFill>
                  <a:srgbClr val="16231F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Grant packaging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12162565" y="6251746"/>
            <a:ext cx="4778624" cy="5807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425" dirty="0">
                <a:solidFill>
                  <a:srgbClr val="2C3A35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Prepare modular proposals for direct grants, institutions and academic routes.</a:t>
            </a:r>
            <a:endParaRPr lang="en-US" sz="1425" dirty="0"/>
          </a:p>
        </p:txBody>
      </p:sp>
      <p:sp>
        <p:nvSpPr>
          <p:cNvPr id="21" name="Shape 19"/>
          <p:cNvSpPr/>
          <p:nvPr/>
        </p:nvSpPr>
        <p:spPr>
          <a:xfrm>
            <a:off x="1142945" y="6713388"/>
            <a:ext cx="16002055" cy="1478084"/>
          </a:xfrm>
          <a:prstGeom prst="rect">
            <a:avLst/>
          </a:prstGeom>
          <a:solidFill>
            <a:srgbClr val="16231F"/>
          </a:solidFill>
          <a:ln/>
        </p:spPr>
      </p:sp>
      <p:sp>
        <p:nvSpPr>
          <p:cNvPr id="22" name="Text 20"/>
          <p:cNvSpPr/>
          <p:nvPr/>
        </p:nvSpPr>
        <p:spPr>
          <a:xfrm>
            <a:off x="1562006" y="7056244"/>
            <a:ext cx="1981200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215" kern="0" dirty="0">
                <a:solidFill>
                  <a:srgbClr val="C8B878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PROPOSED CLOSE</a:t>
            </a:r>
            <a:endParaRPr lang="en-US" sz="975" dirty="0"/>
          </a:p>
        </p:txBody>
      </p:sp>
      <p:sp>
        <p:nvSpPr>
          <p:cNvPr id="23" name="Text 21"/>
          <p:cNvSpPr/>
          <p:nvPr/>
        </p:nvSpPr>
        <p:spPr>
          <a:xfrm>
            <a:off x="3809862" y="7056244"/>
            <a:ext cx="13303559" cy="830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400" i="1" dirty="0">
                <a:solidFill>
                  <a:srgbClr val="F4F0E8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“Can Prof. Anuar advise the organizational behaviour model — while AGP approaches JAKIM/MAIN and keeps all grant routes open?”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1142945" y="8560649"/>
            <a:ext cx="7946679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95" kern="0" dirty="0">
                <a:solidFill>
                  <a:srgbClr val="1F5D4F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Next artifact</a:t>
            </a:r>
            <a:endParaRPr lang="en-US" sz="975" dirty="0"/>
          </a:p>
        </p:txBody>
      </p:sp>
      <p:sp>
        <p:nvSpPr>
          <p:cNvPr id="25" name="Text 23"/>
          <p:cNvSpPr/>
          <p:nvPr/>
        </p:nvSpPr>
        <p:spPr>
          <a:xfrm>
            <a:off x="1142945" y="8795467"/>
            <a:ext cx="7946679" cy="2913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425" dirty="0">
                <a:solidFill>
                  <a:srgbClr val="16231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One-page JAKIM/MAIN proposal letter plus modular grant concept notes.</a:t>
            </a:r>
            <a:endParaRPr lang="en-US" sz="1425" dirty="0"/>
          </a:p>
        </p:txBody>
      </p:sp>
      <p:sp>
        <p:nvSpPr>
          <p:cNvPr id="26" name="Text 24"/>
          <p:cNvSpPr/>
          <p:nvPr/>
        </p:nvSpPr>
        <p:spPr>
          <a:xfrm>
            <a:off x="9429640" y="8560649"/>
            <a:ext cx="7946821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95" kern="0" dirty="0">
                <a:solidFill>
                  <a:srgbClr val="1F5D4F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Near-term proof</a:t>
            </a:r>
            <a:endParaRPr lang="en-US" sz="975" dirty="0"/>
          </a:p>
        </p:txBody>
      </p:sp>
      <p:sp>
        <p:nvSpPr>
          <p:cNvPr id="27" name="Text 25"/>
          <p:cNvSpPr/>
          <p:nvPr/>
        </p:nvSpPr>
        <p:spPr>
          <a:xfrm>
            <a:off x="9429640" y="8795467"/>
            <a:ext cx="7946821" cy="2913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425" dirty="0">
                <a:solidFill>
                  <a:srgbClr val="16231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The live 46-org / 37-profile MVP, ready as demo evidence.</a:t>
            </a:r>
            <a:endParaRPr lang="en-US" sz="1425" dirty="0"/>
          </a:p>
        </p:txBody>
      </p:sp>
      <p:sp>
        <p:nvSpPr>
          <p:cNvPr id="28" name="Text 26"/>
          <p:cNvSpPr/>
          <p:nvPr/>
        </p:nvSpPr>
        <p:spPr>
          <a:xfrm>
            <a:off x="1142945" y="9559589"/>
            <a:ext cx="5537992" cy="2321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44" kern="0" dirty="0">
                <a:solidFill>
                  <a:srgbClr val="6B756F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THANK YOU · AMANAH GOVERNANCE PLATFORM · MAY 2026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1448328" y="9559589"/>
            <a:ext cx="844318" cy="2321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44" kern="0" dirty="0">
                <a:solidFill>
                  <a:srgbClr val="6B756F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12 / 12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2026-05-16T03:23:52Z</dcterms:created>
  <dcterms:modified xsi:type="dcterms:W3CDTF">2026-05-16T03:23:52Z</dcterms:modified>
</cp:coreProperties>
</file>