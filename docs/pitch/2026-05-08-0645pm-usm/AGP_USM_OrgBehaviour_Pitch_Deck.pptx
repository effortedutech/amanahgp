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222BFDA-EDAD-4907-88BA-CB52A5417997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5125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6F5B"/>
                </a:solidFill>
              </a:defRPr>
            </a:pPr>
            <a:r>
              <a:rPr sz="1650" b="1">
                <a:solidFill>
                  <a:srgbClr val="1F6F5B"/>
                </a:solidFill>
              </a:rPr>
              <a:t>AMANAH GOVERNANCE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0C3ADF-B83E-40A8-AE69-0B6027B5C069}"/>
              </a:ext>
            </a:extLst>
          </p:cNvPr>
          <p:cNvSpPr>
            <a:spLocks noGrp="1"/>
          </p:cNvSpPr>
          <p:nvPr/>
        </p:nvSpPr>
        <p:spPr>
          <a:xfrm>
            <a:off x="15944850" y="59055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5746F"/>
                </a:solidFill>
              </a:defRPr>
            </a:pPr>
            <a:r>
              <a:rPr sz="1500">
                <a:solidFill>
                  <a:srgbClr val="65746F"/>
                </a:solidFill>
              </a:rPr>
              <a:t>May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5D5F5-263C-4CF0-AF19-879F65C32447}"/>
              </a:ext>
            </a:extLst>
          </p:cNvPr>
          <p:cNvSpPr>
            <a:spLocks noGrp="1"/>
          </p:cNvSpPr>
          <p:nvPr/>
        </p:nvSpPr>
        <p:spPr>
          <a:xfrm>
            <a:off x="819150" y="1162050"/>
            <a:ext cx="3048000" cy="47625"/>
          </a:xfrm>
          <a:prstGeom prst="rect">
            <a:avLst/>
          </a:prstGeom>
          <a:solidFill>
            <a:srgbClr val="B8872D"/>
          </a:solidFill>
          <a:ln w="0">
            <a:solidFill>
              <a:srgbClr val="B8872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4A745-F4A7-474F-B6C6-A71052F32E59}"/>
              </a:ext>
            </a:extLst>
          </p:cNvPr>
          <p:cNvSpPr>
            <a:spLocks noGrp="1"/>
          </p:cNvSpPr>
          <p:nvPr/>
        </p:nvSpPr>
        <p:spPr>
          <a:xfrm>
            <a:off x="819150" y="1543050"/>
            <a:ext cx="1346835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172A2A"/>
                </a:solidFill>
              </a:defRPr>
            </a:pPr>
            <a:r>
              <a:rPr sz="5700" b="1" dirty="0">
                <a:solidFill>
                  <a:srgbClr val="172A2A"/>
                </a:solidFill>
              </a:rPr>
              <a:t>Public-Interest Governance Infrastructure for Islamic Social Finance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7AFB6-54F9-42D8-8392-004B35674AAE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11468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344542"/>
                </a:solidFill>
              </a:defRPr>
            </a:pPr>
            <a:r>
              <a:rPr sz="2250" dirty="0">
                <a:solidFill>
                  <a:srgbClr val="344542"/>
                </a:solidFill>
              </a:rPr>
              <a:t>AGP-led grant and development proposal with Prof. Anuar as advising member and JAKIM/MAIN as potential authority-side partners.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004-DE61-4EDE-9E99-1D3174718653}"/>
              </a:ext>
            </a:extLst>
          </p:cNvPr>
          <p:cNvSpPr>
            <a:spLocks noGrp="1"/>
          </p:cNvSpPr>
          <p:nvPr/>
        </p:nvSpPr>
        <p:spPr>
          <a:xfrm>
            <a:off x="819150" y="4608195"/>
            <a:ext cx="53721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800A17-2697-4F9B-9E70-118CEA76168C}"/>
              </a:ext>
            </a:extLst>
          </p:cNvPr>
          <p:cNvSpPr>
            <a:spLocks noGrp="1"/>
          </p:cNvSpPr>
          <p:nvPr/>
        </p:nvSpPr>
        <p:spPr>
          <a:xfrm>
            <a:off x="1028699" y="4781549"/>
            <a:ext cx="8429200" cy="49777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2400" b="1" dirty="0">
                <a:solidFill>
                  <a:srgbClr val="1F6F5B"/>
                </a:solidFill>
              </a:rPr>
              <a:t>Position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0DC20-8E8F-4FF6-BF2A-D2151AA2A13F}"/>
              </a:ext>
            </a:extLst>
          </p:cNvPr>
          <p:cNvSpPr>
            <a:spLocks noGrp="1"/>
          </p:cNvSpPr>
          <p:nvPr/>
        </p:nvSpPr>
        <p:spPr>
          <a:xfrm>
            <a:off x="1028699" y="5157871"/>
            <a:ext cx="8429200" cy="58827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2400" b="1">
                <a:solidFill>
                  <a:srgbClr val="172A2A"/>
                </a:solidFill>
              </a:rPr>
              <a:t>Live seeded MVP, not a paper concept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811D18-38FC-4C3B-9F5F-77A57F65D70D}"/>
              </a:ext>
            </a:extLst>
          </p:cNvPr>
          <p:cNvSpPr>
            <a:spLocks noGrp="1"/>
          </p:cNvSpPr>
          <p:nvPr/>
        </p:nvSpPr>
        <p:spPr>
          <a:xfrm>
            <a:off x="6457950" y="4608195"/>
            <a:ext cx="53721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8C99D-4BE8-4600-A7B2-AD05928CE24C}"/>
              </a:ext>
            </a:extLst>
          </p:cNvPr>
          <p:cNvSpPr>
            <a:spLocks noGrp="1"/>
          </p:cNvSpPr>
          <p:nvPr/>
        </p:nvSpPr>
        <p:spPr>
          <a:xfrm>
            <a:off x="1028699" y="5783579"/>
            <a:ext cx="8429200" cy="49777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A54C40"/>
                </a:solidFill>
              </a:defRPr>
            </a:pPr>
            <a:r>
              <a:rPr sz="2400" b="1" dirty="0">
                <a:solidFill>
                  <a:srgbClr val="A54C40"/>
                </a:solidFill>
              </a:rPr>
              <a:t>Principle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313C0B-668B-4E00-98FC-FD75293E20D0}"/>
              </a:ext>
            </a:extLst>
          </p:cNvPr>
          <p:cNvSpPr>
            <a:spLocks noGrp="1"/>
          </p:cNvSpPr>
          <p:nvPr/>
        </p:nvSpPr>
        <p:spPr>
          <a:xfrm>
            <a:off x="1028699" y="6234294"/>
            <a:ext cx="8429200" cy="58827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2400" b="1" dirty="0">
                <a:solidFill>
                  <a:srgbClr val="172A2A"/>
                </a:solidFill>
              </a:rPr>
              <a:t>Charity organizations do not pay AGP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71210F-8F3C-4AFE-83C1-97D30E296C31}"/>
              </a:ext>
            </a:extLst>
          </p:cNvPr>
          <p:cNvSpPr>
            <a:spLocks noGrp="1"/>
          </p:cNvSpPr>
          <p:nvPr/>
        </p:nvSpPr>
        <p:spPr>
          <a:xfrm>
            <a:off x="12096750" y="4608195"/>
            <a:ext cx="53721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2BF1C6-1A0E-4400-A491-1FAD434E3310}"/>
              </a:ext>
            </a:extLst>
          </p:cNvPr>
          <p:cNvSpPr>
            <a:spLocks noGrp="1"/>
          </p:cNvSpPr>
          <p:nvPr/>
        </p:nvSpPr>
        <p:spPr>
          <a:xfrm>
            <a:off x="1028699" y="6889498"/>
            <a:ext cx="8429200" cy="49777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2400" b="1" dirty="0">
                <a:solidFill>
                  <a:srgbClr val="2D6684"/>
                </a:solidFill>
              </a:rPr>
              <a:t>Route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F140E7-9E76-4223-92D3-8D9808067138}"/>
              </a:ext>
            </a:extLst>
          </p:cNvPr>
          <p:cNvSpPr>
            <a:spLocks noGrp="1"/>
          </p:cNvSpPr>
          <p:nvPr/>
        </p:nvSpPr>
        <p:spPr>
          <a:xfrm>
            <a:off x="1028699" y="7293155"/>
            <a:ext cx="8429200" cy="58827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2400" b="1" dirty="0">
                <a:solidFill>
                  <a:srgbClr val="172A2A"/>
                </a:solidFill>
              </a:rPr>
              <a:t>Keep all grant pathways open</a:t>
            </a:r>
          </a:p>
        </p:txBody>
      </p:sp>
    </p:spTree>
    <p:extLst>
      <p:ext uri="{BB962C8B-B14F-4D97-AF65-F5344CB8AC3E}">
        <p14:creationId xmlns:p14="http://schemas.microsoft.com/office/powerpoint/2010/main" val="61495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DD3D78-B0AE-4E15-997E-5F8C3DB8F56C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03F0F-5774-450D-AD72-749F79E5217C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5994892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 err="1">
                <a:solidFill>
                  <a:srgbClr val="172A2A"/>
                </a:solidFill>
              </a:rPr>
              <a:t>AmanahHub</a:t>
            </a:r>
            <a:r>
              <a:rPr sz="3750" b="1" dirty="0">
                <a:solidFill>
                  <a:srgbClr val="172A2A"/>
                </a:solidFill>
              </a:rPr>
              <a:t> is already live with public trust profiles.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97771-64E8-497B-B864-B99AF9CD4BE8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5066844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current deployed public directory provides a credible demo base for funders, JAKIM/MAIN discussions, and advisor review.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3EBC-4AE7-4181-B7D4-A48757A2ECC7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68580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1F6F5B"/>
                </a:solidFill>
              </a:defRPr>
            </a:pPr>
            <a:r>
              <a:rPr sz="4200" b="1">
                <a:solidFill>
                  <a:srgbClr val="1F6F5B"/>
                </a:solidFill>
              </a:rPr>
              <a:t>46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3E366-62D4-4964-856B-E4087DE6986E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685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visible organisations in the public charity directory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0F241-F814-4691-8F12-926622264BE4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68580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2D6684"/>
                </a:solidFill>
              </a:defRPr>
            </a:pPr>
            <a:r>
              <a:rPr sz="4200" b="1">
                <a:solidFill>
                  <a:srgbClr val="2D6684"/>
                </a:solidFill>
              </a:rPr>
              <a:t>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5B059-5812-4FDC-BFDE-6EC42DC76625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685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published trust profiles with donor-facing trust cards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3280AF-9C06-4173-9A43-64F1E2724034}"/>
              </a:ext>
            </a:extLst>
          </p:cNvPr>
          <p:cNvSpPr>
            <a:spLocks noGrp="1"/>
          </p:cNvSpPr>
          <p:nvPr/>
        </p:nvSpPr>
        <p:spPr>
          <a:xfrm>
            <a:off x="819150" y="5238750"/>
            <a:ext cx="685800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B8872D"/>
                </a:solidFill>
              </a:defRPr>
            </a:pPr>
            <a:r>
              <a:rPr sz="4200" b="1">
                <a:solidFill>
                  <a:srgbClr val="B8872D"/>
                </a:solidFill>
              </a:rPr>
              <a:t>Gold / Silver / Bronze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757C62-AC03-45EC-BD40-5BDF2AAE0131}"/>
              </a:ext>
            </a:extLst>
          </p:cNvPr>
          <p:cNvSpPr>
            <a:spLocks noGrp="1"/>
          </p:cNvSpPr>
          <p:nvPr/>
        </p:nvSpPr>
        <p:spPr>
          <a:xfrm>
            <a:off x="819150" y="5943600"/>
            <a:ext cx="685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344542"/>
                </a:solidFill>
              </a:defRPr>
            </a:pPr>
            <a:r>
              <a:rPr sz="1500">
                <a:solidFill>
                  <a:srgbClr val="344542"/>
                </a:solidFill>
              </a:rPr>
              <a:t>certification language already visible in seeded profiles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C6913-7AE5-4119-9CCB-C4036CD0B9FA}"/>
              </a:ext>
            </a:extLst>
          </p:cNvPr>
          <p:cNvSpPr>
            <a:spLocks noGrp="1"/>
          </p:cNvSpPr>
          <p:nvPr/>
        </p:nvSpPr>
        <p:spPr>
          <a:xfrm>
            <a:off x="819150" y="6400800"/>
            <a:ext cx="685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65746F"/>
                </a:solidFill>
              </a:defRPr>
            </a:pPr>
            <a:r>
              <a:rPr sz="1500" b="0">
                <a:solidFill>
                  <a:srgbClr val="65746F"/>
                </a:solidFill>
              </a:rPr>
              <a:t>Live protected surfaces also exist for amanahOS and AGP Console.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0DA69F-ACD8-4F0A-9F51-0B8AE7A20D08}"/>
              </a:ext>
            </a:extLst>
          </p:cNvPr>
          <p:cNvSpPr>
            <a:spLocks noGrp="1"/>
          </p:cNvSpPr>
          <p:nvPr/>
        </p:nvSpPr>
        <p:spPr>
          <a:xfrm>
            <a:off x="7999857" y="2884170"/>
            <a:ext cx="9468993" cy="5810250"/>
          </a:xfrm>
          <a:prstGeom prst="roundRect">
            <a:avLst>
              <a:gd name="adj" fmla="val 1311"/>
            </a:avLst>
          </a:prstGeom>
          <a:noFill/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FE01C0-971E-C983-C8F3-77479787D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28"/>
          <a:stretch>
            <a:fillRect/>
          </a:stretch>
        </p:blipFill>
        <p:spPr>
          <a:xfrm>
            <a:off x="7999857" y="2886074"/>
            <a:ext cx="4610674" cy="5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11CA58-6926-4DCB-ACE7-1B27A7A7F16B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77F61-47A8-4B99-B154-C1BDB78BE01C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6868349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Islamic giving has scale, but governance remains fragmented at the operating edge.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C9453B-25C9-4371-80A8-657795E7F447}"/>
              </a:ext>
            </a:extLst>
          </p:cNvPr>
          <p:cNvSpPr>
            <a:spLocks noGrp="1"/>
          </p:cNvSpPr>
          <p:nvPr/>
        </p:nvSpPr>
        <p:spPr>
          <a:xfrm>
            <a:off x="819149" y="2133600"/>
            <a:ext cx="15489925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Mosques, suraus, waqf initiatives and charities often need a shared system for evidence, reporting, review and public trust.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99039F-3AA4-4040-86C0-65FB628DF54E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6EDCE8-AF46-4460-BE94-72192FDD2044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8648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Public generosity is real, but donor confidence depends on visible accountability.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3D957-7920-4656-802D-36FA85E2646E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44D2A-AC49-4D84-A3B6-04733B07DB0E}"/>
              </a:ext>
            </a:extLst>
          </p:cNvPr>
          <p:cNvSpPr>
            <a:spLocks noGrp="1"/>
          </p:cNvSpPr>
          <p:nvPr/>
        </p:nvSpPr>
        <p:spPr>
          <a:xfrm>
            <a:off x="1104900" y="3086100"/>
            <a:ext cx="8648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Manual reporting and scattered files make oversight slow, reactive and difficult to standardise.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2F389-83E2-49EE-B66E-C09DC462A152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F7CDD2-EFE2-4448-A044-4B69F4F0DACD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8648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Volunteer-led committees need routines, training and simple workflows, not only policy reminders.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C426A9-DE14-4923-B86A-D1C408AA8A0F}"/>
              </a:ext>
            </a:extLst>
          </p:cNvPr>
          <p:cNvSpPr>
            <a:spLocks noGrp="1"/>
          </p:cNvSpPr>
          <p:nvPr/>
        </p:nvSpPr>
        <p:spPr>
          <a:xfrm>
            <a:off x="819150" y="457200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A5BEA7-995A-42AF-A280-27D7AFDB1364}"/>
              </a:ext>
            </a:extLst>
          </p:cNvPr>
          <p:cNvSpPr>
            <a:spLocks noGrp="1"/>
          </p:cNvSpPr>
          <p:nvPr/>
        </p:nvSpPr>
        <p:spPr>
          <a:xfrm>
            <a:off x="1104900" y="4572000"/>
            <a:ext cx="8648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Authorities need dashboards that respect MAIN/JAKIM authority while reducing administrative burden.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3C0DAF-CD50-4564-B5B1-538304798287}"/>
              </a:ext>
            </a:extLst>
          </p:cNvPr>
          <p:cNvSpPr>
            <a:spLocks noGrp="1"/>
          </p:cNvSpPr>
          <p:nvPr/>
        </p:nvSpPr>
        <p:spPr>
          <a:xfrm>
            <a:off x="10147579" y="2621280"/>
            <a:ext cx="7321271" cy="1093470"/>
          </a:xfrm>
          <a:prstGeom prst="roundRect">
            <a:avLst>
              <a:gd name="adj" fmla="val 6969"/>
            </a:avLst>
          </a:prstGeom>
          <a:noFill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B2BA3A-CA4F-4B0D-B5F4-E5EFF8A508A1}"/>
              </a:ext>
            </a:extLst>
          </p:cNvPr>
          <p:cNvSpPr>
            <a:spLocks noGrp="1"/>
          </p:cNvSpPr>
          <p:nvPr/>
        </p:nvSpPr>
        <p:spPr>
          <a:xfrm>
            <a:off x="10363200" y="2800350"/>
            <a:ext cx="689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Behavioural insight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EA8A8C-49A7-4EA0-A2AF-D98F6EAC1658}"/>
              </a:ext>
            </a:extLst>
          </p:cNvPr>
          <p:cNvSpPr>
            <a:spLocks noGrp="1"/>
          </p:cNvSpPr>
          <p:nvPr/>
        </p:nvSpPr>
        <p:spPr>
          <a:xfrm>
            <a:off x="10363200" y="3067050"/>
            <a:ext cx="68961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The bottleneck is not only technology adoption. It is organizational habit formation.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069CCE-A40C-4AD4-9E91-C31EC2850547}"/>
              </a:ext>
            </a:extLst>
          </p:cNvPr>
          <p:cNvSpPr>
            <a:spLocks noGrp="1"/>
          </p:cNvSpPr>
          <p:nvPr/>
        </p:nvSpPr>
        <p:spPr>
          <a:xfrm>
            <a:off x="10147579" y="3886200"/>
            <a:ext cx="7321271" cy="1093470"/>
          </a:xfrm>
          <a:prstGeom prst="roundRect">
            <a:avLst>
              <a:gd name="adj" fmla="val 6969"/>
            </a:avLst>
          </a:prstGeom>
          <a:noFill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8E08BC-3DDE-4FA9-8C4E-867CC2C85C4A}"/>
              </a:ext>
            </a:extLst>
          </p:cNvPr>
          <p:cNvSpPr>
            <a:spLocks noGrp="1"/>
          </p:cNvSpPr>
          <p:nvPr/>
        </p:nvSpPr>
        <p:spPr>
          <a:xfrm>
            <a:off x="10363200" y="4057650"/>
            <a:ext cx="689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Governance insight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6A8256-3924-4D49-B6FD-A8B377A9B08F}"/>
              </a:ext>
            </a:extLst>
          </p:cNvPr>
          <p:cNvSpPr>
            <a:spLocks noGrp="1"/>
          </p:cNvSpPr>
          <p:nvPr/>
        </p:nvSpPr>
        <p:spPr>
          <a:xfrm>
            <a:off x="10363200" y="4324350"/>
            <a:ext cx="68961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Trust improves when evidence, review, remediation and publication become routine.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3FB81E-203E-40D3-A496-099B97EDAB51}"/>
              </a:ext>
            </a:extLst>
          </p:cNvPr>
          <p:cNvSpPr>
            <a:spLocks noGrp="1"/>
          </p:cNvSpPr>
          <p:nvPr/>
        </p:nvSpPr>
        <p:spPr>
          <a:xfrm>
            <a:off x="10147579" y="5151120"/>
            <a:ext cx="7321271" cy="1093470"/>
          </a:xfrm>
          <a:prstGeom prst="roundRect">
            <a:avLst>
              <a:gd name="adj" fmla="val 6969"/>
            </a:avLst>
          </a:prstGeom>
          <a:noFill/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095B2-39B8-4179-B635-203BB9E1F4FA}"/>
              </a:ext>
            </a:extLst>
          </p:cNvPr>
          <p:cNvSpPr>
            <a:spLocks noGrp="1"/>
          </p:cNvSpPr>
          <p:nvPr/>
        </p:nvSpPr>
        <p:spPr>
          <a:xfrm>
            <a:off x="10363200" y="5314950"/>
            <a:ext cx="689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Institutional insight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31FDB4-E690-4267-91F0-3691B98AAAED}"/>
              </a:ext>
            </a:extLst>
          </p:cNvPr>
          <p:cNvSpPr>
            <a:spLocks noGrp="1"/>
          </p:cNvSpPr>
          <p:nvPr/>
        </p:nvSpPr>
        <p:spPr>
          <a:xfrm>
            <a:off x="10363200" y="5600700"/>
            <a:ext cx="68961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A shared registry can help each authority see its ecosystem without replacing its authority.</a:t>
            </a:r>
          </a:p>
        </p:txBody>
      </p:sp>
    </p:spTree>
    <p:extLst>
      <p:ext uri="{BB962C8B-B14F-4D97-AF65-F5344CB8AC3E}">
        <p14:creationId xmlns:p14="http://schemas.microsoft.com/office/powerpoint/2010/main" val="183862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6948E7-BB67-4515-B011-24481E776B9C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B5EAE-1743-461B-9491-A723C22C3802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458916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AGP connects public trust, organization operations and evaluator control.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A55F77-1F55-45B6-8B00-ABFCF0DA8E9C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4698354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platform is structured as a public-interest governance layer rather than a commercial product sold to charities.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DAF13-84C6-4399-B33E-1FED4EA5B573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5353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05FF30-3A33-432C-97BC-5819B2D6EF44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5353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AmanahHub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E3B2EF-A339-4EAA-8B66-E7960A211D04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5353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Public donor directory, verified trust profiles, scores, certification tiers and direct-to-charity giving context.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1BE59E-A816-43D1-A2B2-C365C0B4B1AA}"/>
              </a:ext>
            </a:extLst>
          </p:cNvPr>
          <p:cNvSpPr>
            <a:spLocks noGrp="1"/>
          </p:cNvSpPr>
          <p:nvPr/>
        </p:nvSpPr>
        <p:spPr>
          <a:xfrm>
            <a:off x="6457950" y="2876550"/>
            <a:ext cx="5353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F546B-4C05-435C-829C-0B2530E219BE}"/>
              </a:ext>
            </a:extLst>
          </p:cNvPr>
          <p:cNvSpPr>
            <a:spLocks noGrp="1"/>
          </p:cNvSpPr>
          <p:nvPr/>
        </p:nvSpPr>
        <p:spPr>
          <a:xfrm>
            <a:off x="6457950" y="3181350"/>
            <a:ext cx="5353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amanahOS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B1087-0B6E-4473-A082-8E1103A650D9}"/>
              </a:ext>
            </a:extLst>
          </p:cNvPr>
          <p:cNvSpPr>
            <a:spLocks noGrp="1"/>
          </p:cNvSpPr>
          <p:nvPr/>
        </p:nvSpPr>
        <p:spPr>
          <a:xfrm>
            <a:off x="6457950" y="3543300"/>
            <a:ext cx="5353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Organisation workspace for profiles, accounting, evidence, projects, reports, policy kit, trust score and certification.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C39693-BD68-4F71-9D32-31D5F6C40286}"/>
              </a:ext>
            </a:extLst>
          </p:cNvPr>
          <p:cNvSpPr>
            <a:spLocks noGrp="1"/>
          </p:cNvSpPr>
          <p:nvPr/>
        </p:nvSpPr>
        <p:spPr>
          <a:xfrm>
            <a:off x="12115800" y="2876550"/>
            <a:ext cx="5353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6956F2-FEBC-4719-9674-EF9B7AED0625}"/>
              </a:ext>
            </a:extLst>
          </p:cNvPr>
          <p:cNvSpPr>
            <a:spLocks noGrp="1"/>
          </p:cNvSpPr>
          <p:nvPr/>
        </p:nvSpPr>
        <p:spPr>
          <a:xfrm>
            <a:off x="12115800" y="3181350"/>
            <a:ext cx="5353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AGP Console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40E2DA-86A7-4A87-B266-62873315E18A}"/>
              </a:ext>
            </a:extLst>
          </p:cNvPr>
          <p:cNvSpPr>
            <a:spLocks noGrp="1"/>
          </p:cNvSpPr>
          <p:nvPr/>
        </p:nvSpPr>
        <p:spPr>
          <a:xfrm>
            <a:off x="12115800" y="3543300"/>
            <a:ext cx="5353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Evaluator and platform control plane for trust events, governance cases, review queues, scholar approval and publication.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28656C-D651-4CA0-9F7F-92248E89777E}"/>
              </a:ext>
            </a:extLst>
          </p:cNvPr>
          <p:cNvSpPr>
            <a:spLocks noGrp="1"/>
          </p:cNvSpPr>
          <p:nvPr/>
        </p:nvSpPr>
        <p:spPr>
          <a:xfrm>
            <a:off x="819150" y="9448800"/>
            <a:ext cx="16649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344542"/>
                </a:solidFill>
              </a:defRPr>
            </a:pPr>
            <a:r>
              <a:rPr sz="1650" b="0">
                <a:solidFill>
                  <a:srgbClr val="344542"/>
                </a:solidFill>
              </a:rPr>
              <a:t>Shared backbone: Amanah scoring engine, Supabase schema, trust events, fund accounting, audit logs and public profile publication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191686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09343F-B40C-4897-BA7C-C663AA331950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OPERATING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5430C-AB6E-4871-A0DB-E636A43A5249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417972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The trust loop turns </a:t>
            </a:r>
            <a:r>
              <a:rPr sz="3750" b="1" dirty="0" err="1">
                <a:solidFill>
                  <a:srgbClr val="172A2A"/>
                </a:solidFill>
              </a:rPr>
              <a:t>amanah</a:t>
            </a:r>
            <a:r>
              <a:rPr sz="3750" b="1" dirty="0">
                <a:solidFill>
                  <a:srgbClr val="172A2A"/>
                </a:solidFill>
              </a:rPr>
              <a:t> into a repeatable governance rhythm.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767B4-996B-4181-9971-9C18D3A39DB0}"/>
              </a:ext>
            </a:extLst>
          </p:cNvPr>
          <p:cNvSpPr>
            <a:spLocks noGrp="1"/>
          </p:cNvSpPr>
          <p:nvPr/>
        </p:nvSpPr>
        <p:spPr>
          <a:xfrm>
            <a:off x="819149" y="2133600"/>
            <a:ext cx="11573017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Each stage creates evidence that can be reviewed, improved and selectively published.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B5FC60-5BBF-44CF-B7BA-A270A8024411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88C6C-22D1-4D05-AEA3-755E2FD314AB}"/>
              </a:ext>
            </a:extLst>
          </p:cNvPr>
          <p:cNvSpPr>
            <a:spLocks noGrp="1"/>
          </p:cNvSpPr>
          <p:nvPr/>
        </p:nvSpPr>
        <p:spPr>
          <a:xfrm>
            <a:off x="819150" y="2933700"/>
            <a:ext cx="3200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Register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F09AAB-54A6-4285-A67F-69D53B48629D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3200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AGP creates the authority-linked organization record and public baseline.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5F9814-B72E-41A5-A6D3-3F147316090D}"/>
              </a:ext>
            </a:extLst>
          </p:cNvPr>
          <p:cNvSpPr>
            <a:spLocks noGrp="1"/>
          </p:cNvSpPr>
          <p:nvPr/>
        </p:nvSpPr>
        <p:spPr>
          <a:xfrm>
            <a:off x="4191000" y="2628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0F6E2-2A5C-49CC-8E09-E4253C34BCCD}"/>
              </a:ext>
            </a:extLst>
          </p:cNvPr>
          <p:cNvSpPr>
            <a:spLocks noGrp="1"/>
          </p:cNvSpPr>
          <p:nvPr/>
        </p:nvSpPr>
        <p:spPr>
          <a:xfrm>
            <a:off x="4191000" y="2933700"/>
            <a:ext cx="3200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Operate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7E52C2-36F6-4FB4-9025-37591B01AD08}"/>
              </a:ext>
            </a:extLst>
          </p:cNvPr>
          <p:cNvSpPr>
            <a:spLocks noGrp="1"/>
          </p:cNvSpPr>
          <p:nvPr/>
        </p:nvSpPr>
        <p:spPr>
          <a:xfrm>
            <a:off x="4191000" y="3295650"/>
            <a:ext cx="32004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Members update reports, projects, bookkeeping, policies and evidence over time.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97839-493D-4998-A91E-BDD2BCFDF463}"/>
              </a:ext>
            </a:extLst>
          </p:cNvPr>
          <p:cNvSpPr>
            <a:spLocks noGrp="1"/>
          </p:cNvSpPr>
          <p:nvPr/>
        </p:nvSpPr>
        <p:spPr>
          <a:xfrm>
            <a:off x="7543800" y="2628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4EB2E-1D1C-44ED-A7F3-F286EEED4F2A}"/>
              </a:ext>
            </a:extLst>
          </p:cNvPr>
          <p:cNvSpPr>
            <a:spLocks noGrp="1"/>
          </p:cNvSpPr>
          <p:nvPr/>
        </p:nvSpPr>
        <p:spPr>
          <a:xfrm>
            <a:off x="7543800" y="2933700"/>
            <a:ext cx="3200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Review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26657-9F45-4868-8E65-9CEA82952587}"/>
              </a:ext>
            </a:extLst>
          </p:cNvPr>
          <p:cNvSpPr>
            <a:spLocks noGrp="1"/>
          </p:cNvSpPr>
          <p:nvPr/>
        </p:nvSpPr>
        <p:spPr>
          <a:xfrm>
            <a:off x="7543800" y="3295650"/>
            <a:ext cx="3200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Console routes trust events, clarifications, findings and scholar approval.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ACE94-951C-4ECA-AC9E-7EFF15838A0D}"/>
              </a:ext>
            </a:extLst>
          </p:cNvPr>
          <p:cNvSpPr>
            <a:spLocks noGrp="1"/>
          </p:cNvSpPr>
          <p:nvPr/>
        </p:nvSpPr>
        <p:spPr>
          <a:xfrm>
            <a:off x="10915650" y="2628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01AB1C-7EF2-49FE-BF98-E223A9BB5BD6}"/>
              </a:ext>
            </a:extLst>
          </p:cNvPr>
          <p:cNvSpPr>
            <a:spLocks noGrp="1"/>
          </p:cNvSpPr>
          <p:nvPr/>
        </p:nvSpPr>
        <p:spPr>
          <a:xfrm>
            <a:off x="10915650" y="2933700"/>
            <a:ext cx="3200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8B108-7FD7-4072-9005-E1FF5CE3FD12}"/>
              </a:ext>
            </a:extLst>
          </p:cNvPr>
          <p:cNvSpPr>
            <a:spLocks noGrp="1"/>
          </p:cNvSpPr>
          <p:nvPr/>
        </p:nvSpPr>
        <p:spPr>
          <a:xfrm>
            <a:off x="10915650" y="3295650"/>
            <a:ext cx="3200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Amanah Index converts verified behaviour into donor-readable trust signals.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8CA59-F7B3-44C0-ADD4-FB0E823F284F}"/>
              </a:ext>
            </a:extLst>
          </p:cNvPr>
          <p:cNvSpPr>
            <a:spLocks noGrp="1"/>
          </p:cNvSpPr>
          <p:nvPr/>
        </p:nvSpPr>
        <p:spPr>
          <a:xfrm>
            <a:off x="14268450" y="26289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A54C40"/>
                </a:solidFill>
              </a:defRPr>
            </a:pPr>
            <a:r>
              <a:rPr sz="1500" b="1">
                <a:solidFill>
                  <a:srgbClr val="A54C40"/>
                </a:solidFill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F167B6-7A42-44EA-B777-3EC5C7446274}"/>
              </a:ext>
            </a:extLst>
          </p:cNvPr>
          <p:cNvSpPr>
            <a:spLocks noGrp="1"/>
          </p:cNvSpPr>
          <p:nvPr/>
        </p:nvSpPr>
        <p:spPr>
          <a:xfrm>
            <a:off x="14268450" y="2933700"/>
            <a:ext cx="3200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Publish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4EA8B9-FA83-4B46-A27D-5129F61C1921}"/>
              </a:ext>
            </a:extLst>
          </p:cNvPr>
          <p:cNvSpPr>
            <a:spLocks noGrp="1"/>
          </p:cNvSpPr>
          <p:nvPr/>
        </p:nvSpPr>
        <p:spPr>
          <a:xfrm>
            <a:off x="14268450" y="3295650"/>
            <a:ext cx="32004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Approved public profiles help donors and authorities see accountable progress.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80765B-5FBE-4F45-B14D-71CA68DC7E1A}"/>
              </a:ext>
            </a:extLst>
          </p:cNvPr>
          <p:cNvSpPr>
            <a:spLocks noGrp="1"/>
          </p:cNvSpPr>
          <p:nvPr/>
        </p:nvSpPr>
        <p:spPr>
          <a:xfrm>
            <a:off x="819150" y="9201150"/>
            <a:ext cx="16649700" cy="19050"/>
          </a:xfrm>
          <a:prstGeom prst="rect">
            <a:avLst/>
          </a:prstGeom>
          <a:solidFill>
            <a:srgbClr val="D7E2DD"/>
          </a:solidFill>
          <a:ln w="0">
            <a:solidFill>
              <a:srgbClr val="D7E2D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006026-66B9-49EC-9FD1-C548C622F16A}"/>
              </a:ext>
            </a:extLst>
          </p:cNvPr>
          <p:cNvSpPr>
            <a:spLocks noGrp="1"/>
          </p:cNvSpPr>
          <p:nvPr/>
        </p:nvSpPr>
        <p:spPr>
          <a:xfrm>
            <a:off x="819150" y="9448800"/>
            <a:ext cx="16649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65746F"/>
                </a:solidFill>
              </a:defRPr>
            </a:pPr>
            <a:r>
              <a:rPr sz="1650" b="0">
                <a:solidFill>
                  <a:srgbClr val="65746F"/>
                </a:solidFill>
              </a:rPr>
              <a:t>This is especially useful for organizations that are under the authority of JAKIM or a state MAIN but have varying levels of digital maturity.</a:t>
            </a:r>
          </a:p>
        </p:txBody>
      </p:sp>
    </p:spTree>
    <p:extLst>
      <p:ext uri="{BB962C8B-B14F-4D97-AF65-F5344CB8AC3E}">
        <p14:creationId xmlns:p14="http://schemas.microsoft.com/office/powerpoint/2010/main" val="175785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D597464-211D-47D7-856D-F0C5EBF106FD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PUBLIC-INTEREST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81BF70-B61C-4B50-841D-672D47FC21DE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6377029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Charity organizations receive governance services without paying AGP.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03365-D85E-4086-8636-D5A0EDE67EB6}"/>
              </a:ext>
            </a:extLst>
          </p:cNvPr>
          <p:cNvSpPr>
            <a:spLocks noGrp="1"/>
          </p:cNvSpPr>
          <p:nvPr/>
        </p:nvSpPr>
        <p:spPr>
          <a:xfrm>
            <a:off x="819149" y="2133600"/>
            <a:ext cx="14916719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payer model should be aligned with public trust: funders and institutions support the infrastructure because they benefit from sector-wide accountability.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568A7-0ABD-4F9F-A821-BE4CA2A7E922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8134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72A2A"/>
                </a:solidFill>
              </a:defRPr>
            </a:pPr>
            <a:r>
              <a:rPr sz="2100" b="1">
                <a:solidFill>
                  <a:srgbClr val="172A2A"/>
                </a:solidFill>
              </a:rPr>
              <a:t>Funded by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89AC4-CC66-402D-AEB9-70E140C32327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6D770-30E3-4D87-A624-7BBEC50B5053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Grant funding for development, expansion and operations.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F4D06-F583-4D81-8813-739C4EC2609A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6CC62-21B3-4700-9734-3348A0579AD7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Corporate ESG/CSR sponsorship for onboarding and audit-readiness cohorts.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F00C2A-63DA-48DF-853B-11DB97B7C2EB}"/>
              </a:ext>
            </a:extLst>
          </p:cNvPr>
          <p:cNvSpPr>
            <a:spLocks noGrp="1"/>
          </p:cNvSpPr>
          <p:nvPr/>
        </p:nvSpPr>
        <p:spPr>
          <a:xfrm>
            <a:off x="819150" y="421005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64A7AC-1946-4D7F-A3C8-6903A2A2C689}"/>
              </a:ext>
            </a:extLst>
          </p:cNvPr>
          <p:cNvSpPr>
            <a:spLocks noGrp="1"/>
          </p:cNvSpPr>
          <p:nvPr/>
        </p:nvSpPr>
        <p:spPr>
          <a:xfrm>
            <a:off x="1104900" y="42100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Zakat, waqf, council and institutional support for long-term ecosystem value.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6D396-B61E-4016-8311-964B8BCC8340}"/>
              </a:ext>
            </a:extLst>
          </p:cNvPr>
          <p:cNvSpPr>
            <a:spLocks noGrp="1"/>
          </p:cNvSpPr>
          <p:nvPr/>
        </p:nvSpPr>
        <p:spPr>
          <a:xfrm>
            <a:off x="9353550" y="2876550"/>
            <a:ext cx="8134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72A2A"/>
                </a:solidFill>
              </a:defRPr>
            </a:pPr>
            <a:r>
              <a:rPr sz="2100" b="1">
                <a:solidFill>
                  <a:srgbClr val="172A2A"/>
                </a:solidFill>
              </a:rPr>
              <a:t>Sponsored service lines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46FBF-46C3-4547-A917-09E6EF080D8E}"/>
              </a:ext>
            </a:extLst>
          </p:cNvPr>
          <p:cNvSpPr>
            <a:spLocks noGrp="1"/>
          </p:cNvSpPr>
          <p:nvPr/>
        </p:nvSpPr>
        <p:spPr>
          <a:xfrm>
            <a:off x="9353550" y="335280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4F4EB-1F2C-486E-92D2-C99AC0267112}"/>
              </a:ext>
            </a:extLst>
          </p:cNvPr>
          <p:cNvSpPr>
            <a:spLocks noGrp="1"/>
          </p:cNvSpPr>
          <p:nvPr/>
        </p:nvSpPr>
        <p:spPr>
          <a:xfrm>
            <a:off x="9639300" y="33528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Organisation SaaS subscription and managed bookkeeping.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3216AB-05CF-48E7-BAC6-8A2CA9F0619C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F74706-ECA2-47DD-8F79-6F10DDEFFD4A}"/>
              </a:ext>
            </a:extLst>
          </p:cNvPr>
          <p:cNvSpPr>
            <a:spLocks noGrp="1"/>
          </p:cNvSpPr>
          <p:nvPr/>
        </p:nvSpPr>
        <p:spPr>
          <a:xfrm>
            <a:off x="9639300" y="37909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Audit-readiness, certification support and governance workshops.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DF1F3D-26EE-4D9E-A548-A02233558334}"/>
              </a:ext>
            </a:extLst>
          </p:cNvPr>
          <p:cNvSpPr>
            <a:spLocks noGrp="1"/>
          </p:cNvSpPr>
          <p:nvPr/>
        </p:nvSpPr>
        <p:spPr>
          <a:xfrm>
            <a:off x="9353550" y="4210050"/>
            <a:ext cx="171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F6F5B"/>
                </a:solidFill>
              </a:defRPr>
            </a:pPr>
            <a:r>
              <a:rPr sz="1800" b="1">
                <a:solidFill>
                  <a:srgbClr val="1F6F5B"/>
                </a:solidFill>
              </a:rPr>
              <a:t>-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82196B-1FD1-4FFC-AACB-CD4B453D0C6C}"/>
              </a:ext>
            </a:extLst>
          </p:cNvPr>
          <p:cNvSpPr>
            <a:spLocks noGrp="1"/>
          </p:cNvSpPr>
          <p:nvPr/>
        </p:nvSpPr>
        <p:spPr>
          <a:xfrm>
            <a:off x="9639300" y="4210050"/>
            <a:ext cx="784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344542"/>
                </a:solidFill>
              </a:defRPr>
            </a:pPr>
            <a:r>
              <a:rPr sz="1800">
                <a:solidFill>
                  <a:srgbClr val="344542"/>
                </a:solidFill>
              </a:rPr>
              <a:t>Institutional dashboards, CSR/funder reporting tools and reviewer/Shariah marketplace.</a:t>
            </a:r>
          </a:p>
        </p:txBody>
      </p:sp>
    </p:spTree>
    <p:extLst>
      <p:ext uri="{BB962C8B-B14F-4D97-AF65-F5344CB8AC3E}">
        <p14:creationId xmlns:p14="http://schemas.microsoft.com/office/powerpoint/2010/main" val="131485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8075607-8FA5-417C-B8A6-35938AB41E6B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JAKIM / MAIN DEVELOPMENT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ACF7F5-3EB0-427D-BB4F-696C1492BB94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5476277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Register the ecosystem first; activate governance over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2D8A1-1551-4F1B-89B1-D58E1F116CAE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5285208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AGP can become the implementation partner that creates a living registry and governance workflow for organizations under an authority scope.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7AA4A4-71C5-4BF7-99E7-3332253CCF17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Step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7FF06-C91C-4528-A187-B9B328AF8DD1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849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Authority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DA686C-F74E-4A01-A07F-D7EC697185B8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JAKIM or a state MAIN identifies the organizations under the selected pilot or rollout scope.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786EAF-06FC-4971-9C47-DBD2A687A52E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Step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D97AA-087A-4CC4-97CE-7C2805291954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849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AGP registration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46D91-8448-47D4-9341-095977ED4712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AGP registers mosques, suraus, charities, waqf initiatives and other approved entities into the platform.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63FF1A-5DEB-4549-AB7A-2FD927F84129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Step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F7F8B-9077-4E72-BE72-BA66ABFBACEA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8496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Member activation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FFF44-1A1E-4564-99A1-0F35B571AC01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8496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Organization members update profiles, reports, evidence, bookkeeping and certification progress over time.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1A0366-C9F9-4660-A86A-360F1BE5EA3F}"/>
              </a:ext>
            </a:extLst>
          </p:cNvPr>
          <p:cNvSpPr>
            <a:spLocks noGrp="1"/>
          </p:cNvSpPr>
          <p:nvPr/>
        </p:nvSpPr>
        <p:spPr>
          <a:xfrm>
            <a:off x="9646047" y="2884170"/>
            <a:ext cx="7822803" cy="1093470"/>
          </a:xfrm>
          <a:prstGeom prst="roundRect">
            <a:avLst>
              <a:gd name="adj" fmla="val 6969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B4F9D9-F1DC-4802-B187-C5CABAFF26CE}"/>
              </a:ext>
            </a:extLst>
          </p:cNvPr>
          <p:cNvSpPr>
            <a:spLocks noGrp="1"/>
          </p:cNvSpPr>
          <p:nvPr/>
        </p:nvSpPr>
        <p:spPr>
          <a:xfrm>
            <a:off x="9848850" y="3048000"/>
            <a:ext cx="7410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For JAKIM/MAIN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4E4F1-B87E-439F-9011-58454315D488}"/>
              </a:ext>
            </a:extLst>
          </p:cNvPr>
          <p:cNvSpPr>
            <a:spLocks noGrp="1"/>
          </p:cNvSpPr>
          <p:nvPr/>
        </p:nvSpPr>
        <p:spPr>
          <a:xfrm>
            <a:off x="9848850" y="3333750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Central dashboard visibility, reporting gaps, audit-readiness signals and better public confidence.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CDBA83-5E4A-4753-9108-31BC8E3074FB}"/>
              </a:ext>
            </a:extLst>
          </p:cNvPr>
          <p:cNvSpPr>
            <a:spLocks noGrp="1"/>
          </p:cNvSpPr>
          <p:nvPr/>
        </p:nvSpPr>
        <p:spPr>
          <a:xfrm>
            <a:off x="9646047" y="4130040"/>
            <a:ext cx="7822803" cy="1093470"/>
          </a:xfrm>
          <a:prstGeom prst="roundRect">
            <a:avLst>
              <a:gd name="adj" fmla="val 6969"/>
            </a:avLst>
          </a:prstGeom>
          <a:noFill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A7C2F3-8AEF-4E93-985E-9321F3DC3961}"/>
              </a:ext>
            </a:extLst>
          </p:cNvPr>
          <p:cNvSpPr>
            <a:spLocks noGrp="1"/>
          </p:cNvSpPr>
          <p:nvPr/>
        </p:nvSpPr>
        <p:spPr>
          <a:xfrm>
            <a:off x="9848850" y="4305300"/>
            <a:ext cx="7410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For organizations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EEF7C-EAFF-4FFE-A09B-5293FDA374A2}"/>
              </a:ext>
            </a:extLst>
          </p:cNvPr>
          <p:cNvSpPr>
            <a:spLocks noGrp="1"/>
          </p:cNvSpPr>
          <p:nvPr/>
        </p:nvSpPr>
        <p:spPr>
          <a:xfrm>
            <a:off x="9848850" y="4572000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Guided onboarding, governance support and public trust profile readiness without AGP fees.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91046-582D-4D94-9E3E-ADCD5C9AAD49}"/>
              </a:ext>
            </a:extLst>
          </p:cNvPr>
          <p:cNvSpPr>
            <a:spLocks noGrp="1"/>
          </p:cNvSpPr>
          <p:nvPr/>
        </p:nvSpPr>
        <p:spPr>
          <a:xfrm>
            <a:off x="9646047" y="5375910"/>
            <a:ext cx="7822803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F403F0-B92F-481A-A481-E07108292CE0}"/>
              </a:ext>
            </a:extLst>
          </p:cNvPr>
          <p:cNvSpPr>
            <a:spLocks noGrp="1"/>
          </p:cNvSpPr>
          <p:nvPr/>
        </p:nvSpPr>
        <p:spPr>
          <a:xfrm>
            <a:off x="9848850" y="5543550"/>
            <a:ext cx="7410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For donors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C73A5-B168-4332-A4D8-A0D69A4E09AE}"/>
              </a:ext>
            </a:extLst>
          </p:cNvPr>
          <p:cNvSpPr>
            <a:spLocks noGrp="1"/>
          </p:cNvSpPr>
          <p:nvPr/>
        </p:nvSpPr>
        <p:spPr>
          <a:xfrm>
            <a:off x="9848850" y="5810250"/>
            <a:ext cx="7410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Clearer trust signals before donating, with direct-to-charity giving context.</a:t>
            </a:r>
          </a:p>
        </p:txBody>
      </p:sp>
    </p:spTree>
    <p:extLst>
      <p:ext uri="{BB962C8B-B14F-4D97-AF65-F5344CB8AC3E}">
        <p14:creationId xmlns:p14="http://schemas.microsoft.com/office/powerpoint/2010/main" val="108188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FA9B37-EC91-4490-B4B8-9233A44876ED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ADVISOR ROLE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4F7E0-2DA6-4247-ABCB-6A4836161ED1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630879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Prof. Anuar can strengthen the </a:t>
            </a:r>
            <a:r>
              <a:rPr sz="3750" b="1" dirty="0" err="1">
                <a:solidFill>
                  <a:srgbClr val="172A2A"/>
                </a:solidFill>
              </a:rPr>
              <a:t>behaviour</a:t>
            </a:r>
            <a:r>
              <a:rPr sz="3750" b="1" dirty="0">
                <a:solidFill>
                  <a:srgbClr val="172A2A"/>
                </a:solidFill>
              </a:rPr>
              <a:t>-change and evaluation layer.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F7AD74-A2C1-4163-BE4B-CE52A562A302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6649700" cy="4876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recommended role is advising member, allowing AGP to apply directly while still benefiting from organizational </a:t>
            </a:r>
            <a:r>
              <a:rPr sz="1725" dirty="0" err="1">
                <a:solidFill>
                  <a:srgbClr val="65746F"/>
                </a:solidFill>
              </a:rPr>
              <a:t>behaviour</a:t>
            </a:r>
            <a:r>
              <a:rPr sz="1725" dirty="0">
                <a:solidFill>
                  <a:srgbClr val="65746F"/>
                </a:solidFill>
              </a:rPr>
              <a:t> expertise.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B42BF4-466D-4316-AA53-5296DCE93A6E}"/>
              </a:ext>
            </a:extLst>
          </p:cNvPr>
          <p:cNvSpPr>
            <a:spLocks noGrp="1"/>
          </p:cNvSpPr>
          <p:nvPr/>
        </p:nvSpPr>
        <p:spPr>
          <a:xfrm>
            <a:off x="819150" y="2621280"/>
            <a:ext cx="8191500" cy="3192780"/>
          </a:xfrm>
          <a:prstGeom prst="roundRect">
            <a:avLst>
              <a:gd name="adj" fmla="val 2387"/>
            </a:avLst>
          </a:prstGeom>
          <a:noFill/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A47C1-AB71-44B4-B73E-85C3E580203D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Adoption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7B117-0B5B-44C8-A6F9-99EDBC136004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7772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Explain what drives digital governance uptake among committees and administrators.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221525-95BA-4C27-A2B6-99E1EB93A64E}"/>
              </a:ext>
            </a:extLst>
          </p:cNvPr>
          <p:cNvSpPr>
            <a:spLocks noGrp="1"/>
          </p:cNvSpPr>
          <p:nvPr/>
        </p:nvSpPr>
        <p:spPr>
          <a:xfrm>
            <a:off x="9277350" y="2621280"/>
            <a:ext cx="8191500" cy="3192780"/>
          </a:xfrm>
          <a:prstGeom prst="roundRect">
            <a:avLst>
              <a:gd name="adj" fmla="val 2387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D00EA7-1DAA-4F83-ACA8-D6619CD4C789}"/>
              </a:ext>
            </a:extLst>
          </p:cNvPr>
          <p:cNvSpPr>
            <a:spLocks noGrp="1"/>
          </p:cNvSpPr>
          <p:nvPr/>
        </p:nvSpPr>
        <p:spPr>
          <a:xfrm>
            <a:off x="9486900" y="28003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Training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AC35A-FE81-4B84-8B80-2B1B53C46254}"/>
              </a:ext>
            </a:extLst>
          </p:cNvPr>
          <p:cNvSpPr>
            <a:spLocks noGrp="1"/>
          </p:cNvSpPr>
          <p:nvPr/>
        </p:nvSpPr>
        <p:spPr>
          <a:xfrm>
            <a:off x="9486900" y="3067050"/>
            <a:ext cx="7772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Shape workshops around HRD, organizational learning and volunteer-led capability building.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D65289-A894-4B68-BF81-2FAAD6D40755}"/>
              </a:ext>
            </a:extLst>
          </p:cNvPr>
          <p:cNvSpPr>
            <a:spLocks noGrp="1"/>
          </p:cNvSpPr>
          <p:nvPr/>
        </p:nvSpPr>
        <p:spPr>
          <a:xfrm>
            <a:off x="819150" y="6023610"/>
            <a:ext cx="8191500" cy="3192780"/>
          </a:xfrm>
          <a:prstGeom prst="roundRect">
            <a:avLst>
              <a:gd name="adj" fmla="val 2387"/>
            </a:avLst>
          </a:prstGeom>
          <a:noFill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F820C-B9D5-452C-89F6-679430142E59}"/>
              </a:ext>
            </a:extLst>
          </p:cNvPr>
          <p:cNvSpPr>
            <a:spLocks noGrp="1"/>
          </p:cNvSpPr>
          <p:nvPr/>
        </p:nvSpPr>
        <p:spPr>
          <a:xfrm>
            <a:off x="1028700" y="61912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Evaluation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4C11F-CBDD-4067-85A5-D4FC65C3817A}"/>
              </a:ext>
            </a:extLst>
          </p:cNvPr>
          <p:cNvSpPr>
            <a:spLocks noGrp="1"/>
          </p:cNvSpPr>
          <p:nvPr/>
        </p:nvSpPr>
        <p:spPr>
          <a:xfrm>
            <a:off x="1028700" y="6457950"/>
            <a:ext cx="7772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Guide baseline/endline logic, interview framing and behavioural measurement.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BAE50D-15FC-4437-8F7B-C5EAF84F3FBC}"/>
              </a:ext>
            </a:extLst>
          </p:cNvPr>
          <p:cNvSpPr>
            <a:spLocks noGrp="1"/>
          </p:cNvSpPr>
          <p:nvPr/>
        </p:nvSpPr>
        <p:spPr>
          <a:xfrm>
            <a:off x="9277350" y="6023610"/>
            <a:ext cx="8191500" cy="3192780"/>
          </a:xfrm>
          <a:prstGeom prst="roundRect">
            <a:avLst>
              <a:gd name="adj" fmla="val 2387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C89CF2-8A66-43CF-A966-7E8F90106E7A}"/>
              </a:ext>
            </a:extLst>
          </p:cNvPr>
          <p:cNvSpPr>
            <a:spLocks noGrp="1"/>
          </p:cNvSpPr>
          <p:nvPr/>
        </p:nvSpPr>
        <p:spPr>
          <a:xfrm>
            <a:off x="9486900" y="61912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Credibility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1D5BA1-A356-45BB-ABF8-5CB71B0328CD}"/>
              </a:ext>
            </a:extLst>
          </p:cNvPr>
          <p:cNvSpPr>
            <a:spLocks noGrp="1"/>
          </p:cNvSpPr>
          <p:nvPr/>
        </p:nvSpPr>
        <p:spPr>
          <a:xfrm>
            <a:off x="9486900" y="6457950"/>
            <a:ext cx="7772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Help position AGP as a serious governance intervention, not just a software demo.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2FC038-DAB5-447E-B802-BAE7DD47ED55}"/>
              </a:ext>
            </a:extLst>
          </p:cNvPr>
          <p:cNvSpPr>
            <a:spLocks noGrp="1"/>
          </p:cNvSpPr>
          <p:nvPr/>
        </p:nvSpPr>
        <p:spPr>
          <a:xfrm>
            <a:off x="819150" y="9448800"/>
            <a:ext cx="16649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65746F"/>
                </a:solidFill>
              </a:defRPr>
            </a:pPr>
            <a:r>
              <a:rPr sz="1650" b="0">
                <a:solidFill>
                  <a:srgbClr val="65746F"/>
                </a:solidFill>
              </a:rPr>
              <a:t>This keeps USM-linked research possibilities open without making USM the only route or formal applicant anchor.</a:t>
            </a:r>
          </a:p>
        </p:txBody>
      </p:sp>
    </p:spTree>
    <p:extLst>
      <p:ext uri="{BB962C8B-B14F-4D97-AF65-F5344CB8AC3E}">
        <p14:creationId xmlns:p14="http://schemas.microsoft.com/office/powerpoint/2010/main" val="116205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380713-3F67-4A98-BDA6-3486D86A27CC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PILOT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45A491-92BA-449C-8821-2FED2DEA7CD3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6063131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Success should be measured as capability change, not just account creation.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883DB-731D-4FBC-BCEC-A00F85B607A6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3238044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live seeded MVP gives funders confidence; the pilot should prove real organizational </a:t>
            </a:r>
            <a:r>
              <a:rPr sz="1725" dirty="0" err="1">
                <a:solidFill>
                  <a:srgbClr val="65746F"/>
                </a:solidFill>
              </a:rPr>
              <a:t>behaviour</a:t>
            </a:r>
            <a:r>
              <a:rPr sz="1725" dirty="0">
                <a:solidFill>
                  <a:srgbClr val="65746F"/>
                </a:solidFill>
              </a:rPr>
              <a:t> change.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12D34B-5363-488A-A3DB-E4BB7FB778CA}"/>
              </a:ext>
            </a:extLst>
          </p:cNvPr>
          <p:cNvSpPr>
            <a:spLocks noGrp="1"/>
          </p:cNvSpPr>
          <p:nvPr/>
        </p:nvSpPr>
        <p:spPr>
          <a:xfrm>
            <a:off x="819150" y="2884170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5B322-8EC9-46B1-889E-B16CDC8EB7E6}"/>
              </a:ext>
            </a:extLst>
          </p:cNvPr>
          <p:cNvSpPr>
            <a:spLocks noGrp="1"/>
          </p:cNvSpPr>
          <p:nvPr/>
        </p:nvSpPr>
        <p:spPr>
          <a:xfrm>
            <a:off x="1028700" y="30480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Registry coverage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958EF-9A27-4582-B1A7-FC0F39CC2D5C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100% of agreed JAKIM/MAIN pilot cohort registered.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CC5590-7E97-4936-ADBA-FFA6FFBA552B}"/>
              </a:ext>
            </a:extLst>
          </p:cNvPr>
          <p:cNvSpPr>
            <a:spLocks noGrp="1"/>
          </p:cNvSpPr>
          <p:nvPr/>
        </p:nvSpPr>
        <p:spPr>
          <a:xfrm>
            <a:off x="6451600" y="2884170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B3262-4520-41A4-8E37-C5671D590A4B}"/>
              </a:ext>
            </a:extLst>
          </p:cNvPr>
          <p:cNvSpPr>
            <a:spLocks noGrp="1"/>
          </p:cNvSpPr>
          <p:nvPr/>
        </p:nvSpPr>
        <p:spPr>
          <a:xfrm>
            <a:off x="6667500" y="30480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Evidence readiness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AB8360-3632-4304-91D2-742F97E64480}"/>
              </a:ext>
            </a:extLst>
          </p:cNvPr>
          <p:cNvSpPr>
            <a:spLocks noGrp="1"/>
          </p:cNvSpPr>
          <p:nvPr/>
        </p:nvSpPr>
        <p:spPr>
          <a:xfrm>
            <a:off x="6667500" y="33337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80% complete core evidence pack.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54384-DD63-4260-88B2-6A10A5CE795A}"/>
              </a:ext>
            </a:extLst>
          </p:cNvPr>
          <p:cNvSpPr>
            <a:spLocks noGrp="1"/>
          </p:cNvSpPr>
          <p:nvPr/>
        </p:nvSpPr>
        <p:spPr>
          <a:xfrm>
            <a:off x="12084050" y="2884170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280730-A50C-49BD-A0A1-5C1B2CF95872}"/>
              </a:ext>
            </a:extLst>
          </p:cNvPr>
          <p:cNvSpPr>
            <a:spLocks noGrp="1"/>
          </p:cNvSpPr>
          <p:nvPr/>
        </p:nvSpPr>
        <p:spPr>
          <a:xfrm>
            <a:off x="12287250" y="30480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Reporting discipline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CE1155-3A9F-4852-977A-25A886ABC747}"/>
              </a:ext>
            </a:extLst>
          </p:cNvPr>
          <p:cNvSpPr>
            <a:spLocks noGrp="1"/>
          </p:cNvSpPr>
          <p:nvPr/>
        </p:nvSpPr>
        <p:spPr>
          <a:xfrm>
            <a:off x="12287250" y="33337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50% improvement in timeliness against baseline.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FD56DE-AE69-4064-9885-9366518D6185}"/>
              </a:ext>
            </a:extLst>
          </p:cNvPr>
          <p:cNvSpPr>
            <a:spLocks noGrp="1"/>
          </p:cNvSpPr>
          <p:nvPr/>
        </p:nvSpPr>
        <p:spPr>
          <a:xfrm>
            <a:off x="819150" y="6395085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FB0F53-A01A-48C9-B3EF-D2F3900F8B9D}"/>
              </a:ext>
            </a:extLst>
          </p:cNvPr>
          <p:cNvSpPr>
            <a:spLocks noGrp="1"/>
          </p:cNvSpPr>
          <p:nvPr/>
        </p:nvSpPr>
        <p:spPr>
          <a:xfrm>
            <a:off x="1028700" y="65722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Amanah movement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CA3E2C-F67B-41F0-9ED9-BEE9A6D2AEE4}"/>
              </a:ext>
            </a:extLst>
          </p:cNvPr>
          <p:cNvSpPr>
            <a:spLocks noGrp="1"/>
          </p:cNvSpPr>
          <p:nvPr/>
        </p:nvSpPr>
        <p:spPr>
          <a:xfrm>
            <a:off x="1028700" y="6838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+10 to +15 points where baseline gaps exist.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21D0F6E-1CEC-4482-A559-016E08B13C6F}"/>
              </a:ext>
            </a:extLst>
          </p:cNvPr>
          <p:cNvSpPr>
            <a:spLocks noGrp="1"/>
          </p:cNvSpPr>
          <p:nvPr/>
        </p:nvSpPr>
        <p:spPr>
          <a:xfrm>
            <a:off x="6451600" y="6395085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ADB21-EE8E-4FE7-8A66-A18E9DD49D80}"/>
              </a:ext>
            </a:extLst>
          </p:cNvPr>
          <p:cNvSpPr>
            <a:spLocks noGrp="1"/>
          </p:cNvSpPr>
          <p:nvPr/>
        </p:nvSpPr>
        <p:spPr>
          <a:xfrm>
            <a:off x="6667500" y="65722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Remediation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E2AC8B-ADDF-4694-A4FB-21AD998F5F27}"/>
              </a:ext>
            </a:extLst>
          </p:cNvPr>
          <p:cNvSpPr>
            <a:spLocks noGrp="1"/>
          </p:cNvSpPr>
          <p:nvPr/>
        </p:nvSpPr>
        <p:spPr>
          <a:xfrm>
            <a:off x="6667500" y="6838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70% of findings closed within agreed cycle.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4B9B05-B0BA-421F-8414-E1A782A948F3}"/>
              </a:ext>
            </a:extLst>
          </p:cNvPr>
          <p:cNvSpPr>
            <a:spLocks noGrp="1"/>
          </p:cNvSpPr>
          <p:nvPr/>
        </p:nvSpPr>
        <p:spPr>
          <a:xfrm>
            <a:off x="12084050" y="6395085"/>
            <a:ext cx="5384800" cy="3301365"/>
          </a:xfrm>
          <a:prstGeom prst="roundRect">
            <a:avLst>
              <a:gd name="adj" fmla="val 2308"/>
            </a:avLst>
          </a:prstGeom>
          <a:noFill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01E635-D7AC-4380-B5D6-E08CC4D0EEA4}"/>
              </a:ext>
            </a:extLst>
          </p:cNvPr>
          <p:cNvSpPr>
            <a:spLocks noGrp="1"/>
          </p:cNvSpPr>
          <p:nvPr/>
        </p:nvSpPr>
        <p:spPr>
          <a:xfrm>
            <a:off x="12287250" y="65722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Trust perception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CB7D92-7DB1-4E1F-803C-E0A1F9129BF0}"/>
              </a:ext>
            </a:extLst>
          </p:cNvPr>
          <p:cNvSpPr>
            <a:spLocks noGrp="1"/>
          </p:cNvSpPr>
          <p:nvPr/>
        </p:nvSpPr>
        <p:spPr>
          <a:xfrm>
            <a:off x="12287250" y="6838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20% donor confidence lift after viewing public profiles.</a:t>
            </a:r>
          </a:p>
        </p:txBody>
      </p:sp>
    </p:spTree>
    <p:extLst>
      <p:ext uri="{BB962C8B-B14F-4D97-AF65-F5344CB8AC3E}">
        <p14:creationId xmlns:p14="http://schemas.microsoft.com/office/powerpoint/2010/main" val="62360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BCC44FF-91BD-4563-A51F-2E11C096E965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FUNDING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53DB2-53CC-4ED0-AF52-B82624884420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5326151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Lead with AGP direct applications, but keep every viable route open.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F19B0F-1B63-4EF1-BC5E-E2E6B94408CC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4616468" cy="2781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grant execution board remains the pipeline: no route is dropped while the JAKIM/MAIN and advisor conversations mature.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DA1FDE-E76F-42C2-8058-45C87F5B214D}"/>
              </a:ext>
            </a:extLst>
          </p:cNvPr>
          <p:cNvSpPr>
            <a:spLocks noGrp="1"/>
          </p:cNvSpPr>
          <p:nvPr/>
        </p:nvSpPr>
        <p:spPr>
          <a:xfrm>
            <a:off x="819150" y="262128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DC7B4-F33B-4557-AAF7-3F9E6A2716A3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Immediate 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83CD6C-CC7C-4766-A237-0B340898DB5E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 Status, Hasanah Micro, IsDB Engage registration, JAKIM/MAIN letter.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5F125D-5E15-4D2F-967A-20AF4E4BCB4B}"/>
              </a:ext>
            </a:extLst>
          </p:cNvPr>
          <p:cNvSpPr>
            <a:spLocks noGrp="1"/>
          </p:cNvSpPr>
          <p:nvPr/>
        </p:nvSpPr>
        <p:spPr>
          <a:xfrm>
            <a:off x="6445250" y="262128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5F632-EBC4-4827-9EE4-BB5C973615E1}"/>
              </a:ext>
            </a:extLst>
          </p:cNvPr>
          <p:cNvSpPr>
            <a:spLocks noGrp="1"/>
          </p:cNvSpPr>
          <p:nvPr/>
        </p:nvSpPr>
        <p:spPr>
          <a:xfrm>
            <a:off x="6648450" y="28003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Build credibility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E4285D-0750-4FE3-AD5A-0ECB08CCBA72}"/>
              </a:ext>
            </a:extLst>
          </p:cNvPr>
          <p:cNvSpPr>
            <a:spLocks noGrp="1"/>
          </p:cNvSpPr>
          <p:nvPr/>
        </p:nvSpPr>
        <p:spPr>
          <a:xfrm>
            <a:off x="6648450" y="306705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Cradle CIP, SC FIKRA ACE, JAWHAR engagement, Shariah advisor.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4241FC-7C79-4DB3-A05E-1658A59053B8}"/>
              </a:ext>
            </a:extLst>
          </p:cNvPr>
          <p:cNvSpPr>
            <a:spLocks noGrp="1"/>
          </p:cNvSpPr>
          <p:nvPr/>
        </p:nvSpPr>
        <p:spPr>
          <a:xfrm>
            <a:off x="12071350" y="262128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F390F7-A106-4694-A8FD-369A22023590}"/>
              </a:ext>
            </a:extLst>
          </p:cNvPr>
          <p:cNvSpPr>
            <a:spLocks noGrp="1"/>
          </p:cNvSpPr>
          <p:nvPr/>
        </p:nvSpPr>
        <p:spPr>
          <a:xfrm>
            <a:off x="12287250" y="280035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Accelerate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C653C-B30D-40A9-A3FA-55E1E8BC9316}"/>
              </a:ext>
            </a:extLst>
          </p:cNvPr>
          <p:cNvSpPr>
            <a:spLocks noGrp="1"/>
          </p:cNvSpPr>
          <p:nvPr/>
        </p:nvSpPr>
        <p:spPr>
          <a:xfrm>
            <a:off x="12287250" y="306705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MDEC MDCG, IERIF/INCEIF, Hasanah Special Grant, pilot coordinators.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DBBEC5-C87F-49AB-8A18-125595B2E178}"/>
              </a:ext>
            </a:extLst>
          </p:cNvPr>
          <p:cNvSpPr>
            <a:spLocks noGrp="1"/>
          </p:cNvSpPr>
          <p:nvPr/>
        </p:nvSpPr>
        <p:spPr>
          <a:xfrm>
            <a:off x="819150" y="626364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E7085D-7BE7-4FDE-8830-1DCF59A0E68E}"/>
              </a:ext>
            </a:extLst>
          </p:cNvPr>
          <p:cNvSpPr>
            <a:spLocks noGrp="1"/>
          </p:cNvSpPr>
          <p:nvPr/>
        </p:nvSpPr>
        <p:spPr>
          <a:xfrm>
            <a:off x="1028700" y="64389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Scale prep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743799-6CFE-48BC-8263-9F8E5199EF77}"/>
              </a:ext>
            </a:extLst>
          </p:cNvPr>
          <p:cNvSpPr>
            <a:spLocks noGrp="1"/>
          </p:cNvSpPr>
          <p:nvPr/>
        </p:nvSpPr>
        <p:spPr>
          <a:xfrm>
            <a:off x="1028700" y="670560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IsDB Transform Fund, pilot evidence pack, CSR/ESG sponsorships.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829C5F-B3AA-40A0-BEB4-38EB7B8B1A12}"/>
              </a:ext>
            </a:extLst>
          </p:cNvPr>
          <p:cNvSpPr>
            <a:spLocks noGrp="1"/>
          </p:cNvSpPr>
          <p:nvPr/>
        </p:nvSpPr>
        <p:spPr>
          <a:xfrm>
            <a:off x="6445250" y="626364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56D739-54F3-4A7C-927A-D524FC70C9E6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CE9874-EA4B-4699-8845-E70E951357D8}"/>
              </a:ext>
            </a:extLst>
          </p:cNvPr>
          <p:cNvSpPr>
            <a:spLocks noGrp="1"/>
          </p:cNvSpPr>
          <p:nvPr/>
        </p:nvSpPr>
        <p:spPr>
          <a:xfrm>
            <a:off x="6648450" y="670560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MDAG, additional state MAIN expansion, regional OIC partnerships.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144A7F-F91A-4B84-A074-77F424FBA8AD}"/>
              </a:ext>
            </a:extLst>
          </p:cNvPr>
          <p:cNvSpPr>
            <a:spLocks noGrp="1"/>
          </p:cNvSpPr>
          <p:nvPr/>
        </p:nvSpPr>
        <p:spPr>
          <a:xfrm>
            <a:off x="12071350" y="6263640"/>
            <a:ext cx="5397500" cy="3432810"/>
          </a:xfrm>
          <a:prstGeom prst="roundRect">
            <a:avLst>
              <a:gd name="adj" fmla="val 2220"/>
            </a:avLst>
          </a:prstGeom>
          <a:noFill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21DBD6-AC6D-4F8D-8598-BB6CDC3AFC54}"/>
              </a:ext>
            </a:extLst>
          </p:cNvPr>
          <p:cNvSpPr>
            <a:spLocks noGrp="1"/>
          </p:cNvSpPr>
          <p:nvPr/>
        </p:nvSpPr>
        <p:spPr>
          <a:xfrm>
            <a:off x="12287250" y="6438900"/>
            <a:ext cx="4972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Academic route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5CD95B-BB53-4013-9FE7-33389BB6AE38}"/>
              </a:ext>
            </a:extLst>
          </p:cNvPr>
          <p:cNvSpPr>
            <a:spLocks noGrp="1"/>
          </p:cNvSpPr>
          <p:nvPr/>
        </p:nvSpPr>
        <p:spPr>
          <a:xfrm>
            <a:off x="12287250" y="6705600"/>
            <a:ext cx="49720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University-linked co-applications stay available when funder fit is strong.</a:t>
            </a:r>
          </a:p>
        </p:txBody>
      </p:sp>
    </p:spTree>
    <p:extLst>
      <p:ext uri="{BB962C8B-B14F-4D97-AF65-F5344CB8AC3E}">
        <p14:creationId xmlns:p14="http://schemas.microsoft.com/office/powerpoint/2010/main" val="43893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C9A78A2-3DC1-41B6-9068-B5168591292C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USE OF FUNDS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5AAFD3-4019-45A4-9D8E-256142EE5F80}"/>
              </a:ext>
            </a:extLst>
          </p:cNvPr>
          <p:cNvSpPr>
            <a:spLocks noGrp="1"/>
          </p:cNvSpPr>
          <p:nvPr/>
        </p:nvSpPr>
        <p:spPr>
          <a:xfrm>
            <a:off x="819149" y="895350"/>
            <a:ext cx="14984957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RM550,000 funds a serious 12-month proof cycle.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D46FBA-6341-4B56-8425-E57E523D8C5D}"/>
              </a:ext>
            </a:extLst>
          </p:cNvPr>
          <p:cNvSpPr>
            <a:spLocks noGrp="1"/>
          </p:cNvSpPr>
          <p:nvPr/>
        </p:nvSpPr>
        <p:spPr>
          <a:xfrm>
            <a:off x="819149" y="1562100"/>
            <a:ext cx="14643763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budget supports product hardening, research/evaluation, training, field operations and institutional readiness.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56DE3A-C116-43BD-AF86-AFDDF2E91E60}"/>
              </a:ext>
            </a:extLst>
          </p:cNvPr>
          <p:cNvSpPr>
            <a:spLocks noGrp="1"/>
          </p:cNvSpPr>
          <p:nvPr/>
        </p:nvSpPr>
        <p:spPr>
          <a:xfrm>
            <a:off x="819150" y="231267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06608-3D39-410F-9157-604D089C878F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RM180k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56183-B4CA-4FFA-88A6-29F89B266E6E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Platform development, configuration, trust profile polish and data exports.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189E45-5FE2-488E-B72E-E10F40B8113D}"/>
              </a:ext>
            </a:extLst>
          </p:cNvPr>
          <p:cNvSpPr>
            <a:spLocks noGrp="1"/>
          </p:cNvSpPr>
          <p:nvPr/>
        </p:nvSpPr>
        <p:spPr>
          <a:xfrm>
            <a:off x="819150" y="329946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6698EF-D2B0-4AF7-BEA5-E8786F0C68A6}"/>
              </a:ext>
            </a:extLst>
          </p:cNvPr>
          <p:cNvSpPr>
            <a:spLocks noGrp="1"/>
          </p:cNvSpPr>
          <p:nvPr/>
        </p:nvSpPr>
        <p:spPr>
          <a:xfrm>
            <a:off x="1028700" y="34671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RM90k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DFD080-FFF4-4D3D-BB39-E885F2D0D35E}"/>
              </a:ext>
            </a:extLst>
          </p:cNvPr>
          <p:cNvSpPr>
            <a:spLocks noGrp="1"/>
          </p:cNvSpPr>
          <p:nvPr/>
        </p:nvSpPr>
        <p:spPr>
          <a:xfrm>
            <a:off x="1028700" y="373380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Research design, surveys, interviews, analysis and reporting.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913092-619F-4E12-8709-143022160CB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48130-864E-4E85-AB7E-E50FC727553F}"/>
              </a:ext>
            </a:extLst>
          </p:cNvPr>
          <p:cNvSpPr>
            <a:spLocks noGrp="1"/>
          </p:cNvSpPr>
          <p:nvPr/>
        </p:nvSpPr>
        <p:spPr>
          <a:xfrm>
            <a:off x="1028700" y="44577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8872D"/>
                </a:solidFill>
              </a:defRPr>
            </a:pPr>
            <a:r>
              <a:rPr sz="1275" b="1">
                <a:solidFill>
                  <a:srgbClr val="B8872D"/>
                </a:solidFill>
              </a:rPr>
              <a:t>RM80k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77FEB-FD03-4E8F-B25F-340E2C0E0C96}"/>
              </a:ext>
            </a:extLst>
          </p:cNvPr>
          <p:cNvSpPr>
            <a:spLocks noGrp="1"/>
          </p:cNvSpPr>
          <p:nvPr/>
        </p:nvSpPr>
        <p:spPr>
          <a:xfrm>
            <a:off x="1028700" y="472440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Training, governance workshops, materials and facilitation.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31E36B-204D-4DDF-9233-3ED3978C6468}"/>
              </a:ext>
            </a:extLst>
          </p:cNvPr>
          <p:cNvSpPr>
            <a:spLocks noGrp="1"/>
          </p:cNvSpPr>
          <p:nvPr/>
        </p:nvSpPr>
        <p:spPr>
          <a:xfrm>
            <a:off x="9353550" y="231267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FD912B-1E64-4486-94F1-5144481B2FB3}"/>
              </a:ext>
            </a:extLst>
          </p:cNvPr>
          <p:cNvSpPr>
            <a:spLocks noGrp="1"/>
          </p:cNvSpPr>
          <p:nvPr/>
        </p:nvSpPr>
        <p:spPr>
          <a:xfrm>
            <a:off x="9563100" y="24765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F6F5B"/>
                </a:solidFill>
              </a:defRPr>
            </a:pPr>
            <a:r>
              <a:rPr sz="1275" b="1">
                <a:solidFill>
                  <a:srgbClr val="1F6F5B"/>
                </a:solidFill>
              </a:rPr>
              <a:t>RM90k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DD130F-5ABD-413A-B3E0-B2E51F2041F4}"/>
              </a:ext>
            </a:extLst>
          </p:cNvPr>
          <p:cNvSpPr>
            <a:spLocks noGrp="1"/>
          </p:cNvSpPr>
          <p:nvPr/>
        </p:nvSpPr>
        <p:spPr>
          <a:xfrm>
            <a:off x="9563100" y="276225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Pilot operations, helpdesk, field coordination and onboarding support.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F78CA7-95F8-4234-9874-580F13CBDD22}"/>
              </a:ext>
            </a:extLst>
          </p:cNvPr>
          <p:cNvSpPr>
            <a:spLocks noGrp="1"/>
          </p:cNvSpPr>
          <p:nvPr/>
        </p:nvSpPr>
        <p:spPr>
          <a:xfrm>
            <a:off x="9353550" y="329946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FEAF53-6A86-4D19-A147-C48067F604D2}"/>
              </a:ext>
            </a:extLst>
          </p:cNvPr>
          <p:cNvSpPr>
            <a:spLocks noGrp="1"/>
          </p:cNvSpPr>
          <p:nvPr/>
        </p:nvSpPr>
        <p:spPr>
          <a:xfrm>
            <a:off x="9563100" y="34671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D6684"/>
                </a:solidFill>
              </a:defRPr>
            </a:pPr>
            <a:r>
              <a:rPr sz="1275" b="1">
                <a:solidFill>
                  <a:srgbClr val="2D6684"/>
                </a:solidFill>
              </a:rPr>
              <a:t>RM55k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2FACE-C2F7-4B11-9101-0B63E490930E}"/>
              </a:ext>
            </a:extLst>
          </p:cNvPr>
          <p:cNvSpPr>
            <a:spLocks noGrp="1"/>
          </p:cNvSpPr>
          <p:nvPr/>
        </p:nvSpPr>
        <p:spPr>
          <a:xfrm>
            <a:off x="9563100" y="373380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Cloud, storage, monitoring, backup, security and compliance support.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D461F9-04F9-4E0C-8C40-C03F08953C53}"/>
              </a:ext>
            </a:extLst>
          </p:cNvPr>
          <p:cNvSpPr>
            <a:spLocks noGrp="1"/>
          </p:cNvSpPr>
          <p:nvPr/>
        </p:nvSpPr>
        <p:spPr>
          <a:xfrm>
            <a:off x="9353550" y="4286250"/>
            <a:ext cx="8115300" cy="853440"/>
          </a:xfrm>
          <a:prstGeom prst="roundRect">
            <a:avLst>
              <a:gd name="adj" fmla="val 8929"/>
            </a:avLst>
          </a:prstGeom>
          <a:noFill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0F449B-9916-4FD7-8E48-0E74FF59A6DF}"/>
              </a:ext>
            </a:extLst>
          </p:cNvPr>
          <p:cNvSpPr>
            <a:spLocks noGrp="1"/>
          </p:cNvSpPr>
          <p:nvPr/>
        </p:nvSpPr>
        <p:spPr>
          <a:xfrm>
            <a:off x="9563100" y="4457700"/>
            <a:ext cx="7696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A54C40"/>
                </a:solidFill>
              </a:defRPr>
            </a:pPr>
            <a:r>
              <a:rPr sz="1275" b="1">
                <a:solidFill>
                  <a:srgbClr val="A54C40"/>
                </a:solidFill>
              </a:rPr>
              <a:t>RM55k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3130A9-93F6-4340-9EF4-8E5FEFFE8642}"/>
              </a:ext>
            </a:extLst>
          </p:cNvPr>
          <p:cNvSpPr>
            <a:spLocks noGrp="1"/>
          </p:cNvSpPr>
          <p:nvPr/>
        </p:nvSpPr>
        <p:spPr>
          <a:xfrm>
            <a:off x="9563100" y="4724400"/>
            <a:ext cx="7696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172A2A"/>
                </a:solidFill>
              </a:defRPr>
            </a:pPr>
            <a:r>
              <a:rPr sz="1575" b="1">
                <a:solidFill>
                  <a:srgbClr val="172A2A"/>
                </a:solidFill>
              </a:rPr>
              <a:t>Dissemination and contingency for delivery risk.</a:t>
            </a:r>
          </a:p>
        </p:txBody>
      </p:sp>
    </p:spTree>
    <p:extLst>
      <p:ext uri="{BB962C8B-B14F-4D97-AF65-F5344CB8AC3E}">
        <p14:creationId xmlns:p14="http://schemas.microsoft.com/office/powerpoint/2010/main" val="144881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8F5EEB3-4CF4-40D7-B668-7F8C2A74F979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1664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F6F5B"/>
                </a:solidFill>
              </a:defRPr>
            </a:pPr>
            <a:r>
              <a:rPr sz="1350" b="1">
                <a:solidFill>
                  <a:srgbClr val="1F6F5B"/>
                </a:solidFill>
              </a:rPr>
              <a:t>MEETING ASK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23C859-0410-4D8D-ADFD-DE55E70E9EA0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4493638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72A2A"/>
                </a:solidFill>
              </a:defRPr>
            </a:pPr>
            <a:r>
              <a:rPr sz="3750" b="1" dirty="0">
                <a:solidFill>
                  <a:srgbClr val="172A2A"/>
                </a:solidFill>
              </a:rPr>
              <a:t>Leave with advisory support and a practical institutional path.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8E9457-7B14-4572-976A-C363D6E4415C}"/>
              </a:ext>
            </a:extLst>
          </p:cNvPr>
          <p:cNvSpPr>
            <a:spLocks noGrp="1"/>
          </p:cNvSpPr>
          <p:nvPr/>
        </p:nvSpPr>
        <p:spPr>
          <a:xfrm>
            <a:off x="819149" y="2133600"/>
            <a:ext cx="12855907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65746F"/>
                </a:solidFill>
              </a:defRPr>
            </a:pPr>
            <a:r>
              <a:rPr sz="1725" dirty="0">
                <a:solidFill>
                  <a:srgbClr val="65746F"/>
                </a:solidFill>
              </a:rPr>
              <a:t>The decision is not to close every route today; it is to secure enough alignment to move the next proposals forward.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4D82B-549A-4950-B5E2-496CD46D0C69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F6F5B"/>
                </a:solidFill>
              </a:defRPr>
            </a:pPr>
            <a:r>
              <a:rPr sz="1500" b="1">
                <a:solidFill>
                  <a:srgbClr val="1F6F5B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C03EF-C824-41EE-B2E0-FCD8448F475A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8782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Advisor confirmation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02626-80B7-4BAB-80AD-E71961E9EE47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Invite Prof. Anuar to advise the behaviour-change, training and evaluation layer.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8C010-4C2D-46B0-AFFE-10ABB62822B2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B8872D"/>
                </a:solidFill>
              </a:defRPr>
            </a:pPr>
            <a:r>
              <a:rPr sz="1500" b="1">
                <a:solidFill>
                  <a:srgbClr val="B8872D"/>
                </a:solidFill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2A026-C002-4A64-8C0C-EF2CB99D4108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8782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Institutional door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E772A-4FD5-4731-82F2-BC96175333DA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Identify the best first JAKIM/MAIN or JAWHAR conversation and authority scope.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2D9658-554D-4C5C-9768-9655C769D055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D6684"/>
                </a:solidFill>
              </a:defRPr>
            </a:pPr>
            <a:r>
              <a:rPr sz="1500" b="1">
                <a:solidFill>
                  <a:srgbClr val="2D6684"/>
                </a:solidFill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D8634-83BB-44DC-BEDC-284F1129EBB3}"/>
              </a:ext>
            </a:extLst>
          </p:cNvPr>
          <p:cNvSpPr>
            <a:spLocks noGrp="1"/>
          </p:cNvSpPr>
          <p:nvPr/>
        </p:nvSpPr>
        <p:spPr>
          <a:xfrm>
            <a:off x="819150" y="5295900"/>
            <a:ext cx="8782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A2A"/>
                </a:solidFill>
              </a:defRPr>
            </a:pPr>
            <a:r>
              <a:rPr sz="1875" b="1">
                <a:solidFill>
                  <a:srgbClr val="172A2A"/>
                </a:solidFill>
              </a:rPr>
              <a:t>Grant packaging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96A80-CA5A-4C8F-9DE8-2310BDCD3BEA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8782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65746F"/>
                </a:solidFill>
              </a:defRPr>
            </a:pPr>
            <a:r>
              <a:rPr sz="1425">
                <a:solidFill>
                  <a:srgbClr val="65746F"/>
                </a:solidFill>
              </a:rPr>
              <a:t>Prepare modular proposals for direct grants, institutional partners and academic routes.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F81247-7A9C-4A06-BBC6-9294A7BD3C5B}"/>
              </a:ext>
            </a:extLst>
          </p:cNvPr>
          <p:cNvSpPr>
            <a:spLocks noGrp="1"/>
          </p:cNvSpPr>
          <p:nvPr/>
        </p:nvSpPr>
        <p:spPr>
          <a:xfrm>
            <a:off x="10002795" y="2884170"/>
            <a:ext cx="7466055" cy="2217420"/>
          </a:xfrm>
          <a:prstGeom prst="roundRect">
            <a:avLst>
              <a:gd name="adj" fmla="val 3436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1B530-AF5A-4379-B19E-34D21B4F9033}"/>
              </a:ext>
            </a:extLst>
          </p:cNvPr>
          <p:cNvSpPr>
            <a:spLocks noGrp="1"/>
          </p:cNvSpPr>
          <p:nvPr/>
        </p:nvSpPr>
        <p:spPr>
          <a:xfrm>
            <a:off x="10325100" y="3162300"/>
            <a:ext cx="6819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72A2A"/>
                </a:solidFill>
              </a:defRPr>
            </a:pPr>
            <a:r>
              <a:rPr sz="2250" b="1">
                <a:solidFill>
                  <a:srgbClr val="172A2A"/>
                </a:solidFill>
              </a:rPr>
              <a:t>Proposed close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377D3-EEB8-4CED-A058-88BA2EEE1061}"/>
              </a:ext>
            </a:extLst>
          </p:cNvPr>
          <p:cNvSpPr>
            <a:spLocks noGrp="1"/>
          </p:cNvSpPr>
          <p:nvPr/>
        </p:nvSpPr>
        <p:spPr>
          <a:xfrm>
            <a:off x="10325100" y="3676650"/>
            <a:ext cx="68199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F6F5B"/>
                </a:solidFill>
              </a:defRPr>
            </a:pPr>
            <a:r>
              <a:rPr sz="2475" b="1">
                <a:solidFill>
                  <a:srgbClr val="1F6F5B"/>
                </a:solidFill>
              </a:rPr>
              <a:t>Can Prof. Anuar advise the organizational behaviour model while AGP approaches JAKIM/MAIN and keeps all grant routes open?</a:t>
            </a:r>
          </a:p>
        </p:txBody>
      </p:sp>
    </p:spTree>
    <p:extLst>
      <p:ext uri="{BB962C8B-B14F-4D97-AF65-F5344CB8AC3E}">
        <p14:creationId xmlns:p14="http://schemas.microsoft.com/office/powerpoint/2010/main" val="3399195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1299</Words>
  <Application>Microsoft Office PowerPoint</Application>
  <DocSecurity>0</DocSecurity>
  <PresentationFormat>Custom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7</cp:revision>
  <dcterms:created xsi:type="dcterms:W3CDTF">2026-05-08T10:49:06Z</dcterms:created>
  <dcterms:modified xsi:type="dcterms:W3CDTF">2026-05-08T10:58:23Z</dcterms:modified>
</cp:coreProperties>
</file>