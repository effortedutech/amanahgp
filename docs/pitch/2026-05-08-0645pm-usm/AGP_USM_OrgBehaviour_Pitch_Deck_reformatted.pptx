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cd5a4281842b0" /><Relationship Type="http://schemas.openxmlformats.org/officeDocument/2006/relationships/extended-properties" Target="/docProps/app.xml" Id="R2e81acbe3fb0464e" /><Relationship Type="http://schemas.openxmlformats.org/officeDocument/2006/relationships/officeDocument" Target="/ppt/presentation.xml" Id="R419f271c76b04b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ae9acc78c4eec"/>
  </p:sldMasterIdLst>
  <p:notesMasterIdLst>
    <p:notesMasterId xmlns:r="http://schemas.openxmlformats.org/officeDocument/2006/relationships" r:id="Ra5b9ddf3659c4947"/>
  </p:notesMasterIdLst>
  <p:sldIdLst>
    <p:sldId xmlns:r="http://schemas.openxmlformats.org/officeDocument/2006/relationships" id="256" r:id="R893cb9595ce64a0e"/>
    <p:sldId xmlns:r="http://schemas.openxmlformats.org/officeDocument/2006/relationships" id="257" r:id="Rb788be41084d4594"/>
    <p:sldId xmlns:r="http://schemas.openxmlformats.org/officeDocument/2006/relationships" id="258" r:id="R6d886ac55d304c07"/>
    <p:sldId xmlns:r="http://schemas.openxmlformats.org/officeDocument/2006/relationships" id="259" r:id="Rb49a197ff26747e8"/>
    <p:sldId xmlns:r="http://schemas.openxmlformats.org/officeDocument/2006/relationships" id="260" r:id="R4971ce8b741441ae"/>
    <p:sldId xmlns:r="http://schemas.openxmlformats.org/officeDocument/2006/relationships" id="261" r:id="R35bad391ab264e68"/>
    <p:sldId xmlns:r="http://schemas.openxmlformats.org/officeDocument/2006/relationships" id="262" r:id="R0b147e01b9a24a9f"/>
    <p:sldId xmlns:r="http://schemas.openxmlformats.org/officeDocument/2006/relationships" id="263" r:id="Rfd03487e90df49e6"/>
    <p:sldId xmlns:r="http://schemas.openxmlformats.org/officeDocument/2006/relationships" id="264" r:id="R4f793f41f1d74713"/>
    <p:sldId xmlns:r="http://schemas.openxmlformats.org/officeDocument/2006/relationships" id="265" r:id="R2d2783253a234a07"/>
    <p:sldId xmlns:r="http://schemas.openxmlformats.org/officeDocument/2006/relationships" id="266" r:id="Rec3d3fb4bd0b4f99"/>
    <p:sldId xmlns:r="http://schemas.openxmlformats.org/officeDocument/2006/relationships" id="267" r:id="R4063075206404c6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ae9acc78c4eec" /><Relationship Type="http://schemas.openxmlformats.org/officeDocument/2006/relationships/theme" Target="/ppt/theme/theme1.xml" Id="R2958d769edfb4376" /><Relationship Type="http://schemas.openxmlformats.org/officeDocument/2006/relationships/notesMaster" Target="/ppt/notesMasters/notesMaster1.xml" Id="Ra5b9ddf3659c4947" /><Relationship Type="http://schemas.openxmlformats.org/officeDocument/2006/relationships/presProps" Target="/ppt/presProps.xml" Id="Rf3c45dadacbf4bf0" /><Relationship Type="http://schemas.openxmlformats.org/officeDocument/2006/relationships/viewProps" Target="/ppt/viewProps.xml" Id="R88a0a4e84a944890" /><Relationship Type="http://schemas.openxmlformats.org/officeDocument/2006/relationships/tableStyles" Target="/ppt/tableStyles.xml" Id="Rca226cb8c68649fb" /><Relationship Type="http://schemas.openxmlformats.org/officeDocument/2006/relationships/slide" Target="/ppt/slides/slide1.xml" Id="R893cb9595ce64a0e" /><Relationship Type="http://schemas.openxmlformats.org/officeDocument/2006/relationships/slide" Target="/ppt/slides/slide2.xml" Id="Rb788be41084d4594" /><Relationship Type="http://schemas.openxmlformats.org/officeDocument/2006/relationships/slide" Target="/ppt/slides/slide3.xml" Id="R6d886ac55d304c07" /><Relationship Type="http://schemas.openxmlformats.org/officeDocument/2006/relationships/slide" Target="/ppt/slides/slide4.xml" Id="Rb49a197ff26747e8" /><Relationship Type="http://schemas.openxmlformats.org/officeDocument/2006/relationships/slide" Target="/ppt/slides/slide5.xml" Id="R4971ce8b741441ae" /><Relationship Type="http://schemas.openxmlformats.org/officeDocument/2006/relationships/slide" Target="/ppt/slides/slide6.xml" Id="R35bad391ab264e68" /><Relationship Type="http://schemas.openxmlformats.org/officeDocument/2006/relationships/slide" Target="/ppt/slides/slide7.xml" Id="R0b147e01b9a24a9f" /><Relationship Type="http://schemas.openxmlformats.org/officeDocument/2006/relationships/slide" Target="/ppt/slides/slide8.xml" Id="Rfd03487e90df49e6" /><Relationship Type="http://schemas.openxmlformats.org/officeDocument/2006/relationships/slide" Target="/ppt/slides/slide9.xml" Id="R4f793f41f1d74713" /><Relationship Type="http://schemas.openxmlformats.org/officeDocument/2006/relationships/slide" Target="/ppt/slides/slide10.xml" Id="R2d2783253a234a07" /><Relationship Type="http://schemas.openxmlformats.org/officeDocument/2006/relationships/slide" Target="/ppt/slides/slide11.xml" Id="Rec3d3fb4bd0b4f99" /><Relationship Type="http://schemas.openxmlformats.org/officeDocument/2006/relationships/slide" Target="/ppt/slides/slide12.xml" Id="R4063075206404c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78266c322d24f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c2cedf94b468c" /><Relationship Type="http://schemas.openxmlformats.org/officeDocument/2006/relationships/notesMaster" Target="/ppt/notesMasters/notesMaster1.xml" Id="Re9678a00e5d046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67756b42094433" /><Relationship Type="http://schemas.openxmlformats.org/officeDocument/2006/relationships/notesMaster" Target="/ppt/notesMasters/notesMaster1.xml" Id="R472d896d6948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d212d5a686460c" /><Relationship Type="http://schemas.openxmlformats.org/officeDocument/2006/relationships/notesMaster" Target="/ppt/notesMasters/notesMaster1.xml" Id="R57f4c8168c71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82fa8836f342d9" /><Relationship Type="http://schemas.openxmlformats.org/officeDocument/2006/relationships/notesMaster" Target="/ppt/notesMasters/notesMaster1.xml" Id="R9539ba9ed5ea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a5b8bd99b647a8" /><Relationship Type="http://schemas.openxmlformats.org/officeDocument/2006/relationships/notesMaster" Target="/ppt/notesMasters/notesMaster1.xml" Id="Rd68b7110dd0743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d240c501c64894" /><Relationship Type="http://schemas.openxmlformats.org/officeDocument/2006/relationships/notesMaster" Target="/ppt/notesMasters/notesMaster1.xml" Id="R52fe1ffa9e7f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90363c51c74415" /><Relationship Type="http://schemas.openxmlformats.org/officeDocument/2006/relationships/notesMaster" Target="/ppt/notesMasters/notesMaster1.xml" Id="Rfbbfe5866f3844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b93c9b9d084c65" /><Relationship Type="http://schemas.openxmlformats.org/officeDocument/2006/relationships/notesMaster" Target="/ppt/notesMasters/notesMaster1.xml" Id="R1cf1a389662c4b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967d8a33c44696" /><Relationship Type="http://schemas.openxmlformats.org/officeDocument/2006/relationships/notesMaster" Target="/ppt/notesMasters/notesMaster1.xml" Id="Re82fb243155a4d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8603a6e3454801" /><Relationship Type="http://schemas.openxmlformats.org/officeDocument/2006/relationships/notesMaster" Target="/ppt/notesMasters/notesMaster1.xml" Id="Rb62c03e4c50440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ca55ab3f0540d4" /><Relationship Type="http://schemas.openxmlformats.org/officeDocument/2006/relationships/notesMaster" Target="/ppt/notesMasters/notesMaster1.xml" Id="Rfd938829301445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8113cfbfa14c71" /><Relationship Type="http://schemas.openxmlformats.org/officeDocument/2006/relationships/notesMaster" Target="/ppt/notesMasters/notesMaster1.xml" Id="Re34f85ff89fd41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a9bb7f4c54a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3589c8728c24204" /><Relationship Type="http://schemas.openxmlformats.org/officeDocument/2006/relationships/slideLayout" Target="/ppt/slideLayouts/slideLayout2.xml" Id="R18b8702924cb44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b8702924cb44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d4c5814b747ce" /><Relationship Type="http://schemas.openxmlformats.org/officeDocument/2006/relationships/notesSlide" Target="/ppt/notesSlides/notesSlide1.xml" Id="R0864f7365ac04b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c904fe33b4fda" /><Relationship Type="http://schemas.openxmlformats.org/officeDocument/2006/relationships/image" Target="/ppt/media/image.png" Id="R1765f9ad5ae74e06" /><Relationship Type="http://schemas.openxmlformats.org/officeDocument/2006/relationships/notesSlide" Target="/ppt/notesSlides/notesSlide2.xml" Id="Rb5046b7956ab45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08dc76b4e4571" /><Relationship Type="http://schemas.openxmlformats.org/officeDocument/2006/relationships/notesSlide" Target="/ppt/notesSlides/notesSlide3.xml" Id="R2622f1b03cd3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87ff2ea0042f2" /><Relationship Type="http://schemas.openxmlformats.org/officeDocument/2006/relationships/notesSlide" Target="/ppt/notesSlides/notesSlide4.xml" Id="R5fbebca20e74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91778226c74094" /><Relationship Type="http://schemas.openxmlformats.org/officeDocument/2006/relationships/notesSlide" Target="/ppt/notesSlides/notesSlide5.xml" Id="Re22838bdc7b64c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3e5d9594846d3" /><Relationship Type="http://schemas.openxmlformats.org/officeDocument/2006/relationships/notesSlide" Target="/ppt/notesSlides/notesSlide6.xml" Id="R3ab3fd79046e4f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4434f83f6d472f" /><Relationship Type="http://schemas.openxmlformats.org/officeDocument/2006/relationships/notesSlide" Target="/ppt/notesSlides/notesSlide7.xml" Id="R35a1c8d1930943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084d1df87e4556" /><Relationship Type="http://schemas.openxmlformats.org/officeDocument/2006/relationships/notesSlide" Target="/ppt/notesSlides/notesSlide8.xml" Id="R836ba8eb88ef48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a7e94caf3e477d" /><Relationship Type="http://schemas.openxmlformats.org/officeDocument/2006/relationships/notesSlide" Target="/ppt/notesSlides/notesSlide9.xml" Id="R6cfeb0f3a06b41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3cb028e804891" /><Relationship Type="http://schemas.openxmlformats.org/officeDocument/2006/relationships/notesSlide" Target="/ppt/notesSlides/notesSlide10.xml" Id="Re75d3aaf886445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4ef088cdc34604" /><Relationship Type="http://schemas.openxmlformats.org/officeDocument/2006/relationships/notesSlide" Target="/ppt/notesSlides/notesSlide11.xml" Id="Re13d1dafe97c4c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34b80795624c60" /><Relationship Type="http://schemas.openxmlformats.org/officeDocument/2006/relationships/notesSlide" Target="/ppt/notesSlides/notesSlide12.xml" Id="Re224b724ae2649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13DB9-A643-405C-9321-965BFCC0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D495F-015D-4D2B-9F0F-230E0218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42CD-5DFA-47DC-991B-B824D642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3468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72A2A"/>
                </a:solidFill>
              </a:defRPr>
            </a:pPr>
            <a:r>
              <a:rPr sz="5700" b="1">
                <a:solidFill>
                  <a:srgbClr val="172A2A"/>
                </a:solidFill>
              </a:rPr>
              <a:t>Public-Interest Governance Infrastructure for Islamic Social Finance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68F39-0CAD-4EEB-A5C5-6513AAE3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1849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44542"/>
                </a:solidFill>
              </a:defRPr>
            </a:pPr>
            <a:r>
              <a:rPr sz="2325">
                <a:solidFill>
                  <a:srgbClr val="344542"/>
                </a:solidFill>
              </a:rPr>
              <a:t>AGP-led grant and development proposal with Prof. Anuar as advising member and JAKIM/MAIN as potential authority-side partners.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A88F7-1F1B-4B1F-94E4-AB09B335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66507-1E73-4947-A531-EAE0EB8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62900"/>
            <a:ext cx="547370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26EA8-C9CB-4C18-8720-1CA250FB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7245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F5B"/>
                </a:solidFill>
              </a:defRPr>
            </a:pPr>
            <a:r>
              <a:rPr sz="1725" b="1">
                <a:solidFill>
                  <a:srgbClr val="1F6F5B"/>
                </a:solidFill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20671-C605-46C1-864B-970945C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534400"/>
            <a:ext cx="4972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Live seeded MVP, not a paper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B1C08-A325-4784-A4E4-F8B63723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7962900"/>
            <a:ext cx="547370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D69D3-4590-4D25-A0AB-F8CE9C00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17245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4C40"/>
                </a:solidFill>
              </a:defRPr>
            </a:pPr>
            <a:r>
              <a:rPr sz="1725" b="1">
                <a:solidFill>
                  <a:srgbClr val="A54C40"/>
                </a:solidFill>
              </a:rPr>
              <a:t>Principle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5C4FB-5C0B-43B6-ADE5-9A0524F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534400"/>
            <a:ext cx="4972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Charity organizations do not pay AGP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C636F-E9B4-44F8-B11D-3F208EC7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7962900"/>
            <a:ext cx="547370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AEDAB-1993-4210-BD94-957F4C3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817245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684"/>
                </a:solidFill>
              </a:defRPr>
            </a:pPr>
            <a:r>
              <a:rPr sz="1725" b="1">
                <a:solidFill>
                  <a:srgbClr val="2D6684"/>
                </a:solidFill>
              </a:rPr>
              <a:t>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D5126-15D3-46BE-BFAD-8E9960E1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8534400"/>
            <a:ext cx="4972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Keep all grant pathways open</a:t>
            </a:r>
          </a:p>
        </p:txBody>
      </p:sp>
    </p:spTree>
    <p:extLst>
      <p:ext uri="{BB962C8B-B14F-4D97-AF65-F5344CB8AC3E}">
        <p14:creationId xmlns:p14="http://schemas.microsoft.com/office/powerpoint/2010/main" val="15728252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7765D7-414E-4466-8698-440F21A0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05B38-6BB2-4D7B-8B9A-B55A43F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2A179-0527-41CF-97BC-DBCB345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85E9E-D1F4-4B16-988C-0EACBE7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763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AmanahHub is already live with public trust profiles.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50237-06DB-4C7E-BC73-C6037449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515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Funders and partners can inspect a working public directory today, supported by deployed protected workspaces.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EA9CB-7B1A-48DC-AFBA-D784CD8B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09905-A09E-4933-ACE3-AD74A9FB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0430"/>
            <a:ext cx="3569970" cy="2009140"/>
          </a:xfrm>
          <a:prstGeom xmlns:a="http://schemas.openxmlformats.org/drawingml/2006/main" prst="roundRect">
            <a:avLst>
              <a:gd name="adj" fmla="val 3793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529E0-43BD-4976-9EAC-E0AB0CA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F5B"/>
                </a:solidFill>
              </a:defRPr>
            </a:pPr>
            <a:r>
              <a:rPr sz="1725" b="1">
                <a:solidFill>
                  <a:srgbClr val="1F6F5B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74EE3-0879-41E7-9890-5EE0C050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30670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Visible organisations in the public charity directory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2EAD3-8D6E-47AC-80EF-B333339F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70" y="3440430"/>
            <a:ext cx="3569970" cy="2009140"/>
          </a:xfrm>
          <a:prstGeom xmlns:a="http://schemas.openxmlformats.org/drawingml/2006/main" prst="roundRect">
            <a:avLst>
              <a:gd name="adj" fmla="val 3793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F14C5-9485-4317-8ED0-E617D57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5760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684"/>
                </a:solidFill>
              </a:defRPr>
            </a:pPr>
            <a:r>
              <a:rPr sz="1725" b="1">
                <a:solidFill>
                  <a:srgbClr val="2D6684"/>
                </a:solidFill>
              </a:rPr>
              <a:t>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39629-357B-49E8-82D1-5C621C1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306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Published donor-facing trust profiles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4BED7-D17C-4F63-8EA8-894080A1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1970"/>
            <a:ext cx="3569970" cy="2009140"/>
          </a:xfrm>
          <a:prstGeom xmlns:a="http://schemas.openxmlformats.org/drawingml/2006/main" prst="roundRect">
            <a:avLst>
              <a:gd name="adj" fmla="val 3793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32A88-28CE-414E-B673-166D37B7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68935-2E16-4980-9C3A-B7659AC7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15050"/>
            <a:ext cx="3067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Mosque/surau, waqf, zakat, foundations, welfare and cooperative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5EA8C-D432-4A82-A763-6DDACB73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70" y="5601970"/>
            <a:ext cx="3569970" cy="2009140"/>
          </a:xfrm>
          <a:prstGeom xmlns:a="http://schemas.openxmlformats.org/drawingml/2006/main" prst="roundRect">
            <a:avLst>
              <a:gd name="adj" fmla="val 3793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DCEB6-F753-4ACD-BECC-C054F81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8102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Trust tiers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B0A9F-B607-449B-A39D-720E5B3C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115050"/>
            <a:ext cx="3067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Gold, Silver and Bronze profile language is visible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3F03D-A703-4578-A3D0-936D55CC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3510"/>
            <a:ext cx="3569970" cy="2009140"/>
          </a:xfrm>
          <a:prstGeom xmlns:a="http://schemas.openxmlformats.org/drawingml/2006/main" prst="roundRect">
            <a:avLst>
              <a:gd name="adj" fmla="val 3793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88A98-0C43-4881-8FC3-8DD2887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9819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Protected apps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DE2E5-E328-4E57-A09F-1AA7A1D1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267700"/>
            <a:ext cx="3067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amanahOS and AGP Console are deployed login surfaces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EA882-7BF9-4345-97A8-A1DA5AC6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70" y="7763510"/>
            <a:ext cx="3569970" cy="2009140"/>
          </a:xfrm>
          <a:prstGeom xmlns:a="http://schemas.openxmlformats.org/drawingml/2006/main" prst="roundRect">
            <a:avLst>
              <a:gd name="adj" fmla="val 3793"/>
            </a:avLst>
          </a:prstGeom>
          <a:noFill xmlns:a="http://schemas.openxmlformats.org/drawingml/2006/main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FA558-ED81-4D99-8B6A-2681BEF2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9819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Grant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1CDC5-44AC-4E60-9DF6-138B7D5F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267700"/>
            <a:ext cx="3067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A live MVP reduces funder execution 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ED1F0-DC26-42D1-AF18-69B7194C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3440430"/>
            <a:ext cx="9281160" cy="6332220"/>
          </a:xfrm>
          <a:prstGeom xmlns:a="http://schemas.openxmlformats.org/drawingml/2006/main" prst="roundRect">
            <a:avLst>
              <a:gd name="adj" fmla="val 1203"/>
            </a:avLst>
          </a:prstGeom>
          <a:noFill xmlns:a="http://schemas.openxmlformats.org/drawingml/2006/main"/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5f9ad5ae74e06"/>
          <a:stretch xmlns:a="http://schemas.openxmlformats.org/drawingml/2006/main"/>
        </p:blipFill>
        <p:spPr>
          <a:xfrm xmlns:a="http://schemas.openxmlformats.org/drawingml/2006/main">
            <a:off x="8282940" y="3440430"/>
            <a:ext cx="9281160" cy="63322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50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C17B9-205F-42FF-AE55-BFEF7A9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CD6CF-32E5-481B-8D3C-3D60824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BA4AE-E05A-42BD-A661-7067E4B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4B1F5-2F27-440F-A059-E1D7AA18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4497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Islamic giving has scale, but governance is fragmented at the operating 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A76C0-FA50-41E0-8A23-0DB3CD0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198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The gap is not generosity. It is consistent evidence, reporting, review and public trust across thousands of community institutions.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EEEA0-62AA-431C-94C2-47602E51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3A1F5-3352-461A-9B90-6B349F31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0430"/>
            <a:ext cx="5473700" cy="3061335"/>
          </a:xfrm>
          <a:prstGeom xmlns:a="http://schemas.openxmlformats.org/drawingml/2006/main" prst="roundRect">
            <a:avLst>
              <a:gd name="adj" fmla="val 2489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32C10-0F47-4C49-8251-D1B48BE1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Donor 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573BE-D019-41EC-82F3-49E34B22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Donors need visible accountability before giving repeatedly.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A09A1-B2BB-46A5-AAA1-AEAB3FC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3440430"/>
            <a:ext cx="5473700" cy="3061335"/>
          </a:xfrm>
          <a:prstGeom xmlns:a="http://schemas.openxmlformats.org/drawingml/2006/main" prst="roundRect">
            <a:avLst>
              <a:gd name="adj" fmla="val 2489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64F60-DD78-4108-AD4E-44758EB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Manual burden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D8EF1-4527-46FA-BD44-3EC22A51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Reports and evidence often sit in scattered files, forms and spreadsheets.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93C13-6876-4943-BAD2-8ED0ECA9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440430"/>
            <a:ext cx="5473700" cy="3061335"/>
          </a:xfrm>
          <a:prstGeom xmlns:a="http://schemas.openxmlformats.org/drawingml/2006/main" prst="roundRect">
            <a:avLst>
              <a:gd name="adj" fmla="val 2489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7DB23-42D0-4FC6-83EF-95349A4B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576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Oversight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496B0-BA0E-46DC-80C6-94C28FE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9433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Authorities need a live view without replacing state or institutional authority.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8BA8D-05C0-41E8-87A2-F9BEDB26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11315"/>
            <a:ext cx="5473700" cy="3061335"/>
          </a:xfrm>
          <a:prstGeom xmlns:a="http://schemas.openxmlformats.org/drawingml/2006/main" prst="roundRect">
            <a:avLst>
              <a:gd name="adj" fmla="val 2489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1FDAB-E284-4EB5-B8C0-D1CF185A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151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Volunteer reality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94E6D-402A-4CA8-B6B4-610663C1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199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Mosque and surau committees need simple routines, not heavy software.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2AC39-7F6A-4F1C-A1E3-927301A8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6711315"/>
            <a:ext cx="5473700" cy="3061335"/>
          </a:xfrm>
          <a:prstGeom xmlns:a="http://schemas.openxmlformats.org/drawingml/2006/main" prst="roundRect">
            <a:avLst>
              <a:gd name="adj" fmla="val 2489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4EE86-211F-4D93-BF98-E86DE60A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9151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Behaviour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7486B-A836-467A-A5EC-8F5408E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2199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Better governance requires habit formation and guided adoption.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8AD4C-3562-41E4-9190-4C8C78B3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711315"/>
            <a:ext cx="5473700" cy="3061335"/>
          </a:xfrm>
          <a:prstGeom xmlns:a="http://schemas.openxmlformats.org/drawingml/2006/main" prst="roundRect">
            <a:avLst>
              <a:gd name="adj" fmla="val 2489"/>
            </a:avLst>
          </a:prstGeom>
          <a:noFill xmlns:a="http://schemas.openxmlformats.org/drawingml/2006/main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55A8A-0372-4556-85CD-79B7FE6B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9151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Public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A9EED-ACC5-4322-9977-4178D116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199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Amanah must be visible, reviewable and updated over time.</a:t>
            </a:r>
          </a:p>
        </p:txBody>
      </p:sp>
    </p:spTree>
    <p:extLst>
      <p:ext uri="{BB962C8B-B14F-4D97-AF65-F5344CB8AC3E}">
        <p14:creationId xmlns:p14="http://schemas.microsoft.com/office/powerpoint/2010/main" val="17290776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FDC3FE-5940-46C7-B22E-F85519D5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F5B31-1535-401F-8BB7-59C8573F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0C84B-55E8-4684-8AD2-5A41A483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2545B-DF84-497E-8B64-2623EBC2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50304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AGP connects donor trust, organization operations and evaluator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7A4C4-CC7D-40C4-9BFC-AEEEE410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Three live product surfaces share one evidence and scoring backbone.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6A433-F020-4CE6-A3F8-DD91602C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E0BEE-1455-4FEE-B741-2AF3FEA6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6110"/>
            <a:ext cx="5461000" cy="6134100"/>
          </a:xfrm>
          <a:prstGeom xmlns:a="http://schemas.openxmlformats.org/drawingml/2006/main" prst="roundRect">
            <a:avLst>
              <a:gd name="adj" fmla="val 1395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B105A-668A-4A23-8FA5-E60CBBE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F5B"/>
                </a:solidFill>
              </a:defRPr>
            </a:pPr>
            <a:r>
              <a:rPr sz="1725" b="1">
                <a:solidFill>
                  <a:srgbClr val="1F6F5B"/>
                </a:solidFill>
              </a:rPr>
              <a:t>AmanahHub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9EF06-6E50-4DE8-8E90-6891C084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49720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Public directory, verified profiles, Amanah scores, certification tiers and direct-to-charity giving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47B44-6E29-4B5E-8B8A-02395085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166110"/>
            <a:ext cx="5461000" cy="6134100"/>
          </a:xfrm>
          <a:prstGeom xmlns:a="http://schemas.openxmlformats.org/drawingml/2006/main" prst="roundRect">
            <a:avLst>
              <a:gd name="adj" fmla="val 1395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01735-59CD-4764-80E4-B75B275A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872D"/>
                </a:solidFill>
              </a:defRPr>
            </a:pPr>
            <a:r>
              <a:rPr sz="1725" b="1">
                <a:solidFill>
                  <a:srgbClr val="B8872D"/>
                </a:solidFill>
              </a:rPr>
              <a:t>amanahOS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FD1CD-361D-4D8F-83F9-4D5D5884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9720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Workspace for profiles, accounting, evidence, projects, reports, policy kit, trust score and certification.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F0A0E-0F7D-4A0F-B479-AB93D11D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3166110"/>
            <a:ext cx="5461000" cy="6134100"/>
          </a:xfrm>
          <a:prstGeom xmlns:a="http://schemas.openxmlformats.org/drawingml/2006/main" prst="roundRect">
            <a:avLst>
              <a:gd name="adj" fmla="val 1395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86BE3-F086-44E0-9748-6C54EE91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7185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684"/>
                </a:solidFill>
              </a:defRPr>
            </a:pPr>
            <a:r>
              <a:rPr sz="1725" b="1">
                <a:solidFill>
                  <a:srgbClr val="2D6684"/>
                </a:solidFill>
              </a:rPr>
              <a:t>AGP Console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D3A7E-6829-4723-B32B-952EE8A7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733800"/>
            <a:ext cx="49720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2A"/>
                </a:solidFill>
              </a:defRPr>
            </a:pPr>
            <a:r>
              <a:rPr sz="2175" b="1">
                <a:solidFill>
                  <a:srgbClr val="172A2A"/>
                </a:solidFill>
              </a:rPr>
              <a:t>Control plane for trust events, governance cases, review queues, scholar approval and publication.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153B5-B088-45D9-9FCC-E3FDC327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05950"/>
            <a:ext cx="1684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872"/>
                </a:solidFill>
              </a:defRPr>
            </a:pPr>
            <a:r>
              <a:rPr sz="1725" b="0">
                <a:solidFill>
                  <a:srgbClr val="667872"/>
                </a:solidFill>
              </a:rPr>
              <a:t>Shared backbone: Amanah scoring engine, trust events, fund accounting, audit logs, public profile publication controls and Supabase-backed evidence records.</a:t>
            </a:r>
          </a:p>
        </p:txBody>
      </p:sp>
    </p:spTree>
    <p:extLst>
      <p:ext uri="{BB962C8B-B14F-4D97-AF65-F5344CB8AC3E}">
        <p14:creationId xmlns:p14="http://schemas.microsoft.com/office/powerpoint/2010/main" val="13390536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3B933D-2FE5-4B87-8D29-1E62B0B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F79D7-A71F-4144-9AEF-6A802C82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75601-83FF-484A-BEAB-6EB38CCA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5DBD7-E086-466B-AEC9-8E0E66C9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3716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The trust loop turns amanah into a repeatable governance rhythm.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440D6-E8FA-4DE8-86C4-1C896470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838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AGP creates a path from registration to evidence, review, scoring and selective publication.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564A-826B-4541-9511-1296734B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D4D74-6A92-4959-83D1-7BF90D79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6110"/>
            <a:ext cx="3230880" cy="6606540"/>
          </a:xfrm>
          <a:prstGeom xmlns:a="http://schemas.openxmlformats.org/drawingml/2006/main" prst="roundRect">
            <a:avLst>
              <a:gd name="adj" fmla="val 2358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C38B4-63DD-46EA-A3C2-86F622A4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5E523-7C3A-4911-A19C-DD369C0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A2A"/>
                </a:solidFill>
              </a:defRPr>
            </a:pPr>
            <a:r>
              <a:rPr sz="1950" b="1">
                <a:solidFill>
                  <a:srgbClr val="172A2A"/>
                </a:solidFill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49139-1B54-4218-BA30-1831AD3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44542"/>
                </a:solidFill>
              </a:defRPr>
            </a:pPr>
            <a:r>
              <a:rPr sz="1575">
                <a:solidFill>
                  <a:srgbClr val="344542"/>
                </a:solidFill>
              </a:rPr>
              <a:t>Authority-linked organization record and public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946A2-1649-421D-A52A-B09B773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30" y="3166110"/>
            <a:ext cx="3230880" cy="6606540"/>
          </a:xfrm>
          <a:prstGeom xmlns:a="http://schemas.openxmlformats.org/drawingml/2006/main" prst="roundRect">
            <a:avLst>
              <a:gd name="adj" fmla="val 2358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70640-6C97-4DF9-9458-DADE1FDD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411B2-D4DC-40B9-88AA-6E1BABB2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A2A"/>
                </a:solidFill>
              </a:defRPr>
            </a:pPr>
            <a:r>
              <a:rPr sz="1950" b="1">
                <a:solidFill>
                  <a:srgbClr val="172A2A"/>
                </a:solidFill>
              </a:rPr>
              <a:t>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E567F-E2ED-4646-A4EC-7B10734E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386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44542"/>
                </a:solidFill>
              </a:defRPr>
            </a:pPr>
            <a:r>
              <a:rPr sz="1575">
                <a:solidFill>
                  <a:srgbClr val="344542"/>
                </a:solidFill>
              </a:rPr>
              <a:t>Members update reports, projects, bookkeeping and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B3156-E3A1-466D-BE18-7C7FAF9F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3166110"/>
            <a:ext cx="3230880" cy="6606540"/>
          </a:xfrm>
          <a:prstGeom xmlns:a="http://schemas.openxmlformats.org/drawingml/2006/main" prst="roundRect">
            <a:avLst>
              <a:gd name="adj" fmla="val 2358"/>
            </a:avLst>
          </a:prstGeom>
          <a:noFill xmlns:a="http://schemas.openxmlformats.org/drawingml/2006/main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E4AC8-878F-42A7-ADBF-C87D348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A49A4-5937-49E9-940D-EE6BE8CE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57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A2A"/>
                </a:solidFill>
              </a:defRPr>
            </a:pPr>
            <a:r>
              <a:rPr sz="1950" b="1">
                <a:solidFill>
                  <a:srgbClr val="172A2A"/>
                </a:solidFill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8DA7B-CB26-4C9A-AAD5-3097F64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386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44542"/>
                </a:solidFill>
              </a:defRPr>
            </a:pPr>
            <a:r>
              <a:rPr sz="1575">
                <a:solidFill>
                  <a:srgbClr val="344542"/>
                </a:solidFill>
              </a:rPr>
              <a:t>Console routes trust events, findings and scholar approval.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260CE-2BFF-44D6-8D77-C1123FBB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890" y="3166110"/>
            <a:ext cx="3230880" cy="6606540"/>
          </a:xfrm>
          <a:prstGeom xmlns:a="http://schemas.openxmlformats.org/drawingml/2006/main" prst="roundRect">
            <a:avLst>
              <a:gd name="adj" fmla="val 2358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AF254-2878-47D2-B9B5-2B8DEE32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528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6E442-4DD7-4779-A537-A4825ADB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57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A2A"/>
                </a:solidFill>
              </a:defRPr>
            </a:pPr>
            <a:r>
              <a:rPr sz="1950" b="1">
                <a:solidFill>
                  <a:srgbClr val="172A2A"/>
                </a:solidFill>
              </a:rPr>
              <a:t>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42000-9F0E-4548-8BA3-30E3A3BC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386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44542"/>
                </a:solidFill>
              </a:defRPr>
            </a:pPr>
            <a:r>
              <a:rPr sz="1575">
                <a:solidFill>
                  <a:srgbClr val="344542"/>
                </a:solidFill>
              </a:rPr>
              <a:t>Verified behaviour becomes donor-readable trust signals.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30BB5-0A8F-4C6F-853F-E8C61B3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220" y="3166110"/>
            <a:ext cx="3230880" cy="6606540"/>
          </a:xfrm>
          <a:prstGeom xmlns:a="http://schemas.openxmlformats.org/drawingml/2006/main" prst="roundRect">
            <a:avLst>
              <a:gd name="adj" fmla="val 2358"/>
            </a:avLst>
          </a:prstGeom>
          <a:noFill xmlns:a="http://schemas.openxmlformats.org/drawingml/2006/main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E5965-45A3-4DDC-9D4D-A0DAEB6A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3528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54C40"/>
                </a:solidFill>
              </a:defRPr>
            </a:pPr>
            <a:r>
              <a:rPr sz="1500" b="1">
                <a:solidFill>
                  <a:srgbClr val="A54C40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8E461-AD41-4AF6-A99A-9211424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657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A2A"/>
                </a:solidFill>
              </a:defRPr>
            </a:pPr>
            <a:r>
              <a:rPr sz="1950" b="1">
                <a:solidFill>
                  <a:srgbClr val="172A2A"/>
                </a:solidFill>
              </a:rPr>
              <a:t>Publish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C48632-57D9-446B-83F1-000B471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40386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44542"/>
                </a:solidFill>
              </a:defRPr>
            </a:pPr>
            <a:r>
              <a:rPr sz="1575">
                <a:solidFill>
                  <a:srgbClr val="344542"/>
                </a:solidFill>
              </a:rPr>
              <a:t>Approved profiles create public confidence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6545070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E4B37-1D86-4EB0-81CB-E1171F4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837AC-E243-4B7D-83FC-0C7FEB6E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A7FAD-173C-4127-A2B7-0C24DCD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PUBLIC-INTEREST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3E603-F9CC-40DA-8D8A-98DC037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382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AGP is funded around charities, not from charities.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AAA86-6A65-4248-9EE4-662DE50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219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The platform protects charity organizations from AGP fees while institutions and sponsors fund the infrastructure they benefit from.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DCD44-77AC-4C40-A62B-DBA1B8A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63FD3-4494-4CCC-914D-AD70B58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6110"/>
            <a:ext cx="8286750" cy="6606540"/>
          </a:xfrm>
          <a:prstGeom xmlns:a="http://schemas.openxmlformats.org/drawingml/2006/main" prst="roundRect">
            <a:avLst>
              <a:gd name="adj" fmla="val 1153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020F2-6A56-4093-8428-ECE08810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771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2A"/>
                </a:solidFill>
              </a:defRPr>
            </a:pPr>
            <a:r>
              <a:rPr sz="2400" b="1">
                <a:solidFill>
                  <a:srgbClr val="172A2A"/>
                </a:solidFill>
              </a:rPr>
              <a:t>Funded 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62241-AFAD-420B-AC06-24040A36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6F5B"/>
                </a:solidFill>
              </a:defRPr>
            </a:pPr>
            <a:r>
              <a:rPr sz="1875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E8B74-C642-46CA-B287-6B74A91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Grant funding for development, expansion and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846E0-7BB7-4ED8-A3B0-E656F2E1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6F5B"/>
                </a:solidFill>
              </a:defRPr>
            </a:pPr>
            <a:r>
              <a:rPr sz="1875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F3EF2-1315-45DC-ADD0-17696012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Corporate ESG/CSR sponsorship for onboarding and audit-readiness cohorts.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8C830-F5C0-4789-B304-0339489C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6F5B"/>
                </a:solidFill>
              </a:defRPr>
            </a:pPr>
            <a:r>
              <a:rPr sz="1875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B1C1F-1446-4BC4-B2C6-582569E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Zakat, waqf, council and institutional support for long-term ecosystem value.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D60FC-3326-4042-82A7-3731E734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66110"/>
            <a:ext cx="8286750" cy="6606540"/>
          </a:xfrm>
          <a:prstGeom xmlns:a="http://schemas.openxmlformats.org/drawingml/2006/main" prst="roundRect">
            <a:avLst>
              <a:gd name="adj" fmla="val 1153"/>
            </a:avLst>
          </a:prstGeom>
          <a:noFill xmlns:a="http://schemas.openxmlformats.org/drawingml/2006/main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680DD-8588-4787-8CD6-5C37B06D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09950"/>
            <a:ext cx="771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2A"/>
                </a:solidFill>
              </a:defRPr>
            </a:pPr>
            <a:r>
              <a:rPr sz="2400" b="1">
                <a:solidFill>
                  <a:srgbClr val="172A2A"/>
                </a:solidFill>
              </a:rPr>
              <a:t>Sponsored service 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6B762-DBFD-446B-A89C-13A3221B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6F5B"/>
                </a:solidFill>
              </a:defRPr>
            </a:pPr>
            <a:r>
              <a:rPr sz="1875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38CF9-45BC-40C5-853D-5A656CD9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4335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Organisation SaaS subscription and managed bookkeeping.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39BEA-33AB-4905-859B-5E11A5D4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005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6F5B"/>
                </a:solidFill>
              </a:defRPr>
            </a:pPr>
            <a:r>
              <a:rPr sz="1875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F9FA7-EAB2-4433-AEB3-C3869068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0055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Audit-readiness, certification support and governance workshops.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6260C-E769-45CE-B00D-7E77A43A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577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6F5B"/>
                </a:solidFill>
              </a:defRPr>
            </a:pPr>
            <a:r>
              <a:rPr sz="1875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C0D81-0943-48B8-B034-CAE23DAF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57750"/>
            <a:ext cx="742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Institutional dashboards, CSR/funder reporting tools and reviewer/Shariah marketplace.</a:t>
            </a:r>
          </a:p>
        </p:txBody>
      </p:sp>
    </p:spTree>
    <p:extLst>
      <p:ext uri="{BB962C8B-B14F-4D97-AF65-F5344CB8AC3E}">
        <p14:creationId xmlns:p14="http://schemas.microsoft.com/office/powerpoint/2010/main" val="637347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9D09F-EB55-405A-A4D8-22E7B5AB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28F4A-FB88-4140-AE73-9915DE0C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42CE4-23D2-4678-ADD8-EA64FCF6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JAKIM / MAIN DEVELOPMENT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4C3F9-39EA-43A3-A929-4C1F4DCB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2230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Register the ecosystem first; activate governance over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FAE20-0AAC-4D24-8A49-6C6EE46D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87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AGP can become the implementation partner for a living registry and governance workflow under an authority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A0032-6B48-4A8B-A91E-E792DC2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39C01-294C-4E98-A3D3-FC206AF6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6110"/>
            <a:ext cx="5473700" cy="3198495"/>
          </a:xfrm>
          <a:prstGeom xmlns:a="http://schemas.openxmlformats.org/drawingml/2006/main" prst="roundRect">
            <a:avLst>
              <a:gd name="adj" fmla="val 2382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3AA5E-6051-4773-825A-6FCC68D6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Authority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5E1FD-1B45-42F5-B96F-01FE2FFE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JAKIM or a state MAIN identifies the pilot or rollout cohort.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0F273-71CA-4B58-AC27-4BB8A0E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3166110"/>
            <a:ext cx="5473700" cy="3198495"/>
          </a:xfrm>
          <a:prstGeom xmlns:a="http://schemas.openxmlformats.org/drawingml/2006/main" prst="roundRect">
            <a:avLst>
              <a:gd name="adj" fmla="val 2382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BA82F-DA21-4B19-8F04-640DFF54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718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AGP registration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71993-AC57-456E-A74D-AE4F028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766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AGP registers mosques, suraus, charities, waqf initiatives and approved entities.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FB883-DE28-4EAC-AC36-39420AEA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166110"/>
            <a:ext cx="5473700" cy="3198495"/>
          </a:xfrm>
          <a:prstGeom xmlns:a="http://schemas.openxmlformats.org/drawingml/2006/main" prst="roundRect">
            <a:avLst>
              <a:gd name="adj" fmla="val 2382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54FC2-114F-4254-88AC-797BFFB1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718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Member activation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FB05E-FB0F-485D-B1F2-98D29666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7665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Organizations update profiles, reports, evidence and certification progress over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2E236-8111-41A9-94D7-B1B0C821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4155"/>
            <a:ext cx="5473700" cy="3198495"/>
          </a:xfrm>
          <a:prstGeom xmlns:a="http://schemas.openxmlformats.org/drawingml/2006/main" prst="roundRect">
            <a:avLst>
              <a:gd name="adj" fmla="val 2382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369FF-AF97-4B77-94A1-FD348F1F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818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For JAKIM/MAIN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EED98-975D-4F9D-99C6-CA92058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866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Dashboards show reporting gaps, audit-readiness signals and improvement progress.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D34F7-BDEB-4D7C-AC0C-17EB7DE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6574155"/>
            <a:ext cx="5473700" cy="3198495"/>
          </a:xfrm>
          <a:prstGeom xmlns:a="http://schemas.openxmlformats.org/drawingml/2006/main" prst="roundRect">
            <a:avLst>
              <a:gd name="adj" fmla="val 2382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7DA5A-187F-4FA5-9671-630A2094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818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For organizations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FA404-60C9-46E3-9E73-298DC678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0866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Guided onboarding and governance support without AGP fees.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E4BD0-D39A-483C-9662-137F82B2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574155"/>
            <a:ext cx="5473700" cy="3198495"/>
          </a:xfrm>
          <a:prstGeom xmlns:a="http://schemas.openxmlformats.org/drawingml/2006/main" prst="roundRect">
            <a:avLst>
              <a:gd name="adj" fmla="val 2382"/>
            </a:avLst>
          </a:prstGeom>
          <a:noFill xmlns:a="http://schemas.openxmlformats.org/drawingml/2006/main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4E2D9-441F-4724-BCB1-C520B058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818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For donors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44DD9-D041-483F-BB2B-BCA537AE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0866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Clearer trust signals before donating.</a:t>
            </a:r>
          </a:p>
        </p:txBody>
      </p:sp>
    </p:spTree>
    <p:extLst>
      <p:ext uri="{BB962C8B-B14F-4D97-AF65-F5344CB8AC3E}">
        <p14:creationId xmlns:p14="http://schemas.microsoft.com/office/powerpoint/2010/main" val="13982568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751AB-D758-44D8-A84F-3BAAB2D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5D58B-5225-410B-B1EA-5583946B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2DF99-8F47-410D-837B-8AE11933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ADVISOR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7A1BD-E5AC-4966-A631-3B45F6F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38493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Prof. Anuar strengthens the behaviour-change and evaluation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A1BF7-D497-4AAA-BF62-A6217B5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190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The recommended role is advising member, allowing AGP to apply directly while keeping academic and research pathways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73D34-D66D-489F-AEEE-CD3FB647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424CD-866B-4BD2-ACA3-5C3ADE73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0430"/>
            <a:ext cx="4052888" cy="5859780"/>
          </a:xfrm>
          <a:prstGeom xmlns:a="http://schemas.openxmlformats.org/drawingml/2006/main" prst="roundRect">
            <a:avLst>
              <a:gd name="adj" fmla="val 1880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BB231-7C32-41A3-ABBC-32B524CA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Adoption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C93AD-60A7-4952-842C-E69B0F34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562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Explain what drives digital governance uptake among committees and administrators.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750C7-AB00-4BE1-9BED-DD98C9A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3440430"/>
            <a:ext cx="4052888" cy="5859780"/>
          </a:xfrm>
          <a:prstGeom xmlns:a="http://schemas.openxmlformats.org/drawingml/2006/main" prst="roundRect">
            <a:avLst>
              <a:gd name="adj" fmla="val 1880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ED6E7-FCB1-498A-B779-4957FD4A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Training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A4E40-CE49-4422-B5AE-244782ED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43350"/>
            <a:ext cx="3562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Shape workshops around HRD, organizational learning and volunteer-led capability.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5390B-7097-48E3-B46E-06C8DDF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440430"/>
            <a:ext cx="4052888" cy="5859780"/>
          </a:xfrm>
          <a:prstGeom xmlns:a="http://schemas.openxmlformats.org/drawingml/2006/main" prst="roundRect">
            <a:avLst>
              <a:gd name="adj" fmla="val 1880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3DDA-DA35-4067-A383-CB61C33D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5760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Evaluation 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1923B-5D5A-4EED-B586-86132851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43350"/>
            <a:ext cx="3562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Guide baseline/endline logic, interviews and behavioural measurement.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C3540-B78D-477F-B052-5F21D7E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213" y="3440430"/>
            <a:ext cx="4052888" cy="5859780"/>
          </a:xfrm>
          <a:prstGeom xmlns:a="http://schemas.openxmlformats.org/drawingml/2006/main" prst="roundRect">
            <a:avLst>
              <a:gd name="adj" fmla="val 1880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80610-3C1A-4221-9B6F-F30E9FB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657600"/>
            <a:ext cx="356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Credibility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4D675-72C7-4859-98BD-135AA976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943350"/>
            <a:ext cx="3562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Position AGP as a serious governance intervention, not only software.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592A8-E0D3-44DD-BBB4-813125F0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05950"/>
            <a:ext cx="1684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872"/>
                </a:solidFill>
              </a:defRPr>
            </a:pPr>
            <a:r>
              <a:rPr sz="1725" b="0">
                <a:solidFill>
                  <a:srgbClr val="667872"/>
                </a:solidFill>
              </a:rPr>
              <a:t>USM-linked co-applications remain available where a funder specifically values academic anchoring.</a:t>
            </a:r>
          </a:p>
        </p:txBody>
      </p:sp>
    </p:spTree>
    <p:extLst>
      <p:ext uri="{BB962C8B-B14F-4D97-AF65-F5344CB8AC3E}">
        <p14:creationId xmlns:p14="http://schemas.microsoft.com/office/powerpoint/2010/main" val="19181868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18476-BC89-4C24-9171-5072F965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78BD1-BAE9-446F-820D-EC2F7257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0985C-D8AF-4544-BED5-411CC60A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PILOT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853E9-74C2-46D9-A5DB-BFA80843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299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Success is measured as capability change, not account creation.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0BEE8-FFA2-4F12-A6B9-DA296400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143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The pilot should prove that organizations become more evidence-ready, report more consistently and improve trust signals.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C6F38-69AD-436E-AE6B-99147155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39F54-8C1F-459C-B152-3A27836C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6070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147ED-F193-4416-92A9-FF2B37E7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Registry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E857E-55AB-4605-AA5F-ECC54C2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100% of agreed JAKIM/MAIN pilot cohort registered.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89480-3916-486C-A635-9EA4C012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846070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84ADC-1205-4BF9-9CC6-BABD9D9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Evidence 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00590-2421-440F-B4BD-863E00A8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80% complete core evidence pack.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231E6-B54C-461D-BB34-8E78EBC4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846070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8F47C-21E3-40D4-8C01-9AD191F4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Reporting discipline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A9505-8A1C-4EC9-9986-AC6F7FCA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52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50% improvement in timeliness against baseline.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780C6-7B77-425E-ADA7-2471A5AF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4135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26FDF-E9FE-4987-AB82-1000AA8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29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Amanah movement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E8213-16CC-4474-AD60-DC817840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342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+10 to +15 points where baseline gaps exist.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6ADE7-4C6B-478F-AD9B-D6B23461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6414135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3EFB3-342E-436B-8843-188D342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629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Remediation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5D04A-1EE0-4105-B729-C059E28F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9342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70% of findings closed within agreed cycle.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70FB2-EC88-4310-B3B0-F35B5F0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414135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9E9E4-9816-4C8D-B8DD-1BB6023E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629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Trust perception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41653-A1A8-4BEE-9D45-22F7E154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9342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20% donor confidence lift after viewing public profiles.</a:t>
            </a:r>
          </a:p>
        </p:txBody>
      </p:sp>
    </p:spTree>
    <p:extLst>
      <p:ext uri="{BB962C8B-B14F-4D97-AF65-F5344CB8AC3E}">
        <p14:creationId xmlns:p14="http://schemas.microsoft.com/office/powerpoint/2010/main" val="8551570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0DC39-AE6E-4C91-BA84-1FC684D6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3EE46-6309-4A03-A97F-23C9B588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E39BE-48C4-4674-8BCF-6EB26613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FUNDING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C60B6-55E7-4B41-B3D5-C21E76F2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4058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Lead with AGP direct applications, but keep every viable route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D3073-B076-45DF-9CC6-B537C18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137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The grant execution board remains the pipeline: no route is dropped while JAKIM/MAIN and advisor conversations mature.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B7B74-82BA-45FD-BE00-F48436F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9E219-89CA-43D1-80B2-2825848B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03767-3EBD-453C-A897-B4476BEC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Immediate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51763-9D95-4D1A-A4E0-D9F05B38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MD Status, Hasanah Micro, IsDB Engage registration, JAKIM/MAIN letter.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910FD-8126-41BB-ACBC-3CB4451E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571750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A2AFA-B266-4B2B-8C19-53440BAD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Build credibility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A6421-8E5B-4472-A9F0-38DA923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Cradle CIP, SC FIKRA ACE, JAWHAR engagement, Shariah advisor.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8E120-A5B0-4AC0-8FB6-C5C17423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571750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F9AFC-EA04-494E-9984-04358F2C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813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Accelerate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729BC-5739-404A-BA07-6118939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0861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MDEC MDCG, IERIF/INCEIF, Hasanah Special Grant, pilot coordinators.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75724-72C4-45D6-A3BA-DB56842B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C9F0E-39AD-4839-8491-7DD9599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Scale prep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CA67A-495B-4B5A-82BF-267E86A9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81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IsDB Transform Fund, pilot evidence pack, CSR/ESG sponsorships.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C85B5-6D8B-43AA-9EBF-330E7EF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6276975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8608A-2922-420B-BFCA-6C3DDB41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960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70E6E-0230-4A83-8FF0-42A4EF98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81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MDAG, additional state MAIN expansion, regional OIC partnerships.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BAAED-FFAF-40C9-91FD-C2F1E186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276975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6FA3D-A5CB-4257-9030-747057E5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960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Academic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8CFE8-8758-4E58-B68F-4207136D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81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University-linked co-applications remain open when funder fit is strong.</a:t>
            </a:r>
          </a:p>
        </p:txBody>
      </p:sp>
    </p:spTree>
    <p:extLst>
      <p:ext uri="{BB962C8B-B14F-4D97-AF65-F5344CB8AC3E}">
        <p14:creationId xmlns:p14="http://schemas.microsoft.com/office/powerpoint/2010/main" val="14336218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19DC22-F2FC-4643-9A4F-16764114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6D4CF-AC83-4AFD-873F-2021D2E8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C53CE-2B6D-4947-8D79-52B7D1DE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USE OF FUNDS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4ACF0-6F61-4BDF-B0BB-5177C8A3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172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RM550,000 funds a serious 12-month proof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EC55F-514B-448E-956B-EB20B409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10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The budget supports product hardening, research/evaluation, training, field operations and institutional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74687-4BBE-4679-BEE2-C083FDA1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2C615-3B55-4F4C-935C-E1F51C43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6070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DF711-7C01-4242-9FEF-8F1F51BB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RM180k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5C3A8-DA13-4BF2-AB1E-DD51690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Platform development, configuration, trust profile polish and data exports.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6EDF5-17AA-4128-BEFB-AC964BE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846070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E8CFB-2E8A-4CBB-A362-EFE995EF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RM90k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D79A3-3B5F-411B-AB1B-1C17C6E2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Research design, surveys, interviews, analysis and reporting.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A87D2-7301-464B-B0F2-684DDADE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846070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C1EDD-9519-46AB-97BB-0F9D49C0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RM80k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32D8A-8AAE-4255-96FE-D4D8638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52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Training, governance workshops, materials and facilitation.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4DAF0-6788-4813-87D8-AFAC105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4135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76157-591E-464C-9403-89A0B84C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29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RM90k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B55F4-992B-4EEF-AC26-FE26E2BF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342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Pilot operations, helpdesk, field coordination and onboarding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214D6-7C54-4834-B7F4-5F27D2DD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6414135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955FA-6E5A-4F30-8105-149992FC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629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RM55k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5331D-E328-4DB4-B303-2787795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9342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Cloud, storage, monitoring, backup, security and compliance support.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8F032-8F37-4D98-86A8-18E2960A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414135"/>
            <a:ext cx="5473700" cy="3358515"/>
          </a:xfrm>
          <a:prstGeom xmlns:a="http://schemas.openxmlformats.org/drawingml/2006/main" prst="roundRect">
            <a:avLst>
              <a:gd name="adj" fmla="val 2269"/>
            </a:avLst>
          </a:prstGeom>
          <a:noFill xmlns:a="http://schemas.openxmlformats.org/drawingml/2006/main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C9BD1-242E-493D-8542-006B1464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629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RM55k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B2A575-D398-4D12-BCC6-803B2D5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9342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Dissemination and contingency for delivery risk.</a:t>
            </a:r>
          </a:p>
        </p:txBody>
      </p:sp>
    </p:spTree>
    <p:extLst>
      <p:ext uri="{BB962C8B-B14F-4D97-AF65-F5344CB8AC3E}">
        <p14:creationId xmlns:p14="http://schemas.microsoft.com/office/powerpoint/2010/main" val="11494777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71685-DDF7-4D80-81B1-A7E68116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503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5B"/>
                </a:solidFill>
              </a:defRPr>
            </a:pPr>
            <a:r>
              <a:rPr sz="1575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4C8C0-5748-43A9-9BE8-E761870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51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872"/>
                </a:solidFill>
              </a:defRPr>
            </a:pPr>
            <a:r>
              <a:rPr sz="1425">
                <a:solidFill>
                  <a:srgbClr val="667872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2A689-F6A5-40D6-B264-768622A1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MEETING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D7BD5-5C05-4691-9808-F5C81978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2687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A2A"/>
                </a:solidFill>
              </a:defRPr>
            </a:pPr>
            <a:r>
              <a:rPr sz="3900" b="1">
                <a:solidFill>
                  <a:srgbClr val="172A2A"/>
                </a:solidFill>
              </a:rPr>
              <a:t>Leave with advisory support and a practical institutional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2CEA0-C4A2-47C7-AEB7-D2196302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706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The decision is not to close every route today; it is to secure enough alignment to move the next proposals forward.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980D1-2337-489C-B153-A1ACA89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6DAB7-E115-4838-B376-3A2E7C68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7F679-A2B8-4374-982A-A62768A9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1. Advisor 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28090-EC1C-4F7C-A65F-5CD770AB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Invite Prof. Anuar to advise behaviour-change, training and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A97B0-D672-456E-8CF3-209680A7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571750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358A2-92FF-48BD-A77A-D4852BB5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872D"/>
                </a:solidFill>
              </a:defRPr>
            </a:pPr>
            <a:r>
              <a:rPr sz="1350" b="1">
                <a:solidFill>
                  <a:srgbClr val="B8872D"/>
                </a:solidFill>
              </a:rPr>
              <a:t>2. Institutional door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719BF-8C78-4A69-9694-AAC36A8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Identify the first JAKIM/MAIN or JAWHAR conversation and authority scope.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6FB41-C6CB-42A5-AC06-CFD9649F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571750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63BA0-E2D3-4483-9ED8-55967B08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813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3. Grant packaging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F5072-00F4-426A-B653-D342C2DA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0861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Prepare modular proposals for direct grants, institutions and academic routes.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345DB-CF78-4CD5-93EA-B6F0FEA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5C8E7-8EDE-4796-8D34-16ABD864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1510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A2A"/>
                </a:solidFill>
              </a:defRPr>
            </a:pPr>
            <a:r>
              <a:rPr sz="2025" b="1">
                <a:solidFill>
                  <a:srgbClr val="172A2A"/>
                </a:solidFill>
              </a:rPr>
              <a:t>Proposed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A2E7A-9E07-483D-9C9B-C58FF46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53250"/>
            <a:ext cx="49339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6F5B"/>
                </a:solidFill>
              </a:defRPr>
            </a:pPr>
            <a:r>
              <a:rPr sz="2100" b="1">
                <a:solidFill>
                  <a:srgbClr val="1F6F5B"/>
                </a:solidFill>
              </a:rPr>
              <a:t>Can Prof. Anuar advise the organizational behaviour model while AGP approaches JAKIM/MAIN and keeps all grant routes open?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53C87-3348-4862-870E-1C0E8DA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6276975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7D4FF-3DAD-4151-86C9-921E7C0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960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4C40"/>
                </a:solidFill>
              </a:defRPr>
            </a:pPr>
            <a:r>
              <a:rPr sz="1350" b="1">
                <a:solidFill>
                  <a:srgbClr val="A54C40"/>
                </a:solidFill>
              </a:rPr>
              <a:t>Next artifact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15939-5A5A-4839-B8BE-4CD8BB7E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81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One-page JAKIM/MAIN proposal letter plus modular grant concept notes.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F0DA71-B06C-4906-953C-94DCBDD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276975"/>
            <a:ext cx="5473700" cy="3495675"/>
          </a:xfrm>
          <a:prstGeom xmlns:a="http://schemas.openxmlformats.org/drawingml/2006/main" prst="roundRect">
            <a:avLst>
              <a:gd name="adj" fmla="val 2180"/>
            </a:avLst>
          </a:prstGeom>
          <a:noFill xmlns:a="http://schemas.openxmlformats.org/drawingml/2006/main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D360A-9D5B-4D0C-B351-0B3FE1D2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960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684"/>
                </a:solidFill>
              </a:defRPr>
            </a:pPr>
            <a:r>
              <a:rPr sz="1350" b="1">
                <a:solidFill>
                  <a:srgbClr val="2D6684"/>
                </a:solidFill>
              </a:rPr>
              <a:t>Near-term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C1D04-27F4-4FF1-8166-945A4695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81800"/>
            <a:ext cx="497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2A"/>
                </a:solidFill>
              </a:defRPr>
            </a:pPr>
            <a:r>
              <a:rPr sz="1725" b="1">
                <a:solidFill>
                  <a:srgbClr val="172A2A"/>
                </a:solidFill>
              </a:rPr>
              <a:t>Use the live 46-org / 37-profile MVP as the demo evidence.</a:t>
            </a:r>
          </a:p>
        </p:txBody>
      </p:sp>
    </p:spTree>
    <p:extLst>
      <p:ext uri="{BB962C8B-B14F-4D97-AF65-F5344CB8AC3E}">
        <p14:creationId xmlns:p14="http://schemas.microsoft.com/office/powerpoint/2010/main" val="1024937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2026-05-08T11:02:45.3450000Z</dcterms:created>
  <dcterms:modified xsi:type="dcterms:W3CDTF">2026-05-08T11:02:45.3450000Z</dcterms:modified>
</coreProperties>
</file>