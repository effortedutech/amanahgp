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70" d="100"/>
          <a:sy n="70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6D13DB9-A643-405C-9321-965BFCC0A05F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1D495F-015D-4D2B-9F0F-230E02188942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0542CD-5DFA-47DC-991B-B824D6427369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3468350" cy="1752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5700" b="1">
                <a:solidFill>
                  <a:srgbClr val="172A2A"/>
                </a:solidFill>
              </a:defRPr>
            </a:pPr>
            <a:r>
              <a:rPr sz="5700" b="1">
                <a:solidFill>
                  <a:srgbClr val="172A2A"/>
                </a:solidFill>
              </a:rPr>
              <a:t>Public-Interest Governance Infrastructure for Islamic Social Finance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D68F39-0CAD-4EEB-A5C5-6513AAE3D8CE}"/>
              </a:ext>
            </a:extLst>
          </p:cNvPr>
          <p:cNvSpPr>
            <a:spLocks noGrp="1"/>
          </p:cNvSpPr>
          <p:nvPr/>
        </p:nvSpPr>
        <p:spPr>
          <a:xfrm>
            <a:off x="723900" y="2990850"/>
            <a:ext cx="11849100" cy="723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325">
                <a:solidFill>
                  <a:srgbClr val="344542"/>
                </a:solidFill>
              </a:defRPr>
            </a:pPr>
            <a:r>
              <a:rPr sz="2325">
                <a:solidFill>
                  <a:srgbClr val="344542"/>
                </a:solidFill>
              </a:rPr>
              <a:t>AGP-led grant and development proposal with Prof. Anuar as advising member and JAKIM/MAIN as potential authority-side partners.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AA88F7-1F1B-4B1F-94E4-AB09B335F33C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3429000" cy="47625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A566507-1E73-4947-A531-EAE0EB8DDB81}"/>
              </a:ext>
            </a:extLst>
          </p:cNvPr>
          <p:cNvSpPr>
            <a:spLocks noGrp="1"/>
          </p:cNvSpPr>
          <p:nvPr/>
        </p:nvSpPr>
        <p:spPr>
          <a:xfrm>
            <a:off x="723900" y="7962900"/>
            <a:ext cx="5473700" cy="1809750"/>
          </a:xfrm>
          <a:prstGeom prst="roundRect">
            <a:avLst>
              <a:gd name="adj" fmla="val 4211"/>
            </a:avLst>
          </a:prstGeom>
          <a:noFill/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B26EA8-C9CB-4C18-8720-1CA250FBC851}"/>
              </a:ext>
            </a:extLst>
          </p:cNvPr>
          <p:cNvSpPr>
            <a:spLocks noGrp="1"/>
          </p:cNvSpPr>
          <p:nvPr/>
        </p:nvSpPr>
        <p:spPr>
          <a:xfrm>
            <a:off x="730250" y="548640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Position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620671-C605-46C1-864B-970945CB8DDC}"/>
              </a:ext>
            </a:extLst>
          </p:cNvPr>
          <p:cNvSpPr>
            <a:spLocks noGrp="1"/>
          </p:cNvSpPr>
          <p:nvPr/>
        </p:nvSpPr>
        <p:spPr>
          <a:xfrm>
            <a:off x="730250" y="5848350"/>
            <a:ext cx="49720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Live seeded MVP, not a paper concept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77B1C08-A325-4784-A4E4-F8B6372369FE}"/>
              </a:ext>
            </a:extLst>
          </p:cNvPr>
          <p:cNvSpPr>
            <a:spLocks noGrp="1"/>
          </p:cNvSpPr>
          <p:nvPr/>
        </p:nvSpPr>
        <p:spPr>
          <a:xfrm>
            <a:off x="6407150" y="7962900"/>
            <a:ext cx="5473700" cy="1809750"/>
          </a:xfrm>
          <a:prstGeom prst="roundRect">
            <a:avLst>
              <a:gd name="adj" fmla="val 4211"/>
            </a:avLst>
          </a:prstGeom>
          <a:noFill/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4D69D3-4590-4D25-A0AB-F8CE9C005C7D}"/>
              </a:ext>
            </a:extLst>
          </p:cNvPr>
          <p:cNvSpPr>
            <a:spLocks noGrp="1"/>
          </p:cNvSpPr>
          <p:nvPr/>
        </p:nvSpPr>
        <p:spPr>
          <a:xfrm>
            <a:off x="6407150" y="548640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Principle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A5C4FB-5C0B-43B6-ADE5-9A0524FBA161}"/>
              </a:ext>
            </a:extLst>
          </p:cNvPr>
          <p:cNvSpPr>
            <a:spLocks noGrp="1"/>
          </p:cNvSpPr>
          <p:nvPr/>
        </p:nvSpPr>
        <p:spPr>
          <a:xfrm>
            <a:off x="6407150" y="5848350"/>
            <a:ext cx="49720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Charity organizations do not pay AGP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0C636F-E9B4-44F8-B11D-3F208EC70A8A}"/>
              </a:ext>
            </a:extLst>
          </p:cNvPr>
          <p:cNvSpPr>
            <a:spLocks noGrp="1"/>
          </p:cNvSpPr>
          <p:nvPr/>
        </p:nvSpPr>
        <p:spPr>
          <a:xfrm>
            <a:off x="12090400" y="7962900"/>
            <a:ext cx="5473700" cy="1809750"/>
          </a:xfrm>
          <a:prstGeom prst="roundRect">
            <a:avLst>
              <a:gd name="adj" fmla="val 4211"/>
            </a:avLst>
          </a:prstGeom>
          <a:noFill/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AEDAB-1993-4210-BD94-957F4C39B92C}"/>
              </a:ext>
            </a:extLst>
          </p:cNvPr>
          <p:cNvSpPr>
            <a:spLocks noGrp="1"/>
          </p:cNvSpPr>
          <p:nvPr/>
        </p:nvSpPr>
        <p:spPr>
          <a:xfrm>
            <a:off x="12103100" y="548640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Route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1D5126-15D3-46BE-BFAD-8E9960E1BF92}"/>
              </a:ext>
            </a:extLst>
          </p:cNvPr>
          <p:cNvSpPr>
            <a:spLocks noGrp="1"/>
          </p:cNvSpPr>
          <p:nvPr/>
        </p:nvSpPr>
        <p:spPr>
          <a:xfrm>
            <a:off x="12103100" y="5848350"/>
            <a:ext cx="49720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Keep all grant pathways open</a:t>
            </a:r>
          </a:p>
        </p:txBody>
      </p:sp>
    </p:spTree>
    <p:extLst>
      <p:ext uri="{BB962C8B-B14F-4D97-AF65-F5344CB8AC3E}">
        <p14:creationId xmlns:p14="http://schemas.microsoft.com/office/powerpoint/2010/main" val="1572825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C7765D7-414E-4466-8698-440F21A09142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105B38-6BB2-4D7B-8B9A-B55A43F421CC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72A179-0527-41CF-97BC-DBCB345DABDF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EVIDENCE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585E9E-D1F4-4B16-988C-0EACBE7922A1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10763250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>
                <a:solidFill>
                  <a:srgbClr val="172A2A"/>
                </a:solidFill>
              </a:rPr>
              <a:t>AmanahHub is already live with public trust profiles.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650237-06DB-4C7E-BC73-C6037449F33E}"/>
              </a:ext>
            </a:extLst>
          </p:cNvPr>
          <p:cNvSpPr>
            <a:spLocks noGrp="1"/>
          </p:cNvSpPr>
          <p:nvPr/>
        </p:nvSpPr>
        <p:spPr>
          <a:xfrm>
            <a:off x="723899" y="2034540"/>
            <a:ext cx="12719145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Funders and partners can inspect a working public directory today, supported by deployed protected workspaces.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F009905-A09E-4933-ACE3-AD74A9FB33B2}"/>
              </a:ext>
            </a:extLst>
          </p:cNvPr>
          <p:cNvSpPr>
            <a:spLocks noGrp="1"/>
          </p:cNvSpPr>
          <p:nvPr/>
        </p:nvSpPr>
        <p:spPr>
          <a:xfrm>
            <a:off x="723900" y="3440430"/>
            <a:ext cx="3569970" cy="2009140"/>
          </a:xfrm>
          <a:prstGeom prst="roundRect">
            <a:avLst>
              <a:gd name="adj" fmla="val 3793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529E0-43BD-4976-9EAC-E0AB0CA8F9CB}"/>
              </a:ext>
            </a:extLst>
          </p:cNvPr>
          <p:cNvSpPr>
            <a:spLocks noGrp="1"/>
          </p:cNvSpPr>
          <p:nvPr/>
        </p:nvSpPr>
        <p:spPr>
          <a:xfrm>
            <a:off x="971550" y="3657600"/>
            <a:ext cx="3067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46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74EE3-0879-41E7-9890-5EE0C050185A}"/>
              </a:ext>
            </a:extLst>
          </p:cNvPr>
          <p:cNvSpPr>
            <a:spLocks noGrp="1"/>
          </p:cNvSpPr>
          <p:nvPr/>
        </p:nvSpPr>
        <p:spPr>
          <a:xfrm>
            <a:off x="971550" y="4000500"/>
            <a:ext cx="3067050" cy="1009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Visible </a:t>
            </a:r>
            <a:r>
              <a:rPr sz="2000" b="1" dirty="0" err="1">
                <a:solidFill>
                  <a:srgbClr val="172A2A"/>
                </a:solidFill>
              </a:rPr>
              <a:t>organisations</a:t>
            </a:r>
            <a:r>
              <a:rPr sz="2000" b="1" dirty="0">
                <a:solidFill>
                  <a:srgbClr val="172A2A"/>
                </a:solidFill>
              </a:rPr>
              <a:t> in the public charity directory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02EAD3-8D6E-47AC-80EF-B333339F475B}"/>
              </a:ext>
            </a:extLst>
          </p:cNvPr>
          <p:cNvSpPr>
            <a:spLocks noGrp="1"/>
          </p:cNvSpPr>
          <p:nvPr/>
        </p:nvSpPr>
        <p:spPr>
          <a:xfrm>
            <a:off x="4446270" y="3440430"/>
            <a:ext cx="3569970" cy="2009140"/>
          </a:xfrm>
          <a:prstGeom prst="roundRect">
            <a:avLst>
              <a:gd name="adj" fmla="val 3793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3F14C5-9485-4317-8ED0-E617D57865A7}"/>
              </a:ext>
            </a:extLst>
          </p:cNvPr>
          <p:cNvSpPr>
            <a:spLocks noGrp="1"/>
          </p:cNvSpPr>
          <p:nvPr/>
        </p:nvSpPr>
        <p:spPr>
          <a:xfrm>
            <a:off x="4686300" y="3657600"/>
            <a:ext cx="3067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37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939629-357B-49E8-82D1-5C621C105477}"/>
              </a:ext>
            </a:extLst>
          </p:cNvPr>
          <p:cNvSpPr>
            <a:spLocks noGrp="1"/>
          </p:cNvSpPr>
          <p:nvPr/>
        </p:nvSpPr>
        <p:spPr>
          <a:xfrm>
            <a:off x="4686300" y="4000500"/>
            <a:ext cx="3067050" cy="666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Published donor-facing trust profiles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B4BED7-D17C-4F63-8EA8-894080A119D9}"/>
              </a:ext>
            </a:extLst>
          </p:cNvPr>
          <p:cNvSpPr>
            <a:spLocks noGrp="1"/>
          </p:cNvSpPr>
          <p:nvPr/>
        </p:nvSpPr>
        <p:spPr>
          <a:xfrm>
            <a:off x="723900" y="5601970"/>
            <a:ext cx="3569970" cy="2009140"/>
          </a:xfrm>
          <a:prstGeom prst="roundRect">
            <a:avLst>
              <a:gd name="adj" fmla="val 3793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332A88-28CE-414E-B673-166D37B7D6FE}"/>
              </a:ext>
            </a:extLst>
          </p:cNvPr>
          <p:cNvSpPr>
            <a:spLocks noGrp="1"/>
          </p:cNvSpPr>
          <p:nvPr/>
        </p:nvSpPr>
        <p:spPr>
          <a:xfrm>
            <a:off x="971550" y="5810250"/>
            <a:ext cx="3067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Categories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568935-2E16-4980-9C3A-B7659AC790E2}"/>
              </a:ext>
            </a:extLst>
          </p:cNvPr>
          <p:cNvSpPr>
            <a:spLocks noGrp="1"/>
          </p:cNvSpPr>
          <p:nvPr/>
        </p:nvSpPr>
        <p:spPr>
          <a:xfrm>
            <a:off x="971550" y="6238240"/>
            <a:ext cx="30670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Mosque/surau, waqf, zakat, foundations, welfare and cooperative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FE5EA8C-D432-4A82-A763-6DDACB730CFB}"/>
              </a:ext>
            </a:extLst>
          </p:cNvPr>
          <p:cNvSpPr>
            <a:spLocks noGrp="1"/>
          </p:cNvSpPr>
          <p:nvPr/>
        </p:nvSpPr>
        <p:spPr>
          <a:xfrm>
            <a:off x="4446270" y="5601970"/>
            <a:ext cx="3569970" cy="2009140"/>
          </a:xfrm>
          <a:prstGeom prst="roundRect">
            <a:avLst>
              <a:gd name="adj" fmla="val 3793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DDCEB6-F753-4ACD-BECC-C054F81F7B8D}"/>
              </a:ext>
            </a:extLst>
          </p:cNvPr>
          <p:cNvSpPr>
            <a:spLocks noGrp="1"/>
          </p:cNvSpPr>
          <p:nvPr/>
        </p:nvSpPr>
        <p:spPr>
          <a:xfrm>
            <a:off x="4686300" y="5810250"/>
            <a:ext cx="3067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Trust tiers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4B0A9F-B607-449B-A39D-720E5B3CA68C}"/>
              </a:ext>
            </a:extLst>
          </p:cNvPr>
          <p:cNvSpPr>
            <a:spLocks noGrp="1"/>
          </p:cNvSpPr>
          <p:nvPr/>
        </p:nvSpPr>
        <p:spPr>
          <a:xfrm>
            <a:off x="4686300" y="6238240"/>
            <a:ext cx="3067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Gold, Silver and Bronze profile language is visible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DA3F03D-A703-4578-A3D0-936D55CC9F55}"/>
              </a:ext>
            </a:extLst>
          </p:cNvPr>
          <p:cNvSpPr>
            <a:spLocks noGrp="1"/>
          </p:cNvSpPr>
          <p:nvPr/>
        </p:nvSpPr>
        <p:spPr>
          <a:xfrm>
            <a:off x="723900" y="7763510"/>
            <a:ext cx="3569970" cy="2009140"/>
          </a:xfrm>
          <a:prstGeom prst="roundRect">
            <a:avLst>
              <a:gd name="adj" fmla="val 3793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788A98-0C43-4881-8FC3-8DD28872D84B}"/>
              </a:ext>
            </a:extLst>
          </p:cNvPr>
          <p:cNvSpPr>
            <a:spLocks noGrp="1"/>
          </p:cNvSpPr>
          <p:nvPr/>
        </p:nvSpPr>
        <p:spPr>
          <a:xfrm>
            <a:off x="971550" y="7981950"/>
            <a:ext cx="3067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Protected apps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FDE2E5-E328-4E57-A09F-1AA7A1D11F1A}"/>
              </a:ext>
            </a:extLst>
          </p:cNvPr>
          <p:cNvSpPr>
            <a:spLocks noGrp="1"/>
          </p:cNvSpPr>
          <p:nvPr/>
        </p:nvSpPr>
        <p:spPr>
          <a:xfrm>
            <a:off x="971550" y="8343900"/>
            <a:ext cx="3067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amanahOS and AGP Console are deployed login surfaces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FFEA882-7BF9-4345-97A8-A1DA5AC6B006}"/>
              </a:ext>
            </a:extLst>
          </p:cNvPr>
          <p:cNvSpPr>
            <a:spLocks noGrp="1"/>
          </p:cNvSpPr>
          <p:nvPr/>
        </p:nvSpPr>
        <p:spPr>
          <a:xfrm>
            <a:off x="4446270" y="7763510"/>
            <a:ext cx="3569970" cy="2009140"/>
          </a:xfrm>
          <a:prstGeom prst="roundRect">
            <a:avLst>
              <a:gd name="adj" fmla="val 3793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5BFA558-ED81-4D99-8B6A-2681BEF28612}"/>
              </a:ext>
            </a:extLst>
          </p:cNvPr>
          <p:cNvSpPr>
            <a:spLocks noGrp="1"/>
          </p:cNvSpPr>
          <p:nvPr/>
        </p:nvSpPr>
        <p:spPr>
          <a:xfrm>
            <a:off x="4686300" y="7981950"/>
            <a:ext cx="3067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Grant proof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A11CDC5-44AC-4E60-9DF6-138B7D5F1391}"/>
              </a:ext>
            </a:extLst>
          </p:cNvPr>
          <p:cNvSpPr>
            <a:spLocks noGrp="1"/>
          </p:cNvSpPr>
          <p:nvPr/>
        </p:nvSpPr>
        <p:spPr>
          <a:xfrm>
            <a:off x="4686300" y="8343900"/>
            <a:ext cx="3067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A live MVP reduces funder execution risk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B5ED1F0-DC26-42D1-AF18-69B7194C24B9}"/>
              </a:ext>
            </a:extLst>
          </p:cNvPr>
          <p:cNvSpPr>
            <a:spLocks noGrp="1"/>
          </p:cNvSpPr>
          <p:nvPr/>
        </p:nvSpPr>
        <p:spPr>
          <a:xfrm>
            <a:off x="8282940" y="3440430"/>
            <a:ext cx="9281160" cy="6332220"/>
          </a:xfrm>
          <a:prstGeom prst="roundRect">
            <a:avLst>
              <a:gd name="adj" fmla="val 1203"/>
            </a:avLst>
          </a:prstGeom>
          <a:noFill/>
        </p:spPr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D869FF9-2BFF-65C9-E74D-BBDDF1CF9C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5008"/>
          <a:stretch>
            <a:fillRect/>
          </a:stretch>
        </p:blipFill>
        <p:spPr>
          <a:xfrm>
            <a:off x="8239125" y="3467953"/>
            <a:ext cx="6582344" cy="6315556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401C7E78-5BF3-62E2-29D8-43D7D3EA3C50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905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6EC17B9-205F-42FF-AE55-BFEF7A93EE94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CD6CF-32E5-481B-8D3C-3D60824FB8D0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BBA4AE-E05A-42BD-A661-7067E4B58ADA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14B1F5-2F27-440F-A059-E1D7AA180F35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16294858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Islamic giving has scale, but governance is fragmented at the operating edge.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A76C0-FA50-41E0-8A23-0DB3CD006717}"/>
              </a:ext>
            </a:extLst>
          </p:cNvPr>
          <p:cNvSpPr>
            <a:spLocks noGrp="1"/>
          </p:cNvSpPr>
          <p:nvPr/>
        </p:nvSpPr>
        <p:spPr>
          <a:xfrm>
            <a:off x="723899" y="2060257"/>
            <a:ext cx="14725366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gap is not generosity. It is consistent evidence, reporting, review and public trust across thousands of community institutions.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13A1F5-3352-461A-9B90-6B349F3175E4}"/>
              </a:ext>
            </a:extLst>
          </p:cNvPr>
          <p:cNvSpPr>
            <a:spLocks noGrp="1"/>
          </p:cNvSpPr>
          <p:nvPr/>
        </p:nvSpPr>
        <p:spPr>
          <a:xfrm>
            <a:off x="723900" y="3440430"/>
            <a:ext cx="5473700" cy="3061335"/>
          </a:xfrm>
          <a:prstGeom prst="roundRect">
            <a:avLst>
              <a:gd name="adj" fmla="val 2489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332C10-0F47-4C49-8251-D1B48BE1CDCB}"/>
              </a:ext>
            </a:extLst>
          </p:cNvPr>
          <p:cNvSpPr>
            <a:spLocks noGrp="1"/>
          </p:cNvSpPr>
          <p:nvPr/>
        </p:nvSpPr>
        <p:spPr>
          <a:xfrm>
            <a:off x="971550" y="36576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Donor confidence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0573BE-D019-41EC-82F3-49E34B22A45A}"/>
              </a:ext>
            </a:extLst>
          </p:cNvPr>
          <p:cNvSpPr>
            <a:spLocks noGrp="1"/>
          </p:cNvSpPr>
          <p:nvPr/>
        </p:nvSpPr>
        <p:spPr>
          <a:xfrm>
            <a:off x="971550" y="4208145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Donors need visible accountability before giving repeatedly.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CA09A1-B2BB-46A5-AAA1-AEAB3FC18C57}"/>
              </a:ext>
            </a:extLst>
          </p:cNvPr>
          <p:cNvSpPr>
            <a:spLocks noGrp="1"/>
          </p:cNvSpPr>
          <p:nvPr/>
        </p:nvSpPr>
        <p:spPr>
          <a:xfrm>
            <a:off x="6407150" y="3440430"/>
            <a:ext cx="5473700" cy="3061335"/>
          </a:xfrm>
          <a:prstGeom prst="roundRect">
            <a:avLst>
              <a:gd name="adj" fmla="val 2489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E64F60-DD78-4108-AD4E-44758EBBC529}"/>
              </a:ext>
            </a:extLst>
          </p:cNvPr>
          <p:cNvSpPr>
            <a:spLocks noGrp="1"/>
          </p:cNvSpPr>
          <p:nvPr/>
        </p:nvSpPr>
        <p:spPr>
          <a:xfrm>
            <a:off x="6648450" y="36576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Manual burden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4D8EF1-4527-46FA-BD44-3EC22A510A70}"/>
              </a:ext>
            </a:extLst>
          </p:cNvPr>
          <p:cNvSpPr>
            <a:spLocks noGrp="1"/>
          </p:cNvSpPr>
          <p:nvPr/>
        </p:nvSpPr>
        <p:spPr>
          <a:xfrm>
            <a:off x="6648450" y="4208145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Reports and evidence often sit in scattered files, forms and spreadsheets.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2F93C13-6876-4943-BAD2-8ED0ECA92341}"/>
              </a:ext>
            </a:extLst>
          </p:cNvPr>
          <p:cNvSpPr>
            <a:spLocks noGrp="1"/>
          </p:cNvSpPr>
          <p:nvPr/>
        </p:nvSpPr>
        <p:spPr>
          <a:xfrm>
            <a:off x="12090400" y="3440430"/>
            <a:ext cx="5473700" cy="3061335"/>
          </a:xfrm>
          <a:prstGeom prst="roundRect">
            <a:avLst>
              <a:gd name="adj" fmla="val 2489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77DB23-42D0-4FC6-83EF-95349A4B5B67}"/>
              </a:ext>
            </a:extLst>
          </p:cNvPr>
          <p:cNvSpPr>
            <a:spLocks noGrp="1"/>
          </p:cNvSpPr>
          <p:nvPr/>
        </p:nvSpPr>
        <p:spPr>
          <a:xfrm>
            <a:off x="12344400" y="36576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Oversight pressure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9496B0-BA0E-46DC-80C6-94C28FE5707E}"/>
              </a:ext>
            </a:extLst>
          </p:cNvPr>
          <p:cNvSpPr>
            <a:spLocks noGrp="1"/>
          </p:cNvSpPr>
          <p:nvPr/>
        </p:nvSpPr>
        <p:spPr>
          <a:xfrm>
            <a:off x="12344400" y="4208145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Authorities need a live view without replacing state or institutional authority.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E28BA8D-05C0-41E8-87A2-F9BEDB269ED2}"/>
              </a:ext>
            </a:extLst>
          </p:cNvPr>
          <p:cNvSpPr>
            <a:spLocks noGrp="1"/>
          </p:cNvSpPr>
          <p:nvPr/>
        </p:nvSpPr>
        <p:spPr>
          <a:xfrm>
            <a:off x="723900" y="6711315"/>
            <a:ext cx="5473700" cy="3061335"/>
          </a:xfrm>
          <a:prstGeom prst="roundRect">
            <a:avLst>
              <a:gd name="adj" fmla="val 2489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31FDAB-E284-4EB5-B8C0-D1CF185A2DE4}"/>
              </a:ext>
            </a:extLst>
          </p:cNvPr>
          <p:cNvSpPr>
            <a:spLocks noGrp="1"/>
          </p:cNvSpPr>
          <p:nvPr/>
        </p:nvSpPr>
        <p:spPr>
          <a:xfrm>
            <a:off x="971550" y="69151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Volunteer reality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B94E6D-402A-4CA8-B6B4-610663C1E8AE}"/>
              </a:ext>
            </a:extLst>
          </p:cNvPr>
          <p:cNvSpPr>
            <a:spLocks noGrp="1"/>
          </p:cNvSpPr>
          <p:nvPr/>
        </p:nvSpPr>
        <p:spPr>
          <a:xfrm>
            <a:off x="971550" y="7484745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Mosque and surau committees need simple routines, not heavy software.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4C2AC39-7F6A-4F1C-A1E3-927301A8597E}"/>
              </a:ext>
            </a:extLst>
          </p:cNvPr>
          <p:cNvSpPr>
            <a:spLocks noGrp="1"/>
          </p:cNvSpPr>
          <p:nvPr/>
        </p:nvSpPr>
        <p:spPr>
          <a:xfrm>
            <a:off x="6407150" y="6711315"/>
            <a:ext cx="5473700" cy="3061335"/>
          </a:xfrm>
          <a:prstGeom prst="roundRect">
            <a:avLst>
              <a:gd name="adj" fmla="val 2489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D64EE86-211F-4D93-BF98-E86DE60AE983}"/>
              </a:ext>
            </a:extLst>
          </p:cNvPr>
          <p:cNvSpPr>
            <a:spLocks noGrp="1"/>
          </p:cNvSpPr>
          <p:nvPr/>
        </p:nvSpPr>
        <p:spPr>
          <a:xfrm>
            <a:off x="6648450" y="69151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 err="1">
                <a:solidFill>
                  <a:srgbClr val="1F6F5B"/>
                </a:solidFill>
              </a:rPr>
              <a:t>Behaviour</a:t>
            </a:r>
            <a:r>
              <a:rPr sz="2400" b="1" dirty="0">
                <a:solidFill>
                  <a:srgbClr val="1F6F5B"/>
                </a:solidFill>
              </a:rPr>
              <a:t> change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17486B-A836-467A-A5EC-8F5408E402DE}"/>
              </a:ext>
            </a:extLst>
          </p:cNvPr>
          <p:cNvSpPr>
            <a:spLocks noGrp="1"/>
          </p:cNvSpPr>
          <p:nvPr/>
        </p:nvSpPr>
        <p:spPr>
          <a:xfrm>
            <a:off x="6648450" y="7484745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Better governance requires habit formation and guided adoption.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928AD4C-3562-41E4-9190-4C8C78B3A687}"/>
              </a:ext>
            </a:extLst>
          </p:cNvPr>
          <p:cNvSpPr>
            <a:spLocks noGrp="1"/>
          </p:cNvSpPr>
          <p:nvPr/>
        </p:nvSpPr>
        <p:spPr>
          <a:xfrm>
            <a:off x="12090400" y="6711315"/>
            <a:ext cx="5473700" cy="3061335"/>
          </a:xfrm>
          <a:prstGeom prst="roundRect">
            <a:avLst>
              <a:gd name="adj" fmla="val 2489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E55A8A-0372-4556-85CD-79B7FE6B6FE7}"/>
              </a:ext>
            </a:extLst>
          </p:cNvPr>
          <p:cNvSpPr>
            <a:spLocks noGrp="1"/>
          </p:cNvSpPr>
          <p:nvPr/>
        </p:nvSpPr>
        <p:spPr>
          <a:xfrm>
            <a:off x="12344400" y="69151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Public trust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5A9EED-ACC5-4322-9977-4178D1162B50}"/>
              </a:ext>
            </a:extLst>
          </p:cNvPr>
          <p:cNvSpPr>
            <a:spLocks noGrp="1"/>
          </p:cNvSpPr>
          <p:nvPr/>
        </p:nvSpPr>
        <p:spPr>
          <a:xfrm>
            <a:off x="12344400" y="7484745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Amanah must be visible, reviewable and updated over time.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1DC003-2EA0-A660-191D-A6D63F898F14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9077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3FDC3FE-5940-46C7-B22E-F85519D54BAF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9F5B31-1535-401F-8BB7-59C8573F6C9C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10C84B-55E8-4684-8AD2-5A41A483EDC8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SOLUTION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02545B-DF84-497E-8B64-2623EBC22203}"/>
              </a:ext>
            </a:extLst>
          </p:cNvPr>
          <p:cNvSpPr>
            <a:spLocks noGrp="1"/>
          </p:cNvSpPr>
          <p:nvPr/>
        </p:nvSpPr>
        <p:spPr>
          <a:xfrm>
            <a:off x="723899" y="1257300"/>
            <a:ext cx="15885425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AGP connects donor trust, organization operations and evaluator control.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7A4C4-CC7D-40C4-9BFC-AEEEE4106064}"/>
              </a:ext>
            </a:extLst>
          </p:cNvPr>
          <p:cNvSpPr>
            <a:spLocks noGrp="1"/>
          </p:cNvSpPr>
          <p:nvPr/>
        </p:nvSpPr>
        <p:spPr>
          <a:xfrm>
            <a:off x="723899" y="2074545"/>
            <a:ext cx="11845689" cy="40767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Three live product surfaces share one evidence and scoring backbone.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E0E0BEE-1455-4FEE-B741-2AF3FEA60128}"/>
              </a:ext>
            </a:extLst>
          </p:cNvPr>
          <p:cNvSpPr>
            <a:spLocks noGrp="1"/>
          </p:cNvSpPr>
          <p:nvPr/>
        </p:nvSpPr>
        <p:spPr>
          <a:xfrm>
            <a:off x="723900" y="3166110"/>
            <a:ext cx="5461000" cy="6134100"/>
          </a:xfrm>
          <a:prstGeom prst="roundRect">
            <a:avLst>
              <a:gd name="adj" fmla="val 1395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B105A-668A-4A23-8FA5-E60CBBE9FFFC}"/>
              </a:ext>
            </a:extLst>
          </p:cNvPr>
          <p:cNvSpPr>
            <a:spLocks noGrp="1"/>
          </p:cNvSpPr>
          <p:nvPr/>
        </p:nvSpPr>
        <p:spPr>
          <a:xfrm>
            <a:off x="971550" y="337185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AmanahHub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79EF06-6E50-4DE8-8E90-6891C08495F1}"/>
              </a:ext>
            </a:extLst>
          </p:cNvPr>
          <p:cNvSpPr>
            <a:spLocks noGrp="1"/>
          </p:cNvSpPr>
          <p:nvPr/>
        </p:nvSpPr>
        <p:spPr>
          <a:xfrm>
            <a:off x="968375" y="3962400"/>
            <a:ext cx="4972050" cy="1009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Public directory, verified profiles, Amanah scores, certification tiers and direct-to-charity giving context.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7447B44-6E29-4B5E-8B8A-023950857077}"/>
              </a:ext>
            </a:extLst>
          </p:cNvPr>
          <p:cNvSpPr>
            <a:spLocks noGrp="1"/>
          </p:cNvSpPr>
          <p:nvPr/>
        </p:nvSpPr>
        <p:spPr>
          <a:xfrm>
            <a:off x="6413500" y="3166110"/>
            <a:ext cx="5461000" cy="6134100"/>
          </a:xfrm>
          <a:prstGeom prst="roundRect">
            <a:avLst>
              <a:gd name="adj" fmla="val 1395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201735-59CD-4764-80E4-B75B275A22D2}"/>
              </a:ext>
            </a:extLst>
          </p:cNvPr>
          <p:cNvSpPr>
            <a:spLocks noGrp="1"/>
          </p:cNvSpPr>
          <p:nvPr/>
        </p:nvSpPr>
        <p:spPr>
          <a:xfrm>
            <a:off x="6667500" y="337185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amanahOS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DFD1CD-361D-4D8F-83F9-4D5D58849022}"/>
              </a:ext>
            </a:extLst>
          </p:cNvPr>
          <p:cNvSpPr>
            <a:spLocks noGrp="1"/>
          </p:cNvSpPr>
          <p:nvPr/>
        </p:nvSpPr>
        <p:spPr>
          <a:xfrm>
            <a:off x="6664325" y="3962400"/>
            <a:ext cx="4972050" cy="1009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Workspace for profiles, accounting, evidence, projects, reports, policy kit, trust score and certification.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8F0A0E-0F7D-4A0F-B479-AB93D11DA3F6}"/>
              </a:ext>
            </a:extLst>
          </p:cNvPr>
          <p:cNvSpPr>
            <a:spLocks noGrp="1"/>
          </p:cNvSpPr>
          <p:nvPr/>
        </p:nvSpPr>
        <p:spPr>
          <a:xfrm>
            <a:off x="12103100" y="3166110"/>
            <a:ext cx="5461000" cy="6134100"/>
          </a:xfrm>
          <a:prstGeom prst="roundRect">
            <a:avLst>
              <a:gd name="adj" fmla="val 1395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386BE3-F086-44E0-9748-6C54EE91DB06}"/>
              </a:ext>
            </a:extLst>
          </p:cNvPr>
          <p:cNvSpPr>
            <a:spLocks noGrp="1"/>
          </p:cNvSpPr>
          <p:nvPr/>
        </p:nvSpPr>
        <p:spPr>
          <a:xfrm>
            <a:off x="12344400" y="337185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AGP Console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DD3A7E-6829-4723-B32B-952EE8A7AE89}"/>
              </a:ext>
            </a:extLst>
          </p:cNvPr>
          <p:cNvSpPr>
            <a:spLocks noGrp="1"/>
          </p:cNvSpPr>
          <p:nvPr/>
        </p:nvSpPr>
        <p:spPr>
          <a:xfrm>
            <a:off x="12341225" y="3962400"/>
            <a:ext cx="4972050" cy="1009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Control plane for trust events, governance cases, review queues, scholar approval and publication.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8153B5-B088-45D9-9FCC-E3FDC3278E83}"/>
              </a:ext>
            </a:extLst>
          </p:cNvPr>
          <p:cNvSpPr>
            <a:spLocks noGrp="1"/>
          </p:cNvSpPr>
          <p:nvPr/>
        </p:nvSpPr>
        <p:spPr>
          <a:xfrm>
            <a:off x="723900" y="9505950"/>
            <a:ext cx="168402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>
                <a:solidFill>
                  <a:srgbClr val="667872"/>
                </a:solidFill>
              </a:defRPr>
            </a:pPr>
            <a:r>
              <a:rPr sz="1725" b="0">
                <a:solidFill>
                  <a:srgbClr val="667872"/>
                </a:solidFill>
              </a:rPr>
              <a:t>Shared backbone: Amanah scoring engine, trust events, fund accounting, audit logs, public profile publication controls and Supabase-backed evidence records.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C2B606-9E24-060B-153C-701D7EEF7B72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3905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B3B933D-2FE5-4B87-8D29-1E62B0B4D5BB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6F79D7-A71F-4144-9AEF-6A802C82F5B0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575601-83FF-484A-BEAB-6EB38CCAC047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OPERATING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75DBD7-E086-466B-AEC9-8E0E66C98759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15844482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The trust loop turns </a:t>
            </a:r>
            <a:r>
              <a:rPr sz="3900" b="1" dirty="0" err="1">
                <a:solidFill>
                  <a:srgbClr val="172A2A"/>
                </a:solidFill>
              </a:rPr>
              <a:t>amanah</a:t>
            </a:r>
            <a:r>
              <a:rPr sz="3900" b="1" dirty="0">
                <a:solidFill>
                  <a:srgbClr val="172A2A"/>
                </a:solidFill>
              </a:rPr>
              <a:t> into a repeatable governance rhythm.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5440D6-E8FA-4DE8-86C4-1C8964700568}"/>
              </a:ext>
            </a:extLst>
          </p:cNvPr>
          <p:cNvSpPr>
            <a:spLocks noGrp="1"/>
          </p:cNvSpPr>
          <p:nvPr/>
        </p:nvSpPr>
        <p:spPr>
          <a:xfrm>
            <a:off x="723899" y="2017395"/>
            <a:ext cx="13033043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AGP creates a path from registration to evidence, review, scoring and selective publication.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3D4D74-6A92-4959-83D1-7BF90D796793}"/>
              </a:ext>
            </a:extLst>
          </p:cNvPr>
          <p:cNvSpPr>
            <a:spLocks noGrp="1"/>
          </p:cNvSpPr>
          <p:nvPr/>
        </p:nvSpPr>
        <p:spPr>
          <a:xfrm>
            <a:off x="723900" y="3166110"/>
            <a:ext cx="3230880" cy="6606540"/>
          </a:xfrm>
          <a:prstGeom prst="roundRect">
            <a:avLst>
              <a:gd name="adj" fmla="val 2358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5C38B4-63DD-46EA-A3C2-86F622A4B9E5}"/>
              </a:ext>
            </a:extLst>
          </p:cNvPr>
          <p:cNvSpPr>
            <a:spLocks noGrp="1"/>
          </p:cNvSpPr>
          <p:nvPr/>
        </p:nvSpPr>
        <p:spPr>
          <a:xfrm>
            <a:off x="914400" y="335280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C5E523-7C3A-4911-A19C-DD369C052C7D}"/>
              </a:ext>
            </a:extLst>
          </p:cNvPr>
          <p:cNvSpPr>
            <a:spLocks noGrp="1"/>
          </p:cNvSpPr>
          <p:nvPr/>
        </p:nvSpPr>
        <p:spPr>
          <a:xfrm>
            <a:off x="910590" y="3985260"/>
            <a:ext cx="28575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172A2A"/>
                </a:solidFill>
              </a:defRPr>
            </a:pPr>
            <a:r>
              <a:rPr sz="2400" b="1" dirty="0">
                <a:solidFill>
                  <a:srgbClr val="172A2A"/>
                </a:solidFill>
              </a:rPr>
              <a:t>Register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349139-1B54-4218-BA30-1831AD352141}"/>
              </a:ext>
            </a:extLst>
          </p:cNvPr>
          <p:cNvSpPr>
            <a:spLocks noGrp="1"/>
          </p:cNvSpPr>
          <p:nvPr/>
        </p:nvSpPr>
        <p:spPr>
          <a:xfrm>
            <a:off x="910590" y="4693920"/>
            <a:ext cx="2857500" cy="495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>
                <a:solidFill>
                  <a:srgbClr val="344542"/>
                </a:solidFill>
              </a:defRPr>
            </a:pPr>
            <a:r>
              <a:rPr sz="2000" dirty="0">
                <a:solidFill>
                  <a:srgbClr val="344542"/>
                </a:solidFill>
              </a:rPr>
              <a:t>Authority-linked organization record and public baseline.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2946A2-1649-421D-A52A-B09B773EDE6D}"/>
              </a:ext>
            </a:extLst>
          </p:cNvPr>
          <p:cNvSpPr>
            <a:spLocks noGrp="1"/>
          </p:cNvSpPr>
          <p:nvPr/>
        </p:nvSpPr>
        <p:spPr>
          <a:xfrm>
            <a:off x="4126230" y="3166110"/>
            <a:ext cx="3230880" cy="6606540"/>
          </a:xfrm>
          <a:prstGeom prst="roundRect">
            <a:avLst>
              <a:gd name="adj" fmla="val 2358"/>
            </a:avLst>
          </a:prstGeom>
          <a:noFill/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270640-6C97-4DF9-9458-DADE1FDD24E1}"/>
              </a:ext>
            </a:extLst>
          </p:cNvPr>
          <p:cNvSpPr>
            <a:spLocks noGrp="1"/>
          </p:cNvSpPr>
          <p:nvPr/>
        </p:nvSpPr>
        <p:spPr>
          <a:xfrm>
            <a:off x="4324350" y="335280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E411B2-D4DC-40B9-88AA-6E1BABB20125}"/>
              </a:ext>
            </a:extLst>
          </p:cNvPr>
          <p:cNvSpPr>
            <a:spLocks noGrp="1"/>
          </p:cNvSpPr>
          <p:nvPr/>
        </p:nvSpPr>
        <p:spPr>
          <a:xfrm>
            <a:off x="4320540" y="3985260"/>
            <a:ext cx="28575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172A2A"/>
                </a:solidFill>
              </a:defRPr>
            </a:pPr>
            <a:r>
              <a:rPr sz="2400" b="1">
                <a:solidFill>
                  <a:srgbClr val="172A2A"/>
                </a:solidFill>
              </a:rPr>
              <a:t>Operate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3E567F-E2ED-4646-A4EC-7B10734E019A}"/>
              </a:ext>
            </a:extLst>
          </p:cNvPr>
          <p:cNvSpPr>
            <a:spLocks noGrp="1"/>
          </p:cNvSpPr>
          <p:nvPr/>
        </p:nvSpPr>
        <p:spPr>
          <a:xfrm>
            <a:off x="4320540" y="4693920"/>
            <a:ext cx="2857500" cy="495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>
                <a:solidFill>
                  <a:srgbClr val="344542"/>
                </a:solidFill>
              </a:defRPr>
            </a:pPr>
            <a:r>
              <a:rPr sz="2000">
                <a:solidFill>
                  <a:srgbClr val="344542"/>
                </a:solidFill>
              </a:rPr>
              <a:t>Members update reports, projects, bookkeeping and evidence.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6B3156-E3A1-466D-BE18-7C7FAF9F58B6}"/>
              </a:ext>
            </a:extLst>
          </p:cNvPr>
          <p:cNvSpPr>
            <a:spLocks noGrp="1"/>
          </p:cNvSpPr>
          <p:nvPr/>
        </p:nvSpPr>
        <p:spPr>
          <a:xfrm>
            <a:off x="7528560" y="3166110"/>
            <a:ext cx="3230880" cy="6606540"/>
          </a:xfrm>
          <a:prstGeom prst="roundRect">
            <a:avLst>
              <a:gd name="adj" fmla="val 2358"/>
            </a:avLst>
          </a:prstGeom>
          <a:noFill/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D4E4AC8-878F-42A7-ADBF-C87D348125A7}"/>
              </a:ext>
            </a:extLst>
          </p:cNvPr>
          <p:cNvSpPr>
            <a:spLocks noGrp="1"/>
          </p:cNvSpPr>
          <p:nvPr/>
        </p:nvSpPr>
        <p:spPr>
          <a:xfrm>
            <a:off x="7715250" y="335280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AA49A4-5937-49E9-940D-EE6BE8CEC20A}"/>
              </a:ext>
            </a:extLst>
          </p:cNvPr>
          <p:cNvSpPr>
            <a:spLocks noGrp="1"/>
          </p:cNvSpPr>
          <p:nvPr/>
        </p:nvSpPr>
        <p:spPr>
          <a:xfrm>
            <a:off x="7711440" y="3985260"/>
            <a:ext cx="28575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172A2A"/>
                </a:solidFill>
              </a:defRPr>
            </a:pPr>
            <a:r>
              <a:rPr sz="2400" b="1">
                <a:solidFill>
                  <a:srgbClr val="172A2A"/>
                </a:solidFill>
              </a:rPr>
              <a:t>Review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08DA7B-CB26-4C9A-AAD5-3097F640E635}"/>
              </a:ext>
            </a:extLst>
          </p:cNvPr>
          <p:cNvSpPr>
            <a:spLocks noGrp="1"/>
          </p:cNvSpPr>
          <p:nvPr/>
        </p:nvSpPr>
        <p:spPr>
          <a:xfrm>
            <a:off x="7711440" y="4693920"/>
            <a:ext cx="2857500" cy="495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>
                <a:solidFill>
                  <a:srgbClr val="344542"/>
                </a:solidFill>
              </a:defRPr>
            </a:pPr>
            <a:r>
              <a:rPr sz="2000">
                <a:solidFill>
                  <a:srgbClr val="344542"/>
                </a:solidFill>
              </a:rPr>
              <a:t>Console routes trust events, findings and scholar approval.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92260CE-2BFF-44D6-8D77-C1123FBB3449}"/>
              </a:ext>
            </a:extLst>
          </p:cNvPr>
          <p:cNvSpPr>
            <a:spLocks noGrp="1"/>
          </p:cNvSpPr>
          <p:nvPr/>
        </p:nvSpPr>
        <p:spPr>
          <a:xfrm>
            <a:off x="10930890" y="3166110"/>
            <a:ext cx="3230880" cy="6606540"/>
          </a:xfrm>
          <a:prstGeom prst="roundRect">
            <a:avLst>
              <a:gd name="adj" fmla="val 2358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6AF254-2878-47D2-B9B5-2B8DEE32FD5A}"/>
              </a:ext>
            </a:extLst>
          </p:cNvPr>
          <p:cNvSpPr>
            <a:spLocks noGrp="1"/>
          </p:cNvSpPr>
          <p:nvPr/>
        </p:nvSpPr>
        <p:spPr>
          <a:xfrm>
            <a:off x="11125200" y="335280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F6E442-4DD7-4779-A537-A4825ADBDA32}"/>
              </a:ext>
            </a:extLst>
          </p:cNvPr>
          <p:cNvSpPr>
            <a:spLocks noGrp="1"/>
          </p:cNvSpPr>
          <p:nvPr/>
        </p:nvSpPr>
        <p:spPr>
          <a:xfrm>
            <a:off x="11121390" y="3985260"/>
            <a:ext cx="28575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172A2A"/>
                </a:solidFill>
              </a:defRPr>
            </a:pPr>
            <a:r>
              <a:rPr sz="2400" b="1">
                <a:solidFill>
                  <a:srgbClr val="172A2A"/>
                </a:solidFill>
              </a:rPr>
              <a:t>Score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6642000-9F0E-4548-8BA3-30E3A3BC20F0}"/>
              </a:ext>
            </a:extLst>
          </p:cNvPr>
          <p:cNvSpPr>
            <a:spLocks noGrp="1"/>
          </p:cNvSpPr>
          <p:nvPr/>
        </p:nvSpPr>
        <p:spPr>
          <a:xfrm>
            <a:off x="11121390" y="4693920"/>
            <a:ext cx="2857500" cy="495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>
                <a:solidFill>
                  <a:srgbClr val="344542"/>
                </a:solidFill>
              </a:defRPr>
            </a:pPr>
            <a:r>
              <a:rPr sz="2000">
                <a:solidFill>
                  <a:srgbClr val="344542"/>
                </a:solidFill>
              </a:rPr>
              <a:t>Verified behaviour becomes donor-readable trust signals.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30BB5-0A8F-4C6F-853F-E8C61B387B69}"/>
              </a:ext>
            </a:extLst>
          </p:cNvPr>
          <p:cNvSpPr>
            <a:spLocks noGrp="1"/>
          </p:cNvSpPr>
          <p:nvPr/>
        </p:nvSpPr>
        <p:spPr>
          <a:xfrm>
            <a:off x="14333220" y="3166110"/>
            <a:ext cx="3230880" cy="6606540"/>
          </a:xfrm>
          <a:prstGeom prst="roundRect">
            <a:avLst>
              <a:gd name="adj" fmla="val 2358"/>
            </a:avLst>
          </a:prstGeom>
          <a:noFill/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FE5965-45A3-4DDC-9D4D-A0DAEB6A2195}"/>
              </a:ext>
            </a:extLst>
          </p:cNvPr>
          <p:cNvSpPr>
            <a:spLocks noGrp="1"/>
          </p:cNvSpPr>
          <p:nvPr/>
        </p:nvSpPr>
        <p:spPr>
          <a:xfrm>
            <a:off x="14516100" y="335280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0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78E461-AD41-4AF6-A99A-921142408482}"/>
              </a:ext>
            </a:extLst>
          </p:cNvPr>
          <p:cNvSpPr>
            <a:spLocks noGrp="1"/>
          </p:cNvSpPr>
          <p:nvPr/>
        </p:nvSpPr>
        <p:spPr>
          <a:xfrm>
            <a:off x="14512290" y="3985260"/>
            <a:ext cx="28575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172A2A"/>
                </a:solidFill>
              </a:defRPr>
            </a:pPr>
            <a:r>
              <a:rPr sz="2400" b="1">
                <a:solidFill>
                  <a:srgbClr val="172A2A"/>
                </a:solidFill>
              </a:rPr>
              <a:t>Publish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4C48632-57D9-446B-83F1-000B471D8BDB}"/>
              </a:ext>
            </a:extLst>
          </p:cNvPr>
          <p:cNvSpPr>
            <a:spLocks noGrp="1"/>
          </p:cNvSpPr>
          <p:nvPr/>
        </p:nvSpPr>
        <p:spPr>
          <a:xfrm>
            <a:off x="14512290" y="4693920"/>
            <a:ext cx="2857500" cy="4953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>
                <a:solidFill>
                  <a:srgbClr val="344542"/>
                </a:solidFill>
              </a:defRPr>
            </a:pPr>
            <a:r>
              <a:rPr sz="2000">
                <a:solidFill>
                  <a:srgbClr val="344542"/>
                </a:solidFill>
              </a:rPr>
              <a:t>Approved profiles create public confidence and transparency.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E3DEAF5-43AC-30DC-9258-433AFAFD48EA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4507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02E4B37-1D86-4EB0-81CB-E1171F44DDAE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8837AC-E243-4B7D-83FC-0C7FEB6E43E3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9A7FAD-173C-4127-A2B7-0C24DCDF8C16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PUBLIC-INTEREST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03E603-F9CC-40DA-8D8A-98DC0373F266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14261342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AGP is funded around charities, not from charities.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2AAA86-6A65-4248-9EE4-662DE50A873F}"/>
              </a:ext>
            </a:extLst>
          </p:cNvPr>
          <p:cNvSpPr>
            <a:spLocks noGrp="1"/>
          </p:cNvSpPr>
          <p:nvPr/>
        </p:nvSpPr>
        <p:spPr>
          <a:xfrm>
            <a:off x="723899" y="2019300"/>
            <a:ext cx="1503045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platform protects charity organizations from AGP fees while institutions and sponsors fund the infrastructure they benefit from.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C763FD3-4494-4CCC-914D-AD70B58DC968}"/>
              </a:ext>
            </a:extLst>
          </p:cNvPr>
          <p:cNvSpPr>
            <a:spLocks noGrp="1"/>
          </p:cNvSpPr>
          <p:nvPr/>
        </p:nvSpPr>
        <p:spPr>
          <a:xfrm>
            <a:off x="723900" y="3166110"/>
            <a:ext cx="8286750" cy="6606540"/>
          </a:xfrm>
          <a:prstGeom prst="roundRect">
            <a:avLst>
              <a:gd name="adj" fmla="val 1153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E020F2-6A56-4093-8428-ECE0881075E3}"/>
              </a:ext>
            </a:extLst>
          </p:cNvPr>
          <p:cNvSpPr>
            <a:spLocks noGrp="1"/>
          </p:cNvSpPr>
          <p:nvPr/>
        </p:nvSpPr>
        <p:spPr>
          <a:xfrm>
            <a:off x="1009650" y="3409950"/>
            <a:ext cx="7715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172A2A"/>
                </a:solidFill>
              </a:defRPr>
            </a:pPr>
            <a:r>
              <a:rPr sz="2400" b="1" dirty="0">
                <a:solidFill>
                  <a:srgbClr val="172A2A"/>
                </a:solidFill>
              </a:rPr>
              <a:t>Funded by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162241-AFAD-420B-AC06-24040A36B5A1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1714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 b="1">
                <a:solidFill>
                  <a:srgbClr val="1F6F5B"/>
                </a:solidFill>
              </a:defRPr>
            </a:pPr>
            <a:r>
              <a:rPr sz="1875" b="1">
                <a:solidFill>
                  <a:srgbClr val="1F6F5B"/>
                </a:solidFill>
              </a:rPr>
              <a:t>-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AE8B74-C642-46CA-B287-6B74A91F83D3}"/>
              </a:ext>
            </a:extLst>
          </p:cNvPr>
          <p:cNvSpPr>
            <a:spLocks noGrp="1"/>
          </p:cNvSpPr>
          <p:nvPr/>
        </p:nvSpPr>
        <p:spPr>
          <a:xfrm>
            <a:off x="1314450" y="3943350"/>
            <a:ext cx="7429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Grant funding for development, expansion and operations.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A846E0-7BB7-4ED8-A3B0-E656F2E186E5}"/>
              </a:ext>
            </a:extLst>
          </p:cNvPr>
          <p:cNvSpPr>
            <a:spLocks noGrp="1"/>
          </p:cNvSpPr>
          <p:nvPr/>
        </p:nvSpPr>
        <p:spPr>
          <a:xfrm>
            <a:off x="1009650" y="4400550"/>
            <a:ext cx="1714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 b="1">
                <a:solidFill>
                  <a:srgbClr val="1F6F5B"/>
                </a:solidFill>
              </a:defRPr>
            </a:pPr>
            <a:r>
              <a:rPr sz="1875" b="1">
                <a:solidFill>
                  <a:srgbClr val="1F6F5B"/>
                </a:solidFill>
              </a:rPr>
              <a:t>-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DF3EF2-1315-45DC-ADD0-1769601232E0}"/>
              </a:ext>
            </a:extLst>
          </p:cNvPr>
          <p:cNvSpPr>
            <a:spLocks noGrp="1"/>
          </p:cNvSpPr>
          <p:nvPr/>
        </p:nvSpPr>
        <p:spPr>
          <a:xfrm>
            <a:off x="1314450" y="4400550"/>
            <a:ext cx="7429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Corporate ESG/CSR sponsorship for onboarding and audit-readiness cohorts.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28C830-F5C0-4789-B304-0339489C1376}"/>
              </a:ext>
            </a:extLst>
          </p:cNvPr>
          <p:cNvSpPr>
            <a:spLocks noGrp="1"/>
          </p:cNvSpPr>
          <p:nvPr/>
        </p:nvSpPr>
        <p:spPr>
          <a:xfrm>
            <a:off x="1009650" y="4857750"/>
            <a:ext cx="1714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 b="1">
                <a:solidFill>
                  <a:srgbClr val="1F6F5B"/>
                </a:solidFill>
              </a:defRPr>
            </a:pPr>
            <a:r>
              <a:rPr sz="1875" b="1">
                <a:solidFill>
                  <a:srgbClr val="1F6F5B"/>
                </a:solidFill>
              </a:rPr>
              <a:t>-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B1C1F-1446-4BC4-B2C6-582569ED9F3C}"/>
              </a:ext>
            </a:extLst>
          </p:cNvPr>
          <p:cNvSpPr>
            <a:spLocks noGrp="1"/>
          </p:cNvSpPr>
          <p:nvPr/>
        </p:nvSpPr>
        <p:spPr>
          <a:xfrm>
            <a:off x="1314450" y="4857750"/>
            <a:ext cx="7429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Zakat, waqf, council and institutional support for long-term ecosystem value.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90D60FC-3326-4042-82A7-3731E7347FCE}"/>
              </a:ext>
            </a:extLst>
          </p:cNvPr>
          <p:cNvSpPr>
            <a:spLocks noGrp="1"/>
          </p:cNvSpPr>
          <p:nvPr/>
        </p:nvSpPr>
        <p:spPr>
          <a:xfrm>
            <a:off x="9277350" y="3166110"/>
            <a:ext cx="8286750" cy="6606540"/>
          </a:xfrm>
          <a:prstGeom prst="roundRect">
            <a:avLst>
              <a:gd name="adj" fmla="val 1153"/>
            </a:avLst>
          </a:prstGeom>
          <a:noFill/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1680DD-8588-4787-8CD6-5C37B06DD062}"/>
              </a:ext>
            </a:extLst>
          </p:cNvPr>
          <p:cNvSpPr>
            <a:spLocks noGrp="1"/>
          </p:cNvSpPr>
          <p:nvPr/>
        </p:nvSpPr>
        <p:spPr>
          <a:xfrm>
            <a:off x="9563100" y="3409950"/>
            <a:ext cx="7715250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400" b="1">
                <a:solidFill>
                  <a:srgbClr val="172A2A"/>
                </a:solidFill>
              </a:defRPr>
            </a:pPr>
            <a:r>
              <a:rPr sz="2400" b="1" dirty="0">
                <a:solidFill>
                  <a:srgbClr val="172A2A"/>
                </a:solidFill>
              </a:rPr>
              <a:t>Sponsored service lines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E6B762-DBFD-446B-A89C-13A3221B1F04}"/>
              </a:ext>
            </a:extLst>
          </p:cNvPr>
          <p:cNvSpPr>
            <a:spLocks noGrp="1"/>
          </p:cNvSpPr>
          <p:nvPr/>
        </p:nvSpPr>
        <p:spPr>
          <a:xfrm>
            <a:off x="9563100" y="3943350"/>
            <a:ext cx="1714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 b="1">
                <a:solidFill>
                  <a:srgbClr val="1F6F5B"/>
                </a:solidFill>
              </a:defRPr>
            </a:pPr>
            <a:r>
              <a:rPr sz="1875" b="1">
                <a:solidFill>
                  <a:srgbClr val="1F6F5B"/>
                </a:solidFill>
              </a:rPr>
              <a:t>-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F38CF9-45BC-40C5-853D-5A656CD936E3}"/>
              </a:ext>
            </a:extLst>
          </p:cNvPr>
          <p:cNvSpPr>
            <a:spLocks noGrp="1"/>
          </p:cNvSpPr>
          <p:nvPr/>
        </p:nvSpPr>
        <p:spPr>
          <a:xfrm>
            <a:off x="9867900" y="3943350"/>
            <a:ext cx="7429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Organisation SaaS subscription and managed bookkeeping.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039BEA-33AB-4905-859B-5E11A5D44384}"/>
              </a:ext>
            </a:extLst>
          </p:cNvPr>
          <p:cNvSpPr>
            <a:spLocks noGrp="1"/>
          </p:cNvSpPr>
          <p:nvPr/>
        </p:nvSpPr>
        <p:spPr>
          <a:xfrm>
            <a:off x="9563100" y="4400550"/>
            <a:ext cx="1714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 b="1">
                <a:solidFill>
                  <a:srgbClr val="1F6F5B"/>
                </a:solidFill>
              </a:defRPr>
            </a:pPr>
            <a:r>
              <a:rPr sz="1875" b="1">
                <a:solidFill>
                  <a:srgbClr val="1F6F5B"/>
                </a:solidFill>
              </a:rPr>
              <a:t>-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1F9FA7-EAB2-4433-AEB3-C3869068ED55}"/>
              </a:ext>
            </a:extLst>
          </p:cNvPr>
          <p:cNvSpPr>
            <a:spLocks noGrp="1"/>
          </p:cNvSpPr>
          <p:nvPr/>
        </p:nvSpPr>
        <p:spPr>
          <a:xfrm>
            <a:off x="9867900" y="4400550"/>
            <a:ext cx="74295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Audit-readiness, certification support and governance workshops.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C6260C-E769-45CE-B00D-7E77A43AA7D1}"/>
              </a:ext>
            </a:extLst>
          </p:cNvPr>
          <p:cNvSpPr>
            <a:spLocks noGrp="1"/>
          </p:cNvSpPr>
          <p:nvPr/>
        </p:nvSpPr>
        <p:spPr>
          <a:xfrm>
            <a:off x="9563100" y="4857750"/>
            <a:ext cx="1714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75" b="1">
                <a:solidFill>
                  <a:srgbClr val="1F6F5B"/>
                </a:solidFill>
              </a:defRPr>
            </a:pPr>
            <a:r>
              <a:rPr sz="1875" b="1">
                <a:solidFill>
                  <a:srgbClr val="1F6F5B"/>
                </a:solidFill>
              </a:rPr>
              <a:t>-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2C0D81-0943-48B8-B034-CAE23DAF16C8}"/>
              </a:ext>
            </a:extLst>
          </p:cNvPr>
          <p:cNvSpPr>
            <a:spLocks noGrp="1"/>
          </p:cNvSpPr>
          <p:nvPr/>
        </p:nvSpPr>
        <p:spPr>
          <a:xfrm>
            <a:off x="9867900" y="4857750"/>
            <a:ext cx="74295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>
                <a:solidFill>
                  <a:srgbClr val="344542"/>
                </a:solidFill>
              </a:rPr>
              <a:t>Institutional dashboards, CSR/funder reporting tools and reviewer/Shariah marketplace.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7DAFB7-A305-C639-5341-A483ABC5B8D0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3734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1F9D09F-EB55-405A-A4D8-22E7B5AB807E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28F4A-FB88-4140-AE73-9915DE0CC8FA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D42CE4-23D2-4678-ADD8-EA64FCF6BD1F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JAKIM / MAIN DEVELOPMENT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14C3F9-39EA-43A3-A929-4C1F4DCB99E1}"/>
              </a:ext>
            </a:extLst>
          </p:cNvPr>
          <p:cNvSpPr>
            <a:spLocks noGrp="1"/>
          </p:cNvSpPr>
          <p:nvPr/>
        </p:nvSpPr>
        <p:spPr>
          <a:xfrm>
            <a:off x="723899" y="1257300"/>
            <a:ext cx="13824613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Register the ecosystem first; activate governance over time.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1FAE20-0AAC-4D24-8A49-6C6EE46D878B}"/>
              </a:ext>
            </a:extLst>
          </p:cNvPr>
          <p:cNvSpPr>
            <a:spLocks noGrp="1"/>
          </p:cNvSpPr>
          <p:nvPr/>
        </p:nvSpPr>
        <p:spPr>
          <a:xfrm>
            <a:off x="723899" y="1981200"/>
            <a:ext cx="13428828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AGP can become the implementation partner for a living registry and governance workflow under an authority scope.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139C01-294C-4E98-A3D3-FC206AF63BFB}"/>
              </a:ext>
            </a:extLst>
          </p:cNvPr>
          <p:cNvSpPr>
            <a:spLocks noGrp="1"/>
          </p:cNvSpPr>
          <p:nvPr/>
        </p:nvSpPr>
        <p:spPr>
          <a:xfrm>
            <a:off x="723900" y="3166110"/>
            <a:ext cx="5473700" cy="3198495"/>
          </a:xfrm>
          <a:prstGeom prst="roundRect">
            <a:avLst>
              <a:gd name="adj" fmla="val 2382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33AA5E-6051-4773-825A-6FCC68D6209C}"/>
              </a:ext>
            </a:extLst>
          </p:cNvPr>
          <p:cNvSpPr>
            <a:spLocks noGrp="1"/>
          </p:cNvSpPr>
          <p:nvPr/>
        </p:nvSpPr>
        <p:spPr>
          <a:xfrm>
            <a:off x="971550" y="33718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Authority scope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75E1FD-1B45-42F5-B96F-01FE2FFE5422}"/>
              </a:ext>
            </a:extLst>
          </p:cNvPr>
          <p:cNvSpPr>
            <a:spLocks noGrp="1"/>
          </p:cNvSpPr>
          <p:nvPr/>
        </p:nvSpPr>
        <p:spPr>
          <a:xfrm>
            <a:off x="971550" y="3867718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JAKIM or a state MAIN identifies the pilot or rollout cohort.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A30F273-71CA-4B58-AC27-4BB8A0E48E09}"/>
              </a:ext>
            </a:extLst>
          </p:cNvPr>
          <p:cNvSpPr>
            <a:spLocks noGrp="1"/>
          </p:cNvSpPr>
          <p:nvPr/>
        </p:nvSpPr>
        <p:spPr>
          <a:xfrm>
            <a:off x="6407150" y="3166110"/>
            <a:ext cx="5473700" cy="3198495"/>
          </a:xfrm>
          <a:prstGeom prst="roundRect">
            <a:avLst>
              <a:gd name="adj" fmla="val 2382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8BA82F-DA21-4B19-8F04-640DFF5473CF}"/>
              </a:ext>
            </a:extLst>
          </p:cNvPr>
          <p:cNvSpPr>
            <a:spLocks noGrp="1"/>
          </p:cNvSpPr>
          <p:nvPr/>
        </p:nvSpPr>
        <p:spPr>
          <a:xfrm>
            <a:off x="6648450" y="33718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AGP registration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771993-AC57-456E-A74D-AE4F02869415}"/>
              </a:ext>
            </a:extLst>
          </p:cNvPr>
          <p:cNvSpPr>
            <a:spLocks noGrp="1"/>
          </p:cNvSpPr>
          <p:nvPr/>
        </p:nvSpPr>
        <p:spPr>
          <a:xfrm>
            <a:off x="6648450" y="3867718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AGP registers mosques, suraus, charities, waqf initiatives and approved entities.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3DFB883-DE28-4EAC-AC36-39420AEA738E}"/>
              </a:ext>
            </a:extLst>
          </p:cNvPr>
          <p:cNvSpPr>
            <a:spLocks noGrp="1"/>
          </p:cNvSpPr>
          <p:nvPr/>
        </p:nvSpPr>
        <p:spPr>
          <a:xfrm>
            <a:off x="12090400" y="3166110"/>
            <a:ext cx="5473700" cy="3198495"/>
          </a:xfrm>
          <a:prstGeom prst="roundRect">
            <a:avLst>
              <a:gd name="adj" fmla="val 2382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F54FC2-114F-4254-88AC-797BFFB13606}"/>
              </a:ext>
            </a:extLst>
          </p:cNvPr>
          <p:cNvSpPr>
            <a:spLocks noGrp="1"/>
          </p:cNvSpPr>
          <p:nvPr/>
        </p:nvSpPr>
        <p:spPr>
          <a:xfrm>
            <a:off x="12344400" y="33718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Member activation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EFB05E-FB0F-485D-B1F2-98D29666C4DD}"/>
              </a:ext>
            </a:extLst>
          </p:cNvPr>
          <p:cNvSpPr>
            <a:spLocks noGrp="1"/>
          </p:cNvSpPr>
          <p:nvPr/>
        </p:nvSpPr>
        <p:spPr>
          <a:xfrm>
            <a:off x="12344400" y="3867718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Organizations update profiles, reports, evidence and certification progress over time.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E82E236-8111-41A9-94D7-B1B0C821DEA5}"/>
              </a:ext>
            </a:extLst>
          </p:cNvPr>
          <p:cNvSpPr>
            <a:spLocks noGrp="1"/>
          </p:cNvSpPr>
          <p:nvPr/>
        </p:nvSpPr>
        <p:spPr>
          <a:xfrm>
            <a:off x="723900" y="6574155"/>
            <a:ext cx="5473700" cy="3198495"/>
          </a:xfrm>
          <a:prstGeom prst="roundRect">
            <a:avLst>
              <a:gd name="adj" fmla="val 2382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9369FF-AF97-4B77-94A1-FD348F1F79C7}"/>
              </a:ext>
            </a:extLst>
          </p:cNvPr>
          <p:cNvSpPr>
            <a:spLocks noGrp="1"/>
          </p:cNvSpPr>
          <p:nvPr/>
        </p:nvSpPr>
        <p:spPr>
          <a:xfrm>
            <a:off x="971550" y="67818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For JAKIM/MAIN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DEED98-975D-4F9D-99C6-CA920581AF8A}"/>
              </a:ext>
            </a:extLst>
          </p:cNvPr>
          <p:cNvSpPr>
            <a:spLocks noGrp="1"/>
          </p:cNvSpPr>
          <p:nvPr/>
        </p:nvSpPr>
        <p:spPr>
          <a:xfrm>
            <a:off x="971550" y="7277668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Dashboards show reporting gaps, audit-readiness signals and improvement progress.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57D34F7-BDEB-4D7C-AC0C-17EB7DEF1B07}"/>
              </a:ext>
            </a:extLst>
          </p:cNvPr>
          <p:cNvSpPr>
            <a:spLocks noGrp="1"/>
          </p:cNvSpPr>
          <p:nvPr/>
        </p:nvSpPr>
        <p:spPr>
          <a:xfrm>
            <a:off x="6407150" y="6574155"/>
            <a:ext cx="5473700" cy="3198495"/>
          </a:xfrm>
          <a:prstGeom prst="roundRect">
            <a:avLst>
              <a:gd name="adj" fmla="val 2382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D7DA5A-187F-4FA5-9671-630A20949C90}"/>
              </a:ext>
            </a:extLst>
          </p:cNvPr>
          <p:cNvSpPr>
            <a:spLocks noGrp="1"/>
          </p:cNvSpPr>
          <p:nvPr/>
        </p:nvSpPr>
        <p:spPr>
          <a:xfrm>
            <a:off x="6648450" y="67818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For organizations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7FA404-60C9-46E3-9E73-298DC678A4B9}"/>
              </a:ext>
            </a:extLst>
          </p:cNvPr>
          <p:cNvSpPr>
            <a:spLocks noGrp="1"/>
          </p:cNvSpPr>
          <p:nvPr/>
        </p:nvSpPr>
        <p:spPr>
          <a:xfrm>
            <a:off x="6648450" y="7277668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Guided onboarding and governance support without AGP fees.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65E4BD0-D39A-483C-9662-137F82B225EE}"/>
              </a:ext>
            </a:extLst>
          </p:cNvPr>
          <p:cNvSpPr>
            <a:spLocks noGrp="1"/>
          </p:cNvSpPr>
          <p:nvPr/>
        </p:nvSpPr>
        <p:spPr>
          <a:xfrm>
            <a:off x="12090400" y="6574155"/>
            <a:ext cx="5473700" cy="3198495"/>
          </a:xfrm>
          <a:prstGeom prst="roundRect">
            <a:avLst>
              <a:gd name="adj" fmla="val 2382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5D4E2D9-441F-4724-BCB1-C520B0585BD9}"/>
              </a:ext>
            </a:extLst>
          </p:cNvPr>
          <p:cNvSpPr>
            <a:spLocks noGrp="1"/>
          </p:cNvSpPr>
          <p:nvPr/>
        </p:nvSpPr>
        <p:spPr>
          <a:xfrm>
            <a:off x="12344400" y="67818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For donors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844DD9-D041-483F-BB2B-BCA537AEBA3F}"/>
              </a:ext>
            </a:extLst>
          </p:cNvPr>
          <p:cNvSpPr>
            <a:spLocks noGrp="1"/>
          </p:cNvSpPr>
          <p:nvPr/>
        </p:nvSpPr>
        <p:spPr>
          <a:xfrm>
            <a:off x="12344400" y="7277668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Clearer trust signals before donating.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163932-5101-3416-6BA8-85F243D971BB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9825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A2751AB-D758-44D8-A84F-3BAAB2D1AE78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A5D58B-5225-410B-B1EA-5583946B6D19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82DF99-8F47-410D-837B-8AE119333CA4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ADVISOR ROLE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B7A1BD-E5AC-4966-A631-3B45F6F06CC0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15189390" cy="1200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Prof. Anuar strengthens the </a:t>
            </a:r>
            <a:r>
              <a:rPr sz="3900" b="1" dirty="0" err="1">
                <a:solidFill>
                  <a:srgbClr val="172A2A"/>
                </a:solidFill>
              </a:rPr>
              <a:t>behaviour</a:t>
            </a:r>
            <a:r>
              <a:rPr sz="3900" b="1" dirty="0">
                <a:solidFill>
                  <a:srgbClr val="172A2A"/>
                </a:solidFill>
              </a:rPr>
              <a:t>-change and evaluation layer.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5A1BF7-D497-4AAA-BF62-A6217B513BA5}"/>
              </a:ext>
            </a:extLst>
          </p:cNvPr>
          <p:cNvSpPr>
            <a:spLocks noGrp="1"/>
          </p:cNvSpPr>
          <p:nvPr/>
        </p:nvSpPr>
        <p:spPr>
          <a:xfrm>
            <a:off x="723899" y="1981200"/>
            <a:ext cx="14466058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recommended role is advising member, allowing AGP to apply directly while keeping academic and research pathways open.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E73D34-D66D-489F-AEEE-CD3FB6476959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424CD-866B-4BD2-ACA3-5C3ADE73397F}"/>
              </a:ext>
            </a:extLst>
          </p:cNvPr>
          <p:cNvSpPr>
            <a:spLocks noGrp="1"/>
          </p:cNvSpPr>
          <p:nvPr/>
        </p:nvSpPr>
        <p:spPr>
          <a:xfrm>
            <a:off x="723900" y="3440430"/>
            <a:ext cx="4052888" cy="5859780"/>
          </a:xfrm>
          <a:prstGeom prst="roundRect">
            <a:avLst>
              <a:gd name="adj" fmla="val 1880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BB231-7C32-41A3-ABBC-32B524CA684D}"/>
              </a:ext>
            </a:extLst>
          </p:cNvPr>
          <p:cNvSpPr>
            <a:spLocks noGrp="1"/>
          </p:cNvSpPr>
          <p:nvPr/>
        </p:nvSpPr>
        <p:spPr>
          <a:xfrm>
            <a:off x="971549" y="3086100"/>
            <a:ext cx="35623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Adoption model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5C93AD-60A7-4952-842C-E69B0F34234D}"/>
              </a:ext>
            </a:extLst>
          </p:cNvPr>
          <p:cNvSpPr>
            <a:spLocks noGrp="1"/>
          </p:cNvSpPr>
          <p:nvPr/>
        </p:nvSpPr>
        <p:spPr>
          <a:xfrm>
            <a:off x="966788" y="3638550"/>
            <a:ext cx="35623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Explain what drives digital governance uptake among committees and administrators.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E750C7-AB00-4BE1-9BED-DD98C9AA3141}"/>
              </a:ext>
            </a:extLst>
          </p:cNvPr>
          <p:cNvSpPr>
            <a:spLocks noGrp="1"/>
          </p:cNvSpPr>
          <p:nvPr/>
        </p:nvSpPr>
        <p:spPr>
          <a:xfrm>
            <a:off x="4986338" y="3440430"/>
            <a:ext cx="4052888" cy="5859780"/>
          </a:xfrm>
          <a:prstGeom prst="roundRect">
            <a:avLst>
              <a:gd name="adj" fmla="val 1880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6ED6E7-FCB1-498A-B779-4957FD4AF368}"/>
              </a:ext>
            </a:extLst>
          </p:cNvPr>
          <p:cNvSpPr>
            <a:spLocks noGrp="1"/>
          </p:cNvSpPr>
          <p:nvPr/>
        </p:nvSpPr>
        <p:spPr>
          <a:xfrm>
            <a:off x="5238749" y="3086100"/>
            <a:ext cx="35623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Training design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CA4E40-CE49-4422-B5AE-244782ED94A0}"/>
              </a:ext>
            </a:extLst>
          </p:cNvPr>
          <p:cNvSpPr>
            <a:spLocks noGrp="1"/>
          </p:cNvSpPr>
          <p:nvPr/>
        </p:nvSpPr>
        <p:spPr>
          <a:xfrm>
            <a:off x="5233988" y="3638550"/>
            <a:ext cx="35623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Shape workshops around HRD, organizational learning and volunteer-led capability.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D05390B-7097-48E3-B46E-06C8DDF028BC}"/>
              </a:ext>
            </a:extLst>
          </p:cNvPr>
          <p:cNvSpPr>
            <a:spLocks noGrp="1"/>
          </p:cNvSpPr>
          <p:nvPr/>
        </p:nvSpPr>
        <p:spPr>
          <a:xfrm>
            <a:off x="9248775" y="3440430"/>
            <a:ext cx="4052888" cy="5859780"/>
          </a:xfrm>
          <a:prstGeom prst="roundRect">
            <a:avLst>
              <a:gd name="adj" fmla="val 1880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C73DDA-DA35-4067-A383-CB61C33D99CE}"/>
              </a:ext>
            </a:extLst>
          </p:cNvPr>
          <p:cNvSpPr>
            <a:spLocks noGrp="1"/>
          </p:cNvSpPr>
          <p:nvPr/>
        </p:nvSpPr>
        <p:spPr>
          <a:xfrm>
            <a:off x="9505949" y="3086100"/>
            <a:ext cx="35623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Evaluation method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21923B-5D5A-4EED-B586-861328514264}"/>
              </a:ext>
            </a:extLst>
          </p:cNvPr>
          <p:cNvSpPr>
            <a:spLocks noGrp="1"/>
          </p:cNvSpPr>
          <p:nvPr/>
        </p:nvSpPr>
        <p:spPr>
          <a:xfrm>
            <a:off x="9501188" y="3638550"/>
            <a:ext cx="3562350" cy="800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Guide baseline/endline logic, interviews and behavioural measurement.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15C3540-B78D-477F-B052-5F21D7E307BB}"/>
              </a:ext>
            </a:extLst>
          </p:cNvPr>
          <p:cNvSpPr>
            <a:spLocks noGrp="1"/>
          </p:cNvSpPr>
          <p:nvPr/>
        </p:nvSpPr>
        <p:spPr>
          <a:xfrm>
            <a:off x="13511213" y="3440430"/>
            <a:ext cx="4052888" cy="5859780"/>
          </a:xfrm>
          <a:prstGeom prst="roundRect">
            <a:avLst>
              <a:gd name="adj" fmla="val 1880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080610-3C1A-4221-9B6F-F30E9FB84FF3}"/>
              </a:ext>
            </a:extLst>
          </p:cNvPr>
          <p:cNvSpPr>
            <a:spLocks noGrp="1"/>
          </p:cNvSpPr>
          <p:nvPr/>
        </p:nvSpPr>
        <p:spPr>
          <a:xfrm>
            <a:off x="13754099" y="3086100"/>
            <a:ext cx="35623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Credibility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4B4D675-72C7-4859-98BD-135AA976C0FF}"/>
              </a:ext>
            </a:extLst>
          </p:cNvPr>
          <p:cNvSpPr>
            <a:spLocks noGrp="1"/>
          </p:cNvSpPr>
          <p:nvPr/>
        </p:nvSpPr>
        <p:spPr>
          <a:xfrm>
            <a:off x="13749338" y="3638550"/>
            <a:ext cx="35623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Position AGP as a serious governance intervention, not only software.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4592A8-E0D3-44DD-BBB4-813125F02FAD}"/>
              </a:ext>
            </a:extLst>
          </p:cNvPr>
          <p:cNvSpPr>
            <a:spLocks noGrp="1"/>
          </p:cNvSpPr>
          <p:nvPr/>
        </p:nvSpPr>
        <p:spPr>
          <a:xfrm>
            <a:off x="723900" y="9505950"/>
            <a:ext cx="168402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>
                <a:solidFill>
                  <a:srgbClr val="667872"/>
                </a:solidFill>
              </a:defRPr>
            </a:pPr>
            <a:r>
              <a:rPr sz="1725" b="0">
                <a:solidFill>
                  <a:srgbClr val="667872"/>
                </a:solidFill>
              </a:rPr>
              <a:t>USM-linked co-applications remain available where a funder specifically values academic anchoring.</a:t>
            </a:r>
          </a:p>
        </p:txBody>
      </p:sp>
    </p:spTree>
    <p:extLst>
      <p:ext uri="{BB962C8B-B14F-4D97-AF65-F5344CB8AC3E}">
        <p14:creationId xmlns:p14="http://schemas.microsoft.com/office/powerpoint/2010/main" val="1918186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8B18476-BC89-4C24-9171-5072F965BC3A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678BD1-BAE9-446F-820D-EC2F7257DDB3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B0985C-D8AF-4544-BED5-411CC60AA5FD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PILOT EVALUATION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B853E9-74C2-46D9-A5DB-BFA80843EF74}"/>
              </a:ext>
            </a:extLst>
          </p:cNvPr>
          <p:cNvSpPr>
            <a:spLocks noGrp="1"/>
          </p:cNvSpPr>
          <p:nvPr/>
        </p:nvSpPr>
        <p:spPr>
          <a:xfrm>
            <a:off x="723899" y="1257300"/>
            <a:ext cx="15667061" cy="48768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Success is measured as capability change, not account creation.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00BEE8-FFA2-4F12-A6B9-DA296400CD82}"/>
              </a:ext>
            </a:extLst>
          </p:cNvPr>
          <p:cNvSpPr>
            <a:spLocks noGrp="1"/>
          </p:cNvSpPr>
          <p:nvPr/>
        </p:nvSpPr>
        <p:spPr>
          <a:xfrm>
            <a:off x="723899" y="1962150"/>
            <a:ext cx="14288637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pilot should prove that organizations become more evidence-ready, report more consistently and improve trust signals.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6C6F38-69AD-436E-AE6B-99147155DDD0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739F54-8C1F-459C-B152-3A27836C127B}"/>
              </a:ext>
            </a:extLst>
          </p:cNvPr>
          <p:cNvSpPr>
            <a:spLocks noGrp="1"/>
          </p:cNvSpPr>
          <p:nvPr/>
        </p:nvSpPr>
        <p:spPr>
          <a:xfrm>
            <a:off x="723900" y="2846070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9147ED-F193-4416-92A9-FF2B37E7833E}"/>
              </a:ext>
            </a:extLst>
          </p:cNvPr>
          <p:cNvSpPr>
            <a:spLocks noGrp="1"/>
          </p:cNvSpPr>
          <p:nvPr/>
        </p:nvSpPr>
        <p:spPr>
          <a:xfrm>
            <a:off x="971550" y="30480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Registry coverage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3E857E-55AB-4605-AA5F-ECC54C267E17}"/>
              </a:ext>
            </a:extLst>
          </p:cNvPr>
          <p:cNvSpPr>
            <a:spLocks noGrp="1"/>
          </p:cNvSpPr>
          <p:nvPr/>
        </p:nvSpPr>
        <p:spPr>
          <a:xfrm>
            <a:off x="971550" y="3590925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100% of agreed JAKIM/MAIN pilot cohort registered.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A089480-3916-486C-A635-9EA4C01268ED}"/>
              </a:ext>
            </a:extLst>
          </p:cNvPr>
          <p:cNvSpPr>
            <a:spLocks noGrp="1"/>
          </p:cNvSpPr>
          <p:nvPr/>
        </p:nvSpPr>
        <p:spPr>
          <a:xfrm>
            <a:off x="6407150" y="2846070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784ADC-1205-4BF9-9CC6-BABD9D93C3B7}"/>
              </a:ext>
            </a:extLst>
          </p:cNvPr>
          <p:cNvSpPr>
            <a:spLocks noGrp="1"/>
          </p:cNvSpPr>
          <p:nvPr/>
        </p:nvSpPr>
        <p:spPr>
          <a:xfrm>
            <a:off x="6648450" y="30480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 dirty="0">
                <a:solidFill>
                  <a:srgbClr val="B8872D"/>
                </a:solidFill>
              </a:rPr>
              <a:t>Evidence readiness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E00590-2421-440F-B4BD-863E00A8E30E}"/>
              </a:ext>
            </a:extLst>
          </p:cNvPr>
          <p:cNvSpPr>
            <a:spLocks noGrp="1"/>
          </p:cNvSpPr>
          <p:nvPr/>
        </p:nvSpPr>
        <p:spPr>
          <a:xfrm>
            <a:off x="6648450" y="3590925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80% complete core evidence pack.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00231E6-B54C-461D-BB34-8E78EBC4F181}"/>
              </a:ext>
            </a:extLst>
          </p:cNvPr>
          <p:cNvSpPr>
            <a:spLocks noGrp="1"/>
          </p:cNvSpPr>
          <p:nvPr/>
        </p:nvSpPr>
        <p:spPr>
          <a:xfrm>
            <a:off x="12090400" y="2846070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C8F47C-21E3-40D4-8C01-9AD191F4D06A}"/>
              </a:ext>
            </a:extLst>
          </p:cNvPr>
          <p:cNvSpPr>
            <a:spLocks noGrp="1"/>
          </p:cNvSpPr>
          <p:nvPr/>
        </p:nvSpPr>
        <p:spPr>
          <a:xfrm>
            <a:off x="12344400" y="30480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 dirty="0">
                <a:solidFill>
                  <a:srgbClr val="2D6684"/>
                </a:solidFill>
              </a:rPr>
              <a:t>Reporting discipline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AA9505-8A1C-4EC9-9986-AC6F7FCAFEAA}"/>
              </a:ext>
            </a:extLst>
          </p:cNvPr>
          <p:cNvSpPr>
            <a:spLocks noGrp="1"/>
          </p:cNvSpPr>
          <p:nvPr/>
        </p:nvSpPr>
        <p:spPr>
          <a:xfrm>
            <a:off x="12344400" y="3590925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50% improvement in timeliness against baseline.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06780C6-7B77-425E-ADA7-2471A5AFCFA9}"/>
              </a:ext>
            </a:extLst>
          </p:cNvPr>
          <p:cNvSpPr>
            <a:spLocks noGrp="1"/>
          </p:cNvSpPr>
          <p:nvPr/>
        </p:nvSpPr>
        <p:spPr>
          <a:xfrm>
            <a:off x="723900" y="6414135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E26FDF-E9FE-4987-AB82-1000AA82F9E0}"/>
              </a:ext>
            </a:extLst>
          </p:cNvPr>
          <p:cNvSpPr>
            <a:spLocks noGrp="1"/>
          </p:cNvSpPr>
          <p:nvPr/>
        </p:nvSpPr>
        <p:spPr>
          <a:xfrm>
            <a:off x="971550" y="66294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Amanah movement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BE8213-16CC-4474-AD60-DC8178405BB7}"/>
              </a:ext>
            </a:extLst>
          </p:cNvPr>
          <p:cNvSpPr>
            <a:spLocks noGrp="1"/>
          </p:cNvSpPr>
          <p:nvPr/>
        </p:nvSpPr>
        <p:spPr>
          <a:xfrm>
            <a:off x="971550" y="7172325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+10 to +15 points where baseline gaps exist.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596ADE7-4C6B-478F-AD9B-D6B2346163AD}"/>
              </a:ext>
            </a:extLst>
          </p:cNvPr>
          <p:cNvSpPr>
            <a:spLocks noGrp="1"/>
          </p:cNvSpPr>
          <p:nvPr/>
        </p:nvSpPr>
        <p:spPr>
          <a:xfrm>
            <a:off x="6407150" y="6414135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E03EFB3-342E-436B-8843-188D342B1A93}"/>
              </a:ext>
            </a:extLst>
          </p:cNvPr>
          <p:cNvSpPr>
            <a:spLocks noGrp="1"/>
          </p:cNvSpPr>
          <p:nvPr/>
        </p:nvSpPr>
        <p:spPr>
          <a:xfrm>
            <a:off x="6648450" y="66294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Remediation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45D04A-1EE0-4105-B729-C059E28F1F9B}"/>
              </a:ext>
            </a:extLst>
          </p:cNvPr>
          <p:cNvSpPr>
            <a:spLocks noGrp="1"/>
          </p:cNvSpPr>
          <p:nvPr/>
        </p:nvSpPr>
        <p:spPr>
          <a:xfrm>
            <a:off x="6648450" y="7172325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70% of findings closed within agreed cycle.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8370FB2-EC88-4310-B3B0-F35B5F09900F}"/>
              </a:ext>
            </a:extLst>
          </p:cNvPr>
          <p:cNvSpPr>
            <a:spLocks noGrp="1"/>
          </p:cNvSpPr>
          <p:nvPr/>
        </p:nvSpPr>
        <p:spPr>
          <a:xfrm>
            <a:off x="12090400" y="6414135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49E9E4-9816-4C8D-B8DD-1BB6023E0230}"/>
              </a:ext>
            </a:extLst>
          </p:cNvPr>
          <p:cNvSpPr>
            <a:spLocks noGrp="1"/>
          </p:cNvSpPr>
          <p:nvPr/>
        </p:nvSpPr>
        <p:spPr>
          <a:xfrm>
            <a:off x="12344400" y="66294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Trust perception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941653-A1A8-4BEE-9D45-22F7E154F242}"/>
              </a:ext>
            </a:extLst>
          </p:cNvPr>
          <p:cNvSpPr>
            <a:spLocks noGrp="1"/>
          </p:cNvSpPr>
          <p:nvPr/>
        </p:nvSpPr>
        <p:spPr>
          <a:xfrm>
            <a:off x="12344400" y="7172325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20% donor confidence lift after viewing public profiles.</a:t>
            </a:r>
          </a:p>
        </p:txBody>
      </p:sp>
    </p:spTree>
    <p:extLst>
      <p:ext uri="{BB962C8B-B14F-4D97-AF65-F5344CB8AC3E}">
        <p14:creationId xmlns:p14="http://schemas.microsoft.com/office/powerpoint/2010/main" val="855157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830DC39-AE6E-4C91-BA84-1FC684D63C73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C3EE46-6309-4A03-A97F-23C9B5885672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0E39BE-48C4-4674-8BCF-6EB26613DF74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FUNDING STRATEGY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1C60B6-55E7-4B41-B3D5-C21E76F2D3BD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140589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>
                <a:solidFill>
                  <a:srgbClr val="172A2A"/>
                </a:solidFill>
              </a:rPr>
              <a:t>Lead with AGP direct applications, but keep every viable route open.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ED3073-B076-45DF-9CC6-B537C1863D8B}"/>
              </a:ext>
            </a:extLst>
          </p:cNvPr>
          <p:cNvSpPr>
            <a:spLocks noGrp="1"/>
          </p:cNvSpPr>
          <p:nvPr/>
        </p:nvSpPr>
        <p:spPr>
          <a:xfrm>
            <a:off x="723899" y="1962150"/>
            <a:ext cx="15030449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grant execution board remains the pipeline: no route is dropped while JAKIM/MAIN and advisor conversations mature.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C19E219-89CA-43D1-80B2-2825848B4834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303767-3EBD-453C-A897-B4476BEC1413}"/>
              </a:ext>
            </a:extLst>
          </p:cNvPr>
          <p:cNvSpPr>
            <a:spLocks noGrp="1"/>
          </p:cNvSpPr>
          <p:nvPr/>
        </p:nvSpPr>
        <p:spPr>
          <a:xfrm>
            <a:off x="971550" y="2919412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Immediate base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951763-9D95-4D1A-A4E0-D9F05B38159A}"/>
              </a:ext>
            </a:extLst>
          </p:cNvPr>
          <p:cNvSpPr>
            <a:spLocks noGrp="1"/>
          </p:cNvSpPr>
          <p:nvPr/>
        </p:nvSpPr>
        <p:spPr>
          <a:xfrm>
            <a:off x="971550" y="3471863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MD Status, Hasanah Micro, </a:t>
            </a:r>
            <a:r>
              <a:rPr sz="2000" b="1" dirty="0" err="1">
                <a:solidFill>
                  <a:srgbClr val="172A2A"/>
                </a:solidFill>
              </a:rPr>
              <a:t>IsDB</a:t>
            </a:r>
            <a:r>
              <a:rPr sz="2000" b="1" dirty="0">
                <a:solidFill>
                  <a:srgbClr val="172A2A"/>
                </a:solidFill>
              </a:rPr>
              <a:t> Engage registration, JAKIM/MAIN letter.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0910FD-8126-41BB-ACBC-3CB4451EB872}"/>
              </a:ext>
            </a:extLst>
          </p:cNvPr>
          <p:cNvSpPr>
            <a:spLocks noGrp="1"/>
          </p:cNvSpPr>
          <p:nvPr/>
        </p:nvSpPr>
        <p:spPr>
          <a:xfrm>
            <a:off x="6407150" y="2571750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2A2AFA-B266-4B2B-8C19-53440BADD3DE}"/>
              </a:ext>
            </a:extLst>
          </p:cNvPr>
          <p:cNvSpPr>
            <a:spLocks noGrp="1"/>
          </p:cNvSpPr>
          <p:nvPr/>
        </p:nvSpPr>
        <p:spPr>
          <a:xfrm>
            <a:off x="6648450" y="2919412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Build credibility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4A6421-8E5B-4472-A9F0-38DA923181B4}"/>
              </a:ext>
            </a:extLst>
          </p:cNvPr>
          <p:cNvSpPr>
            <a:spLocks noGrp="1"/>
          </p:cNvSpPr>
          <p:nvPr/>
        </p:nvSpPr>
        <p:spPr>
          <a:xfrm>
            <a:off x="6648450" y="3471863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Cradle CIP, SC FIKRA ACE, JAWHAR engagement, Shariah advisor.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448E120-A5B0-4AC0-8FB6-C5C17423A31F}"/>
              </a:ext>
            </a:extLst>
          </p:cNvPr>
          <p:cNvSpPr>
            <a:spLocks noGrp="1"/>
          </p:cNvSpPr>
          <p:nvPr/>
        </p:nvSpPr>
        <p:spPr>
          <a:xfrm>
            <a:off x="12090400" y="2571750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9F9AFC-EA04-494E-9984-04358F2C8338}"/>
              </a:ext>
            </a:extLst>
          </p:cNvPr>
          <p:cNvSpPr>
            <a:spLocks noGrp="1"/>
          </p:cNvSpPr>
          <p:nvPr/>
        </p:nvSpPr>
        <p:spPr>
          <a:xfrm>
            <a:off x="12344400" y="2919412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Accelerate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F729BC-5739-404A-BA07-6118939B9A06}"/>
              </a:ext>
            </a:extLst>
          </p:cNvPr>
          <p:cNvSpPr>
            <a:spLocks noGrp="1"/>
          </p:cNvSpPr>
          <p:nvPr/>
        </p:nvSpPr>
        <p:spPr>
          <a:xfrm>
            <a:off x="12344400" y="3471863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MDEC MDCG, IERIF/INCEIF, Hasanah Special Grant, pilot coordinators.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0575724-72C4-45D6-A3BA-DB56842B77E1}"/>
              </a:ext>
            </a:extLst>
          </p:cNvPr>
          <p:cNvSpPr>
            <a:spLocks noGrp="1"/>
          </p:cNvSpPr>
          <p:nvPr/>
        </p:nvSpPr>
        <p:spPr>
          <a:xfrm>
            <a:off x="723900" y="6276975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6C9F0E-39AD-4839-8491-7DD95995E179}"/>
              </a:ext>
            </a:extLst>
          </p:cNvPr>
          <p:cNvSpPr>
            <a:spLocks noGrp="1"/>
          </p:cNvSpPr>
          <p:nvPr/>
        </p:nvSpPr>
        <p:spPr>
          <a:xfrm>
            <a:off x="971550" y="6496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Scale prep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5CA67A-495B-4B5A-82BF-267E86A943B1}"/>
              </a:ext>
            </a:extLst>
          </p:cNvPr>
          <p:cNvSpPr>
            <a:spLocks noGrp="1"/>
          </p:cNvSpPr>
          <p:nvPr/>
        </p:nvSpPr>
        <p:spPr>
          <a:xfrm>
            <a:off x="971550" y="7029451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IsDB Transform Fund, pilot evidence pack, CSR/ESG sponsorships.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37C85B5-6D8B-43AA-9EBF-330E7EF79083}"/>
              </a:ext>
            </a:extLst>
          </p:cNvPr>
          <p:cNvSpPr>
            <a:spLocks noGrp="1"/>
          </p:cNvSpPr>
          <p:nvPr/>
        </p:nvSpPr>
        <p:spPr>
          <a:xfrm>
            <a:off x="6407150" y="6276975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58608A-2922-420B-BFCA-6C3DDB4168D2}"/>
              </a:ext>
            </a:extLst>
          </p:cNvPr>
          <p:cNvSpPr>
            <a:spLocks noGrp="1"/>
          </p:cNvSpPr>
          <p:nvPr/>
        </p:nvSpPr>
        <p:spPr>
          <a:xfrm>
            <a:off x="6648450" y="6496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Scale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D70E6E-0230-4A83-8FF0-42A4EF9802A2}"/>
              </a:ext>
            </a:extLst>
          </p:cNvPr>
          <p:cNvSpPr>
            <a:spLocks noGrp="1"/>
          </p:cNvSpPr>
          <p:nvPr/>
        </p:nvSpPr>
        <p:spPr>
          <a:xfrm>
            <a:off x="6648450" y="7029451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MDAG, additional state MAIN expansion, regional OIC partnerships.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54BAAED-FFAF-40C9-91FD-C2F1E186790C}"/>
              </a:ext>
            </a:extLst>
          </p:cNvPr>
          <p:cNvSpPr>
            <a:spLocks noGrp="1"/>
          </p:cNvSpPr>
          <p:nvPr/>
        </p:nvSpPr>
        <p:spPr>
          <a:xfrm>
            <a:off x="12090400" y="6276975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76FA3D-A5CB-4257-9030-747057E580C2}"/>
              </a:ext>
            </a:extLst>
          </p:cNvPr>
          <p:cNvSpPr>
            <a:spLocks noGrp="1"/>
          </p:cNvSpPr>
          <p:nvPr/>
        </p:nvSpPr>
        <p:spPr>
          <a:xfrm>
            <a:off x="12344400" y="6496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Academic route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778CFE8-8758-4E58-B68F-4207136DDF15}"/>
              </a:ext>
            </a:extLst>
          </p:cNvPr>
          <p:cNvSpPr>
            <a:spLocks noGrp="1"/>
          </p:cNvSpPr>
          <p:nvPr/>
        </p:nvSpPr>
        <p:spPr>
          <a:xfrm>
            <a:off x="12344400" y="7029451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University-linked co-applications remain open when funder fit is strong.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ECF6B68-FD32-D8EA-796B-BEEA206B8C38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33621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619DC22-F2FC-4643-9A4F-167641142BF2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06D4CF-AC83-4AFD-873F-2021D2E89676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AC53CE-2B6D-4947-8D79-52B7D1DE8FDA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USE OF FUNDS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24ACF0-6F61-4BDF-B0BB-5177C8A39D5A}"/>
              </a:ext>
            </a:extLst>
          </p:cNvPr>
          <p:cNvSpPr>
            <a:spLocks noGrp="1"/>
          </p:cNvSpPr>
          <p:nvPr/>
        </p:nvSpPr>
        <p:spPr>
          <a:xfrm>
            <a:off x="723899" y="1257300"/>
            <a:ext cx="14097569" cy="704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RM550,000 funds a serious 12-month proof cycle.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BEC55F-514B-448E-956B-EB20B4098931}"/>
              </a:ext>
            </a:extLst>
          </p:cNvPr>
          <p:cNvSpPr>
            <a:spLocks noGrp="1"/>
          </p:cNvSpPr>
          <p:nvPr/>
        </p:nvSpPr>
        <p:spPr>
          <a:xfrm>
            <a:off x="723900" y="1962150"/>
            <a:ext cx="13578954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budget supports product hardening, research/evaluation, training, field operations and institutional readiness.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974687-4BBE-4679-BEE2-C083FDA1162D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62C615-3B55-4F4C-935C-E1F51C43C272}"/>
              </a:ext>
            </a:extLst>
          </p:cNvPr>
          <p:cNvSpPr>
            <a:spLocks noGrp="1"/>
          </p:cNvSpPr>
          <p:nvPr/>
        </p:nvSpPr>
        <p:spPr>
          <a:xfrm>
            <a:off x="723900" y="2846070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2DF711-7C01-4242-9FEF-8F1F51BBB713}"/>
              </a:ext>
            </a:extLst>
          </p:cNvPr>
          <p:cNvSpPr>
            <a:spLocks noGrp="1"/>
          </p:cNvSpPr>
          <p:nvPr/>
        </p:nvSpPr>
        <p:spPr>
          <a:xfrm>
            <a:off x="971550" y="30480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RM180k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E5C3A8-DA13-4BF2-AB1E-DD5169071DF8}"/>
              </a:ext>
            </a:extLst>
          </p:cNvPr>
          <p:cNvSpPr>
            <a:spLocks noGrp="1"/>
          </p:cNvSpPr>
          <p:nvPr/>
        </p:nvSpPr>
        <p:spPr>
          <a:xfrm>
            <a:off x="971550" y="3627120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Platform development, configuration, trust profile polish and data exports.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F6EDF5-17AA-4128-BEFB-AC964BE85096}"/>
              </a:ext>
            </a:extLst>
          </p:cNvPr>
          <p:cNvSpPr>
            <a:spLocks noGrp="1"/>
          </p:cNvSpPr>
          <p:nvPr/>
        </p:nvSpPr>
        <p:spPr>
          <a:xfrm>
            <a:off x="6407150" y="2846070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3E8CFB-2E8A-4CBB-A362-EFE995EF6F57}"/>
              </a:ext>
            </a:extLst>
          </p:cNvPr>
          <p:cNvSpPr>
            <a:spLocks noGrp="1"/>
          </p:cNvSpPr>
          <p:nvPr/>
        </p:nvSpPr>
        <p:spPr>
          <a:xfrm>
            <a:off x="6648450" y="30480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RM90k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0D79A3-3B5F-411B-AB1B-1C17C6E2C5B0}"/>
              </a:ext>
            </a:extLst>
          </p:cNvPr>
          <p:cNvSpPr>
            <a:spLocks noGrp="1"/>
          </p:cNvSpPr>
          <p:nvPr/>
        </p:nvSpPr>
        <p:spPr>
          <a:xfrm>
            <a:off x="6648450" y="3627120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Research design, surveys, interviews, analysis and reporting.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4BA87D2-7301-464B-B0F2-684DDADEB647}"/>
              </a:ext>
            </a:extLst>
          </p:cNvPr>
          <p:cNvSpPr>
            <a:spLocks noGrp="1"/>
          </p:cNvSpPr>
          <p:nvPr/>
        </p:nvSpPr>
        <p:spPr>
          <a:xfrm>
            <a:off x="12090400" y="2846070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BC1EDD-9519-46AB-97BB-0F9D49C06332}"/>
              </a:ext>
            </a:extLst>
          </p:cNvPr>
          <p:cNvSpPr>
            <a:spLocks noGrp="1"/>
          </p:cNvSpPr>
          <p:nvPr/>
        </p:nvSpPr>
        <p:spPr>
          <a:xfrm>
            <a:off x="12344400" y="30480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>
                <a:solidFill>
                  <a:srgbClr val="B8872D"/>
                </a:solidFill>
              </a:rPr>
              <a:t>RM80k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232D8A-8AAE-4255-96FE-D4D8638575EB}"/>
              </a:ext>
            </a:extLst>
          </p:cNvPr>
          <p:cNvSpPr>
            <a:spLocks noGrp="1"/>
          </p:cNvSpPr>
          <p:nvPr/>
        </p:nvSpPr>
        <p:spPr>
          <a:xfrm>
            <a:off x="12344400" y="3627120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Training, governance workshops, materials and facilitation.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C64DAF0-6788-4813-87D8-AFAC105B8860}"/>
              </a:ext>
            </a:extLst>
          </p:cNvPr>
          <p:cNvSpPr>
            <a:spLocks noGrp="1"/>
          </p:cNvSpPr>
          <p:nvPr/>
        </p:nvSpPr>
        <p:spPr>
          <a:xfrm>
            <a:off x="723900" y="6414135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776157-591E-464C-9403-89A0B84C4E72}"/>
              </a:ext>
            </a:extLst>
          </p:cNvPr>
          <p:cNvSpPr>
            <a:spLocks noGrp="1"/>
          </p:cNvSpPr>
          <p:nvPr/>
        </p:nvSpPr>
        <p:spPr>
          <a:xfrm>
            <a:off x="971550" y="66294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>
                <a:solidFill>
                  <a:srgbClr val="1F6F5B"/>
                </a:solidFill>
              </a:rPr>
              <a:t>RM90k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6B55F4-992B-4EEF-AC26-FE26E2BFCED5}"/>
              </a:ext>
            </a:extLst>
          </p:cNvPr>
          <p:cNvSpPr>
            <a:spLocks noGrp="1"/>
          </p:cNvSpPr>
          <p:nvPr/>
        </p:nvSpPr>
        <p:spPr>
          <a:xfrm>
            <a:off x="971550" y="7208520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Pilot operations, helpdesk, field coordination and onboarding support.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C5214D6-7C54-4834-B7F4-5F27D2DD75BF}"/>
              </a:ext>
            </a:extLst>
          </p:cNvPr>
          <p:cNvSpPr>
            <a:spLocks noGrp="1"/>
          </p:cNvSpPr>
          <p:nvPr/>
        </p:nvSpPr>
        <p:spPr>
          <a:xfrm>
            <a:off x="6407150" y="6414135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0955FA-6E5A-4F30-8105-149992FC7DEE}"/>
              </a:ext>
            </a:extLst>
          </p:cNvPr>
          <p:cNvSpPr>
            <a:spLocks noGrp="1"/>
          </p:cNvSpPr>
          <p:nvPr/>
        </p:nvSpPr>
        <p:spPr>
          <a:xfrm>
            <a:off x="6648450" y="66294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RM55k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E5331D-E328-4DB4-B303-278779501EBF}"/>
              </a:ext>
            </a:extLst>
          </p:cNvPr>
          <p:cNvSpPr>
            <a:spLocks noGrp="1"/>
          </p:cNvSpPr>
          <p:nvPr/>
        </p:nvSpPr>
        <p:spPr>
          <a:xfrm>
            <a:off x="6648450" y="7208520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Cloud, storage, monitoring, backup, security and compliance support.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F88F032-8F37-4D98-86A8-18E2960A7671}"/>
              </a:ext>
            </a:extLst>
          </p:cNvPr>
          <p:cNvSpPr>
            <a:spLocks noGrp="1"/>
          </p:cNvSpPr>
          <p:nvPr/>
        </p:nvSpPr>
        <p:spPr>
          <a:xfrm>
            <a:off x="12090400" y="6414135"/>
            <a:ext cx="5473700" cy="3358515"/>
          </a:xfrm>
          <a:prstGeom prst="roundRect">
            <a:avLst>
              <a:gd name="adj" fmla="val 2269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1C9BD1-242E-493D-8542-006B1464E7BC}"/>
              </a:ext>
            </a:extLst>
          </p:cNvPr>
          <p:cNvSpPr>
            <a:spLocks noGrp="1"/>
          </p:cNvSpPr>
          <p:nvPr/>
        </p:nvSpPr>
        <p:spPr>
          <a:xfrm>
            <a:off x="12344400" y="662940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RM55k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B2A575-D398-4D12-BCC6-803B2D5107D4}"/>
              </a:ext>
            </a:extLst>
          </p:cNvPr>
          <p:cNvSpPr>
            <a:spLocks noGrp="1"/>
          </p:cNvSpPr>
          <p:nvPr/>
        </p:nvSpPr>
        <p:spPr>
          <a:xfrm>
            <a:off x="12344400" y="7208520"/>
            <a:ext cx="497205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>
                <a:solidFill>
                  <a:srgbClr val="172A2A"/>
                </a:solidFill>
              </a:rPr>
              <a:t>Dissemination and contingency for delivery risk.</a:t>
            </a:r>
          </a:p>
        </p:txBody>
      </p:sp>
    </p:spTree>
    <p:extLst>
      <p:ext uri="{BB962C8B-B14F-4D97-AF65-F5344CB8AC3E}">
        <p14:creationId xmlns:p14="http://schemas.microsoft.com/office/powerpoint/2010/main" val="1149477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71685-DDF7-4D80-81B1-A7E6811651EC}"/>
              </a:ext>
            </a:extLst>
          </p:cNvPr>
          <p:cNvSpPr>
            <a:spLocks noGrp="1"/>
          </p:cNvSpPr>
          <p:nvPr/>
        </p:nvSpPr>
        <p:spPr>
          <a:xfrm>
            <a:off x="723900" y="514350"/>
            <a:ext cx="15030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1">
                <a:solidFill>
                  <a:srgbClr val="1F6F5B"/>
                </a:solidFill>
              </a:defRPr>
            </a:pPr>
            <a:r>
              <a:rPr sz="1575" b="1">
                <a:solidFill>
                  <a:srgbClr val="1F6F5B"/>
                </a:solidFill>
              </a:rPr>
              <a:t>AMANAH GOVERNANCE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54C8C0-5748-43A9-9BE8-E761870CCBB5}"/>
              </a:ext>
            </a:extLst>
          </p:cNvPr>
          <p:cNvSpPr>
            <a:spLocks noGrp="1"/>
          </p:cNvSpPr>
          <p:nvPr/>
        </p:nvSpPr>
        <p:spPr>
          <a:xfrm>
            <a:off x="15754350" y="514350"/>
            <a:ext cx="18097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>
                <a:solidFill>
                  <a:srgbClr val="667872"/>
                </a:solidFill>
              </a:defRPr>
            </a:pPr>
            <a:r>
              <a:rPr sz="1425">
                <a:solidFill>
                  <a:srgbClr val="667872"/>
                </a:solidFill>
              </a:rPr>
              <a:t>May 2026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2A689-F6A5-40D6-B264-768622A19692}"/>
              </a:ext>
            </a:extLst>
          </p:cNvPr>
          <p:cNvSpPr>
            <a:spLocks noGrp="1"/>
          </p:cNvSpPr>
          <p:nvPr/>
        </p:nvSpPr>
        <p:spPr>
          <a:xfrm>
            <a:off x="723900" y="971550"/>
            <a:ext cx="168402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1350" b="1">
                <a:solidFill>
                  <a:srgbClr val="1F6F5B"/>
                </a:solidFill>
              </a:rPr>
              <a:t>MEETING ASK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FD7BD5-5C05-4691-9808-F5C8197898B2}"/>
              </a:ext>
            </a:extLst>
          </p:cNvPr>
          <p:cNvSpPr>
            <a:spLocks noGrp="1"/>
          </p:cNvSpPr>
          <p:nvPr/>
        </p:nvSpPr>
        <p:spPr>
          <a:xfrm>
            <a:off x="723899" y="1257300"/>
            <a:ext cx="15325867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900" b="1">
                <a:solidFill>
                  <a:srgbClr val="172A2A"/>
                </a:solidFill>
              </a:defRPr>
            </a:pPr>
            <a:r>
              <a:rPr sz="3900" b="1" dirty="0">
                <a:solidFill>
                  <a:srgbClr val="172A2A"/>
                </a:solidFill>
              </a:rPr>
              <a:t>Leave with advisory support and a practical institutional path.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12CEA0-C4A2-47C7-AEB7-D219630246F3}"/>
              </a:ext>
            </a:extLst>
          </p:cNvPr>
          <p:cNvSpPr>
            <a:spLocks noGrp="1"/>
          </p:cNvSpPr>
          <p:nvPr/>
        </p:nvSpPr>
        <p:spPr>
          <a:xfrm>
            <a:off x="723900" y="1962150"/>
            <a:ext cx="1323776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344542"/>
                </a:solidFill>
              </a:defRPr>
            </a:pPr>
            <a:r>
              <a:rPr sz="1800" dirty="0">
                <a:solidFill>
                  <a:srgbClr val="344542"/>
                </a:solidFill>
              </a:rPr>
              <a:t>The decision is not to close every route today; it is to secure enough alignment to move the next proposals forward.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E6DAB7-E115-4838-B376-3A2E7C6869CC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77F679-A2B8-4374-982A-A62768A94F8F}"/>
              </a:ext>
            </a:extLst>
          </p:cNvPr>
          <p:cNvSpPr>
            <a:spLocks noGrp="1"/>
          </p:cNvSpPr>
          <p:nvPr/>
        </p:nvSpPr>
        <p:spPr>
          <a:xfrm>
            <a:off x="981075" y="3067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6F5B"/>
                </a:solidFill>
              </a:defRPr>
            </a:pPr>
            <a:r>
              <a:rPr sz="2400" b="1" dirty="0">
                <a:solidFill>
                  <a:srgbClr val="1F6F5B"/>
                </a:solidFill>
              </a:rPr>
              <a:t>1. Advisor confirmation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B28090-EC1C-4F7C-A65F-5CD770AB5357}"/>
              </a:ext>
            </a:extLst>
          </p:cNvPr>
          <p:cNvSpPr>
            <a:spLocks noGrp="1"/>
          </p:cNvSpPr>
          <p:nvPr/>
        </p:nvSpPr>
        <p:spPr>
          <a:xfrm>
            <a:off x="981075" y="3549274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Invite Prof. Anuar to advise </a:t>
            </a:r>
            <a:r>
              <a:rPr sz="2000" b="1" dirty="0" err="1">
                <a:solidFill>
                  <a:srgbClr val="172A2A"/>
                </a:solidFill>
              </a:rPr>
              <a:t>behaviour</a:t>
            </a:r>
            <a:r>
              <a:rPr sz="2000" b="1" dirty="0">
                <a:solidFill>
                  <a:srgbClr val="172A2A"/>
                </a:solidFill>
              </a:rPr>
              <a:t>-change, training and evaluation.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79A97B0-D672-456E-8CF3-209680A762E1}"/>
              </a:ext>
            </a:extLst>
          </p:cNvPr>
          <p:cNvSpPr>
            <a:spLocks noGrp="1"/>
          </p:cNvSpPr>
          <p:nvPr/>
        </p:nvSpPr>
        <p:spPr>
          <a:xfrm>
            <a:off x="6407150" y="2571750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A358A2-92FF-48BD-A77A-D4852BB58F3A}"/>
              </a:ext>
            </a:extLst>
          </p:cNvPr>
          <p:cNvSpPr>
            <a:spLocks noGrp="1"/>
          </p:cNvSpPr>
          <p:nvPr/>
        </p:nvSpPr>
        <p:spPr>
          <a:xfrm>
            <a:off x="6657975" y="3067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8872D"/>
                </a:solidFill>
              </a:defRPr>
            </a:pPr>
            <a:r>
              <a:rPr sz="2400" b="1" dirty="0">
                <a:solidFill>
                  <a:srgbClr val="B8872D"/>
                </a:solidFill>
              </a:rPr>
              <a:t>2. Institutional door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2719BF-8C78-4A69-9694-AAC36A86F4FD}"/>
              </a:ext>
            </a:extLst>
          </p:cNvPr>
          <p:cNvSpPr>
            <a:spLocks noGrp="1"/>
          </p:cNvSpPr>
          <p:nvPr/>
        </p:nvSpPr>
        <p:spPr>
          <a:xfrm>
            <a:off x="6657975" y="3549274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Identify the first JAKIM/MAIN or JAWHAR conversation and authority scope.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8D6FB41-C6CB-42A5-AC06-CFD9649F7DF3}"/>
              </a:ext>
            </a:extLst>
          </p:cNvPr>
          <p:cNvSpPr>
            <a:spLocks noGrp="1"/>
          </p:cNvSpPr>
          <p:nvPr/>
        </p:nvSpPr>
        <p:spPr>
          <a:xfrm>
            <a:off x="12090400" y="2571750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563BA0-E2D3-4483-9ED8-55967B08BFC3}"/>
              </a:ext>
            </a:extLst>
          </p:cNvPr>
          <p:cNvSpPr>
            <a:spLocks noGrp="1"/>
          </p:cNvSpPr>
          <p:nvPr/>
        </p:nvSpPr>
        <p:spPr>
          <a:xfrm>
            <a:off x="12353925" y="3067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3. Grant packaging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BF5072-00F4-426A-B653-D342C2DAEDB7}"/>
              </a:ext>
            </a:extLst>
          </p:cNvPr>
          <p:cNvSpPr>
            <a:spLocks noGrp="1"/>
          </p:cNvSpPr>
          <p:nvPr/>
        </p:nvSpPr>
        <p:spPr>
          <a:xfrm>
            <a:off x="12353925" y="3549274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Prepare modular proposals for direct grants, institutions and academic routes.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9A345DB-CF78-4CD5-93EA-B6F0FEADDF4B}"/>
              </a:ext>
            </a:extLst>
          </p:cNvPr>
          <p:cNvSpPr>
            <a:spLocks noGrp="1"/>
          </p:cNvSpPr>
          <p:nvPr/>
        </p:nvSpPr>
        <p:spPr>
          <a:xfrm>
            <a:off x="723900" y="6276975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845C8E7-8EDE-4796-8D34-16ABD8645CAF}"/>
              </a:ext>
            </a:extLst>
          </p:cNvPr>
          <p:cNvSpPr>
            <a:spLocks noGrp="1"/>
          </p:cNvSpPr>
          <p:nvPr/>
        </p:nvSpPr>
        <p:spPr>
          <a:xfrm>
            <a:off x="990600" y="6515100"/>
            <a:ext cx="49339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025" b="1">
                <a:solidFill>
                  <a:srgbClr val="172A2A"/>
                </a:solidFill>
              </a:defRPr>
            </a:pPr>
            <a:r>
              <a:rPr sz="2400" b="1" dirty="0">
                <a:solidFill>
                  <a:srgbClr val="172A2A"/>
                </a:solidFill>
              </a:rPr>
              <a:t>Proposed close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1A2E7A-9E07-483D-9C9B-C58FF461A844}"/>
              </a:ext>
            </a:extLst>
          </p:cNvPr>
          <p:cNvSpPr>
            <a:spLocks noGrp="1"/>
          </p:cNvSpPr>
          <p:nvPr/>
        </p:nvSpPr>
        <p:spPr>
          <a:xfrm>
            <a:off x="1009650" y="6959224"/>
            <a:ext cx="4933950" cy="1295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1F6F5B"/>
                </a:solidFill>
              </a:defRPr>
            </a:pPr>
            <a:r>
              <a:rPr sz="2000" b="1" dirty="0">
                <a:solidFill>
                  <a:srgbClr val="1F6F5B"/>
                </a:solidFill>
              </a:rPr>
              <a:t>Can Prof. Anuar advise the organizational </a:t>
            </a:r>
            <a:r>
              <a:rPr sz="2000" b="1" dirty="0" err="1">
                <a:solidFill>
                  <a:srgbClr val="1F6F5B"/>
                </a:solidFill>
              </a:rPr>
              <a:t>behaviour</a:t>
            </a:r>
            <a:r>
              <a:rPr sz="2000" b="1" dirty="0">
                <a:solidFill>
                  <a:srgbClr val="1F6F5B"/>
                </a:solidFill>
              </a:rPr>
              <a:t> model while AGP approaches JAKIM/MAIN and keeps all grant routes open?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9B53C87-3348-4862-870E-1C0E8DABC0C9}"/>
              </a:ext>
            </a:extLst>
          </p:cNvPr>
          <p:cNvSpPr>
            <a:spLocks noGrp="1"/>
          </p:cNvSpPr>
          <p:nvPr/>
        </p:nvSpPr>
        <p:spPr>
          <a:xfrm>
            <a:off x="6407150" y="6276975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67D4FF-3DAD-4151-86C9-921E7C0EA4AA}"/>
              </a:ext>
            </a:extLst>
          </p:cNvPr>
          <p:cNvSpPr>
            <a:spLocks noGrp="1"/>
          </p:cNvSpPr>
          <p:nvPr/>
        </p:nvSpPr>
        <p:spPr>
          <a:xfrm>
            <a:off x="6648450" y="6496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54C40"/>
                </a:solidFill>
              </a:defRPr>
            </a:pPr>
            <a:r>
              <a:rPr sz="2400" b="1">
                <a:solidFill>
                  <a:srgbClr val="A54C40"/>
                </a:solidFill>
              </a:rPr>
              <a:t>Next artifact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F15939-5A5A-4839-B8BE-4CD8BB7E33DA}"/>
              </a:ext>
            </a:extLst>
          </p:cNvPr>
          <p:cNvSpPr>
            <a:spLocks noGrp="1"/>
          </p:cNvSpPr>
          <p:nvPr/>
        </p:nvSpPr>
        <p:spPr>
          <a:xfrm>
            <a:off x="6648450" y="6959224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One-page JAKIM/MAIN proposal letter plus modular grant concept notes.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5F0DA71-B06C-4906-953C-94DCBDDA83EE}"/>
              </a:ext>
            </a:extLst>
          </p:cNvPr>
          <p:cNvSpPr>
            <a:spLocks noGrp="1"/>
          </p:cNvSpPr>
          <p:nvPr/>
        </p:nvSpPr>
        <p:spPr>
          <a:xfrm>
            <a:off x="12090400" y="6276975"/>
            <a:ext cx="5473700" cy="3495675"/>
          </a:xfrm>
          <a:prstGeom prst="roundRect">
            <a:avLst>
              <a:gd name="adj" fmla="val 2180"/>
            </a:avLst>
          </a:prstGeom>
          <a:noFill/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6D360A-9D5B-4D0C-B351-0B3FE1D273AC}"/>
              </a:ext>
            </a:extLst>
          </p:cNvPr>
          <p:cNvSpPr>
            <a:spLocks noGrp="1"/>
          </p:cNvSpPr>
          <p:nvPr/>
        </p:nvSpPr>
        <p:spPr>
          <a:xfrm>
            <a:off x="12344400" y="6496050"/>
            <a:ext cx="49720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2D6684"/>
                </a:solidFill>
              </a:defRPr>
            </a:pPr>
            <a:r>
              <a:rPr sz="2400" b="1">
                <a:solidFill>
                  <a:srgbClr val="2D6684"/>
                </a:solidFill>
              </a:rPr>
              <a:t>Near-term proof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5C1D04-27F4-4FF1-8166-945A4695A087}"/>
              </a:ext>
            </a:extLst>
          </p:cNvPr>
          <p:cNvSpPr>
            <a:spLocks noGrp="1"/>
          </p:cNvSpPr>
          <p:nvPr/>
        </p:nvSpPr>
        <p:spPr>
          <a:xfrm>
            <a:off x="12344400" y="6959224"/>
            <a:ext cx="4972050" cy="533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>
                <a:solidFill>
                  <a:srgbClr val="172A2A"/>
                </a:solidFill>
              </a:defRPr>
            </a:pPr>
            <a:r>
              <a:rPr sz="2000" b="1" dirty="0">
                <a:solidFill>
                  <a:srgbClr val="172A2A"/>
                </a:solidFill>
              </a:rPr>
              <a:t>Use the live 46-org / 37-profile MVP as the demo evidence.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64A8C5F-C6F6-41AF-A9E2-9374502E7966}"/>
              </a:ext>
            </a:extLst>
          </p:cNvPr>
          <p:cNvSpPr>
            <a:spLocks noGrp="1"/>
          </p:cNvSpPr>
          <p:nvPr/>
        </p:nvSpPr>
        <p:spPr>
          <a:xfrm>
            <a:off x="723899" y="2628900"/>
            <a:ext cx="2857500" cy="38100"/>
          </a:xfrm>
          <a:prstGeom prst="rect">
            <a:avLst/>
          </a:prstGeom>
          <a:solidFill>
            <a:srgbClr val="B8872D"/>
          </a:solidFill>
          <a:ln w="0">
            <a:solidFill>
              <a:srgbClr val="B887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49375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1261</Words>
  <Application>Microsoft Office PowerPoint</Application>
  <DocSecurity>0</DocSecurity>
  <PresentationFormat>Custom</PresentationFormat>
  <Paragraphs>194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kamal latif</cp:lastModifiedBy>
  <cp:revision>23</cp:revision>
  <dcterms:created xsi:type="dcterms:W3CDTF">2026-05-08T11:02:45Z</dcterms:created>
  <dcterms:modified xsi:type="dcterms:W3CDTF">2026-05-09T03:08:23Z</dcterms:modified>
</cp:coreProperties>
</file>